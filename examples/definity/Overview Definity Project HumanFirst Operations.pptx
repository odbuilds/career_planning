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5"/>
    <p:sldMasterId id="214748368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y="5143500" cx="9144000"/>
  <p:notesSz cx="6858000" cy="9144000"/>
  <p:embeddedFontLst>
    <p:embeddedFont>
      <p:font typeface="Inter Light"/>
      <p:regular r:id="rId26"/>
      <p:bold r:id="rId27"/>
      <p:italic r:id="rId28"/>
      <p:boldItalic r:id="rId29"/>
    </p:embeddedFont>
    <p:embeddedFont>
      <p:font typeface="Inter"/>
      <p:regular r:id="rId30"/>
      <p:bold r:id="rId31"/>
      <p:italic r:id="rId32"/>
      <p:boldItalic r:id="rId33"/>
    </p:embeddedFont>
    <p:embeddedFont>
      <p:font typeface="Manrope SemiBold"/>
      <p:regular r:id="rId34"/>
      <p:bold r:id="rId35"/>
    </p:embeddedFont>
    <p:embeddedFont>
      <p:font typeface="Manrope"/>
      <p:regular r:id="rId36"/>
      <p:bold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9799F30-C66E-4AF7-B557-2814F205417D}">
  <a:tblStyle styleId="{99799F30-C66E-4AF7-B557-2814F205417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InterLight-regular.fntdata"/><Relationship Id="rId25" Type="http://schemas.openxmlformats.org/officeDocument/2006/relationships/slide" Target="slides/slide18.xml"/><Relationship Id="rId28" Type="http://schemas.openxmlformats.org/officeDocument/2006/relationships/font" Target="fonts/InterLight-italic.fntdata"/><Relationship Id="rId27" Type="http://schemas.openxmlformats.org/officeDocument/2006/relationships/font" Target="fonts/InterLight-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InterLight-bold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Inter-bold.fntdata"/><Relationship Id="rId30" Type="http://schemas.openxmlformats.org/officeDocument/2006/relationships/font" Target="fonts/Inter-regular.fntdata"/><Relationship Id="rId11" Type="http://schemas.openxmlformats.org/officeDocument/2006/relationships/slide" Target="slides/slide4.xml"/><Relationship Id="rId33" Type="http://schemas.openxmlformats.org/officeDocument/2006/relationships/font" Target="fonts/Inter-boldItalic.fntdata"/><Relationship Id="rId10" Type="http://schemas.openxmlformats.org/officeDocument/2006/relationships/slide" Target="slides/slide3.xml"/><Relationship Id="rId32" Type="http://schemas.openxmlformats.org/officeDocument/2006/relationships/font" Target="fonts/Inter-italic.fntdata"/><Relationship Id="rId13" Type="http://schemas.openxmlformats.org/officeDocument/2006/relationships/slide" Target="slides/slide6.xml"/><Relationship Id="rId35" Type="http://schemas.openxmlformats.org/officeDocument/2006/relationships/font" Target="fonts/ManropeSemiBold-bold.fntdata"/><Relationship Id="rId12" Type="http://schemas.openxmlformats.org/officeDocument/2006/relationships/slide" Target="slides/slide5.xml"/><Relationship Id="rId34" Type="http://schemas.openxmlformats.org/officeDocument/2006/relationships/font" Target="fonts/ManropeSemiBold-regular.fntdata"/><Relationship Id="rId15" Type="http://schemas.openxmlformats.org/officeDocument/2006/relationships/slide" Target="slides/slide8.xml"/><Relationship Id="rId37" Type="http://schemas.openxmlformats.org/officeDocument/2006/relationships/font" Target="fonts/Manrope-bold.fntdata"/><Relationship Id="rId14" Type="http://schemas.openxmlformats.org/officeDocument/2006/relationships/slide" Target="slides/slide7.xml"/><Relationship Id="rId36" Type="http://schemas.openxmlformats.org/officeDocument/2006/relationships/font" Target="fonts/Manrope-regular.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699bd2dc47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699bd2dc47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f662bfe6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f662bfe6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0bc21d04b5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0bc21d04b5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0bc21d04b5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0bc21d04b5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0bc21d04b5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0bc21d04b5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0bc21d04b5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0bc21d04b5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0bc21d04b5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0bc21d04b5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0bc21d04b5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0bc21d04b5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0bc21d04b5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0bc21d04b5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0bc21d04b5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0bc21d04b5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0bc21d04b5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0bc21d04b5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0bc21d04b5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0bc21d04b5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0bc21d04b5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0bc21d04b5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0bc21d04b5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0bc21d04b5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0bc21d04b5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0bc21d04b5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0bc21d04b5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0bc21d04b5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0bc21d04b5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0bc21d04b5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600000006093527</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0b37132ff3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0b37132ff3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1.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Dark" type="title">
  <p:cSld name="TITLE">
    <p:bg>
      <p:bgPr>
        <a:solidFill>
          <a:srgbClr val="294489"/>
        </a:solidFill>
      </p:bgPr>
    </p:bg>
    <p:spTree>
      <p:nvGrpSpPr>
        <p:cNvPr id="52" name="Shape 52"/>
        <p:cNvGrpSpPr/>
        <p:nvPr/>
      </p:nvGrpSpPr>
      <p:grpSpPr>
        <a:xfrm>
          <a:off x="0" y="0"/>
          <a:ext cx="0" cy="0"/>
          <a:chOff x="0" y="0"/>
          <a:chExt cx="0" cy="0"/>
        </a:xfrm>
      </p:grpSpPr>
      <p:pic>
        <p:nvPicPr>
          <p:cNvPr id="53" name="Google Shape;53;p14"/>
          <p:cNvPicPr preferRelativeResize="0"/>
          <p:nvPr/>
        </p:nvPicPr>
        <p:blipFill>
          <a:blip r:embed="rId2">
            <a:alphaModFix amt="14000"/>
          </a:blip>
          <a:stretch>
            <a:fillRect/>
          </a:stretch>
        </p:blipFill>
        <p:spPr>
          <a:xfrm>
            <a:off x="-3500598" y="-1913375"/>
            <a:ext cx="8774449" cy="8781099"/>
          </a:xfrm>
          <a:prstGeom prst="rect">
            <a:avLst/>
          </a:prstGeom>
          <a:noFill/>
          <a:ln>
            <a:noFill/>
          </a:ln>
        </p:spPr>
      </p:pic>
      <p:sp>
        <p:nvSpPr>
          <p:cNvPr id="54" name="Google Shape;54;p14"/>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p:cSld name="TITLE_2">
    <p:bg>
      <p:bgPr>
        <a:solidFill>
          <a:srgbClr val="294489"/>
        </a:solidFill>
      </p:bgPr>
    </p:bg>
    <p:spTree>
      <p:nvGrpSpPr>
        <p:cNvPr id="55" name="Shape 55"/>
        <p:cNvGrpSpPr/>
        <p:nvPr/>
      </p:nvGrpSpPr>
      <p:grpSpPr>
        <a:xfrm>
          <a:off x="0" y="0"/>
          <a:ext cx="0" cy="0"/>
          <a:chOff x="0" y="0"/>
          <a:chExt cx="0" cy="0"/>
        </a:xfrm>
      </p:grpSpPr>
      <p:pic>
        <p:nvPicPr>
          <p:cNvPr id="56" name="Google Shape;56;p15"/>
          <p:cNvPicPr preferRelativeResize="0"/>
          <p:nvPr/>
        </p:nvPicPr>
        <p:blipFill rotWithShape="1">
          <a:blip r:embed="rId2">
            <a:alphaModFix amt="27000"/>
          </a:blip>
          <a:srcRect b="26243" l="0" r="0" t="0"/>
          <a:stretch/>
        </p:blipFill>
        <p:spPr>
          <a:xfrm>
            <a:off x="0" y="0"/>
            <a:ext cx="9144000" cy="5143499"/>
          </a:xfrm>
          <a:prstGeom prst="rect">
            <a:avLst/>
          </a:prstGeom>
          <a:noFill/>
          <a:ln>
            <a:noFill/>
          </a:ln>
        </p:spPr>
      </p:pic>
      <p:sp>
        <p:nvSpPr>
          <p:cNvPr id="57" name="Google Shape;57;p15"/>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pic>
        <p:nvPicPr>
          <p:cNvPr id="58" name="Google Shape;58;p15"/>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1">
  <p:cSld name="TITLE_2_2">
    <p:bg>
      <p:bgPr>
        <a:solidFill>
          <a:srgbClr val="294489"/>
        </a:solidFill>
      </p:bgPr>
    </p:bg>
    <p:spTree>
      <p:nvGrpSpPr>
        <p:cNvPr id="59" name="Shape 59"/>
        <p:cNvGrpSpPr/>
        <p:nvPr/>
      </p:nvGrpSpPr>
      <p:grpSpPr>
        <a:xfrm>
          <a:off x="0" y="0"/>
          <a:ext cx="0" cy="0"/>
          <a:chOff x="0" y="0"/>
          <a:chExt cx="0" cy="0"/>
        </a:xfrm>
      </p:grpSpPr>
      <p:pic>
        <p:nvPicPr>
          <p:cNvPr id="60" name="Google Shape;60;p16"/>
          <p:cNvPicPr preferRelativeResize="0"/>
          <p:nvPr/>
        </p:nvPicPr>
        <p:blipFill rotWithShape="1">
          <a:blip r:embed="rId2">
            <a:alphaModFix amt="27000"/>
          </a:blip>
          <a:srcRect b="26243" l="0" r="0" t="0"/>
          <a:stretch/>
        </p:blipFill>
        <p:spPr>
          <a:xfrm>
            <a:off x="0" y="0"/>
            <a:ext cx="9144000" cy="5143499"/>
          </a:xfrm>
          <a:prstGeom prst="rect">
            <a:avLst/>
          </a:prstGeom>
          <a:noFill/>
          <a:ln>
            <a:noFill/>
          </a:ln>
        </p:spPr>
      </p:pic>
      <p:sp>
        <p:nvSpPr>
          <p:cNvPr id="61" name="Google Shape;61;p16"/>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p:cSld name="TITLE_2_1">
    <p:bg>
      <p:bgPr>
        <a:solidFill>
          <a:srgbClr val="12184A"/>
        </a:solidFill>
      </p:bgPr>
    </p:bg>
    <p:spTree>
      <p:nvGrpSpPr>
        <p:cNvPr id="62" name="Shape 62"/>
        <p:cNvGrpSpPr/>
        <p:nvPr/>
      </p:nvGrpSpPr>
      <p:grpSpPr>
        <a:xfrm>
          <a:off x="0" y="0"/>
          <a:ext cx="0" cy="0"/>
          <a:chOff x="0" y="0"/>
          <a:chExt cx="0" cy="0"/>
        </a:xfrm>
      </p:grpSpPr>
      <p:pic>
        <p:nvPicPr>
          <p:cNvPr id="63" name="Google Shape;63;p17"/>
          <p:cNvPicPr preferRelativeResize="0"/>
          <p:nvPr/>
        </p:nvPicPr>
        <p:blipFill rotWithShape="1">
          <a:blip r:embed="rId2">
            <a:alphaModFix amt="33000"/>
          </a:blip>
          <a:srcRect b="26248" l="0" r="0" t="0"/>
          <a:stretch/>
        </p:blipFill>
        <p:spPr>
          <a:xfrm>
            <a:off x="0" y="0"/>
            <a:ext cx="9144000" cy="514349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1">
  <p:cSld name="TITLE_2_1_1">
    <p:bg>
      <p:bgPr>
        <a:solidFill>
          <a:srgbClr val="12184A"/>
        </a:solidFill>
      </p:bgPr>
    </p:bg>
    <p:spTree>
      <p:nvGrpSpPr>
        <p:cNvPr id="64" name="Shape 64"/>
        <p:cNvGrpSpPr/>
        <p:nvPr/>
      </p:nvGrpSpPr>
      <p:grpSpPr>
        <a:xfrm>
          <a:off x="0" y="0"/>
          <a:ext cx="0" cy="0"/>
          <a:chOff x="0" y="0"/>
          <a:chExt cx="0" cy="0"/>
        </a:xfrm>
      </p:grpSpPr>
      <p:pic>
        <p:nvPicPr>
          <p:cNvPr id="65" name="Google Shape;65;p18"/>
          <p:cNvPicPr preferRelativeResize="0"/>
          <p:nvPr/>
        </p:nvPicPr>
        <p:blipFill rotWithShape="1">
          <a:blip r:embed="rId2">
            <a:alphaModFix amt="33000"/>
          </a:blip>
          <a:srcRect b="26248" l="0" r="0" t="0"/>
          <a:stretch/>
        </p:blipFill>
        <p:spPr>
          <a:xfrm>
            <a:off x="0" y="0"/>
            <a:ext cx="9144000" cy="5143499"/>
          </a:xfrm>
          <a:prstGeom prst="rect">
            <a:avLst/>
          </a:prstGeom>
          <a:noFill/>
          <a:ln>
            <a:noFill/>
          </a:ln>
        </p:spPr>
      </p:pic>
      <p:sp>
        <p:nvSpPr>
          <p:cNvPr id="66" name="Google Shape;66;p18"/>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pic>
        <p:nvPicPr>
          <p:cNvPr id="67" name="Google Shape;67;p18"/>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Light">
  <p:cSld name="TITLE_1">
    <p:bg>
      <p:bgPr>
        <a:solidFill>
          <a:srgbClr val="FFFFFF"/>
        </a:solidFill>
      </p:bgPr>
    </p:bg>
    <p:spTree>
      <p:nvGrpSpPr>
        <p:cNvPr id="68" name="Shape 68"/>
        <p:cNvGrpSpPr/>
        <p:nvPr/>
      </p:nvGrpSpPr>
      <p:grpSpPr>
        <a:xfrm>
          <a:off x="0" y="0"/>
          <a:ext cx="0" cy="0"/>
          <a:chOff x="0" y="0"/>
          <a:chExt cx="0" cy="0"/>
        </a:xfrm>
      </p:grpSpPr>
      <p:pic>
        <p:nvPicPr>
          <p:cNvPr id="69" name="Google Shape;69;p19"/>
          <p:cNvPicPr preferRelativeResize="0"/>
          <p:nvPr/>
        </p:nvPicPr>
        <p:blipFill>
          <a:blip r:embed="rId2">
            <a:alphaModFix/>
          </a:blip>
          <a:stretch>
            <a:fillRect/>
          </a:stretch>
        </p:blipFill>
        <p:spPr>
          <a:xfrm>
            <a:off x="-3500598" y="-1913375"/>
            <a:ext cx="8774449" cy="8781099"/>
          </a:xfrm>
          <a:prstGeom prst="rect">
            <a:avLst/>
          </a:prstGeom>
          <a:noFill/>
          <a:ln>
            <a:noFill/>
          </a:ln>
        </p:spPr>
      </p:pic>
      <p:sp>
        <p:nvSpPr>
          <p:cNvPr id="70" name="Google Shape;70;p19"/>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71" name="Google Shape;71;p19"/>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Light 1">
  <p:cSld name="TITLE_1_1">
    <p:bg>
      <p:bgPr>
        <a:solidFill>
          <a:srgbClr val="FFFFFF"/>
        </a:solidFill>
      </p:bgPr>
    </p:bg>
    <p:spTree>
      <p:nvGrpSpPr>
        <p:cNvPr id="72" name="Shape 72"/>
        <p:cNvGrpSpPr/>
        <p:nvPr/>
      </p:nvGrpSpPr>
      <p:grpSpPr>
        <a:xfrm>
          <a:off x="0" y="0"/>
          <a:ext cx="0" cy="0"/>
          <a:chOff x="0" y="0"/>
          <a:chExt cx="0" cy="0"/>
        </a:xfrm>
      </p:grpSpPr>
      <p:pic>
        <p:nvPicPr>
          <p:cNvPr id="73" name="Google Shape;73;p20"/>
          <p:cNvPicPr preferRelativeResize="0"/>
          <p:nvPr/>
        </p:nvPicPr>
        <p:blipFill>
          <a:blip r:embed="rId2">
            <a:alphaModFix/>
          </a:blip>
          <a:stretch>
            <a:fillRect/>
          </a:stretch>
        </p:blipFill>
        <p:spPr>
          <a:xfrm>
            <a:off x="-3500598" y="-1913375"/>
            <a:ext cx="8774449" cy="8781099"/>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Light" type="secHead">
  <p:cSld name="SECTION_HEADER">
    <p:spTree>
      <p:nvGrpSpPr>
        <p:cNvPr id="74" name="Shape 74"/>
        <p:cNvGrpSpPr/>
        <p:nvPr/>
      </p:nvGrpSpPr>
      <p:grpSpPr>
        <a:xfrm>
          <a:off x="0" y="0"/>
          <a:ext cx="0" cy="0"/>
          <a:chOff x="0" y="0"/>
          <a:chExt cx="0" cy="0"/>
        </a:xfrm>
      </p:grpSpPr>
      <p:sp>
        <p:nvSpPr>
          <p:cNvPr id="75" name="Google Shape;75;p21"/>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76" name="Google Shape;76;p21"/>
          <p:cNvPicPr preferRelativeResize="0"/>
          <p:nvPr/>
        </p:nvPicPr>
        <p:blipFill>
          <a:blip r:embed="rId2">
            <a:alphaModFix/>
          </a:blip>
          <a:stretch>
            <a:fillRect/>
          </a:stretch>
        </p:blipFill>
        <p:spPr>
          <a:xfrm>
            <a:off x="8506500" y="335925"/>
            <a:ext cx="293825" cy="293501"/>
          </a:xfrm>
          <a:prstGeom prst="rect">
            <a:avLst/>
          </a:prstGeom>
          <a:noFill/>
          <a:ln>
            <a:noFill/>
          </a:ln>
        </p:spPr>
      </p:pic>
      <p:sp>
        <p:nvSpPr>
          <p:cNvPr id="77" name="Google Shape;77;p21"/>
          <p:cNvSpPr txBox="1"/>
          <p:nvPr>
            <p:ph type="title"/>
          </p:nvPr>
        </p:nvSpPr>
        <p:spPr>
          <a:xfrm>
            <a:off x="512100" y="319450"/>
            <a:ext cx="7702200" cy="665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294489"/>
              </a:buClr>
              <a:buSzPts val="3600"/>
              <a:buFont typeface="Manrope"/>
              <a:buNone/>
              <a:defRPr b="1" sz="3600">
                <a:solidFill>
                  <a:srgbClr val="294489"/>
                </a:solidFill>
                <a:latin typeface="Manrope"/>
                <a:ea typeface="Manrope"/>
                <a:cs typeface="Manrope"/>
                <a:sym typeface="Manrop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8" name="Google Shape;78;p21"/>
          <p:cNvSpPr txBox="1"/>
          <p:nvPr>
            <p:ph idx="1" type="body"/>
          </p:nvPr>
        </p:nvSpPr>
        <p:spPr>
          <a:xfrm>
            <a:off x="668100" y="1421325"/>
            <a:ext cx="7546200" cy="3552000"/>
          </a:xfrm>
          <a:prstGeom prst="rect">
            <a:avLst/>
          </a:prstGeom>
          <a:noFill/>
          <a:ln>
            <a:noFill/>
          </a:ln>
        </p:spPr>
        <p:txBody>
          <a:bodyPr anchorCtr="0" anchor="t" bIns="91425" lIns="91425" spcFirstLastPara="1" rIns="91425" wrap="square" tIns="91425">
            <a:noAutofit/>
          </a:bodyPr>
          <a:lstStyle>
            <a:lvl1pPr indent="-317500" lvl="0" marL="4572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1pPr>
            <a:lvl2pPr indent="-317500" lvl="1" marL="9144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2pPr>
            <a:lvl3pPr indent="-317500" lvl="2" marL="13716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3pPr>
            <a:lvl4pPr indent="-317500" lvl="3" marL="18288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4pPr>
            <a:lvl5pPr indent="-317500" lvl="4" marL="22860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5pPr>
            <a:lvl6pPr indent="-317500" lvl="5" marL="27432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6pPr>
            <a:lvl7pPr indent="-317500" lvl="6" marL="32004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7pPr>
            <a:lvl8pPr indent="-317500" lvl="7" marL="36576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8pPr>
            <a:lvl9pPr indent="-317500" lvl="8" marL="41148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9pPr>
          </a:lstStyle>
          <a:p/>
        </p:txBody>
      </p:sp>
      <p:sp>
        <p:nvSpPr>
          <p:cNvPr id="79" name="Google Shape;79;p21"/>
          <p:cNvSpPr txBox="1"/>
          <p:nvPr>
            <p:ph idx="2" type="subTitle"/>
          </p:nvPr>
        </p:nvSpPr>
        <p:spPr>
          <a:xfrm>
            <a:off x="539250" y="984850"/>
            <a:ext cx="6462300" cy="219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1pPr>
            <a:lvl2pPr lvl="1"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2pPr>
            <a:lvl3pPr lvl="2"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3pPr>
            <a:lvl4pPr lvl="3"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4pPr>
            <a:lvl5pPr lvl="4"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5pPr>
            <a:lvl6pPr lvl="5"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6pPr>
            <a:lvl7pPr lvl="6"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7pPr>
            <a:lvl8pPr lvl="7"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8pPr>
            <a:lvl9pPr lvl="8"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Light 1">
  <p:cSld name="SECTION_HEADER_5">
    <p:spTree>
      <p:nvGrpSpPr>
        <p:cNvPr id="80" name="Shape 80"/>
        <p:cNvGrpSpPr/>
        <p:nvPr/>
      </p:nvGrpSpPr>
      <p:grpSpPr>
        <a:xfrm>
          <a:off x="0" y="0"/>
          <a:ext cx="0" cy="0"/>
          <a:chOff x="0" y="0"/>
          <a:chExt cx="0" cy="0"/>
        </a:xfrm>
      </p:grpSpPr>
      <p:sp>
        <p:nvSpPr>
          <p:cNvPr id="81" name="Google Shape;81;p22"/>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82" name="Google Shape;82;p22"/>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lac">
  <p:cSld name="SECTION_HEADER_4">
    <p:spTree>
      <p:nvGrpSpPr>
        <p:cNvPr id="83" name="Shape 83"/>
        <p:cNvGrpSpPr/>
        <p:nvPr/>
      </p:nvGrpSpPr>
      <p:grpSpPr>
        <a:xfrm>
          <a:off x="0" y="0"/>
          <a:ext cx="0" cy="0"/>
          <a:chOff x="0" y="0"/>
          <a:chExt cx="0" cy="0"/>
        </a:xfrm>
      </p:grpSpPr>
      <p:sp>
        <p:nvSpPr>
          <p:cNvPr id="84" name="Google Shape;84;p23"/>
          <p:cNvSpPr/>
          <p:nvPr/>
        </p:nvSpPr>
        <p:spPr>
          <a:xfrm rot="-5400000">
            <a:off x="4255050" y="271725"/>
            <a:ext cx="5168700" cy="4609200"/>
          </a:xfrm>
          <a:prstGeom prst="round2SameRect">
            <a:avLst>
              <a:gd fmla="val 3711" name="adj1"/>
              <a:gd fmla="val 0" name="adj2"/>
            </a:avLst>
          </a:prstGeom>
          <a:solidFill>
            <a:srgbClr val="E7E9F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5" name="Google Shape;85;p23"/>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86" name="Google Shape;86;p23"/>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Blue 2">
  <p:cSld name="SECTION_HEADER_4_3">
    <p:spTree>
      <p:nvGrpSpPr>
        <p:cNvPr id="87" name="Shape 87"/>
        <p:cNvGrpSpPr/>
        <p:nvPr/>
      </p:nvGrpSpPr>
      <p:grpSpPr>
        <a:xfrm>
          <a:off x="0" y="0"/>
          <a:ext cx="0" cy="0"/>
          <a:chOff x="0" y="0"/>
          <a:chExt cx="0" cy="0"/>
        </a:xfrm>
      </p:grpSpPr>
      <p:sp>
        <p:nvSpPr>
          <p:cNvPr id="88" name="Google Shape;88;p24"/>
          <p:cNvSpPr/>
          <p:nvPr/>
        </p:nvSpPr>
        <p:spPr>
          <a:xfrm rot="-5400000">
            <a:off x="4261975" y="265575"/>
            <a:ext cx="5179500" cy="4609200"/>
          </a:xfrm>
          <a:prstGeom prst="round2SameRect">
            <a:avLst>
              <a:gd fmla="val 3711" name="adj1"/>
              <a:gd fmla="val 0" name="adj2"/>
            </a:avLst>
          </a:prstGeom>
          <a:solidFill>
            <a:srgbClr val="29448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9" name="Google Shape;89;p24"/>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76CCED"/>
                </a:solidFill>
                <a:latin typeface="Inter"/>
                <a:ea typeface="Inter"/>
                <a:cs typeface="Inter"/>
                <a:sym typeface="Inter"/>
              </a:defRPr>
            </a:lvl1pPr>
            <a:lvl2pPr lvl="1" rtl="0">
              <a:buNone/>
              <a:defRPr>
                <a:solidFill>
                  <a:srgbClr val="76CCED"/>
                </a:solidFill>
                <a:latin typeface="Inter"/>
                <a:ea typeface="Inter"/>
                <a:cs typeface="Inter"/>
                <a:sym typeface="Inter"/>
              </a:defRPr>
            </a:lvl2pPr>
            <a:lvl3pPr lvl="2" rtl="0">
              <a:buNone/>
              <a:defRPr>
                <a:solidFill>
                  <a:srgbClr val="76CCED"/>
                </a:solidFill>
                <a:latin typeface="Inter"/>
                <a:ea typeface="Inter"/>
                <a:cs typeface="Inter"/>
                <a:sym typeface="Inter"/>
              </a:defRPr>
            </a:lvl3pPr>
            <a:lvl4pPr lvl="3" rtl="0">
              <a:buNone/>
              <a:defRPr>
                <a:solidFill>
                  <a:srgbClr val="76CCED"/>
                </a:solidFill>
                <a:latin typeface="Inter"/>
                <a:ea typeface="Inter"/>
                <a:cs typeface="Inter"/>
                <a:sym typeface="Inter"/>
              </a:defRPr>
            </a:lvl4pPr>
            <a:lvl5pPr lvl="4" rtl="0">
              <a:buNone/>
              <a:defRPr>
                <a:solidFill>
                  <a:srgbClr val="76CCED"/>
                </a:solidFill>
                <a:latin typeface="Inter"/>
                <a:ea typeface="Inter"/>
                <a:cs typeface="Inter"/>
                <a:sym typeface="Inter"/>
              </a:defRPr>
            </a:lvl5pPr>
            <a:lvl6pPr lvl="5" rtl="0">
              <a:buNone/>
              <a:defRPr>
                <a:solidFill>
                  <a:srgbClr val="76CCED"/>
                </a:solidFill>
                <a:latin typeface="Inter"/>
                <a:ea typeface="Inter"/>
                <a:cs typeface="Inter"/>
                <a:sym typeface="Inter"/>
              </a:defRPr>
            </a:lvl6pPr>
            <a:lvl7pPr lvl="6" rtl="0">
              <a:buNone/>
              <a:defRPr>
                <a:solidFill>
                  <a:srgbClr val="76CCED"/>
                </a:solidFill>
                <a:latin typeface="Inter"/>
                <a:ea typeface="Inter"/>
                <a:cs typeface="Inter"/>
                <a:sym typeface="Inter"/>
              </a:defRPr>
            </a:lvl7pPr>
            <a:lvl8pPr lvl="7" rtl="0">
              <a:buNone/>
              <a:defRPr>
                <a:solidFill>
                  <a:srgbClr val="76CCED"/>
                </a:solidFill>
                <a:latin typeface="Inter"/>
                <a:ea typeface="Inter"/>
                <a:cs typeface="Inter"/>
                <a:sym typeface="Inter"/>
              </a:defRPr>
            </a:lvl8pPr>
            <a:lvl9pPr lvl="8" rtl="0">
              <a:buNone/>
              <a:defRPr>
                <a:solidFill>
                  <a:srgbClr val="76CCED"/>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90" name="Google Shape;90;p24"/>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lac 1">
  <p:cSld name="SECTION_HEADER_4_2">
    <p:spTree>
      <p:nvGrpSpPr>
        <p:cNvPr id="91" name="Shape 91"/>
        <p:cNvGrpSpPr/>
        <p:nvPr/>
      </p:nvGrpSpPr>
      <p:grpSpPr>
        <a:xfrm>
          <a:off x="0" y="0"/>
          <a:ext cx="0" cy="0"/>
          <a:chOff x="0" y="0"/>
          <a:chExt cx="0" cy="0"/>
        </a:xfrm>
      </p:grpSpPr>
      <p:sp>
        <p:nvSpPr>
          <p:cNvPr id="92" name="Google Shape;92;p25"/>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25"/>
          <p:cNvSpPr/>
          <p:nvPr/>
        </p:nvSpPr>
        <p:spPr>
          <a:xfrm flipH="1" rot="5400000">
            <a:off x="-483350" y="448050"/>
            <a:ext cx="5160000" cy="4247400"/>
          </a:xfrm>
          <a:prstGeom prst="round2SameRect">
            <a:avLst>
              <a:gd fmla="val 3711" name="adj1"/>
              <a:gd fmla="val 0" name="adj2"/>
            </a:avLst>
          </a:prstGeom>
          <a:solidFill>
            <a:srgbClr val="E7E9F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94" name="Google Shape;94;p25"/>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lue">
  <p:cSld name="SECTION_HEADER_4_1">
    <p:spTree>
      <p:nvGrpSpPr>
        <p:cNvPr id="95" name="Shape 95"/>
        <p:cNvGrpSpPr/>
        <p:nvPr/>
      </p:nvGrpSpPr>
      <p:grpSpPr>
        <a:xfrm>
          <a:off x="0" y="0"/>
          <a:ext cx="0" cy="0"/>
          <a:chOff x="0" y="0"/>
          <a:chExt cx="0" cy="0"/>
        </a:xfrm>
      </p:grpSpPr>
      <p:sp>
        <p:nvSpPr>
          <p:cNvPr id="96" name="Google Shape;96;p26"/>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26"/>
          <p:cNvSpPr/>
          <p:nvPr/>
        </p:nvSpPr>
        <p:spPr>
          <a:xfrm flipH="1" rot="5400000">
            <a:off x="-483350" y="448050"/>
            <a:ext cx="5160000" cy="4247400"/>
          </a:xfrm>
          <a:prstGeom prst="round2SameRect">
            <a:avLst>
              <a:gd fmla="val 3711" name="adj1"/>
              <a:gd fmla="val 0" name="adj2"/>
            </a:avLst>
          </a:prstGeom>
          <a:solidFill>
            <a:srgbClr val="DBF2F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98" name="Google Shape;98;p26"/>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urgundy">
  <p:cSld name="SECTION_HEADER_4_1_1">
    <p:spTree>
      <p:nvGrpSpPr>
        <p:cNvPr id="99" name="Shape 99"/>
        <p:cNvGrpSpPr/>
        <p:nvPr/>
      </p:nvGrpSpPr>
      <p:grpSpPr>
        <a:xfrm>
          <a:off x="0" y="0"/>
          <a:ext cx="0" cy="0"/>
          <a:chOff x="0" y="0"/>
          <a:chExt cx="0" cy="0"/>
        </a:xfrm>
      </p:grpSpPr>
      <p:sp>
        <p:nvSpPr>
          <p:cNvPr id="100" name="Google Shape;100;p27"/>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27"/>
          <p:cNvSpPr/>
          <p:nvPr/>
        </p:nvSpPr>
        <p:spPr>
          <a:xfrm flipH="1" rot="5400000">
            <a:off x="-483350" y="448050"/>
            <a:ext cx="5160000" cy="4247400"/>
          </a:xfrm>
          <a:prstGeom prst="round2SameRect">
            <a:avLst>
              <a:gd fmla="val 3711" name="adj1"/>
              <a:gd fmla="val 0" name="adj2"/>
            </a:avLst>
          </a:prstGeom>
          <a:solidFill>
            <a:srgbClr val="D8C5D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02" name="Google Shape;102;p27"/>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urgundy 1">
  <p:cSld name="SECTION_HEADER_4_1_1_1">
    <p:spTree>
      <p:nvGrpSpPr>
        <p:cNvPr id="103" name="Shape 103"/>
        <p:cNvGrpSpPr/>
        <p:nvPr/>
      </p:nvGrpSpPr>
      <p:grpSpPr>
        <a:xfrm>
          <a:off x="0" y="0"/>
          <a:ext cx="0" cy="0"/>
          <a:chOff x="0" y="0"/>
          <a:chExt cx="0" cy="0"/>
        </a:xfrm>
      </p:grpSpPr>
      <p:sp>
        <p:nvSpPr>
          <p:cNvPr id="104" name="Google Shape;104;p28"/>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28"/>
          <p:cNvSpPr/>
          <p:nvPr/>
        </p:nvSpPr>
        <p:spPr>
          <a:xfrm flipH="1" rot="5400000">
            <a:off x="-979800" y="971550"/>
            <a:ext cx="5160000" cy="3200400"/>
          </a:xfrm>
          <a:prstGeom prst="round2SameRect">
            <a:avLst>
              <a:gd fmla="val 0" name="adj1"/>
              <a:gd fmla="val 0" name="adj2"/>
            </a:avLst>
          </a:prstGeom>
          <a:solidFill>
            <a:schemeClr val="dk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06" name="Google Shape;106;p28"/>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urgundy 1 1">
  <p:cSld name="SECTION_HEADER_4_1_1_1_1">
    <p:bg>
      <p:bgPr>
        <a:solidFill>
          <a:schemeClr val="dk2"/>
        </a:solidFill>
      </p:bgPr>
    </p:bg>
    <p:spTree>
      <p:nvGrpSpPr>
        <p:cNvPr id="107" name="Shape 107"/>
        <p:cNvGrpSpPr/>
        <p:nvPr/>
      </p:nvGrpSpPr>
      <p:grpSpPr>
        <a:xfrm>
          <a:off x="0" y="0"/>
          <a:ext cx="0" cy="0"/>
          <a:chOff x="0" y="0"/>
          <a:chExt cx="0" cy="0"/>
        </a:xfrm>
      </p:grpSpPr>
      <p:sp>
        <p:nvSpPr>
          <p:cNvPr id="108" name="Google Shape;108;p29"/>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09" name="Google Shape;109;p29"/>
          <p:cNvSpPr/>
          <p:nvPr/>
        </p:nvSpPr>
        <p:spPr>
          <a:xfrm flipH="1" rot="5400000">
            <a:off x="-979800" y="971550"/>
            <a:ext cx="5160000" cy="3200400"/>
          </a:xfrm>
          <a:prstGeom prst="round2SameRect">
            <a:avLst>
              <a:gd fmla="val 0" name="adj1"/>
              <a:gd fmla="val 0" name="adj2"/>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10" name="Google Shape;110;p29"/>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Transparency Pattern">
  <p:cSld name="SECTION_HEADER_3">
    <p:spTree>
      <p:nvGrpSpPr>
        <p:cNvPr id="111" name="Shape 111"/>
        <p:cNvGrpSpPr/>
        <p:nvPr/>
      </p:nvGrpSpPr>
      <p:grpSpPr>
        <a:xfrm>
          <a:off x="0" y="0"/>
          <a:ext cx="0" cy="0"/>
          <a:chOff x="0" y="0"/>
          <a:chExt cx="0" cy="0"/>
        </a:xfrm>
      </p:grpSpPr>
      <p:pic>
        <p:nvPicPr>
          <p:cNvPr id="112" name="Google Shape;112;p30"/>
          <p:cNvPicPr preferRelativeResize="0"/>
          <p:nvPr/>
        </p:nvPicPr>
        <p:blipFill>
          <a:blip r:embed="rId2">
            <a:alphaModFix/>
          </a:blip>
          <a:stretch>
            <a:fillRect/>
          </a:stretch>
        </p:blipFill>
        <p:spPr>
          <a:xfrm>
            <a:off x="2723971" y="-1231413"/>
            <a:ext cx="8587677" cy="8594174"/>
          </a:xfrm>
          <a:prstGeom prst="rect">
            <a:avLst/>
          </a:prstGeom>
          <a:noFill/>
          <a:ln>
            <a:noFill/>
          </a:ln>
        </p:spPr>
      </p:pic>
      <p:sp>
        <p:nvSpPr>
          <p:cNvPr id="113" name="Google Shape;113;p30"/>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14" name="Google Shape;114;p30"/>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Light">
  <p:cSld name="SECTION_HEADER_2">
    <p:spTree>
      <p:nvGrpSpPr>
        <p:cNvPr id="115" name="Shape 115"/>
        <p:cNvGrpSpPr/>
        <p:nvPr/>
      </p:nvGrpSpPr>
      <p:grpSpPr>
        <a:xfrm>
          <a:off x="0" y="0"/>
          <a:ext cx="0" cy="0"/>
          <a:chOff x="0" y="0"/>
          <a:chExt cx="0" cy="0"/>
        </a:xfrm>
      </p:grpSpPr>
      <p:pic>
        <p:nvPicPr>
          <p:cNvPr id="116" name="Google Shape;116;p31"/>
          <p:cNvPicPr preferRelativeResize="0"/>
          <p:nvPr/>
        </p:nvPicPr>
        <p:blipFill rotWithShape="1">
          <a:blip r:embed="rId2">
            <a:alphaModFix amt="27000"/>
          </a:blip>
          <a:srcRect b="26243" l="0" r="0" t="0"/>
          <a:stretch/>
        </p:blipFill>
        <p:spPr>
          <a:xfrm>
            <a:off x="0" y="0"/>
            <a:ext cx="9144000" cy="5143499"/>
          </a:xfrm>
          <a:prstGeom prst="rect">
            <a:avLst/>
          </a:prstGeom>
          <a:noFill/>
          <a:ln>
            <a:noFill/>
          </a:ln>
        </p:spPr>
      </p:pic>
      <p:sp>
        <p:nvSpPr>
          <p:cNvPr id="117" name="Google Shape;117;p31"/>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18" name="Google Shape;118;p31"/>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Dark">
  <p:cSld name="SECTION_HEADER_1">
    <p:bg>
      <p:bgPr>
        <a:solidFill>
          <a:srgbClr val="294489"/>
        </a:solidFill>
      </p:bgPr>
    </p:bg>
    <p:spTree>
      <p:nvGrpSpPr>
        <p:cNvPr id="119" name="Shape 119"/>
        <p:cNvGrpSpPr/>
        <p:nvPr/>
      </p:nvGrpSpPr>
      <p:grpSpPr>
        <a:xfrm>
          <a:off x="0" y="0"/>
          <a:ext cx="0" cy="0"/>
          <a:chOff x="0" y="0"/>
          <a:chExt cx="0" cy="0"/>
        </a:xfrm>
      </p:grpSpPr>
      <p:sp>
        <p:nvSpPr>
          <p:cNvPr id="120" name="Google Shape;120;p32"/>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Dark 1">
  <p:cSld name="SECTION_HEADER_1_1">
    <p:bg>
      <p:bgPr>
        <a:solidFill>
          <a:srgbClr val="294489"/>
        </a:solidFill>
      </p:bgPr>
    </p:bg>
    <p:spTree>
      <p:nvGrpSpPr>
        <p:cNvPr id="121" name="Shape 121"/>
        <p:cNvGrpSpPr/>
        <p:nvPr/>
      </p:nvGrpSpPr>
      <p:grpSpPr>
        <a:xfrm>
          <a:off x="0" y="0"/>
          <a:ext cx="0" cy="0"/>
          <a:chOff x="0" y="0"/>
          <a:chExt cx="0" cy="0"/>
        </a:xfrm>
      </p:grpSpPr>
      <p:sp>
        <p:nvSpPr>
          <p:cNvPr id="122" name="Google Shape;122;p33"/>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23" name="Google Shape;123;p33"/>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4" name="Shape 124"/>
        <p:cNvGrpSpPr/>
        <p:nvPr/>
      </p:nvGrpSpPr>
      <p:grpSpPr>
        <a:xfrm>
          <a:off x="0" y="0"/>
          <a:ext cx="0" cy="0"/>
          <a:chOff x="0" y="0"/>
          <a:chExt cx="0" cy="0"/>
        </a:xfrm>
      </p:grpSpPr>
      <p:sp>
        <p:nvSpPr>
          <p:cNvPr id="125" name="Google Shape;125;p34"/>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Clr>
                <a:srgbClr val="650C4C"/>
              </a:buClr>
              <a:buSzPts val="3600"/>
              <a:buFont typeface="Manrope"/>
              <a:buChar char="●"/>
              <a:defRPr b="1" sz="3600">
                <a:solidFill>
                  <a:srgbClr val="650C4C"/>
                </a:solidFill>
                <a:latin typeface="Manrope"/>
                <a:ea typeface="Manrope"/>
                <a:cs typeface="Manrope"/>
                <a:sym typeface="Manrope"/>
              </a:defRPr>
            </a:lvl1pPr>
            <a:lvl2pPr lvl="1"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2pPr>
            <a:lvl3pPr lvl="2"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3pPr>
            <a:lvl4pPr lvl="3"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4pPr>
            <a:lvl5pPr lvl="4"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5pPr>
            <a:lvl6pPr lvl="5"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6pPr>
            <a:lvl7pPr lvl="6"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7pPr>
            <a:lvl8pPr lvl="7"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8pPr>
            <a:lvl9pPr lvl="8"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9pPr>
          </a:lstStyle>
          <a:p/>
        </p:txBody>
      </p:sp>
      <p:sp>
        <p:nvSpPr>
          <p:cNvPr id="126" name="Google Shape;126;p34"/>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1pPr>
            <a:lvl2pPr indent="-317500" lvl="1" marL="9144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2pPr>
            <a:lvl3pPr indent="-317500" lvl="2" marL="13716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3pPr>
            <a:lvl4pPr indent="-317500" lvl="3" marL="18288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4pPr>
            <a:lvl5pPr indent="-317500" lvl="4" marL="22860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5pPr>
            <a:lvl6pPr indent="-317500" lvl="5" marL="27432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6pPr>
            <a:lvl7pPr indent="-317500" lvl="6" marL="32004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7pPr>
            <a:lvl8pPr indent="-317500" lvl="7" marL="36576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8pPr>
            <a:lvl9pPr indent="-317500" lvl="8" marL="41148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9pPr>
          </a:lstStyle>
          <a:p/>
        </p:txBody>
      </p:sp>
      <p:sp>
        <p:nvSpPr>
          <p:cNvPr id="127" name="Google Shape;127;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11" Type="http://schemas.openxmlformats.org/officeDocument/2006/relationships/slideLayout" Target="../slideLayouts/slideLayout22.xml"/><Relationship Id="rId22" Type="http://schemas.openxmlformats.org/officeDocument/2006/relationships/slideLayout" Target="../slideLayouts/slideLayout33.xml"/><Relationship Id="rId10" Type="http://schemas.openxmlformats.org/officeDocument/2006/relationships/slideLayout" Target="../slideLayouts/slideLayout21.xml"/><Relationship Id="rId21" Type="http://schemas.openxmlformats.org/officeDocument/2006/relationships/slideLayout" Target="../slideLayouts/slideLayout32.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23" Type="http://schemas.openxmlformats.org/officeDocument/2006/relationships/theme" Target="../theme/theme1.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 Id="rId3" Type="http://schemas.openxmlformats.org/officeDocument/2006/relationships/hyperlink" Target="https://humanfirst.ai"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7.png"/><Relationship Id="rId5" Type="http://schemas.openxmlformats.org/officeDocument/2006/relationships/image" Target="../media/image12.png"/><Relationship Id="rId6" Type="http://schemas.openxmlformats.org/officeDocument/2006/relationships/image" Target="../media/image10.png"/><Relationship Id="rId7"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hyperlink" Target="https://pypi.org/project/humanfirst/" TargetMode="External"/><Relationship Id="rId4" Type="http://schemas.openxmlformats.org/officeDocument/2006/relationships/image" Target="../media/image9.png"/><Relationship Id="rId5"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 Id="rId3" Type="http://schemas.openxmlformats.org/officeDocument/2006/relationships/image" Target="../media/image18.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 Id="rId3"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4A"/>
        </a:solidFill>
      </p:bgPr>
    </p:bg>
    <p:spTree>
      <p:nvGrpSpPr>
        <p:cNvPr id="133" name="Shape 133"/>
        <p:cNvGrpSpPr/>
        <p:nvPr/>
      </p:nvGrpSpPr>
      <p:grpSpPr>
        <a:xfrm>
          <a:off x="0" y="0"/>
          <a:ext cx="0" cy="0"/>
          <a:chOff x="0" y="0"/>
          <a:chExt cx="0" cy="0"/>
        </a:xfrm>
      </p:grpSpPr>
      <p:pic>
        <p:nvPicPr>
          <p:cNvPr id="134" name="Google Shape;134;p36"/>
          <p:cNvPicPr preferRelativeResize="0"/>
          <p:nvPr/>
        </p:nvPicPr>
        <p:blipFill rotWithShape="1">
          <a:blip r:embed="rId3">
            <a:alphaModFix/>
          </a:blip>
          <a:srcRect b="0" l="0" r="0" t="0"/>
          <a:stretch/>
        </p:blipFill>
        <p:spPr>
          <a:xfrm>
            <a:off x="4000499" y="0"/>
            <a:ext cx="5143501" cy="5143501"/>
          </a:xfrm>
          <a:prstGeom prst="rect">
            <a:avLst/>
          </a:prstGeom>
          <a:noFill/>
          <a:ln>
            <a:noFill/>
          </a:ln>
        </p:spPr>
      </p:pic>
      <p:sp>
        <p:nvSpPr>
          <p:cNvPr id="135" name="Google Shape;135;p36"/>
          <p:cNvSpPr txBox="1"/>
          <p:nvPr/>
        </p:nvSpPr>
        <p:spPr>
          <a:xfrm>
            <a:off x="333650" y="1925250"/>
            <a:ext cx="7464300" cy="129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Overview of HumanFirst Functions</a:t>
            </a:r>
            <a:br>
              <a:rPr lang="en" sz="3600">
                <a:solidFill>
                  <a:schemeClr val="lt1"/>
                </a:solidFill>
                <a:latin typeface="Manrope SemiBold"/>
                <a:ea typeface="Manrope SemiBold"/>
                <a:cs typeface="Manrope SemiBold"/>
                <a:sym typeface="Manrope SemiBold"/>
              </a:rPr>
            </a:br>
            <a:r>
              <a:rPr lang="en" sz="1800">
                <a:solidFill>
                  <a:schemeClr val="lt1"/>
                </a:solidFill>
                <a:latin typeface="Manrope SemiBold"/>
                <a:ea typeface="Manrope SemiBold"/>
                <a:cs typeface="Manrope SemiBold"/>
                <a:sym typeface="Manrope SemiBold"/>
              </a:rPr>
              <a:t>Definity</a:t>
            </a:r>
            <a:endParaRPr sz="1800">
              <a:solidFill>
                <a:schemeClr val="lt1"/>
              </a:solidFill>
              <a:latin typeface="Manrope SemiBold"/>
              <a:ea typeface="Manrope SemiBold"/>
              <a:cs typeface="Manrope SemiBold"/>
              <a:sym typeface="Manrope SemiBold"/>
            </a:endParaRPr>
          </a:p>
        </p:txBody>
      </p:sp>
      <p:pic>
        <p:nvPicPr>
          <p:cNvPr id="136" name="Google Shape;136;p36"/>
          <p:cNvPicPr preferRelativeResize="0"/>
          <p:nvPr/>
        </p:nvPicPr>
        <p:blipFill>
          <a:blip r:embed="rId4">
            <a:alphaModFix/>
          </a:blip>
          <a:stretch>
            <a:fillRect/>
          </a:stretch>
        </p:blipFill>
        <p:spPr>
          <a:xfrm>
            <a:off x="333650" y="339750"/>
            <a:ext cx="1941901" cy="461000"/>
          </a:xfrm>
          <a:prstGeom prst="rect">
            <a:avLst/>
          </a:prstGeom>
          <a:noFill/>
          <a:ln>
            <a:noFill/>
          </a:ln>
        </p:spPr>
      </p:pic>
      <p:sp>
        <p:nvSpPr>
          <p:cNvPr id="137" name="Google Shape;137;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7"/>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3" name="Google Shape;143;p37"/>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44" name="Google Shape;144;p37"/>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Agenda</a:t>
            </a:r>
            <a:endParaRPr sz="3500"/>
          </a:p>
        </p:txBody>
      </p:sp>
      <p:sp>
        <p:nvSpPr>
          <p:cNvPr id="145" name="Google Shape;145;p37"/>
          <p:cNvSpPr txBox="1"/>
          <p:nvPr/>
        </p:nvSpPr>
        <p:spPr>
          <a:xfrm>
            <a:off x="807238" y="1356638"/>
            <a:ext cx="13443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900">
              <a:solidFill>
                <a:srgbClr val="475067"/>
              </a:solidFill>
            </a:endParaRPr>
          </a:p>
        </p:txBody>
      </p:sp>
      <p:sp>
        <p:nvSpPr>
          <p:cNvPr id="146" name="Google Shape;146;p37"/>
          <p:cNvSpPr txBox="1"/>
          <p:nvPr>
            <p:ph idx="1" type="body"/>
          </p:nvPr>
        </p:nvSpPr>
        <p:spPr>
          <a:xfrm>
            <a:off x="668100" y="1119900"/>
            <a:ext cx="7546200" cy="3552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What is HumanFirst and Prompt x Data (PxD)?</a:t>
            </a:r>
            <a:endParaRPr/>
          </a:p>
          <a:p>
            <a:pPr indent="-317500" lvl="0" marL="457200" rtl="0" algn="l">
              <a:spcBef>
                <a:spcPts val="0"/>
              </a:spcBef>
              <a:spcAft>
                <a:spcPts val="0"/>
              </a:spcAft>
              <a:buSzPts val="1400"/>
              <a:buChar char="●"/>
            </a:pPr>
            <a:r>
              <a:rPr lang="en"/>
              <a:t>Overview of Definity’s HumanFirst.ai subscription and support level</a:t>
            </a:r>
            <a:endParaRPr/>
          </a:p>
          <a:p>
            <a:pPr indent="-317500" lvl="0" marL="457200" rtl="0" algn="l">
              <a:spcBef>
                <a:spcPts val="0"/>
              </a:spcBef>
              <a:spcAft>
                <a:spcPts val="0"/>
              </a:spcAft>
              <a:buSzPts val="1400"/>
              <a:buChar char="●"/>
            </a:pPr>
            <a:r>
              <a:rPr lang="en"/>
              <a:t>How HumanFirst.ai is installed for Definity</a:t>
            </a:r>
            <a:endParaRPr/>
          </a:p>
          <a:p>
            <a:pPr indent="-317500" lvl="0" marL="457200" rtl="0" algn="l">
              <a:spcBef>
                <a:spcPts val="0"/>
              </a:spcBef>
              <a:spcAft>
                <a:spcPts val="0"/>
              </a:spcAft>
              <a:buSzPts val="1400"/>
              <a:buChar char="●"/>
            </a:pPr>
            <a:r>
              <a:rPr lang="en"/>
              <a:t>Key conceptual flow within HF</a:t>
            </a:r>
            <a:endParaRPr/>
          </a:p>
          <a:p>
            <a:pPr indent="-317500" lvl="0" marL="457200" rtl="0" algn="l">
              <a:spcBef>
                <a:spcPts val="0"/>
              </a:spcBef>
              <a:spcAft>
                <a:spcPts val="0"/>
              </a:spcAft>
              <a:buSzPts val="1400"/>
              <a:buChar char="●"/>
            </a:pPr>
            <a:r>
              <a:rPr lang="en"/>
              <a:t>Practical Examples</a:t>
            </a:r>
            <a:endParaRPr/>
          </a:p>
          <a:p>
            <a:pPr indent="-317500" lvl="1" marL="914400" rtl="0" algn="l">
              <a:spcBef>
                <a:spcPts val="0"/>
              </a:spcBef>
              <a:spcAft>
                <a:spcPts val="0"/>
              </a:spcAft>
              <a:buSzPts val="1400"/>
              <a:buChar char="○"/>
            </a:pPr>
            <a:r>
              <a:rPr lang="en"/>
              <a:t>Data in</a:t>
            </a:r>
            <a:endParaRPr/>
          </a:p>
          <a:p>
            <a:pPr indent="-317500" lvl="1" marL="914400" rtl="0" algn="l">
              <a:spcBef>
                <a:spcPts val="0"/>
              </a:spcBef>
              <a:spcAft>
                <a:spcPts val="0"/>
              </a:spcAft>
              <a:buSzPts val="1400"/>
              <a:buChar char="○"/>
            </a:pPr>
            <a:r>
              <a:rPr lang="en"/>
              <a:t>Prompt</a:t>
            </a:r>
            <a:endParaRPr/>
          </a:p>
          <a:p>
            <a:pPr indent="-317500" lvl="1" marL="914400" rtl="0" algn="l">
              <a:spcBef>
                <a:spcPts val="0"/>
              </a:spcBef>
              <a:spcAft>
                <a:spcPts val="0"/>
              </a:spcAft>
              <a:buSzPts val="1400"/>
              <a:buChar char="○"/>
            </a:pPr>
            <a:r>
              <a:rPr lang="en"/>
              <a:t>Insights</a:t>
            </a:r>
            <a:endParaRPr/>
          </a:p>
          <a:p>
            <a:pPr indent="-317500" lvl="1" marL="914400" rtl="0" algn="l">
              <a:spcBef>
                <a:spcPts val="0"/>
              </a:spcBef>
              <a:spcAft>
                <a:spcPts val="0"/>
              </a:spcAft>
              <a:buSzPts val="1400"/>
              <a:buChar char="○"/>
            </a:pPr>
            <a:r>
              <a:rPr lang="en"/>
              <a:t>Pipeline</a:t>
            </a:r>
            <a:endParaRPr/>
          </a:p>
          <a:p>
            <a:pPr indent="-317500" lvl="1" marL="914400" rtl="0" algn="l">
              <a:spcBef>
                <a:spcPts val="0"/>
              </a:spcBef>
              <a:spcAft>
                <a:spcPts val="0"/>
              </a:spcAft>
              <a:buSzPts val="1400"/>
              <a:buChar char="○"/>
            </a:pPr>
            <a:r>
              <a:rPr lang="en"/>
              <a:t>Classification Model</a:t>
            </a:r>
            <a:endParaRPr/>
          </a:p>
          <a:p>
            <a:pPr indent="-317500" lvl="1" marL="914400" rtl="0" algn="l">
              <a:spcBef>
                <a:spcPts val="0"/>
              </a:spcBef>
              <a:spcAft>
                <a:spcPts val="0"/>
              </a:spcAft>
              <a:buSzPts val="1400"/>
              <a:buChar char="○"/>
            </a:pPr>
            <a:r>
              <a:rPr lang="en"/>
              <a:t>Data exploration</a:t>
            </a:r>
            <a:endParaRPr/>
          </a:p>
          <a:p>
            <a:pPr indent="-317500" lvl="1" marL="914400" rtl="0" algn="l">
              <a:spcBef>
                <a:spcPts val="0"/>
              </a:spcBef>
              <a:spcAft>
                <a:spcPts val="0"/>
              </a:spcAft>
              <a:buSzPts val="1400"/>
              <a:buChar char="○"/>
            </a:pPr>
            <a:r>
              <a:rPr lang="en"/>
              <a:t>Visualisation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38"/>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52" name="Google Shape;152;p38"/>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53" name="Google Shape;153;p38"/>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u="sng">
                <a:solidFill>
                  <a:schemeClr val="hlink"/>
                </a:solidFill>
                <a:hlinkClick r:id="rId3"/>
              </a:rPr>
              <a:t>https://HumanFirst.ai</a:t>
            </a:r>
            <a:endParaRPr sz="3500"/>
          </a:p>
          <a:p>
            <a:pPr indent="0" lvl="0" marL="0" rtl="0" algn="l">
              <a:spcBef>
                <a:spcPts val="0"/>
              </a:spcBef>
              <a:spcAft>
                <a:spcPts val="0"/>
              </a:spcAft>
              <a:buNone/>
            </a:pPr>
            <a:r>
              <a:t/>
            </a:r>
            <a:endParaRPr sz="3500"/>
          </a:p>
        </p:txBody>
      </p:sp>
      <p:sp>
        <p:nvSpPr>
          <p:cNvPr id="154" name="Google Shape;154;p38"/>
          <p:cNvSpPr txBox="1"/>
          <p:nvPr/>
        </p:nvSpPr>
        <p:spPr>
          <a:xfrm>
            <a:off x="807238" y="1356638"/>
            <a:ext cx="13443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900">
              <a:solidFill>
                <a:srgbClr val="475067"/>
              </a:solidFill>
            </a:endParaRPr>
          </a:p>
        </p:txBody>
      </p:sp>
      <p:sp>
        <p:nvSpPr>
          <p:cNvPr id="155" name="Google Shape;155;p38"/>
          <p:cNvSpPr txBox="1"/>
          <p:nvPr>
            <p:ph idx="1" type="body"/>
          </p:nvPr>
        </p:nvSpPr>
        <p:spPr>
          <a:xfrm>
            <a:off x="668100" y="1119900"/>
            <a:ext cx="7546200" cy="355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br>
              <a:rPr lang="en"/>
            </a:br>
            <a:r>
              <a:rPr lang="en"/>
              <a:t>A horizontal Prompt and Data (PxD) suite for building AI systems you can trust.</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b="1" lang="en"/>
              <a:t>LLM Model family agnostic </a:t>
            </a:r>
            <a:endParaRPr b="1"/>
          </a:p>
          <a:p>
            <a:pPr indent="-317500" lvl="1" marL="914400" rtl="0" algn="l">
              <a:spcBef>
                <a:spcPts val="0"/>
              </a:spcBef>
              <a:spcAft>
                <a:spcPts val="0"/>
              </a:spcAft>
              <a:buSzPts val="1400"/>
              <a:buChar char="○"/>
            </a:pPr>
            <a:r>
              <a:rPr lang="en"/>
              <a:t>Google, Anthropic, OpenAi, Co:here…</a:t>
            </a:r>
            <a:endParaRPr/>
          </a:p>
          <a:p>
            <a:pPr indent="-317500" lvl="0" marL="457200" rtl="0" algn="l">
              <a:spcBef>
                <a:spcPts val="0"/>
              </a:spcBef>
              <a:spcAft>
                <a:spcPts val="0"/>
              </a:spcAft>
              <a:buSzPts val="1400"/>
              <a:buChar char="●"/>
            </a:pPr>
            <a:r>
              <a:rPr b="1" lang="en"/>
              <a:t>Work across</a:t>
            </a:r>
            <a:r>
              <a:rPr b="1" lang="en"/>
              <a:t> wide variety of input material</a:t>
            </a:r>
            <a:endParaRPr b="1"/>
          </a:p>
          <a:p>
            <a:pPr indent="-317500" lvl="1" marL="914400" rtl="0" algn="l">
              <a:spcBef>
                <a:spcPts val="0"/>
              </a:spcBef>
              <a:spcAft>
                <a:spcPts val="0"/>
              </a:spcAft>
              <a:buSzPts val="1400"/>
              <a:buChar char="○"/>
            </a:pPr>
            <a:r>
              <a:rPr lang="en"/>
              <a:t>not limited to any one vertical use case or type of data</a:t>
            </a:r>
            <a:endParaRPr/>
          </a:p>
          <a:p>
            <a:pPr indent="-317500" lvl="0" marL="457200" rtl="0" algn="l">
              <a:spcBef>
                <a:spcPts val="0"/>
              </a:spcBef>
              <a:spcAft>
                <a:spcPts val="0"/>
              </a:spcAft>
              <a:buSzPts val="1400"/>
              <a:buChar char="●"/>
            </a:pPr>
            <a:r>
              <a:rPr b="1" lang="en"/>
              <a:t>Pipeline management across large datasets</a:t>
            </a:r>
            <a:endParaRPr b="1"/>
          </a:p>
          <a:p>
            <a:pPr indent="-317500" lvl="1" marL="914400" rtl="0" algn="l">
              <a:spcBef>
                <a:spcPts val="0"/>
              </a:spcBef>
              <a:spcAft>
                <a:spcPts val="0"/>
              </a:spcAft>
              <a:buSzPts val="1400"/>
              <a:buChar char="○"/>
            </a:pPr>
            <a:r>
              <a:rPr lang="en"/>
              <a:t>Keep a data set enriched with derived insight</a:t>
            </a:r>
            <a:endParaRPr/>
          </a:p>
          <a:p>
            <a:pPr indent="-317500" lvl="0" marL="457200" rtl="0" algn="l">
              <a:spcBef>
                <a:spcPts val="0"/>
              </a:spcBef>
              <a:spcAft>
                <a:spcPts val="0"/>
              </a:spcAft>
              <a:buSzPts val="1400"/>
              <a:buChar char="●"/>
            </a:pPr>
            <a:r>
              <a:rPr b="1" lang="en"/>
              <a:t>Prompt and </a:t>
            </a:r>
            <a:r>
              <a:rPr b="1" lang="en"/>
              <a:t>Classifier design</a:t>
            </a:r>
            <a:endParaRPr b="1"/>
          </a:p>
          <a:p>
            <a:pPr indent="-317500" lvl="1" marL="914400" rtl="0" algn="l">
              <a:spcBef>
                <a:spcPts val="0"/>
              </a:spcBef>
              <a:spcAft>
                <a:spcPts val="0"/>
              </a:spcAft>
              <a:buSzPts val="1400"/>
              <a:buChar char="○"/>
            </a:pPr>
            <a:r>
              <a:rPr lang="en"/>
              <a:t>Derive complex structured insight from unstructured data</a:t>
            </a:r>
            <a:endParaRPr/>
          </a:p>
          <a:p>
            <a:pPr indent="-317500" lvl="1" marL="914400" rtl="0" algn="l">
              <a:spcBef>
                <a:spcPts val="0"/>
              </a:spcBef>
              <a:spcAft>
                <a:spcPts val="0"/>
              </a:spcAft>
              <a:buSzPts val="1400"/>
              <a:buChar char="○"/>
            </a:pPr>
            <a:r>
              <a:rPr lang="en"/>
              <a:t>Reduce the number of classes an LLM provides to a taxonomy meeting your objectives</a:t>
            </a:r>
            <a:endParaRPr/>
          </a:p>
          <a:p>
            <a:pPr indent="-317500" lvl="0" marL="457200" rtl="0" algn="l">
              <a:spcBef>
                <a:spcPts val="0"/>
              </a:spcBef>
              <a:spcAft>
                <a:spcPts val="0"/>
              </a:spcAft>
              <a:buSzPts val="1400"/>
              <a:buChar char="●"/>
            </a:pPr>
            <a:r>
              <a:rPr b="1" lang="en"/>
              <a:t>Maintain and evolve your solution</a:t>
            </a:r>
            <a:endParaRPr b="1"/>
          </a:p>
          <a:p>
            <a:pPr indent="-317500" lvl="1" marL="914400" rtl="0" algn="l">
              <a:spcBef>
                <a:spcPts val="0"/>
              </a:spcBef>
              <a:spcAft>
                <a:spcPts val="0"/>
              </a:spcAft>
              <a:buSzPts val="1400"/>
              <a:buChar char="○"/>
            </a:pPr>
            <a:r>
              <a:rPr lang="en"/>
              <a:t>Expand granularity, cover new business releases, track model drift.</a:t>
            </a:r>
            <a:endParaRPr/>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9"/>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1" name="Google Shape;161;p39"/>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62" name="Google Shape;162;p39"/>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Subscription Overview</a:t>
            </a:r>
            <a:endParaRPr sz="3500"/>
          </a:p>
          <a:p>
            <a:pPr indent="0" lvl="0" marL="0" rtl="0" algn="l">
              <a:spcBef>
                <a:spcPts val="0"/>
              </a:spcBef>
              <a:spcAft>
                <a:spcPts val="0"/>
              </a:spcAft>
              <a:buNone/>
            </a:pPr>
            <a:r>
              <a:t/>
            </a:r>
            <a:endParaRPr sz="3500"/>
          </a:p>
        </p:txBody>
      </p:sp>
      <p:sp>
        <p:nvSpPr>
          <p:cNvPr id="163" name="Google Shape;163;p39"/>
          <p:cNvSpPr txBox="1"/>
          <p:nvPr/>
        </p:nvSpPr>
        <p:spPr>
          <a:xfrm>
            <a:off x="807238" y="1356638"/>
            <a:ext cx="13443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900">
              <a:solidFill>
                <a:srgbClr val="475067"/>
              </a:solidFill>
            </a:endParaRPr>
          </a:p>
        </p:txBody>
      </p:sp>
      <p:sp>
        <p:nvSpPr>
          <p:cNvPr id="164" name="Google Shape;164;p39"/>
          <p:cNvSpPr txBox="1"/>
          <p:nvPr>
            <p:ph idx="1" type="body"/>
          </p:nvPr>
        </p:nvSpPr>
        <p:spPr>
          <a:xfrm>
            <a:off x="668100" y="1119900"/>
            <a:ext cx="7546200" cy="355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b="1" lang="en"/>
              <a:t>5 named users</a:t>
            </a:r>
            <a:endParaRPr b="1"/>
          </a:p>
          <a:p>
            <a:pPr indent="-317500" lvl="1" marL="914400" rtl="0" algn="l">
              <a:spcBef>
                <a:spcPts val="0"/>
              </a:spcBef>
              <a:spcAft>
                <a:spcPts val="0"/>
              </a:spcAft>
              <a:buSzPts val="1400"/>
              <a:buChar char="○"/>
            </a:pPr>
            <a:r>
              <a:rPr lang="en"/>
              <a:t>Write/Admin</a:t>
            </a:r>
            <a:endParaRPr/>
          </a:p>
          <a:p>
            <a:pPr indent="-317500" lvl="0" marL="457200" rtl="0" algn="l">
              <a:spcBef>
                <a:spcPts val="0"/>
              </a:spcBef>
              <a:spcAft>
                <a:spcPts val="0"/>
              </a:spcAft>
              <a:buSzPts val="1400"/>
              <a:buChar char="●"/>
            </a:pPr>
            <a:r>
              <a:rPr b="1" lang="en"/>
              <a:t>Unlimited read only users </a:t>
            </a:r>
            <a:endParaRPr b="1"/>
          </a:p>
          <a:p>
            <a:pPr indent="-317500" lvl="1" marL="914400" rtl="0" algn="l">
              <a:spcBef>
                <a:spcPts val="0"/>
              </a:spcBef>
              <a:spcAft>
                <a:spcPts val="0"/>
              </a:spcAft>
              <a:buSzPts val="1400"/>
              <a:buChar char="○"/>
            </a:pPr>
            <a:r>
              <a:rPr lang="en"/>
              <a:t>fair use</a:t>
            </a:r>
            <a:endParaRPr/>
          </a:p>
          <a:p>
            <a:pPr indent="-317500" lvl="0" marL="457200" rtl="0" algn="l">
              <a:spcBef>
                <a:spcPts val="0"/>
              </a:spcBef>
              <a:spcAft>
                <a:spcPts val="0"/>
              </a:spcAft>
              <a:buSzPts val="1400"/>
              <a:buChar char="●"/>
            </a:pPr>
            <a:r>
              <a:rPr b="1" lang="en"/>
              <a:t>1 million documents stored at any one time.</a:t>
            </a:r>
            <a:endParaRPr b="1"/>
          </a:p>
          <a:p>
            <a:pPr indent="-317500" lvl="1" marL="914400" rtl="0" algn="l">
              <a:spcBef>
                <a:spcPts val="0"/>
              </a:spcBef>
              <a:spcAft>
                <a:spcPts val="0"/>
              </a:spcAft>
              <a:buSzPts val="1400"/>
              <a:buChar char="○"/>
            </a:pPr>
            <a:r>
              <a:rPr lang="en"/>
              <a:t>1 conversation of up to 1000 utterances = 1 document</a:t>
            </a:r>
            <a:endParaRPr/>
          </a:p>
          <a:p>
            <a:pPr indent="-317500" lvl="0" marL="457200" rtl="0" algn="l">
              <a:spcBef>
                <a:spcPts val="0"/>
              </a:spcBef>
              <a:spcAft>
                <a:spcPts val="0"/>
              </a:spcAft>
              <a:buSzPts val="1400"/>
              <a:buChar char="●"/>
            </a:pPr>
            <a:r>
              <a:rPr b="1" lang="en"/>
              <a:t>1 namespace</a:t>
            </a:r>
            <a:endParaRPr b="1"/>
          </a:p>
          <a:p>
            <a:pPr indent="-317500" lvl="1" marL="914400" rtl="0" algn="l">
              <a:spcBef>
                <a:spcPts val="0"/>
              </a:spcBef>
              <a:spcAft>
                <a:spcPts val="0"/>
              </a:spcAft>
              <a:buSzPts val="1400"/>
              <a:buChar char="○"/>
            </a:pPr>
            <a:r>
              <a:rPr lang="en"/>
              <a:t>agreed to raise this to accommodate multi namespaces</a:t>
            </a:r>
            <a:endParaRPr/>
          </a:p>
          <a:p>
            <a:pPr indent="-317500" lvl="0" marL="457200" rtl="0" algn="l">
              <a:spcBef>
                <a:spcPts val="0"/>
              </a:spcBef>
              <a:spcAft>
                <a:spcPts val="0"/>
              </a:spcAft>
              <a:buSzPts val="1400"/>
              <a:buChar char="●"/>
            </a:pPr>
            <a:r>
              <a:rPr b="1" lang="en"/>
              <a:t>Monthly 1h support workshop</a:t>
            </a:r>
            <a:endParaRPr b="1"/>
          </a:p>
          <a:p>
            <a:pPr indent="-317500" lvl="1" marL="914400" rtl="0" algn="l">
              <a:spcBef>
                <a:spcPts val="0"/>
              </a:spcBef>
              <a:spcAft>
                <a:spcPts val="0"/>
              </a:spcAft>
              <a:buSzPts val="1400"/>
              <a:buChar char="○"/>
            </a:pPr>
            <a:r>
              <a:rPr lang="en"/>
              <a:t>Post Deloitte delivery</a:t>
            </a:r>
            <a:endParaRPr/>
          </a:p>
          <a:p>
            <a:pPr indent="-317500" lvl="0" marL="457200" rtl="0" algn="l">
              <a:spcBef>
                <a:spcPts val="0"/>
              </a:spcBef>
              <a:spcAft>
                <a:spcPts val="0"/>
              </a:spcAft>
              <a:buSzPts val="1400"/>
              <a:buChar char="●"/>
            </a:pPr>
            <a:r>
              <a:rPr b="1" lang="en"/>
              <a:t>2 year term expires June 2026</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40"/>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70" name="Google Shape;170;p40"/>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71" name="Google Shape;171;p40"/>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Installation</a:t>
            </a:r>
            <a:endParaRPr sz="3500"/>
          </a:p>
          <a:p>
            <a:pPr indent="0" lvl="0" marL="0" rtl="0" algn="l">
              <a:spcBef>
                <a:spcPts val="0"/>
              </a:spcBef>
              <a:spcAft>
                <a:spcPts val="0"/>
              </a:spcAft>
              <a:buNone/>
            </a:pPr>
            <a:r>
              <a:t/>
            </a:r>
            <a:endParaRPr sz="3500"/>
          </a:p>
        </p:txBody>
      </p:sp>
      <p:sp>
        <p:nvSpPr>
          <p:cNvPr id="172" name="Google Shape;172;p40"/>
          <p:cNvSpPr txBox="1"/>
          <p:nvPr/>
        </p:nvSpPr>
        <p:spPr>
          <a:xfrm>
            <a:off x="807238" y="1356638"/>
            <a:ext cx="13443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900">
              <a:solidFill>
                <a:srgbClr val="475067"/>
              </a:solidFill>
            </a:endParaRPr>
          </a:p>
        </p:txBody>
      </p:sp>
      <p:sp>
        <p:nvSpPr>
          <p:cNvPr id="173" name="Google Shape;173;p40"/>
          <p:cNvSpPr txBox="1"/>
          <p:nvPr>
            <p:ph idx="1" type="body"/>
          </p:nvPr>
        </p:nvSpPr>
        <p:spPr>
          <a:xfrm>
            <a:off x="668100" y="1119900"/>
            <a:ext cx="7546200" cy="3552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Cloud based</a:t>
            </a:r>
            <a:endParaRPr/>
          </a:p>
          <a:p>
            <a:pPr indent="-317500" lvl="0" marL="457200" rtl="0" algn="l">
              <a:spcBef>
                <a:spcPts val="0"/>
              </a:spcBef>
              <a:spcAft>
                <a:spcPts val="0"/>
              </a:spcAft>
              <a:buSzPts val="1400"/>
              <a:buChar char="●"/>
            </a:pPr>
            <a:r>
              <a:rPr lang="en"/>
              <a:t>Dedicated Organisation “definity”</a:t>
            </a:r>
            <a:endParaRPr/>
          </a:p>
          <a:p>
            <a:pPr indent="-317500" lvl="0" marL="457200" rtl="0" algn="l">
              <a:spcBef>
                <a:spcPts val="0"/>
              </a:spcBef>
              <a:spcAft>
                <a:spcPts val="0"/>
              </a:spcAft>
              <a:buSzPts val="1400"/>
              <a:buChar char="●"/>
            </a:pPr>
            <a:r>
              <a:rPr lang="en"/>
              <a:t>Namespaces can have full data and access segregation</a:t>
            </a:r>
            <a:endParaRPr/>
          </a:p>
          <a:p>
            <a:pPr indent="-317500" lvl="1" marL="914400" rtl="0" algn="l">
              <a:spcBef>
                <a:spcPts val="0"/>
              </a:spcBef>
              <a:spcAft>
                <a:spcPts val="0"/>
              </a:spcAft>
              <a:buSzPts val="1400"/>
              <a:buChar char="○"/>
            </a:pPr>
            <a:r>
              <a:rPr lang="en"/>
              <a:t>HR v Finance</a:t>
            </a:r>
            <a:endParaRPr/>
          </a:p>
          <a:p>
            <a:pPr indent="-317500" lvl="1" marL="914400" rtl="0" algn="l">
              <a:spcBef>
                <a:spcPts val="0"/>
              </a:spcBef>
              <a:spcAft>
                <a:spcPts val="0"/>
              </a:spcAft>
              <a:buSzPts val="1400"/>
              <a:buChar char="○"/>
            </a:pPr>
            <a:r>
              <a:rPr lang="en"/>
              <a:t>Prod v Dev</a:t>
            </a:r>
            <a:endParaRPr/>
          </a:p>
          <a:p>
            <a:pPr indent="-317500" lvl="0" marL="457200" rtl="0" algn="l">
              <a:spcBef>
                <a:spcPts val="0"/>
              </a:spcBef>
              <a:spcAft>
                <a:spcPts val="0"/>
              </a:spcAft>
              <a:buSzPts val="1400"/>
              <a:buChar char="●"/>
            </a:pPr>
            <a:r>
              <a:rPr lang="en"/>
              <a:t>Custom Single Sign on managed by Definity</a:t>
            </a:r>
            <a:endParaRPr/>
          </a:p>
          <a:p>
            <a:pPr indent="-317500" lvl="1" marL="914400" rtl="0" algn="l">
              <a:spcBef>
                <a:spcPts val="0"/>
              </a:spcBef>
              <a:spcAft>
                <a:spcPts val="0"/>
              </a:spcAft>
              <a:buSzPts val="1400"/>
              <a:buChar char="○"/>
            </a:pPr>
            <a:r>
              <a:rPr lang="en"/>
              <a:t>Users can’t be added through the gui directly </a:t>
            </a:r>
            <a:endParaRPr/>
          </a:p>
          <a:p>
            <a:pPr indent="-317500" lvl="1" marL="914400" rtl="0" algn="l">
              <a:spcBef>
                <a:spcPts val="0"/>
              </a:spcBef>
              <a:spcAft>
                <a:spcPts val="0"/>
              </a:spcAft>
              <a:buSzPts val="1400"/>
              <a:buChar char="○"/>
            </a:pPr>
            <a:r>
              <a:rPr lang="en"/>
              <a:t>they must be managed in Definity active directory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b="1"/>
          </a:p>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41"/>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79" name="Google Shape;179;p41"/>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80" name="Google Shape;180;p41"/>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Conceptual Flow in HF</a:t>
            </a:r>
            <a:endParaRPr sz="3500"/>
          </a:p>
          <a:p>
            <a:pPr indent="0" lvl="0" marL="0" rtl="0" algn="l">
              <a:spcBef>
                <a:spcPts val="0"/>
              </a:spcBef>
              <a:spcAft>
                <a:spcPts val="0"/>
              </a:spcAft>
              <a:buNone/>
            </a:pPr>
            <a:r>
              <a:t/>
            </a:r>
            <a:endParaRPr sz="3500"/>
          </a:p>
        </p:txBody>
      </p:sp>
      <p:pic>
        <p:nvPicPr>
          <p:cNvPr id="181" name="Google Shape;181;p41"/>
          <p:cNvPicPr preferRelativeResize="0"/>
          <p:nvPr/>
        </p:nvPicPr>
        <p:blipFill>
          <a:blip r:embed="rId3">
            <a:alphaModFix/>
          </a:blip>
          <a:stretch>
            <a:fillRect/>
          </a:stretch>
        </p:blipFill>
        <p:spPr>
          <a:xfrm>
            <a:off x="376463" y="1615137"/>
            <a:ext cx="1119825" cy="1119825"/>
          </a:xfrm>
          <a:prstGeom prst="rect">
            <a:avLst/>
          </a:prstGeom>
          <a:noFill/>
          <a:ln>
            <a:noFill/>
          </a:ln>
        </p:spPr>
      </p:pic>
      <p:sp>
        <p:nvSpPr>
          <p:cNvPr id="182" name="Google Shape;182;p41"/>
          <p:cNvSpPr txBox="1"/>
          <p:nvPr/>
        </p:nvSpPr>
        <p:spPr>
          <a:xfrm>
            <a:off x="71047" y="2921125"/>
            <a:ext cx="1730700" cy="583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Calls and Chat Transcripts are regularly loaded into HF forming a dataset</a:t>
            </a:r>
            <a:endParaRPr sz="1200"/>
          </a:p>
        </p:txBody>
      </p:sp>
      <p:pic>
        <p:nvPicPr>
          <p:cNvPr id="183" name="Google Shape;183;p41"/>
          <p:cNvPicPr preferRelativeResize="0"/>
          <p:nvPr/>
        </p:nvPicPr>
        <p:blipFill>
          <a:blip r:embed="rId4">
            <a:alphaModFix/>
          </a:blip>
          <a:stretch>
            <a:fillRect/>
          </a:stretch>
        </p:blipFill>
        <p:spPr>
          <a:xfrm>
            <a:off x="2414510" y="1842350"/>
            <a:ext cx="665400" cy="665400"/>
          </a:xfrm>
          <a:prstGeom prst="rect">
            <a:avLst/>
          </a:prstGeom>
          <a:noFill/>
          <a:ln>
            <a:noFill/>
          </a:ln>
        </p:spPr>
      </p:pic>
      <p:sp>
        <p:nvSpPr>
          <p:cNvPr id="184" name="Google Shape;184;p41"/>
          <p:cNvSpPr txBox="1"/>
          <p:nvPr/>
        </p:nvSpPr>
        <p:spPr>
          <a:xfrm>
            <a:off x="1803699" y="2921125"/>
            <a:ext cx="1887000" cy="583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A prompt guides theAI in reading the transcript and following business rules to extract some </a:t>
            </a:r>
            <a:r>
              <a:rPr lang="en" sz="1200"/>
              <a:t>structured</a:t>
            </a:r>
            <a:r>
              <a:rPr lang="en" sz="1200"/>
              <a:t> data along with evidence for that decision</a:t>
            </a:r>
            <a:br>
              <a:rPr lang="en" sz="1200"/>
            </a:br>
            <a:endParaRPr sz="1200"/>
          </a:p>
        </p:txBody>
      </p:sp>
      <p:pic>
        <p:nvPicPr>
          <p:cNvPr id="185" name="Google Shape;185;p41"/>
          <p:cNvPicPr preferRelativeResize="0"/>
          <p:nvPr/>
        </p:nvPicPr>
        <p:blipFill>
          <a:blip r:embed="rId5">
            <a:alphaModFix/>
          </a:blip>
          <a:stretch>
            <a:fillRect/>
          </a:stretch>
        </p:blipFill>
        <p:spPr>
          <a:xfrm>
            <a:off x="4316041" y="1743925"/>
            <a:ext cx="922974" cy="922974"/>
          </a:xfrm>
          <a:prstGeom prst="rect">
            <a:avLst/>
          </a:prstGeom>
          <a:noFill/>
          <a:ln>
            <a:noFill/>
          </a:ln>
        </p:spPr>
      </p:pic>
      <p:sp>
        <p:nvSpPr>
          <p:cNvPr id="186" name="Google Shape;186;p41"/>
          <p:cNvSpPr txBox="1"/>
          <p:nvPr/>
        </p:nvSpPr>
        <p:spPr>
          <a:xfrm>
            <a:off x="3875124" y="2921125"/>
            <a:ext cx="1804800" cy="189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Pipeline provides caching and automation to maintain a view of that per-conversation insight across the whole dataset</a:t>
            </a:r>
            <a:endParaRPr sz="1200"/>
          </a:p>
        </p:txBody>
      </p:sp>
      <p:pic>
        <p:nvPicPr>
          <p:cNvPr id="187" name="Google Shape;187;p41"/>
          <p:cNvPicPr preferRelativeResize="0"/>
          <p:nvPr/>
        </p:nvPicPr>
        <p:blipFill>
          <a:blip r:embed="rId6">
            <a:alphaModFix/>
          </a:blip>
          <a:stretch>
            <a:fillRect/>
          </a:stretch>
        </p:blipFill>
        <p:spPr>
          <a:xfrm>
            <a:off x="6145332" y="1610175"/>
            <a:ext cx="1190475" cy="1190475"/>
          </a:xfrm>
          <a:prstGeom prst="rect">
            <a:avLst/>
          </a:prstGeom>
          <a:noFill/>
          <a:ln>
            <a:noFill/>
          </a:ln>
        </p:spPr>
      </p:pic>
      <p:sp>
        <p:nvSpPr>
          <p:cNvPr id="188" name="Google Shape;188;p41"/>
          <p:cNvSpPr txBox="1"/>
          <p:nvPr/>
        </p:nvSpPr>
        <p:spPr>
          <a:xfrm>
            <a:off x="5724004" y="2921125"/>
            <a:ext cx="2033100" cy="583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Classification maps the outputs into a hierarchical </a:t>
            </a:r>
            <a:r>
              <a:rPr lang="en" sz="1200"/>
              <a:t>taxonomy</a:t>
            </a:r>
            <a:r>
              <a:rPr lang="en" sz="1200"/>
              <a:t> depending on the intended data use</a:t>
            </a:r>
            <a:endParaRPr sz="1200"/>
          </a:p>
        </p:txBody>
      </p:sp>
      <p:pic>
        <p:nvPicPr>
          <p:cNvPr id="189" name="Google Shape;189;p41"/>
          <p:cNvPicPr preferRelativeResize="0"/>
          <p:nvPr/>
        </p:nvPicPr>
        <p:blipFill>
          <a:blip r:embed="rId7">
            <a:alphaModFix/>
          </a:blip>
          <a:stretch>
            <a:fillRect/>
          </a:stretch>
        </p:blipFill>
        <p:spPr>
          <a:xfrm>
            <a:off x="7948025" y="1835962"/>
            <a:ext cx="738900" cy="738900"/>
          </a:xfrm>
          <a:prstGeom prst="rect">
            <a:avLst/>
          </a:prstGeom>
          <a:noFill/>
          <a:ln>
            <a:noFill/>
          </a:ln>
        </p:spPr>
      </p:pic>
      <p:sp>
        <p:nvSpPr>
          <p:cNvPr id="190" name="Google Shape;190;p41"/>
          <p:cNvSpPr txBox="1"/>
          <p:nvPr/>
        </p:nvSpPr>
        <p:spPr>
          <a:xfrm>
            <a:off x="7508975" y="2921125"/>
            <a:ext cx="1617000" cy="111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Cluster</a:t>
            </a:r>
            <a:endParaRPr sz="1200"/>
          </a:p>
          <a:p>
            <a:pPr indent="0" lvl="0" marL="0" rtl="0" algn="ctr">
              <a:spcBef>
                <a:spcPts val="0"/>
              </a:spcBef>
              <a:spcAft>
                <a:spcPts val="0"/>
              </a:spcAft>
              <a:buNone/>
            </a:pPr>
            <a:r>
              <a:rPr lang="en" sz="1200"/>
              <a:t>Filter</a:t>
            </a:r>
            <a:endParaRPr sz="1200"/>
          </a:p>
          <a:p>
            <a:pPr indent="0" lvl="0" marL="0" rtl="0" algn="ctr">
              <a:spcBef>
                <a:spcPts val="0"/>
              </a:spcBef>
              <a:spcAft>
                <a:spcPts val="0"/>
              </a:spcAft>
              <a:buNone/>
            </a:pPr>
            <a:r>
              <a:rPr lang="en" sz="1200"/>
              <a:t>Explore</a:t>
            </a:r>
            <a:endParaRPr sz="1200"/>
          </a:p>
          <a:p>
            <a:pPr indent="0" lvl="0" marL="0" rtl="0" algn="ctr">
              <a:spcBef>
                <a:spcPts val="0"/>
              </a:spcBef>
              <a:spcAft>
                <a:spcPts val="0"/>
              </a:spcAft>
              <a:buNone/>
            </a:pPr>
            <a:r>
              <a:rPr lang="en" sz="1200"/>
              <a:t>Export</a:t>
            </a:r>
            <a:endParaRPr sz="1200"/>
          </a:p>
          <a:p>
            <a:pPr indent="0" lvl="0" marL="0" rtl="0" algn="ctr">
              <a:spcBef>
                <a:spcPts val="0"/>
              </a:spcBef>
              <a:spcAft>
                <a:spcPts val="0"/>
              </a:spcAft>
              <a:buNone/>
            </a:pPr>
            <a:r>
              <a:t/>
            </a:r>
            <a:endParaRPr sz="1200"/>
          </a:p>
          <a:p>
            <a:pPr indent="0" lvl="0" marL="0" rtl="0" algn="l">
              <a:spcBef>
                <a:spcPts val="0"/>
              </a:spcBef>
              <a:spcAft>
                <a:spcPts val="0"/>
              </a:spcAft>
              <a:buNone/>
            </a:pPr>
            <a:r>
              <a:rPr lang="en" sz="1200"/>
              <a:t>	</a:t>
            </a:r>
            <a:endParaRPr sz="1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42"/>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96" name="Google Shape;196;p42"/>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97" name="Google Shape;197;p42"/>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SDK or GUI</a:t>
            </a:r>
            <a:endParaRPr sz="3500"/>
          </a:p>
          <a:p>
            <a:pPr indent="0" lvl="0" marL="0" rtl="0" algn="l">
              <a:spcBef>
                <a:spcPts val="0"/>
              </a:spcBef>
              <a:spcAft>
                <a:spcPts val="0"/>
              </a:spcAft>
              <a:buNone/>
            </a:pPr>
            <a:r>
              <a:t/>
            </a:r>
            <a:endParaRPr sz="3500"/>
          </a:p>
        </p:txBody>
      </p:sp>
      <p:sp>
        <p:nvSpPr>
          <p:cNvPr id="198" name="Google Shape;198;p42"/>
          <p:cNvSpPr txBox="1"/>
          <p:nvPr/>
        </p:nvSpPr>
        <p:spPr>
          <a:xfrm>
            <a:off x="2553372" y="2932838"/>
            <a:ext cx="1730700" cy="583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Full Python SDK for building enterprise workflows</a:t>
            </a:r>
            <a:br>
              <a:rPr lang="en" sz="1200"/>
            </a:br>
            <a:br>
              <a:rPr lang="en" sz="1200"/>
            </a:br>
            <a:r>
              <a:rPr lang="en" sz="1200" u="sng">
                <a:solidFill>
                  <a:schemeClr val="hlink"/>
                </a:solidFill>
                <a:hlinkClick r:id="rId3"/>
              </a:rPr>
              <a:t>https://pypi.org/project/humanfirst/</a:t>
            </a:r>
            <a:endParaRPr sz="1200"/>
          </a:p>
          <a:p>
            <a:pPr indent="0" lvl="0" marL="0" rtl="0" algn="ctr">
              <a:spcBef>
                <a:spcPts val="0"/>
              </a:spcBef>
              <a:spcAft>
                <a:spcPts val="0"/>
              </a:spcAft>
              <a:buNone/>
            </a:pPr>
            <a:br>
              <a:rPr lang="en" sz="1200"/>
            </a:br>
            <a:br>
              <a:rPr lang="en" sz="1200"/>
            </a:br>
            <a:endParaRPr sz="1200"/>
          </a:p>
        </p:txBody>
      </p:sp>
      <p:sp>
        <p:nvSpPr>
          <p:cNvPr id="199" name="Google Shape;199;p42"/>
          <p:cNvSpPr txBox="1"/>
          <p:nvPr/>
        </p:nvSpPr>
        <p:spPr>
          <a:xfrm>
            <a:off x="4286024" y="2932838"/>
            <a:ext cx="1887000" cy="583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SDK organised the way the GUI is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rPr lang="en" sz="1200"/>
              <a:t>Interactively upload your datasets to</a:t>
            </a:r>
            <a:endParaRPr sz="1200"/>
          </a:p>
          <a:p>
            <a:pPr indent="0" lvl="0" marL="0" rtl="0" algn="ctr">
              <a:spcBef>
                <a:spcPts val="0"/>
              </a:spcBef>
              <a:spcAft>
                <a:spcPts val="0"/>
              </a:spcAft>
              <a:buNone/>
            </a:pPr>
            <a:r>
              <a:rPr lang="en" sz="1200"/>
              <a:t> explore more insights</a:t>
            </a:r>
            <a:br>
              <a:rPr lang="en" sz="1200"/>
            </a:br>
            <a:endParaRPr sz="1200"/>
          </a:p>
        </p:txBody>
      </p:sp>
      <p:pic>
        <p:nvPicPr>
          <p:cNvPr id="200" name="Google Shape;200;p42"/>
          <p:cNvPicPr preferRelativeResize="0"/>
          <p:nvPr/>
        </p:nvPicPr>
        <p:blipFill>
          <a:blip r:embed="rId4">
            <a:alphaModFix/>
          </a:blip>
          <a:stretch>
            <a:fillRect/>
          </a:stretch>
        </p:blipFill>
        <p:spPr>
          <a:xfrm>
            <a:off x="2940537" y="1797250"/>
            <a:ext cx="956376" cy="956376"/>
          </a:xfrm>
          <a:prstGeom prst="rect">
            <a:avLst/>
          </a:prstGeom>
          <a:noFill/>
          <a:ln>
            <a:noFill/>
          </a:ln>
        </p:spPr>
      </p:pic>
      <p:pic>
        <p:nvPicPr>
          <p:cNvPr id="201" name="Google Shape;201;p42"/>
          <p:cNvPicPr preferRelativeResize="0"/>
          <p:nvPr/>
        </p:nvPicPr>
        <p:blipFill>
          <a:blip r:embed="rId5">
            <a:alphaModFix/>
          </a:blip>
          <a:stretch>
            <a:fillRect/>
          </a:stretch>
        </p:blipFill>
        <p:spPr>
          <a:xfrm>
            <a:off x="4695650" y="1797248"/>
            <a:ext cx="1067751" cy="10677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4A"/>
        </a:solidFill>
      </p:bgPr>
    </p:bg>
    <p:spTree>
      <p:nvGrpSpPr>
        <p:cNvPr id="205" name="Shape 205"/>
        <p:cNvGrpSpPr/>
        <p:nvPr/>
      </p:nvGrpSpPr>
      <p:grpSpPr>
        <a:xfrm>
          <a:off x="0" y="0"/>
          <a:ext cx="0" cy="0"/>
          <a:chOff x="0" y="0"/>
          <a:chExt cx="0" cy="0"/>
        </a:xfrm>
      </p:grpSpPr>
      <p:pic>
        <p:nvPicPr>
          <p:cNvPr id="206" name="Google Shape;206;p43"/>
          <p:cNvPicPr preferRelativeResize="0"/>
          <p:nvPr/>
        </p:nvPicPr>
        <p:blipFill rotWithShape="1">
          <a:blip r:embed="rId3">
            <a:alphaModFix/>
          </a:blip>
          <a:srcRect b="0" l="0" r="0" t="0"/>
          <a:stretch/>
        </p:blipFill>
        <p:spPr>
          <a:xfrm>
            <a:off x="4000499" y="0"/>
            <a:ext cx="5143501" cy="5143501"/>
          </a:xfrm>
          <a:prstGeom prst="rect">
            <a:avLst/>
          </a:prstGeom>
          <a:noFill/>
          <a:ln>
            <a:noFill/>
          </a:ln>
        </p:spPr>
      </p:pic>
      <p:sp>
        <p:nvSpPr>
          <p:cNvPr id="207" name="Google Shape;207;p43"/>
          <p:cNvSpPr txBox="1"/>
          <p:nvPr/>
        </p:nvSpPr>
        <p:spPr>
          <a:xfrm>
            <a:off x="333650" y="1925250"/>
            <a:ext cx="7464300" cy="129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Example using Topic report for a conversation</a:t>
            </a:r>
            <a:br>
              <a:rPr lang="en" sz="3600">
                <a:solidFill>
                  <a:schemeClr val="lt1"/>
                </a:solidFill>
                <a:latin typeface="Manrope SemiBold"/>
                <a:ea typeface="Manrope SemiBold"/>
                <a:cs typeface="Manrope SemiBold"/>
                <a:sym typeface="Manrope SemiBold"/>
              </a:rPr>
            </a:br>
            <a:r>
              <a:rPr lang="en" sz="1800">
                <a:solidFill>
                  <a:schemeClr val="lt1"/>
                </a:solidFill>
                <a:latin typeface="Manrope SemiBold"/>
                <a:ea typeface="Manrope SemiBold"/>
                <a:cs typeface="Manrope SemiBold"/>
                <a:sym typeface="Manrope SemiBold"/>
              </a:rPr>
              <a:t>Definity</a:t>
            </a:r>
            <a:endParaRPr sz="1800">
              <a:solidFill>
                <a:schemeClr val="lt1"/>
              </a:solidFill>
              <a:latin typeface="Manrope SemiBold"/>
              <a:ea typeface="Manrope SemiBold"/>
              <a:cs typeface="Manrope SemiBold"/>
              <a:sym typeface="Manrope SemiBold"/>
            </a:endParaRPr>
          </a:p>
        </p:txBody>
      </p:sp>
      <p:pic>
        <p:nvPicPr>
          <p:cNvPr id="208" name="Google Shape;208;p43"/>
          <p:cNvPicPr preferRelativeResize="0"/>
          <p:nvPr/>
        </p:nvPicPr>
        <p:blipFill>
          <a:blip r:embed="rId4">
            <a:alphaModFix/>
          </a:blip>
          <a:stretch>
            <a:fillRect/>
          </a:stretch>
        </p:blipFill>
        <p:spPr>
          <a:xfrm>
            <a:off x="333650" y="339750"/>
            <a:ext cx="1941901" cy="461000"/>
          </a:xfrm>
          <a:prstGeom prst="rect">
            <a:avLst/>
          </a:prstGeom>
          <a:noFill/>
          <a:ln>
            <a:noFill/>
          </a:ln>
        </p:spPr>
      </p:pic>
      <p:sp>
        <p:nvSpPr>
          <p:cNvPr id="209" name="Google Shape;209;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44"/>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15" name="Google Shape;215;p44"/>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16" name="Google Shape;216;p44"/>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Transcript</a:t>
            </a:r>
            <a:endParaRPr sz="3500"/>
          </a:p>
          <a:p>
            <a:pPr indent="0" lvl="0" marL="0" rtl="0" algn="l">
              <a:spcBef>
                <a:spcPts val="0"/>
              </a:spcBef>
              <a:spcAft>
                <a:spcPts val="0"/>
              </a:spcAft>
              <a:buNone/>
            </a:pPr>
            <a:r>
              <a:t/>
            </a:r>
            <a:endParaRPr sz="3500"/>
          </a:p>
        </p:txBody>
      </p:sp>
      <p:pic>
        <p:nvPicPr>
          <p:cNvPr id="217" name="Google Shape;217;p44"/>
          <p:cNvPicPr preferRelativeResize="0"/>
          <p:nvPr/>
        </p:nvPicPr>
        <p:blipFill>
          <a:blip r:embed="rId3">
            <a:alphaModFix/>
          </a:blip>
          <a:stretch>
            <a:fillRect/>
          </a:stretch>
        </p:blipFill>
        <p:spPr>
          <a:xfrm>
            <a:off x="1312338" y="1761112"/>
            <a:ext cx="1119825" cy="1119825"/>
          </a:xfrm>
          <a:prstGeom prst="rect">
            <a:avLst/>
          </a:prstGeom>
          <a:noFill/>
          <a:ln>
            <a:noFill/>
          </a:ln>
        </p:spPr>
      </p:pic>
      <p:sp>
        <p:nvSpPr>
          <p:cNvPr id="218" name="Google Shape;218;p44"/>
          <p:cNvSpPr txBox="1"/>
          <p:nvPr/>
        </p:nvSpPr>
        <p:spPr>
          <a:xfrm>
            <a:off x="1006925" y="3067100"/>
            <a:ext cx="1730700" cy="12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A complex conversation is loaded into HumanFirst</a:t>
            </a:r>
            <a:endParaRPr sz="1200"/>
          </a:p>
        </p:txBody>
      </p:sp>
      <p:pic>
        <p:nvPicPr>
          <p:cNvPr id="219" name="Google Shape;219;p44"/>
          <p:cNvPicPr preferRelativeResize="0"/>
          <p:nvPr/>
        </p:nvPicPr>
        <p:blipFill>
          <a:blip r:embed="rId4">
            <a:alphaModFix/>
          </a:blip>
          <a:stretch>
            <a:fillRect/>
          </a:stretch>
        </p:blipFill>
        <p:spPr>
          <a:xfrm>
            <a:off x="3856738" y="188201"/>
            <a:ext cx="2829974" cy="4629100"/>
          </a:xfrm>
          <a:prstGeom prst="rect">
            <a:avLst/>
          </a:prstGeom>
          <a:noFill/>
          <a:ln>
            <a:noFill/>
          </a:ln>
        </p:spPr>
      </p:pic>
      <p:sp>
        <p:nvSpPr>
          <p:cNvPr id="220" name="Google Shape;220;p44"/>
          <p:cNvSpPr txBox="1"/>
          <p:nvPr/>
        </p:nvSpPr>
        <p:spPr>
          <a:xfrm>
            <a:off x="5753500" y="1933250"/>
            <a:ext cx="3065400" cy="18240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i="1" lang="en" sz="900">
                <a:solidFill>
                  <a:srgbClr val="3F5597"/>
                </a:solidFill>
                <a:highlight>
                  <a:srgbClr val="FFFFFF"/>
                </a:highlight>
                <a:latin typeface="Inter"/>
                <a:ea typeface="Inter"/>
                <a:cs typeface="Inter"/>
                <a:sym typeface="Inter"/>
              </a:rPr>
              <a:t>Just with regards to extra expenses after a loss as part of their tenant policy. Just, they were curious. There's been no incident. There's no need to use it, but they were just curious. They have a couple of pets. If something happened, there was a fire in the home, they needed to go to a hotel and the hotel didn't allow animals, and they needed to get like kennel services for the animals. Would that fall under the extra expenses or would it be up to the client for that? Do you know right off?</a:t>
            </a:r>
            <a:endParaRPr i="1" sz="1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45"/>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26" name="Google Shape;226;p45"/>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27" name="Google Shape;227;p45"/>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Prompt</a:t>
            </a:r>
            <a:endParaRPr sz="3500"/>
          </a:p>
          <a:p>
            <a:pPr indent="0" lvl="0" marL="0" rtl="0" algn="l">
              <a:spcBef>
                <a:spcPts val="0"/>
              </a:spcBef>
              <a:spcAft>
                <a:spcPts val="0"/>
              </a:spcAft>
              <a:buNone/>
            </a:pPr>
            <a:r>
              <a:t/>
            </a:r>
            <a:endParaRPr sz="3500"/>
          </a:p>
        </p:txBody>
      </p:sp>
      <p:sp>
        <p:nvSpPr>
          <p:cNvPr id="228" name="Google Shape;228;p45"/>
          <p:cNvSpPr txBox="1"/>
          <p:nvPr/>
        </p:nvSpPr>
        <p:spPr>
          <a:xfrm>
            <a:off x="930725" y="3067100"/>
            <a:ext cx="1730700" cy="12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A prompt guiding the AI (</a:t>
            </a:r>
            <a:r>
              <a:rPr b="1" lang="en" sz="1200"/>
              <a:t>simplified</a:t>
            </a:r>
            <a:r>
              <a:rPr lang="en" sz="1200"/>
              <a:t>)</a:t>
            </a:r>
            <a:endParaRPr sz="1200"/>
          </a:p>
        </p:txBody>
      </p:sp>
      <p:pic>
        <p:nvPicPr>
          <p:cNvPr id="229" name="Google Shape;229;p45"/>
          <p:cNvPicPr preferRelativeResize="0"/>
          <p:nvPr/>
        </p:nvPicPr>
        <p:blipFill>
          <a:blip r:embed="rId3">
            <a:alphaModFix/>
          </a:blip>
          <a:stretch>
            <a:fillRect/>
          </a:stretch>
        </p:blipFill>
        <p:spPr>
          <a:xfrm>
            <a:off x="1463385" y="1842350"/>
            <a:ext cx="665400" cy="665400"/>
          </a:xfrm>
          <a:prstGeom prst="rect">
            <a:avLst/>
          </a:prstGeom>
          <a:noFill/>
          <a:ln>
            <a:noFill/>
          </a:ln>
        </p:spPr>
      </p:pic>
      <p:sp>
        <p:nvSpPr>
          <p:cNvPr id="230" name="Google Shape;230;p45"/>
          <p:cNvSpPr txBox="1"/>
          <p:nvPr/>
        </p:nvSpPr>
        <p:spPr>
          <a:xfrm>
            <a:off x="3735825" y="714550"/>
            <a:ext cx="4841700" cy="41037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n" sz="1200"/>
              <a:t>You are an insurance expert tasked with extracting intents from a conversation transcript…</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&lt;conversation&gt;</a:t>
            </a:r>
            <a:endParaRPr sz="1200"/>
          </a:p>
          <a:p>
            <a:pPr indent="0" lvl="0" marL="0" rtl="0" algn="l">
              <a:spcBef>
                <a:spcPts val="0"/>
              </a:spcBef>
              <a:spcAft>
                <a:spcPts val="0"/>
              </a:spcAft>
              <a:buNone/>
            </a:pPr>
            <a:r>
              <a:rPr lang="en" sz="1200"/>
              <a:t>{{ conversation }}</a:t>
            </a:r>
            <a:endParaRPr sz="1200"/>
          </a:p>
          <a:p>
            <a:pPr indent="0" lvl="0" marL="0" rtl="0" algn="l">
              <a:spcBef>
                <a:spcPts val="0"/>
              </a:spcBef>
              <a:spcAft>
                <a:spcPts val="0"/>
              </a:spcAft>
              <a:buNone/>
            </a:pPr>
            <a:r>
              <a:rPr lang="en" sz="1200"/>
              <a:t>&lt;/conversation</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&lt;rules&gt;</a:t>
            </a:r>
            <a:endParaRPr sz="1200"/>
          </a:p>
          <a:p>
            <a:pPr indent="0" lvl="0" marL="0" rtl="0" algn="l">
              <a:spcBef>
                <a:spcPts val="0"/>
              </a:spcBef>
              <a:spcAft>
                <a:spcPts val="0"/>
              </a:spcAft>
              <a:buNone/>
            </a:pPr>
            <a:r>
              <a:rPr lang="en" sz="1200"/>
              <a:t>- Your task is to list the MAIN issues that the broker expressed to the agent…</a:t>
            </a:r>
            <a:br>
              <a:rPr lang="en" sz="1200"/>
            </a:br>
            <a:r>
              <a:rPr lang="en" sz="1200"/>
              <a:t>&lt;/rules&gt;</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&lt;output_format&gt;</a:t>
            </a:r>
            <a:br>
              <a:rPr lang="en" sz="1200"/>
            </a:br>
            <a:r>
              <a:rPr lang="en" sz="1200"/>
              <a:t>Return key-value pairs in the following format:</a:t>
            </a:r>
            <a:endParaRPr sz="1200"/>
          </a:p>
          <a:p>
            <a:pPr indent="0" lvl="0" marL="0" rtl="0" algn="l">
              <a:spcBef>
                <a:spcPts val="0"/>
              </a:spcBef>
              <a:spcAft>
                <a:spcPts val="0"/>
              </a:spcAft>
              <a:buNone/>
            </a:pPr>
            <a:r>
              <a:rPr lang="en" sz="1200"/>
              <a:t>INTENT: This is a single sentence with a concise summary of the broker request.</a:t>
            </a:r>
            <a:endParaRPr sz="1200"/>
          </a:p>
          <a:p>
            <a:pPr indent="0" lvl="0" marL="0" rtl="0" algn="l">
              <a:spcBef>
                <a:spcPts val="0"/>
              </a:spcBef>
              <a:spcAft>
                <a:spcPts val="0"/>
              </a:spcAft>
              <a:buNone/>
            </a:pPr>
            <a:r>
              <a:rPr lang="en" sz="1200"/>
              <a:t>REASON: one of the five options listed above that explains why the broker was not able to accomplish the action or resolve the issue on their own through digital channels</a:t>
            </a:r>
            <a:endParaRPr sz="1200"/>
          </a:p>
          <a:p>
            <a:pPr indent="0" lvl="0" marL="0" rtl="0" algn="l">
              <a:spcBef>
                <a:spcPts val="0"/>
              </a:spcBef>
              <a:spcAft>
                <a:spcPts val="0"/>
              </a:spcAft>
              <a:buNone/>
            </a:pPr>
            <a:r>
              <a:rPr lang="en" sz="1200"/>
              <a:t>JUSTIFICATION: why you chose the reason, based on the information contained within the transcript&gt;</a:t>
            </a:r>
            <a:endParaRPr sz="1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6"/>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36" name="Google Shape;236;p46"/>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37" name="Google Shape;237;p46"/>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Insight</a:t>
            </a:r>
            <a:endParaRPr sz="3500"/>
          </a:p>
          <a:p>
            <a:pPr indent="0" lvl="0" marL="0" rtl="0" algn="l">
              <a:spcBef>
                <a:spcPts val="0"/>
              </a:spcBef>
              <a:spcAft>
                <a:spcPts val="0"/>
              </a:spcAft>
              <a:buNone/>
            </a:pPr>
            <a:r>
              <a:t/>
            </a:r>
            <a:endParaRPr sz="3500"/>
          </a:p>
        </p:txBody>
      </p:sp>
      <p:sp>
        <p:nvSpPr>
          <p:cNvPr id="238" name="Google Shape;238;p46"/>
          <p:cNvSpPr txBox="1"/>
          <p:nvPr/>
        </p:nvSpPr>
        <p:spPr>
          <a:xfrm>
            <a:off x="1083125" y="3067100"/>
            <a:ext cx="1730700" cy="12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We get an initial result with the </a:t>
            </a:r>
            <a:r>
              <a:rPr lang="en" sz="1200"/>
              <a:t>information</a:t>
            </a:r>
            <a:r>
              <a:rPr lang="en" sz="1200"/>
              <a:t> and justification</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rPr lang="en" sz="1200"/>
              <a:t>The LLM gives very granular classes almost 1 per conversation</a:t>
            </a:r>
            <a:endParaRPr sz="1200"/>
          </a:p>
        </p:txBody>
      </p:sp>
      <p:graphicFrame>
        <p:nvGraphicFramePr>
          <p:cNvPr id="239" name="Google Shape;239;p46"/>
          <p:cNvGraphicFramePr/>
          <p:nvPr/>
        </p:nvGraphicFramePr>
        <p:xfrm>
          <a:off x="3436875" y="1119900"/>
          <a:ext cx="3000000" cy="3000000"/>
        </p:xfrm>
        <a:graphic>
          <a:graphicData uri="http://schemas.openxmlformats.org/drawingml/2006/table">
            <a:tbl>
              <a:tblPr>
                <a:noFill/>
                <a:tableStyleId>{99799F30-C66E-4AF7-B557-2814F205417D}</a:tableStyleId>
              </a:tblPr>
              <a:tblGrid>
                <a:gridCol w="1706975"/>
                <a:gridCol w="3070450"/>
              </a:tblGrid>
              <a:tr h="1021900">
                <a:tc>
                  <a:txBody>
                    <a:bodyPr/>
                    <a:lstStyle/>
                    <a:p>
                      <a:pPr indent="0" lvl="0" marL="0" rtl="0" algn="l">
                        <a:spcBef>
                          <a:spcPts val="0"/>
                        </a:spcBef>
                        <a:spcAft>
                          <a:spcPts val="0"/>
                        </a:spcAft>
                        <a:buNone/>
                      </a:pPr>
                      <a:r>
                        <a:rPr lang="en"/>
                        <a:t>INTENT</a:t>
                      </a:r>
                      <a:endParaRPr/>
                    </a:p>
                  </a:txBody>
                  <a:tcPr marT="91425" marB="91425" marR="91425" marL="91425"/>
                </a:tc>
                <a:tc>
                  <a:txBody>
                    <a:bodyPr/>
                    <a:lstStyle/>
                    <a:p>
                      <a:pPr indent="0" lvl="0" marL="0" rtl="0" algn="l">
                        <a:spcBef>
                          <a:spcPts val="0"/>
                        </a:spcBef>
                        <a:spcAft>
                          <a:spcPts val="0"/>
                        </a:spcAft>
                        <a:buNone/>
                      </a:pPr>
                      <a:r>
                        <a:rPr lang="en" sz="1300">
                          <a:solidFill>
                            <a:schemeClr val="dk1"/>
                          </a:solidFill>
                          <a:latin typeface="Inter"/>
                          <a:ea typeface="Inter"/>
                          <a:cs typeface="Inter"/>
                          <a:sym typeface="Inter"/>
                        </a:rPr>
                        <a:t>Inquire about coverage for pet kennel expenses under extra expenses after a loss in a tenant policy.</a:t>
                      </a:r>
                      <a:endParaRPr sz="1800">
                        <a:solidFill>
                          <a:schemeClr val="dk1"/>
                        </a:solidFill>
                      </a:endParaRPr>
                    </a:p>
                  </a:txBody>
                  <a:tcPr marT="91425" marB="91425" marR="91425" marL="91425"/>
                </a:tc>
              </a:tr>
              <a:tr h="523875">
                <a:tc>
                  <a:txBody>
                    <a:bodyPr/>
                    <a:lstStyle/>
                    <a:p>
                      <a:pPr indent="0" lvl="0" marL="0" rtl="0" algn="l">
                        <a:spcBef>
                          <a:spcPts val="0"/>
                        </a:spcBef>
                        <a:spcAft>
                          <a:spcPts val="0"/>
                        </a:spcAft>
                        <a:buNone/>
                      </a:pPr>
                      <a:r>
                        <a:rPr lang="en"/>
                        <a:t>REASON</a:t>
                      </a:r>
                      <a:endParaRPr/>
                    </a:p>
                  </a:txBody>
                  <a:tcPr marT="91425" marB="91425" marR="91425" marL="91425"/>
                </a:tc>
                <a:tc>
                  <a:txBody>
                    <a:bodyPr/>
                    <a:lstStyle/>
                    <a:p>
                      <a:pPr indent="0" lvl="0" marL="0" rtl="0" algn="l">
                        <a:spcBef>
                          <a:spcPts val="0"/>
                        </a:spcBef>
                        <a:spcAft>
                          <a:spcPts val="0"/>
                        </a:spcAft>
                        <a:buNone/>
                      </a:pPr>
                      <a:r>
                        <a:rPr lang="en" sz="1300">
                          <a:solidFill>
                            <a:schemeClr val="dk1"/>
                          </a:solidFill>
                          <a:highlight>
                            <a:srgbClr val="FFFFFF"/>
                          </a:highlight>
                          <a:latin typeface="Inter"/>
                          <a:ea typeface="Inter"/>
                          <a:cs typeface="Inter"/>
                          <a:sym typeface="Inter"/>
                        </a:rPr>
                        <a:t>Legitimate</a:t>
                      </a:r>
                      <a:endParaRPr sz="1800">
                        <a:solidFill>
                          <a:schemeClr val="dk1"/>
                        </a:solidFill>
                      </a:endParaRPr>
                    </a:p>
                  </a:txBody>
                  <a:tcPr marT="91425" marB="91425" marR="91425" marL="91425"/>
                </a:tc>
              </a:tr>
              <a:tr h="1021900">
                <a:tc>
                  <a:txBody>
                    <a:bodyPr/>
                    <a:lstStyle/>
                    <a:p>
                      <a:pPr indent="0" lvl="0" marL="0" rtl="0" algn="l">
                        <a:spcBef>
                          <a:spcPts val="0"/>
                        </a:spcBef>
                        <a:spcAft>
                          <a:spcPts val="0"/>
                        </a:spcAft>
                        <a:buNone/>
                      </a:pPr>
                      <a:r>
                        <a:rPr lang="en"/>
                        <a:t>JUSTIFICATION</a:t>
                      </a:r>
                      <a:endParaRPr/>
                    </a:p>
                  </a:txBody>
                  <a:tcPr marT="91425" marB="91425" marR="91425" marL="91425"/>
                </a:tc>
                <a:tc>
                  <a:txBody>
                    <a:bodyPr/>
                    <a:lstStyle/>
                    <a:p>
                      <a:pPr indent="0" lvl="0" marL="0" rtl="0" algn="l">
                        <a:spcBef>
                          <a:spcPts val="0"/>
                        </a:spcBef>
                        <a:spcAft>
                          <a:spcPts val="0"/>
                        </a:spcAft>
                        <a:buNone/>
                      </a:pPr>
                      <a:r>
                        <a:rPr lang="en" sz="1300">
                          <a:solidFill>
                            <a:schemeClr val="dk1"/>
                          </a:solidFill>
                          <a:highlight>
                            <a:srgbClr val="FFFFFF"/>
                          </a:highlight>
                          <a:latin typeface="Inter"/>
                          <a:ea typeface="Inter"/>
                          <a:cs typeface="Inter"/>
                          <a:sym typeface="Inter"/>
                        </a:rPr>
                        <a:t>The broker's question required specific expertise about policy coverage details that are not explicitly stated in the policy wordings. The agent had to interpret the situation and provide insight based on their knowledge of insurance policies and claims processes.</a:t>
                      </a:r>
                      <a:endParaRPr sz="1800">
                        <a:solidFill>
                          <a:schemeClr val="dk1"/>
                        </a:solidFill>
                      </a:endParaRPr>
                    </a:p>
                  </a:txBody>
                  <a:tcPr marT="91425" marB="91425" marR="91425" marL="91425"/>
                </a:tc>
              </a:tr>
            </a:tbl>
          </a:graphicData>
        </a:graphic>
      </p:graphicFrame>
      <p:pic>
        <p:nvPicPr>
          <p:cNvPr id="240" name="Google Shape;240;p46"/>
          <p:cNvPicPr preferRelativeResize="0"/>
          <p:nvPr/>
        </p:nvPicPr>
        <p:blipFill>
          <a:blip r:embed="rId3">
            <a:alphaModFix/>
          </a:blip>
          <a:stretch>
            <a:fillRect/>
          </a:stretch>
        </p:blipFill>
        <p:spPr>
          <a:xfrm>
            <a:off x="1615785" y="1842350"/>
            <a:ext cx="665400" cy="665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7"/>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46" name="Google Shape;246;p47"/>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47" name="Google Shape;247;p47"/>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Pipeline</a:t>
            </a:r>
            <a:endParaRPr sz="3500"/>
          </a:p>
          <a:p>
            <a:pPr indent="0" lvl="0" marL="0" rtl="0" algn="l">
              <a:spcBef>
                <a:spcPts val="0"/>
              </a:spcBef>
              <a:spcAft>
                <a:spcPts val="0"/>
              </a:spcAft>
              <a:buNone/>
            </a:pPr>
            <a:r>
              <a:t/>
            </a:r>
            <a:endParaRPr sz="3500"/>
          </a:p>
        </p:txBody>
      </p:sp>
      <p:sp>
        <p:nvSpPr>
          <p:cNvPr id="248" name="Google Shape;248;p47"/>
          <p:cNvSpPr txBox="1"/>
          <p:nvPr/>
        </p:nvSpPr>
        <p:spPr>
          <a:xfrm>
            <a:off x="1083125" y="3067100"/>
            <a:ext cx="1730700" cy="12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Pipeline caches results, minimising</a:t>
            </a:r>
            <a:r>
              <a:rPr lang="en" sz="1200"/>
              <a:t> </a:t>
            </a:r>
            <a:r>
              <a:rPr lang="en" sz="1200"/>
              <a:t>LLM costs</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rPr lang="en" sz="1200"/>
              <a:t>Maintains a view of </a:t>
            </a:r>
            <a:r>
              <a:rPr lang="en" sz="1200"/>
              <a:t>derived</a:t>
            </a:r>
            <a:r>
              <a:rPr lang="en" sz="1200"/>
              <a:t> information across whole dataset</a:t>
            </a:r>
            <a:endParaRPr sz="1200"/>
          </a:p>
        </p:txBody>
      </p:sp>
      <p:pic>
        <p:nvPicPr>
          <p:cNvPr id="249" name="Google Shape;249;p47"/>
          <p:cNvPicPr preferRelativeResize="0"/>
          <p:nvPr/>
        </p:nvPicPr>
        <p:blipFill>
          <a:blip r:embed="rId3">
            <a:alphaModFix/>
          </a:blip>
          <a:stretch>
            <a:fillRect/>
          </a:stretch>
        </p:blipFill>
        <p:spPr>
          <a:xfrm>
            <a:off x="1487004" y="1743925"/>
            <a:ext cx="922974" cy="922974"/>
          </a:xfrm>
          <a:prstGeom prst="rect">
            <a:avLst/>
          </a:prstGeom>
          <a:noFill/>
          <a:ln>
            <a:noFill/>
          </a:ln>
        </p:spPr>
      </p:pic>
      <p:pic>
        <p:nvPicPr>
          <p:cNvPr id="250" name="Google Shape;250;p47"/>
          <p:cNvPicPr preferRelativeResize="0"/>
          <p:nvPr/>
        </p:nvPicPr>
        <p:blipFill>
          <a:blip r:embed="rId4">
            <a:alphaModFix/>
          </a:blip>
          <a:stretch>
            <a:fillRect/>
          </a:stretch>
        </p:blipFill>
        <p:spPr>
          <a:xfrm>
            <a:off x="3413750" y="1538475"/>
            <a:ext cx="5491976" cy="285066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8"/>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56" name="Google Shape;256;p48"/>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57" name="Google Shape;257;p48"/>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Classification - screenshot</a:t>
            </a:r>
            <a:endParaRPr sz="3500"/>
          </a:p>
          <a:p>
            <a:pPr indent="0" lvl="0" marL="0" rtl="0" algn="l">
              <a:spcBef>
                <a:spcPts val="0"/>
              </a:spcBef>
              <a:spcAft>
                <a:spcPts val="0"/>
              </a:spcAft>
              <a:buNone/>
            </a:pPr>
            <a:r>
              <a:t/>
            </a:r>
            <a:endParaRPr sz="3500"/>
          </a:p>
        </p:txBody>
      </p:sp>
      <p:sp>
        <p:nvSpPr>
          <p:cNvPr id="258" name="Google Shape;258;p48"/>
          <p:cNvSpPr txBox="1"/>
          <p:nvPr/>
        </p:nvSpPr>
        <p:spPr>
          <a:xfrm>
            <a:off x="1083125" y="3067100"/>
            <a:ext cx="1730700" cy="12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Individual result is mapped onto a business verified two level hierarchy</a:t>
            </a:r>
            <a:endParaRPr sz="1200"/>
          </a:p>
        </p:txBody>
      </p:sp>
      <p:pic>
        <p:nvPicPr>
          <p:cNvPr id="259" name="Google Shape;259;p48"/>
          <p:cNvPicPr preferRelativeResize="0"/>
          <p:nvPr/>
        </p:nvPicPr>
        <p:blipFill>
          <a:blip r:embed="rId3">
            <a:alphaModFix/>
          </a:blip>
          <a:stretch>
            <a:fillRect/>
          </a:stretch>
        </p:blipFill>
        <p:spPr>
          <a:xfrm>
            <a:off x="1353244" y="1610175"/>
            <a:ext cx="1190475" cy="1190475"/>
          </a:xfrm>
          <a:prstGeom prst="rect">
            <a:avLst/>
          </a:prstGeom>
          <a:noFill/>
          <a:ln>
            <a:noFill/>
          </a:ln>
        </p:spPr>
      </p:pic>
      <p:pic>
        <p:nvPicPr>
          <p:cNvPr id="260" name="Google Shape;260;p48"/>
          <p:cNvPicPr preferRelativeResize="0"/>
          <p:nvPr/>
        </p:nvPicPr>
        <p:blipFill>
          <a:blip r:embed="rId4">
            <a:alphaModFix/>
          </a:blip>
          <a:stretch>
            <a:fillRect/>
          </a:stretch>
        </p:blipFill>
        <p:spPr>
          <a:xfrm>
            <a:off x="3499625" y="1272300"/>
            <a:ext cx="5491972" cy="287197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9"/>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66" name="Google Shape;266;p49"/>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67" name="Google Shape;267;p49"/>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Classification - model summary</a:t>
            </a:r>
            <a:endParaRPr sz="3500"/>
          </a:p>
          <a:p>
            <a:pPr indent="0" lvl="0" marL="0" rtl="0" algn="l">
              <a:spcBef>
                <a:spcPts val="0"/>
              </a:spcBef>
              <a:spcAft>
                <a:spcPts val="0"/>
              </a:spcAft>
              <a:buNone/>
            </a:pPr>
            <a:r>
              <a:t/>
            </a:r>
            <a:endParaRPr sz="3500"/>
          </a:p>
        </p:txBody>
      </p:sp>
      <p:sp>
        <p:nvSpPr>
          <p:cNvPr id="268" name="Google Shape;268;p49"/>
          <p:cNvSpPr txBox="1"/>
          <p:nvPr/>
        </p:nvSpPr>
        <p:spPr>
          <a:xfrm>
            <a:off x="1083125" y="3067100"/>
            <a:ext cx="1730700" cy="12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Individual result is mapped onto a business verified two level hierarchy</a:t>
            </a:r>
            <a:br>
              <a:rPr lang="en" sz="1200"/>
            </a:br>
            <a:br>
              <a:rPr lang="en" sz="1200"/>
            </a:br>
            <a:r>
              <a:rPr lang="en" sz="1200"/>
              <a:t>~10 primary classes</a:t>
            </a:r>
            <a:endParaRPr sz="1200"/>
          </a:p>
          <a:p>
            <a:pPr indent="0" lvl="0" marL="0" rtl="0" algn="ctr">
              <a:spcBef>
                <a:spcPts val="0"/>
              </a:spcBef>
              <a:spcAft>
                <a:spcPts val="0"/>
              </a:spcAft>
              <a:buNone/>
            </a:pPr>
            <a:r>
              <a:rPr lang="en" sz="1200"/>
              <a:t>~70 sub classes</a:t>
            </a:r>
            <a:endParaRPr sz="1200"/>
          </a:p>
        </p:txBody>
      </p:sp>
      <p:pic>
        <p:nvPicPr>
          <p:cNvPr id="269" name="Google Shape;269;p49"/>
          <p:cNvPicPr preferRelativeResize="0"/>
          <p:nvPr/>
        </p:nvPicPr>
        <p:blipFill>
          <a:blip r:embed="rId3">
            <a:alphaModFix/>
          </a:blip>
          <a:stretch>
            <a:fillRect/>
          </a:stretch>
        </p:blipFill>
        <p:spPr>
          <a:xfrm>
            <a:off x="1353244" y="1610175"/>
            <a:ext cx="1190475" cy="1190475"/>
          </a:xfrm>
          <a:prstGeom prst="rect">
            <a:avLst/>
          </a:prstGeom>
          <a:noFill/>
          <a:ln>
            <a:noFill/>
          </a:ln>
        </p:spPr>
      </p:pic>
      <p:pic>
        <p:nvPicPr>
          <p:cNvPr id="270" name="Google Shape;270;p49"/>
          <p:cNvPicPr preferRelativeResize="0"/>
          <p:nvPr/>
        </p:nvPicPr>
        <p:blipFill>
          <a:blip r:embed="rId4">
            <a:alphaModFix/>
          </a:blip>
          <a:stretch>
            <a:fillRect/>
          </a:stretch>
        </p:blipFill>
        <p:spPr>
          <a:xfrm>
            <a:off x="3572941" y="1119900"/>
            <a:ext cx="4731235" cy="32983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50"/>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76" name="Google Shape;276;p50"/>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77" name="Google Shape;277;p50"/>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Classification - example</a:t>
            </a:r>
            <a:endParaRPr sz="3500"/>
          </a:p>
          <a:p>
            <a:pPr indent="0" lvl="0" marL="0" rtl="0" algn="l">
              <a:spcBef>
                <a:spcPts val="0"/>
              </a:spcBef>
              <a:spcAft>
                <a:spcPts val="0"/>
              </a:spcAft>
              <a:buNone/>
            </a:pPr>
            <a:r>
              <a:t/>
            </a:r>
            <a:endParaRPr sz="3500"/>
          </a:p>
        </p:txBody>
      </p:sp>
      <p:sp>
        <p:nvSpPr>
          <p:cNvPr id="278" name="Google Shape;278;p50"/>
          <p:cNvSpPr txBox="1"/>
          <p:nvPr/>
        </p:nvSpPr>
        <p:spPr>
          <a:xfrm>
            <a:off x="386250" y="3067100"/>
            <a:ext cx="3297000" cy="12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Individual result is mapped onto a business verified two level hierarchy</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rPr lang="en" sz="1200"/>
              <a:t>The tool reports the top n (~10) categories.  The top category being the most likely is taken when it exceeds a confidence clip</a:t>
            </a:r>
            <a:endParaRPr sz="1200"/>
          </a:p>
        </p:txBody>
      </p:sp>
      <p:pic>
        <p:nvPicPr>
          <p:cNvPr id="279" name="Google Shape;279;p50"/>
          <p:cNvPicPr preferRelativeResize="0"/>
          <p:nvPr/>
        </p:nvPicPr>
        <p:blipFill>
          <a:blip r:embed="rId3">
            <a:alphaModFix/>
          </a:blip>
          <a:stretch>
            <a:fillRect/>
          </a:stretch>
        </p:blipFill>
        <p:spPr>
          <a:xfrm>
            <a:off x="1353244" y="1610175"/>
            <a:ext cx="1190475" cy="1190475"/>
          </a:xfrm>
          <a:prstGeom prst="rect">
            <a:avLst/>
          </a:prstGeom>
          <a:noFill/>
          <a:ln>
            <a:noFill/>
          </a:ln>
        </p:spPr>
      </p:pic>
      <p:graphicFrame>
        <p:nvGraphicFramePr>
          <p:cNvPr id="280" name="Google Shape;280;p50"/>
          <p:cNvGraphicFramePr/>
          <p:nvPr/>
        </p:nvGraphicFramePr>
        <p:xfrm>
          <a:off x="4074000" y="1627350"/>
          <a:ext cx="3000000" cy="3000000"/>
        </p:xfrm>
        <a:graphic>
          <a:graphicData uri="http://schemas.openxmlformats.org/drawingml/2006/table">
            <a:tbl>
              <a:tblPr>
                <a:noFill/>
                <a:tableStyleId>{99799F30-C66E-4AF7-B557-2814F205417D}</a:tableStyleId>
              </a:tblPr>
              <a:tblGrid>
                <a:gridCol w="3420875"/>
                <a:gridCol w="944200"/>
              </a:tblGrid>
              <a:tr h="1021900">
                <a:tc>
                  <a:txBody>
                    <a:bodyPr/>
                    <a:lstStyle/>
                    <a:p>
                      <a:pPr indent="0" lvl="0" marL="0" rtl="0" algn="l">
                        <a:spcBef>
                          <a:spcPts val="0"/>
                        </a:spcBef>
                        <a:spcAft>
                          <a:spcPts val="0"/>
                        </a:spcAft>
                        <a:buNone/>
                      </a:pPr>
                      <a:r>
                        <a:rPr lang="en" sz="1300">
                          <a:solidFill>
                            <a:schemeClr val="dk1"/>
                          </a:solidFill>
                          <a:latin typeface="Inter"/>
                          <a:ea typeface="Inter"/>
                          <a:cs typeface="Inter"/>
                          <a:sym typeface="Inter"/>
                        </a:rPr>
                        <a:t>General Classification -&gt; </a:t>
                      </a:r>
                      <a:endParaRPr sz="1300">
                        <a:solidFill>
                          <a:schemeClr val="dk1"/>
                        </a:solidFill>
                        <a:latin typeface="Inter"/>
                        <a:ea typeface="Inter"/>
                        <a:cs typeface="Inter"/>
                        <a:sym typeface="Inter"/>
                      </a:endParaRPr>
                    </a:p>
                    <a:p>
                      <a:pPr indent="0" lvl="0" marL="0" rtl="0" algn="l">
                        <a:spcBef>
                          <a:spcPts val="0"/>
                        </a:spcBef>
                        <a:spcAft>
                          <a:spcPts val="0"/>
                        </a:spcAft>
                        <a:buNone/>
                      </a:pPr>
                      <a:r>
                        <a:rPr lang="en" sz="1300">
                          <a:solidFill>
                            <a:schemeClr val="dk1"/>
                          </a:solidFill>
                          <a:latin typeface="Inter"/>
                          <a:ea typeface="Inter"/>
                          <a:cs typeface="Inter"/>
                          <a:sym typeface="Inter"/>
                        </a:rPr>
                        <a:t>Pets, Livestock &amp; animals</a:t>
                      </a:r>
                      <a:endParaRPr sz="1800">
                        <a:solidFill>
                          <a:schemeClr val="dk1"/>
                        </a:solidFill>
                      </a:endParaRPr>
                    </a:p>
                  </a:txBody>
                  <a:tcPr marT="91425" marB="91425" marR="91425" marL="91425">
                    <a:lnR cap="flat" cmpd="sng" w="9525">
                      <a:solidFill>
                        <a:srgbClr val="38761D"/>
                      </a:solidFill>
                      <a:prstDash val="solid"/>
                      <a:round/>
                      <a:headEnd len="sm" w="sm" type="none"/>
                      <a:tailEnd len="sm" w="sm" type="none"/>
                    </a:lnR>
                  </a:tcPr>
                </a:tc>
                <a:tc>
                  <a:txBody>
                    <a:bodyPr/>
                    <a:lstStyle/>
                    <a:p>
                      <a:pPr indent="0" lvl="0" marL="0" rtl="0" algn="l">
                        <a:spcBef>
                          <a:spcPts val="0"/>
                        </a:spcBef>
                        <a:spcAft>
                          <a:spcPts val="0"/>
                        </a:spcAft>
                        <a:buNone/>
                      </a:pPr>
                      <a:r>
                        <a:rPr b="1" lang="en" sz="1300">
                          <a:solidFill>
                            <a:srgbClr val="38761D"/>
                          </a:solidFill>
                          <a:latin typeface="Inter"/>
                          <a:ea typeface="Inter"/>
                          <a:cs typeface="Inter"/>
                          <a:sym typeface="Inter"/>
                        </a:rPr>
                        <a:t>80%</a:t>
                      </a:r>
                      <a:endParaRPr b="1" sz="1300">
                        <a:solidFill>
                          <a:srgbClr val="38761D"/>
                        </a:solidFill>
                        <a:latin typeface="Inter"/>
                        <a:ea typeface="Inter"/>
                        <a:cs typeface="Inter"/>
                        <a:sym typeface="Inter"/>
                      </a:endParaRPr>
                    </a:p>
                  </a:txBody>
                  <a:tcPr marT="91425" marB="91425" marR="91425" marL="91425">
                    <a:lnL cap="flat" cmpd="sng" w="9525">
                      <a:solidFill>
                        <a:srgbClr val="38761D"/>
                      </a:solidFill>
                      <a:prstDash val="solid"/>
                      <a:round/>
                      <a:headEnd len="sm" w="sm" type="none"/>
                      <a:tailEnd len="sm" w="sm" type="none"/>
                    </a:lnL>
                    <a:lnR cap="flat" cmpd="sng" w="9525">
                      <a:solidFill>
                        <a:srgbClr val="38761D"/>
                      </a:solidFill>
                      <a:prstDash val="solid"/>
                      <a:round/>
                      <a:headEnd len="sm" w="sm" type="none"/>
                      <a:tailEnd len="sm" w="sm" type="none"/>
                    </a:lnR>
                    <a:lnT cap="flat" cmpd="sng" w="9525">
                      <a:solidFill>
                        <a:srgbClr val="38761D"/>
                      </a:solidFill>
                      <a:prstDash val="solid"/>
                      <a:round/>
                      <a:headEnd len="sm" w="sm" type="none"/>
                      <a:tailEnd len="sm" w="sm" type="none"/>
                    </a:lnT>
                    <a:lnB cap="flat" cmpd="sng" w="9525">
                      <a:solidFill>
                        <a:srgbClr val="38761D"/>
                      </a:solidFill>
                      <a:prstDash val="solid"/>
                      <a:round/>
                      <a:headEnd len="sm" w="sm" type="none"/>
                      <a:tailEnd len="sm" w="sm" type="none"/>
                    </a:lnB>
                  </a:tcPr>
                </a:tc>
              </a:tr>
              <a:tr h="523875">
                <a:tc>
                  <a:txBody>
                    <a:bodyPr/>
                    <a:lstStyle/>
                    <a:p>
                      <a:pPr indent="0" lvl="0" marL="0" rtl="0" algn="l">
                        <a:spcBef>
                          <a:spcPts val="0"/>
                        </a:spcBef>
                        <a:spcAft>
                          <a:spcPts val="0"/>
                        </a:spcAft>
                        <a:buNone/>
                      </a:pPr>
                      <a:r>
                        <a:rPr lang="en" sz="1300">
                          <a:solidFill>
                            <a:schemeClr val="dk1"/>
                          </a:solidFill>
                          <a:highlight>
                            <a:srgbClr val="FFFFFF"/>
                          </a:highlight>
                          <a:latin typeface="Inter"/>
                          <a:ea typeface="Inter"/>
                          <a:cs typeface="Inter"/>
                          <a:sym typeface="Inter"/>
                        </a:rPr>
                        <a:t>Home Classification -&gt; </a:t>
                      </a:r>
                      <a:endParaRPr sz="1300">
                        <a:solidFill>
                          <a:schemeClr val="dk1"/>
                        </a:solidFill>
                        <a:highlight>
                          <a:srgbClr val="FFFFFF"/>
                        </a:highlight>
                        <a:latin typeface="Inter"/>
                        <a:ea typeface="Inter"/>
                        <a:cs typeface="Inter"/>
                        <a:sym typeface="Inter"/>
                      </a:endParaRPr>
                    </a:p>
                    <a:p>
                      <a:pPr indent="0" lvl="0" marL="0" rtl="0" algn="l">
                        <a:spcBef>
                          <a:spcPts val="0"/>
                        </a:spcBef>
                        <a:spcAft>
                          <a:spcPts val="0"/>
                        </a:spcAft>
                        <a:buNone/>
                      </a:pPr>
                      <a:r>
                        <a:rPr lang="en" sz="1300">
                          <a:solidFill>
                            <a:schemeClr val="dk1"/>
                          </a:solidFill>
                          <a:highlight>
                            <a:srgbClr val="FFFFFF"/>
                          </a:highlight>
                          <a:latin typeface="Inter"/>
                          <a:ea typeface="Inter"/>
                          <a:cs typeface="Inter"/>
                          <a:sym typeface="Inter"/>
                        </a:rPr>
                        <a:t>Rental or airbnb</a:t>
                      </a:r>
                      <a:endParaRPr sz="1800">
                        <a:solidFill>
                          <a:schemeClr val="dk1"/>
                        </a:solidFill>
                      </a:endParaRPr>
                    </a:p>
                  </a:txBody>
                  <a:tcPr marT="91425" marB="91425" marR="91425" marL="91425"/>
                </a:tc>
                <a:tc>
                  <a:txBody>
                    <a:bodyPr/>
                    <a:lstStyle/>
                    <a:p>
                      <a:pPr indent="0" lvl="0" marL="0" rtl="0" algn="l">
                        <a:spcBef>
                          <a:spcPts val="0"/>
                        </a:spcBef>
                        <a:spcAft>
                          <a:spcPts val="0"/>
                        </a:spcAft>
                        <a:buNone/>
                      </a:pPr>
                      <a:r>
                        <a:rPr b="1" lang="en" sz="1300">
                          <a:solidFill>
                            <a:srgbClr val="FF0000"/>
                          </a:solidFill>
                          <a:highlight>
                            <a:srgbClr val="FFFFFF"/>
                          </a:highlight>
                          <a:latin typeface="Inter"/>
                          <a:ea typeface="Inter"/>
                          <a:cs typeface="Inter"/>
                          <a:sym typeface="Inter"/>
                        </a:rPr>
                        <a:t>6%</a:t>
                      </a:r>
                      <a:endParaRPr b="1" sz="1300">
                        <a:solidFill>
                          <a:srgbClr val="FF0000"/>
                        </a:solidFill>
                        <a:highlight>
                          <a:srgbClr val="FFFFFF"/>
                        </a:highlight>
                        <a:latin typeface="Inter"/>
                        <a:ea typeface="Inter"/>
                        <a:cs typeface="Inter"/>
                        <a:sym typeface="Inter"/>
                      </a:endParaRPr>
                    </a:p>
                  </a:txBody>
                  <a:tcPr marT="91425" marB="91425" marR="91425" marL="91425">
                    <a:lnT cap="flat" cmpd="sng" w="9525">
                      <a:solidFill>
                        <a:srgbClr val="38761D"/>
                      </a:solidFill>
                      <a:prstDash val="solid"/>
                      <a:round/>
                      <a:headEnd len="sm" w="sm" type="none"/>
                      <a:tailEnd len="sm" w="sm" type="none"/>
                    </a:lnT>
                  </a:tcPr>
                </a:tc>
              </a:tr>
              <a:tr h="1021900">
                <a:tc>
                  <a:txBody>
                    <a:bodyPr/>
                    <a:lstStyle/>
                    <a:p>
                      <a:pPr indent="0" lvl="0" marL="0" rtl="0" algn="l">
                        <a:spcBef>
                          <a:spcPts val="0"/>
                        </a:spcBef>
                        <a:spcAft>
                          <a:spcPts val="0"/>
                        </a:spcAft>
                        <a:buNone/>
                      </a:pPr>
                      <a:r>
                        <a:rPr lang="en" sz="1300">
                          <a:solidFill>
                            <a:schemeClr val="dk1"/>
                          </a:solidFill>
                          <a:highlight>
                            <a:schemeClr val="lt1"/>
                          </a:highlight>
                          <a:latin typeface="Inter"/>
                          <a:ea typeface="Inter"/>
                          <a:cs typeface="Inter"/>
                          <a:sym typeface="Inter"/>
                        </a:rPr>
                        <a:t>General </a:t>
                      </a:r>
                      <a:r>
                        <a:rPr lang="en" sz="1300">
                          <a:solidFill>
                            <a:schemeClr val="dk1"/>
                          </a:solidFill>
                          <a:highlight>
                            <a:schemeClr val="lt1"/>
                          </a:highlight>
                          <a:latin typeface="Inter"/>
                          <a:ea typeface="Inter"/>
                          <a:cs typeface="Inter"/>
                          <a:sym typeface="Inter"/>
                        </a:rPr>
                        <a:t>Classification -&gt; </a:t>
                      </a:r>
                      <a:endParaRPr sz="1300">
                        <a:solidFill>
                          <a:schemeClr val="dk1"/>
                        </a:solidFill>
                        <a:highlight>
                          <a:schemeClr val="lt1"/>
                        </a:highlight>
                        <a:latin typeface="Inter"/>
                        <a:ea typeface="Inter"/>
                        <a:cs typeface="Inter"/>
                        <a:sym typeface="Inter"/>
                      </a:endParaRPr>
                    </a:p>
                    <a:p>
                      <a:pPr indent="0" lvl="0" marL="0" rtl="0" algn="l">
                        <a:spcBef>
                          <a:spcPts val="0"/>
                        </a:spcBef>
                        <a:spcAft>
                          <a:spcPts val="0"/>
                        </a:spcAft>
                        <a:buNone/>
                      </a:pPr>
                      <a:r>
                        <a:rPr lang="en" sz="1300">
                          <a:solidFill>
                            <a:schemeClr val="dk1"/>
                          </a:solidFill>
                          <a:highlight>
                            <a:schemeClr val="lt1"/>
                          </a:highlight>
                          <a:latin typeface="Inter"/>
                          <a:ea typeface="Inter"/>
                          <a:cs typeface="Inter"/>
                          <a:sym typeface="Inter"/>
                        </a:rPr>
                        <a:t>Clarify or verify misc. coverages</a:t>
                      </a:r>
                      <a:endParaRPr sz="1800">
                        <a:solidFill>
                          <a:schemeClr val="dk1"/>
                        </a:solidFill>
                      </a:endParaRPr>
                    </a:p>
                  </a:txBody>
                  <a:tcPr marT="91425" marB="91425" marR="91425" marL="91425"/>
                </a:tc>
                <a:tc>
                  <a:txBody>
                    <a:bodyPr/>
                    <a:lstStyle/>
                    <a:p>
                      <a:pPr indent="0" lvl="0" marL="0" rtl="0" algn="l">
                        <a:spcBef>
                          <a:spcPts val="0"/>
                        </a:spcBef>
                        <a:spcAft>
                          <a:spcPts val="0"/>
                        </a:spcAft>
                        <a:buNone/>
                      </a:pPr>
                      <a:r>
                        <a:rPr b="1" lang="en" sz="1300">
                          <a:solidFill>
                            <a:srgbClr val="FF0000"/>
                          </a:solidFill>
                          <a:highlight>
                            <a:srgbClr val="FFFFFF"/>
                          </a:highlight>
                          <a:latin typeface="Inter"/>
                          <a:ea typeface="Inter"/>
                          <a:cs typeface="Inter"/>
                          <a:sym typeface="Inter"/>
                        </a:rPr>
                        <a:t>5%</a:t>
                      </a:r>
                      <a:endParaRPr b="1" sz="1300">
                        <a:solidFill>
                          <a:srgbClr val="FF0000"/>
                        </a:solidFill>
                        <a:highlight>
                          <a:srgbClr val="FFFFFF"/>
                        </a:highlight>
                        <a:latin typeface="Inter"/>
                        <a:ea typeface="Inter"/>
                        <a:cs typeface="Inter"/>
                        <a:sym typeface="Inter"/>
                      </a:endParaRPr>
                    </a:p>
                  </a:txBody>
                  <a:tcPr marT="91425" marB="91425" marR="91425" marL="91425"/>
                </a:tc>
              </a:tr>
            </a:tbl>
          </a:graphicData>
        </a:graphic>
      </p:graphicFrame>
      <p:sp>
        <p:nvSpPr>
          <p:cNvPr id="281" name="Google Shape;281;p50"/>
          <p:cNvSpPr txBox="1"/>
          <p:nvPr/>
        </p:nvSpPr>
        <p:spPr>
          <a:xfrm>
            <a:off x="4074000" y="1042350"/>
            <a:ext cx="42981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300">
                <a:solidFill>
                  <a:schemeClr val="dk1"/>
                </a:solidFill>
                <a:latin typeface="Inter"/>
                <a:ea typeface="Inter"/>
                <a:cs typeface="Inter"/>
                <a:sym typeface="Inter"/>
              </a:rPr>
              <a:t>“</a:t>
            </a:r>
            <a:r>
              <a:rPr i="1" lang="en" sz="1300">
                <a:solidFill>
                  <a:schemeClr val="dk1"/>
                </a:solidFill>
                <a:latin typeface="Inter"/>
                <a:ea typeface="Inter"/>
                <a:cs typeface="Inter"/>
                <a:sym typeface="Inter"/>
              </a:rPr>
              <a:t>Inquire about coverage for pet kennel expenses under extra expenses after a loss in a tenant policy.”</a:t>
            </a:r>
            <a:endParaRPr i="1"/>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51"/>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87" name="Google Shape;287;p51"/>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88" name="Google Shape;288;p51"/>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Explore</a:t>
            </a:r>
            <a:endParaRPr sz="3500"/>
          </a:p>
          <a:p>
            <a:pPr indent="0" lvl="0" marL="0" rtl="0" algn="l">
              <a:spcBef>
                <a:spcPts val="0"/>
              </a:spcBef>
              <a:spcAft>
                <a:spcPts val="0"/>
              </a:spcAft>
              <a:buNone/>
            </a:pPr>
            <a:r>
              <a:t/>
            </a:r>
            <a:endParaRPr sz="3500"/>
          </a:p>
        </p:txBody>
      </p:sp>
      <p:sp>
        <p:nvSpPr>
          <p:cNvPr id="289" name="Google Shape;289;p51"/>
          <p:cNvSpPr txBox="1"/>
          <p:nvPr/>
        </p:nvSpPr>
        <p:spPr>
          <a:xfrm>
            <a:off x="212400" y="3067100"/>
            <a:ext cx="3297000" cy="12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Cluster</a:t>
            </a:r>
            <a:endParaRPr sz="1200"/>
          </a:p>
          <a:p>
            <a:pPr indent="0" lvl="0" marL="0" rtl="0" algn="ctr">
              <a:spcBef>
                <a:spcPts val="0"/>
              </a:spcBef>
              <a:spcAft>
                <a:spcPts val="0"/>
              </a:spcAft>
              <a:buNone/>
            </a:pPr>
            <a:r>
              <a:rPr lang="en" sz="1200"/>
              <a:t>Filter</a:t>
            </a:r>
            <a:endParaRPr sz="1200"/>
          </a:p>
          <a:p>
            <a:pPr indent="0" lvl="0" marL="0" rtl="0" algn="ctr">
              <a:spcBef>
                <a:spcPts val="0"/>
              </a:spcBef>
              <a:spcAft>
                <a:spcPts val="0"/>
              </a:spcAft>
              <a:buNone/>
            </a:pPr>
            <a:r>
              <a:rPr lang="en" sz="1200"/>
              <a:t>Explore</a:t>
            </a:r>
            <a:endParaRPr sz="1200"/>
          </a:p>
          <a:p>
            <a:pPr indent="0" lvl="0" marL="0" rtl="0" algn="ctr">
              <a:spcBef>
                <a:spcPts val="0"/>
              </a:spcBef>
              <a:spcAft>
                <a:spcPts val="0"/>
              </a:spcAft>
              <a:buNone/>
            </a:pPr>
            <a:r>
              <a:rPr lang="en" sz="1200"/>
              <a:t>Export</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rPr lang="en" sz="1200"/>
              <a:t>Create new models</a:t>
            </a:r>
            <a:endParaRPr sz="1200"/>
          </a:p>
          <a:p>
            <a:pPr indent="0" lvl="0" marL="0" rtl="0" algn="ctr">
              <a:spcBef>
                <a:spcPts val="0"/>
              </a:spcBef>
              <a:spcAft>
                <a:spcPts val="0"/>
              </a:spcAft>
              <a:buNone/>
            </a:pPr>
            <a:r>
              <a:rPr lang="en" sz="1200"/>
              <a:t>Answer new questions!</a:t>
            </a:r>
            <a:endParaRPr sz="1200"/>
          </a:p>
        </p:txBody>
      </p:sp>
      <p:pic>
        <p:nvPicPr>
          <p:cNvPr id="290" name="Google Shape;290;p51"/>
          <p:cNvPicPr preferRelativeResize="0"/>
          <p:nvPr/>
        </p:nvPicPr>
        <p:blipFill>
          <a:blip r:embed="rId3">
            <a:alphaModFix/>
          </a:blip>
          <a:stretch>
            <a:fillRect/>
          </a:stretch>
        </p:blipFill>
        <p:spPr>
          <a:xfrm>
            <a:off x="3475050" y="1272300"/>
            <a:ext cx="5155948" cy="2672061"/>
          </a:xfrm>
          <a:prstGeom prst="rect">
            <a:avLst/>
          </a:prstGeom>
          <a:noFill/>
          <a:ln>
            <a:noFill/>
          </a:ln>
          <a:effectLst>
            <a:outerShdw blurRad="57150" rotWithShape="0" algn="bl" dir="5400000" dist="19050">
              <a:srgbClr val="000000">
                <a:alpha val="50000"/>
              </a:srgbClr>
            </a:outerShdw>
          </a:effectLst>
        </p:spPr>
      </p:pic>
      <p:pic>
        <p:nvPicPr>
          <p:cNvPr id="291" name="Google Shape;291;p51"/>
          <p:cNvPicPr preferRelativeResize="0"/>
          <p:nvPr/>
        </p:nvPicPr>
        <p:blipFill>
          <a:blip r:embed="rId4">
            <a:alphaModFix/>
          </a:blip>
          <a:stretch>
            <a:fillRect/>
          </a:stretch>
        </p:blipFill>
        <p:spPr>
          <a:xfrm>
            <a:off x="1579038" y="1835974"/>
            <a:ext cx="738900" cy="7389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52"/>
          <p:cNvSpPr txBox="1"/>
          <p:nvPr>
            <p:ph idx="12" type="sldNum"/>
          </p:nvPr>
        </p:nvSpPr>
        <p:spPr>
          <a:xfrm>
            <a:off x="7501672"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7" name="Google Shape;297;p52"/>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98" name="Google Shape;298;p52"/>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Result</a:t>
            </a:r>
            <a:endParaRPr sz="3500"/>
          </a:p>
          <a:p>
            <a:pPr indent="0" lvl="0" marL="0" rtl="0" algn="l">
              <a:spcBef>
                <a:spcPts val="0"/>
              </a:spcBef>
              <a:spcAft>
                <a:spcPts val="0"/>
              </a:spcAft>
              <a:buNone/>
            </a:pPr>
            <a:r>
              <a:t/>
            </a:r>
            <a:endParaRPr sz="3500"/>
          </a:p>
        </p:txBody>
      </p:sp>
      <p:pic>
        <p:nvPicPr>
          <p:cNvPr id="299" name="Google Shape;299;p52"/>
          <p:cNvPicPr preferRelativeResize="0"/>
          <p:nvPr/>
        </p:nvPicPr>
        <p:blipFill>
          <a:blip r:embed="rId3">
            <a:alphaModFix/>
          </a:blip>
          <a:stretch>
            <a:fillRect/>
          </a:stretch>
        </p:blipFill>
        <p:spPr>
          <a:xfrm>
            <a:off x="2270425" y="513400"/>
            <a:ext cx="5779942" cy="3979351"/>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4A"/>
        </a:solidFill>
      </p:bgPr>
    </p:bg>
    <p:spTree>
      <p:nvGrpSpPr>
        <p:cNvPr id="303" name="Shape 303"/>
        <p:cNvGrpSpPr/>
        <p:nvPr/>
      </p:nvGrpSpPr>
      <p:grpSpPr>
        <a:xfrm>
          <a:off x="0" y="0"/>
          <a:ext cx="0" cy="0"/>
          <a:chOff x="0" y="0"/>
          <a:chExt cx="0" cy="0"/>
        </a:xfrm>
      </p:grpSpPr>
      <p:pic>
        <p:nvPicPr>
          <p:cNvPr id="304" name="Google Shape;304;p53"/>
          <p:cNvPicPr preferRelativeResize="0"/>
          <p:nvPr/>
        </p:nvPicPr>
        <p:blipFill rotWithShape="1">
          <a:blip r:embed="rId3">
            <a:alphaModFix/>
          </a:blip>
          <a:srcRect b="0" l="0" r="0" t="0"/>
          <a:stretch/>
        </p:blipFill>
        <p:spPr>
          <a:xfrm>
            <a:off x="4000499" y="0"/>
            <a:ext cx="5143501" cy="5143501"/>
          </a:xfrm>
          <a:prstGeom prst="rect">
            <a:avLst/>
          </a:prstGeom>
          <a:noFill/>
          <a:ln>
            <a:noFill/>
          </a:ln>
        </p:spPr>
      </p:pic>
      <p:sp>
        <p:nvSpPr>
          <p:cNvPr id="305" name="Google Shape;305;p53"/>
          <p:cNvSpPr txBox="1"/>
          <p:nvPr/>
        </p:nvSpPr>
        <p:spPr>
          <a:xfrm>
            <a:off x="333650" y="1925250"/>
            <a:ext cx="5726400" cy="129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Thank you</a:t>
            </a:r>
            <a:endParaRPr sz="3600">
              <a:solidFill>
                <a:schemeClr val="lt1"/>
              </a:solidFill>
              <a:latin typeface="Manrope SemiBold"/>
              <a:ea typeface="Manrope SemiBold"/>
              <a:cs typeface="Manrope SemiBold"/>
              <a:sym typeface="Manrope SemiBold"/>
            </a:endParaRPr>
          </a:p>
        </p:txBody>
      </p:sp>
      <p:pic>
        <p:nvPicPr>
          <p:cNvPr id="306" name="Google Shape;306;p53"/>
          <p:cNvPicPr preferRelativeResize="0"/>
          <p:nvPr/>
        </p:nvPicPr>
        <p:blipFill>
          <a:blip r:embed="rId4">
            <a:alphaModFix/>
          </a:blip>
          <a:stretch>
            <a:fillRect/>
          </a:stretch>
        </p:blipFill>
        <p:spPr>
          <a:xfrm>
            <a:off x="333650" y="339750"/>
            <a:ext cx="1941901" cy="461000"/>
          </a:xfrm>
          <a:prstGeom prst="rect">
            <a:avLst/>
          </a:prstGeom>
          <a:noFill/>
          <a:ln>
            <a:noFill/>
          </a:ln>
        </p:spPr>
      </p:pic>
      <p:sp>
        <p:nvSpPr>
          <p:cNvPr id="307" name="Google Shape;307;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Human First">
  <a:themeElements>
    <a:clrScheme name="Simple Light">
      <a:dk1>
        <a:srgbClr val="12184A"/>
      </a:dk1>
      <a:lt1>
        <a:srgbClr val="FFFFFF"/>
      </a:lt1>
      <a:dk2>
        <a:srgbClr val="F4F6FB"/>
      </a:dk2>
      <a:lt2>
        <a:srgbClr val="76CCED"/>
      </a:lt2>
      <a:accent1>
        <a:srgbClr val="294489"/>
      </a:accent1>
      <a:accent2>
        <a:srgbClr val="650C4C"/>
      </a:accent2>
      <a:accent3>
        <a:srgbClr val="D0D4DD"/>
      </a:accent3>
      <a:accent4>
        <a:srgbClr val="98A0B3"/>
      </a:accent4>
      <a:accent5>
        <a:srgbClr val="666F85"/>
      </a:accent5>
      <a:accent6>
        <a:srgbClr val="475067"/>
      </a:accent6>
      <a:hlink>
        <a:srgbClr val="29448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