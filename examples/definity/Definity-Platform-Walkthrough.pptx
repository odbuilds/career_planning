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Inter Light"/>
      <p:regular r:id="rId33"/>
      <p:bold r:id="rId34"/>
      <p:italic r:id="rId35"/>
      <p:boldItalic r:id="rId36"/>
    </p:embeddedFont>
    <p:embeddedFont>
      <p:font typeface="Inter"/>
      <p:regular r:id="rId37"/>
      <p:bold r:id="rId38"/>
      <p:italic r:id="rId39"/>
      <p:boldItalic r:id="rId40"/>
    </p:embeddedFont>
    <p:embeddedFont>
      <p:font typeface="Manrope SemiBold"/>
      <p:regular r:id="rId41"/>
      <p:bold r:id="rId42"/>
    </p:embeddedFont>
    <p:embeddedFont>
      <p:font typeface="Manrope"/>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Italic.fntdata"/><Relationship Id="rId20" Type="http://schemas.openxmlformats.org/officeDocument/2006/relationships/slide" Target="slides/slide14.xml"/><Relationship Id="rId42" Type="http://schemas.openxmlformats.org/officeDocument/2006/relationships/font" Target="fonts/ManropeSemiBold-bold.fntdata"/><Relationship Id="rId41" Type="http://schemas.openxmlformats.org/officeDocument/2006/relationships/font" Target="fonts/ManropeSemiBold-regular.fntdata"/><Relationship Id="rId22" Type="http://schemas.openxmlformats.org/officeDocument/2006/relationships/slide" Target="slides/slide16.xml"/><Relationship Id="rId44" Type="http://schemas.openxmlformats.org/officeDocument/2006/relationships/font" Target="fonts/Manrope-bold.fntdata"/><Relationship Id="rId21" Type="http://schemas.openxmlformats.org/officeDocument/2006/relationships/slide" Target="slides/slide15.xml"/><Relationship Id="rId43" Type="http://schemas.openxmlformats.org/officeDocument/2006/relationships/font" Target="fonts/Manrope-regular.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nterLight-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InterLight-italic.fntdata"/><Relationship Id="rId12" Type="http://schemas.openxmlformats.org/officeDocument/2006/relationships/slide" Target="slides/slide6.xml"/><Relationship Id="rId34" Type="http://schemas.openxmlformats.org/officeDocument/2006/relationships/font" Target="fonts/InterLight-bold.fntdata"/><Relationship Id="rId15" Type="http://schemas.openxmlformats.org/officeDocument/2006/relationships/slide" Target="slides/slide9.xml"/><Relationship Id="rId37" Type="http://schemas.openxmlformats.org/officeDocument/2006/relationships/font" Target="fonts/Inter-regular.fntdata"/><Relationship Id="rId14" Type="http://schemas.openxmlformats.org/officeDocument/2006/relationships/slide" Target="slides/slide8.xml"/><Relationship Id="rId36" Type="http://schemas.openxmlformats.org/officeDocument/2006/relationships/font" Target="fonts/InterLight-boldItalic.fntdata"/><Relationship Id="rId17" Type="http://schemas.openxmlformats.org/officeDocument/2006/relationships/slide" Target="slides/slide11.xml"/><Relationship Id="rId39" Type="http://schemas.openxmlformats.org/officeDocument/2006/relationships/font" Target="fonts/Inter-italic.fntdata"/><Relationship Id="rId16" Type="http://schemas.openxmlformats.org/officeDocument/2006/relationships/slide" Target="slides/slide10.xml"/><Relationship Id="rId38" Type="http://schemas.openxmlformats.org/officeDocument/2006/relationships/font" Target="fonts/Inter-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699bd2dc47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699bd2dc47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fc7198af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fc7198af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fc7198afa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fc7198afa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fc7198afa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fc7198afa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fc7198afa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fc7198afa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fc7198afa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fc7198afa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fc7198afa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fc7198afa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fc7198afa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fc7198afa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015e7743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015e7743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015e7743e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015e7743e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015e7743e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015e7743e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015e7743e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015e7743e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03771"/>
                </a:solidFill>
                <a:highlight>
                  <a:srgbClr val="FFFFFF"/>
                </a:highlight>
                <a:latin typeface="Inter"/>
                <a:ea typeface="Inter"/>
                <a:cs typeface="Inter"/>
                <a:sym typeface="Inter"/>
              </a:rPr>
              <a:t>Definity_unified_representative_test_data_2024</a:t>
            </a:r>
            <a:endParaRPr sz="1200">
              <a:solidFill>
                <a:srgbClr val="203771"/>
              </a:solidFill>
              <a:highlight>
                <a:srgbClr val="FFFFFF"/>
              </a:highlight>
              <a:latin typeface="Inter"/>
              <a:ea typeface="Inter"/>
              <a:cs typeface="Inter"/>
              <a:sym typeface="Inter"/>
            </a:endParaRPr>
          </a:p>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015e7743e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015e7743e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03771"/>
                </a:solidFill>
                <a:highlight>
                  <a:srgbClr val="FFFFFF"/>
                </a:highlight>
                <a:latin typeface="Inter"/>
                <a:ea typeface="Inter"/>
                <a:cs typeface="Inter"/>
                <a:sym typeface="Inter"/>
              </a:rPr>
              <a:t>Definity_unified_representative_test_data_2024</a:t>
            </a:r>
            <a:endParaRPr sz="1200">
              <a:solidFill>
                <a:srgbClr val="203771"/>
              </a:solidFill>
              <a:highlight>
                <a:srgbClr val="FFFFFF"/>
              </a:highlight>
              <a:latin typeface="Inter"/>
              <a:ea typeface="Inter"/>
              <a:cs typeface="Inter"/>
              <a:sym typeface="Inter"/>
            </a:endParaRPr>
          </a:p>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015e7743ed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015e7743ed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03771"/>
                </a:solidFill>
                <a:highlight>
                  <a:srgbClr val="FFFFFF"/>
                </a:highlight>
                <a:latin typeface="Inter"/>
                <a:ea typeface="Inter"/>
                <a:cs typeface="Inter"/>
                <a:sym typeface="Inter"/>
              </a:rPr>
              <a:t>Key Issue Prompt</a:t>
            </a:r>
            <a:endParaRPr sz="1200">
              <a:solidFill>
                <a:srgbClr val="203771"/>
              </a:solidFill>
              <a:highlight>
                <a:srgbClr val="FFFFFF"/>
              </a:highlight>
              <a:latin typeface="Inter"/>
              <a:ea typeface="Inter"/>
              <a:cs typeface="Inter"/>
              <a:sym typeface="Inter"/>
            </a:endParaRPr>
          </a:p>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a:p>
            <a:pPr indent="-298450" lvl="0" marL="457200" rtl="0" algn="l">
              <a:lnSpc>
                <a:spcPct val="115000"/>
              </a:lnSpc>
              <a:spcBef>
                <a:spcPts val="0"/>
              </a:spcBef>
              <a:spcAft>
                <a:spcPts val="0"/>
              </a:spcAft>
              <a:buClr>
                <a:srgbClr val="475067"/>
              </a:buClr>
              <a:buSzPts val="1100"/>
              <a:buFont typeface="Inter"/>
              <a:buChar char="■"/>
            </a:pPr>
            <a:r>
              <a:rPr lang="en">
                <a:solidFill>
                  <a:srgbClr val="475067"/>
                </a:solidFill>
                <a:latin typeface="Inter"/>
                <a:ea typeface="Inter"/>
                <a:cs typeface="Inter"/>
                <a:sym typeface="Inter"/>
              </a:rPr>
              <a:t>Prompt Templates</a:t>
            </a:r>
            <a:endParaRPr>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a:solidFill>
                  <a:srgbClr val="475067"/>
                </a:solidFill>
                <a:latin typeface="Inter"/>
                <a:ea typeface="Inter"/>
                <a:cs typeface="Inter"/>
                <a:sym typeface="Inter"/>
              </a:rPr>
              <a:t>Running prompt</a:t>
            </a:r>
            <a:endParaRPr>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a:solidFill>
                  <a:srgbClr val="475067"/>
                </a:solidFill>
                <a:latin typeface="Inter"/>
                <a:ea typeface="Inter"/>
                <a:cs typeface="Inter"/>
                <a:sym typeface="Inter"/>
              </a:rPr>
              <a:t>Prompt Settings</a:t>
            </a:r>
            <a:endParaRPr>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a:solidFill>
                  <a:srgbClr val="475067"/>
                </a:solidFill>
                <a:latin typeface="Inter"/>
                <a:ea typeface="Inter"/>
                <a:cs typeface="Inter"/>
                <a:sym typeface="Inter"/>
              </a:rPr>
              <a:t>Run by run filtering</a:t>
            </a:r>
            <a:endParaRPr>
              <a:solidFill>
                <a:srgbClr val="475067"/>
              </a:solidFill>
              <a:latin typeface="Inter"/>
              <a:ea typeface="Inter"/>
              <a:cs typeface="Inter"/>
              <a:sym typeface="Inter"/>
            </a:endParaRPr>
          </a:p>
          <a:p>
            <a:pPr indent="-298450" lvl="0" marL="457200" rtl="0" algn="l">
              <a:lnSpc>
                <a:spcPct val="115000"/>
              </a:lnSpc>
              <a:spcBef>
                <a:spcPts val="1000"/>
              </a:spcBef>
              <a:spcAft>
                <a:spcPts val="1000"/>
              </a:spcAft>
              <a:buClr>
                <a:srgbClr val="475067"/>
              </a:buClr>
              <a:buSzPts val="1100"/>
              <a:buFont typeface="Inter"/>
              <a:buChar char="■"/>
            </a:pPr>
            <a:r>
              <a:rPr lang="en">
                <a:solidFill>
                  <a:srgbClr val="475067"/>
                </a:solidFill>
                <a:latin typeface="Inter"/>
                <a:ea typeface="Inter"/>
                <a:cs typeface="Inter"/>
                <a:sym typeface="Inter"/>
              </a:rPr>
              <a:t>Post processing</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015e7743e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015e7743e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03771"/>
                </a:solidFill>
                <a:highlight>
                  <a:srgbClr val="FFFFFF"/>
                </a:highlight>
                <a:latin typeface="Inter"/>
                <a:ea typeface="Inter"/>
                <a:cs typeface="Inter"/>
                <a:sym typeface="Inter"/>
              </a:rPr>
              <a:t>Key Issue Prompt</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015e7743e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015e7743e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03771"/>
                </a:solidFill>
                <a:highlight>
                  <a:srgbClr val="FFFFFF"/>
                </a:highlight>
                <a:latin typeface="Inter"/>
                <a:ea typeface="Inter"/>
                <a:cs typeface="Inter"/>
                <a:sym typeface="Inter"/>
              </a:rPr>
              <a:t>Definity_unified_representative_test_data_2024</a:t>
            </a:r>
            <a:endParaRPr sz="1200">
              <a:solidFill>
                <a:srgbClr val="203771"/>
              </a:solidFill>
              <a:highlight>
                <a:srgbClr val="FFFFFF"/>
              </a:highlight>
              <a:latin typeface="Inter"/>
              <a:ea typeface="Inter"/>
              <a:cs typeface="Inter"/>
              <a:sym typeface="Inter"/>
            </a:endParaRPr>
          </a:p>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107603ba8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107603ba8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107603ba8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107603ba8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107603ba8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107603ba8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12d8a167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12d8a167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12d8a167f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12d8a167f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12d8a167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12d8a167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12d8a167f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12d8a167f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True Positive — Correctly Matched Intent (Did Match &amp; Correct)</a:t>
            </a:r>
            <a:br>
              <a:rPr lang="en" sz="1200">
                <a:solidFill>
                  <a:srgbClr val="203771"/>
                </a:solidFill>
                <a:highlight>
                  <a:srgbClr val="FFFFFF"/>
                </a:highlight>
                <a:latin typeface="Inter"/>
                <a:ea typeface="Inter"/>
                <a:cs typeface="Inter"/>
                <a:sym typeface="Inter"/>
              </a:rPr>
            </a:br>
            <a:endParaRPr sz="1200">
              <a:solidFill>
                <a:srgbClr val="203771"/>
              </a:solidFill>
              <a:highlight>
                <a:srgbClr val="FFFFFF"/>
              </a:highlight>
              <a:latin typeface="Inter"/>
              <a:ea typeface="Inter"/>
              <a:cs typeface="Inter"/>
              <a:sym typeface="Inter"/>
            </a:endParaRPr>
          </a:p>
          <a:p>
            <a:pPr indent="-298450" lvl="1" marL="914400" rtl="0" algn="l">
              <a:lnSpc>
                <a:spcPct val="115000"/>
              </a:lnSpc>
              <a:spcBef>
                <a:spcPts val="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Correctly matched the utterance to the intent</a:t>
            </a:r>
            <a:endParaRPr sz="1200">
              <a:solidFill>
                <a:srgbClr val="203771"/>
              </a:solidFill>
              <a:highlight>
                <a:srgbClr val="FFFFFF"/>
              </a:highlight>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True Negative — Unsupported Request (Can’t Match Hit Fallback)</a:t>
            </a:r>
            <a:br>
              <a:rPr lang="en" sz="1200">
                <a:solidFill>
                  <a:srgbClr val="203771"/>
                </a:solidFill>
                <a:highlight>
                  <a:srgbClr val="FFFFFF"/>
                </a:highlight>
                <a:latin typeface="Inter"/>
                <a:ea typeface="Inter"/>
                <a:cs typeface="Inter"/>
                <a:sym typeface="Inter"/>
              </a:rPr>
            </a:br>
            <a:endParaRPr sz="1200">
              <a:solidFill>
                <a:srgbClr val="203771"/>
              </a:solidFill>
              <a:highlight>
                <a:srgbClr val="FFFFFF"/>
              </a:highlight>
              <a:latin typeface="Inter"/>
              <a:ea typeface="Inter"/>
              <a:cs typeface="Inter"/>
              <a:sym typeface="Inter"/>
            </a:endParaRPr>
          </a:p>
          <a:p>
            <a:pPr indent="-298450" lvl="1" marL="914400" rtl="0" algn="l">
              <a:lnSpc>
                <a:spcPct val="115000"/>
              </a:lnSpc>
              <a:spcBef>
                <a:spcPts val="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Mapped the user utterance to a fallback. Requests bot isn’t trained to answer</a:t>
            </a:r>
            <a:endParaRPr sz="1200">
              <a:solidFill>
                <a:srgbClr val="203771"/>
              </a:solidFill>
              <a:highlight>
                <a:srgbClr val="FFFFFF"/>
              </a:highlight>
              <a:latin typeface="Inter"/>
              <a:ea typeface="Inter"/>
              <a:cs typeface="Inter"/>
              <a:sym typeface="Inter"/>
            </a:endParaRPr>
          </a:p>
          <a:p>
            <a:pPr indent="-298450" lvl="1" marL="914400" rtl="0" algn="l">
              <a:lnSpc>
                <a:spcPct val="115000"/>
              </a:lnSpc>
              <a:spcBef>
                <a:spcPts val="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Global fallback intent could be triggered</a:t>
            </a:r>
            <a:endParaRPr sz="1200">
              <a:solidFill>
                <a:srgbClr val="203771"/>
              </a:solidFill>
              <a:highlight>
                <a:srgbClr val="FFFFFF"/>
              </a:highlight>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False Positive — A Misunderstood Request (Did Match But Wrong)</a:t>
            </a:r>
            <a:br>
              <a:rPr lang="en" sz="1200">
                <a:solidFill>
                  <a:srgbClr val="203771"/>
                </a:solidFill>
                <a:highlight>
                  <a:srgbClr val="FFFFFF"/>
                </a:highlight>
                <a:latin typeface="Inter"/>
                <a:ea typeface="Inter"/>
                <a:cs typeface="Inter"/>
                <a:sym typeface="Inter"/>
              </a:rPr>
            </a:br>
            <a:endParaRPr sz="1200">
              <a:solidFill>
                <a:srgbClr val="203771"/>
              </a:solidFill>
              <a:highlight>
                <a:srgbClr val="FFFFFF"/>
              </a:highlight>
              <a:latin typeface="Inter"/>
              <a:ea typeface="Inter"/>
              <a:cs typeface="Inter"/>
              <a:sym typeface="Inter"/>
            </a:endParaRPr>
          </a:p>
          <a:p>
            <a:pPr indent="-298450" lvl="1" marL="914400" rtl="0" algn="l">
              <a:lnSpc>
                <a:spcPct val="115000"/>
              </a:lnSpc>
              <a:spcBef>
                <a:spcPts val="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Matches the wrong intent — didn’t even match a fallback intent</a:t>
            </a:r>
            <a:br>
              <a:rPr lang="en" sz="1200">
                <a:solidFill>
                  <a:srgbClr val="203771"/>
                </a:solidFill>
                <a:highlight>
                  <a:srgbClr val="FFFFFF"/>
                </a:highlight>
                <a:latin typeface="Inter"/>
                <a:ea typeface="Inter"/>
                <a:cs typeface="Inter"/>
                <a:sym typeface="Inter"/>
              </a:rPr>
            </a:br>
            <a:br>
              <a:rPr lang="en" sz="1200">
                <a:solidFill>
                  <a:srgbClr val="203771"/>
                </a:solidFill>
                <a:highlight>
                  <a:srgbClr val="FFFFFF"/>
                </a:highlight>
                <a:latin typeface="Inter"/>
                <a:ea typeface="Inter"/>
                <a:cs typeface="Inter"/>
                <a:sym typeface="Inter"/>
              </a:rPr>
            </a:br>
            <a:r>
              <a:rPr lang="en" sz="1200">
                <a:solidFill>
                  <a:srgbClr val="203771"/>
                </a:solidFill>
                <a:highlight>
                  <a:srgbClr val="FFFFFF"/>
                </a:highlight>
                <a:latin typeface="Inter"/>
                <a:ea typeface="Inter"/>
                <a:cs typeface="Inter"/>
                <a:sym typeface="Inter"/>
              </a:rPr>
              <a:t> For example, when your virtual agent has an intent called “Block credit card,” and it was trained with a training phrase: “I want to block my credit card.” Your virtual agent has another intent called “Renew credit card,” and it was trained with the training phrase: “I want to renew my credit card.” I could create test data on the preceding scenario with a user utterance: “My account is blocked, can I get a new credit card?”</a:t>
            </a:r>
            <a:br>
              <a:rPr lang="en" sz="1200">
                <a:solidFill>
                  <a:srgbClr val="203771"/>
                </a:solidFill>
                <a:highlight>
                  <a:srgbClr val="FFFFFF"/>
                </a:highlight>
                <a:latin typeface="Inter"/>
                <a:ea typeface="Inter"/>
                <a:cs typeface="Inter"/>
                <a:sym typeface="Inter"/>
              </a:rPr>
            </a:br>
            <a:endParaRPr sz="1200">
              <a:solidFill>
                <a:srgbClr val="203771"/>
              </a:solidFill>
              <a:highlight>
                <a:srgbClr val="FFFFFF"/>
              </a:highlight>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False Negative — A missed request (Should Match But Didn’t)</a:t>
            </a:r>
            <a:br>
              <a:rPr lang="en" sz="1200">
                <a:solidFill>
                  <a:srgbClr val="203771"/>
                </a:solidFill>
                <a:highlight>
                  <a:srgbClr val="FFFFFF"/>
                </a:highlight>
                <a:latin typeface="Inter"/>
                <a:ea typeface="Inter"/>
                <a:cs typeface="Inter"/>
                <a:sym typeface="Inter"/>
              </a:rPr>
            </a:br>
            <a:endParaRPr sz="1200">
              <a:solidFill>
                <a:srgbClr val="203771"/>
              </a:solidFill>
              <a:highlight>
                <a:srgbClr val="FFFFFF"/>
              </a:highlight>
              <a:latin typeface="Inter"/>
              <a:ea typeface="Inter"/>
              <a:cs typeface="Inter"/>
              <a:sym typeface="Inter"/>
            </a:endParaRPr>
          </a:p>
          <a:p>
            <a:pPr indent="-298450" lvl="1" marL="914400" rtl="0" algn="l">
              <a:lnSpc>
                <a:spcPct val="115000"/>
              </a:lnSpc>
              <a:spcBef>
                <a:spcPts val="0"/>
              </a:spcBef>
              <a:spcAft>
                <a:spcPts val="0"/>
              </a:spcAft>
              <a:buClr>
                <a:schemeClr val="dk1"/>
              </a:buClr>
              <a:buSzPts val="1100"/>
              <a:buChar char="○"/>
            </a:pPr>
            <a:r>
              <a:rPr lang="en" sz="1200">
                <a:solidFill>
                  <a:srgbClr val="203771"/>
                </a:solidFill>
                <a:highlight>
                  <a:srgbClr val="FFFFFF"/>
                </a:highlight>
                <a:latin typeface="Inter"/>
                <a:ea typeface="Inter"/>
                <a:cs typeface="Inter"/>
                <a:sym typeface="Inter"/>
              </a:rPr>
              <a:t>Should match but a fallback was triggered instead</a:t>
            </a:r>
            <a:br>
              <a:rPr lang="en" sz="1200">
                <a:solidFill>
                  <a:srgbClr val="203771"/>
                </a:solidFill>
                <a:highlight>
                  <a:srgbClr val="FFFFFF"/>
                </a:highlight>
                <a:latin typeface="Inter"/>
                <a:ea typeface="Inter"/>
                <a:cs typeface="Inter"/>
                <a:sym typeface="Inter"/>
              </a:rPr>
            </a:br>
            <a:br>
              <a:rPr lang="en" sz="1200">
                <a:solidFill>
                  <a:srgbClr val="203771"/>
                </a:solidFill>
                <a:highlight>
                  <a:srgbClr val="FFFFFF"/>
                </a:highlight>
                <a:latin typeface="Inter"/>
                <a:ea typeface="Inter"/>
                <a:cs typeface="Inter"/>
                <a:sym typeface="Inter"/>
              </a:rPr>
            </a:br>
            <a:r>
              <a:rPr lang="en" sz="1200">
                <a:solidFill>
                  <a:srgbClr val="203771"/>
                </a:solidFill>
                <a:highlight>
                  <a:srgbClr val="FFFFFF"/>
                </a:highlight>
                <a:latin typeface="Inter"/>
                <a:ea typeface="Inter"/>
                <a:cs typeface="Inter"/>
                <a:sym typeface="Inter"/>
              </a:rPr>
              <a:t> “I want to block my credit card.” I could create test data on the preceding scenario with a user utterance: “Stop the credit card right now.” I expect it to be the “Block credit card” intent; however, the virtual agent detected a fallback intent. So this is a false negative.</a:t>
            </a:r>
            <a:br>
              <a:rPr lang="en" sz="1200">
                <a:solidFill>
                  <a:srgbClr val="203771"/>
                </a:solidFill>
                <a:highlight>
                  <a:srgbClr val="FFFFFF"/>
                </a:highlight>
                <a:latin typeface="Inter"/>
                <a:ea typeface="Inter"/>
                <a:cs typeface="Inter"/>
                <a:sym typeface="Inter"/>
              </a:rPr>
            </a:b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12d8a167f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12d8a167f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12d8a167f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12d8a167f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203771"/>
              </a:solidFill>
              <a:highlight>
                <a:srgbClr val="FFFFFF"/>
              </a:highlight>
              <a:latin typeface="Inter"/>
              <a:ea typeface="Inter"/>
              <a:cs typeface="Inter"/>
              <a:sym typeface="Inte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7.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11.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hyperlink" Target="https://docs.humanfirst.ai/docs/academy/improve_a_model/disambiguation" TargetMode="External"/><Relationship Id="rId4" Type="http://schemas.openxmlformats.org/officeDocument/2006/relationships/hyperlink" Target="https://docs.humanfirst.ai/docs/workspace/nlu/evaluate" TargetMode="External"/><Relationship Id="rId5" Type="http://schemas.openxmlformats.org/officeDocument/2006/relationships/hyperlink" Target="https://docs.humanfirst.ai/docs/workflows/divide-and-conquer" TargetMode="External"/><Relationship Id="rId6" Type="http://schemas.openxmlformats.org/officeDocument/2006/relationships/hyperlink" Target="https://docs.humanfirst.ai/docs/workflows/discovering-new-inten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HumanFirst</a:t>
            </a:r>
            <a:endParaRPr sz="3600">
              <a:solidFill>
                <a:schemeClr val="lt1"/>
              </a:solidFill>
              <a:latin typeface="Manrope SemiBold"/>
              <a:ea typeface="Manrope SemiBold"/>
              <a:cs typeface="Manrope SemiBold"/>
              <a:sym typeface="Manrope SemiBold"/>
            </a:endParaRPr>
          </a:p>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Walkthrough</a:t>
            </a:r>
            <a:endParaRPr sz="36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3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44" name="Google Shape;144;p37"/>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Agenda</a:t>
            </a:r>
            <a:endParaRPr sz="3500"/>
          </a:p>
        </p:txBody>
      </p:sp>
      <p:sp>
        <p:nvSpPr>
          <p:cNvPr id="145" name="Google Shape;145;p37"/>
          <p:cNvSpPr txBox="1"/>
          <p:nvPr/>
        </p:nvSpPr>
        <p:spPr>
          <a:xfrm>
            <a:off x="666900" y="1200800"/>
            <a:ext cx="75462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475067"/>
              </a:buClr>
              <a:buSzPts val="1200"/>
              <a:buFont typeface="Inter"/>
              <a:buChar char="■"/>
            </a:pPr>
            <a:r>
              <a:rPr lang="en" sz="1100">
                <a:solidFill>
                  <a:srgbClr val="475067"/>
                </a:solidFill>
                <a:latin typeface="Inter"/>
                <a:ea typeface="Inter"/>
                <a:cs typeface="Inter"/>
                <a:sym typeface="Inter"/>
              </a:rPr>
              <a:t>Namespaces / Workspaces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Navigation (Data Management, Integrations, Organization)</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Uploading Data into the tool / Data Formats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UI Overview</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1000"/>
              </a:spcAft>
              <a:buClr>
                <a:srgbClr val="475067"/>
              </a:buClr>
              <a:buSzPts val="1100"/>
              <a:buFont typeface="Inter"/>
              <a:buChar char="■"/>
            </a:pPr>
            <a:r>
              <a:rPr lang="en" sz="1100">
                <a:solidFill>
                  <a:srgbClr val="475067"/>
                </a:solidFill>
                <a:latin typeface="Inter"/>
                <a:ea typeface="Inter"/>
                <a:cs typeface="Inter"/>
                <a:sym typeface="Inter"/>
              </a:rPr>
              <a:t>Prompts Example</a:t>
            </a:r>
            <a:endParaRPr sz="1100">
              <a:solidFill>
                <a:srgbClr val="475067"/>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3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52" name="Google Shape;152;p38"/>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Namespaces / Workspaces</a:t>
            </a:r>
            <a:endParaRPr sz="3500"/>
          </a:p>
        </p:txBody>
      </p:sp>
      <p:sp>
        <p:nvSpPr>
          <p:cNvPr id="153" name="Google Shape;153;p38"/>
          <p:cNvSpPr txBox="1"/>
          <p:nvPr/>
        </p:nvSpPr>
        <p:spPr>
          <a:xfrm>
            <a:off x="683075" y="1077950"/>
            <a:ext cx="37650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475067"/>
              </a:buClr>
              <a:buSzPts val="1100"/>
              <a:buFont typeface="Inter"/>
              <a:buChar char="■"/>
            </a:pPr>
            <a:r>
              <a:rPr lang="en" sz="1100">
                <a:solidFill>
                  <a:srgbClr val="475067"/>
                </a:solidFill>
                <a:latin typeface="Inter"/>
                <a:ea typeface="Inter"/>
                <a:cs typeface="Inter"/>
                <a:sym typeface="Inter"/>
              </a:rPr>
              <a:t>Namespaces allow multi-tenancy within your Studio organization. Setup to control access to groups of workspaces or data sets.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Namespace for HR &lt;&gt; Finance or DEV &lt;&gt; Prod</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When creating a workspace it is automatically bound to the current namespace.</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When data is uploaded, either from within a workspace or from the Data management section, that data will be bound to the current namespace. </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1000"/>
              </a:spcAft>
              <a:buClr>
                <a:srgbClr val="475067"/>
              </a:buClr>
              <a:buSzPts val="1100"/>
              <a:buFont typeface="Inter"/>
              <a:buChar char="■"/>
            </a:pPr>
            <a:r>
              <a:rPr lang="en" sz="1100">
                <a:solidFill>
                  <a:srgbClr val="475067"/>
                </a:solidFill>
                <a:latin typeface="Inter"/>
                <a:ea typeface="Inter"/>
                <a:cs typeface="Inter"/>
                <a:sym typeface="Inter"/>
              </a:rPr>
              <a:t>Each namespace has user-specific permissions that you can set to control who has access to the data &amp; workspaces within the namespace.</a:t>
            </a:r>
            <a:endParaRPr sz="1100">
              <a:solidFill>
                <a:srgbClr val="475067"/>
              </a:solidFill>
              <a:latin typeface="Inter"/>
              <a:ea typeface="Inter"/>
              <a:cs typeface="Inter"/>
              <a:sym typeface="Inter"/>
            </a:endParaRPr>
          </a:p>
        </p:txBody>
      </p:sp>
      <p:pic>
        <p:nvPicPr>
          <p:cNvPr id="154" name="Google Shape;154;p38"/>
          <p:cNvPicPr preferRelativeResize="0"/>
          <p:nvPr/>
        </p:nvPicPr>
        <p:blipFill>
          <a:blip r:embed="rId3">
            <a:alphaModFix/>
          </a:blip>
          <a:stretch>
            <a:fillRect/>
          </a:stretch>
        </p:blipFill>
        <p:spPr>
          <a:xfrm>
            <a:off x="4728950" y="2299850"/>
            <a:ext cx="3351526" cy="2585351"/>
          </a:xfrm>
          <a:prstGeom prst="rect">
            <a:avLst/>
          </a:prstGeom>
          <a:noFill/>
          <a:ln cap="flat" cmpd="sng" w="9525">
            <a:solidFill>
              <a:schemeClr val="dk1"/>
            </a:solidFill>
            <a:prstDash val="solid"/>
            <a:round/>
            <a:headEnd len="sm" w="sm" type="none"/>
            <a:tailEnd len="sm" w="sm" type="none"/>
          </a:ln>
        </p:spPr>
      </p:pic>
      <p:pic>
        <p:nvPicPr>
          <p:cNvPr id="155" name="Google Shape;155;p38"/>
          <p:cNvPicPr preferRelativeResize="0"/>
          <p:nvPr/>
        </p:nvPicPr>
        <p:blipFill rotWithShape="1">
          <a:blip r:embed="rId4">
            <a:alphaModFix/>
          </a:blip>
          <a:srcRect b="0" l="0" r="7510" t="0"/>
          <a:stretch/>
        </p:blipFill>
        <p:spPr>
          <a:xfrm>
            <a:off x="6296550" y="1020250"/>
            <a:ext cx="2715951" cy="16155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3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62" name="Google Shape;162;p3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Navigation</a:t>
            </a:r>
            <a:endParaRPr sz="3500"/>
          </a:p>
        </p:txBody>
      </p:sp>
      <p:pic>
        <p:nvPicPr>
          <p:cNvPr id="163" name="Google Shape;163;p39"/>
          <p:cNvPicPr preferRelativeResize="0"/>
          <p:nvPr/>
        </p:nvPicPr>
        <p:blipFill>
          <a:blip r:embed="rId3">
            <a:alphaModFix/>
          </a:blip>
          <a:stretch>
            <a:fillRect/>
          </a:stretch>
        </p:blipFill>
        <p:spPr>
          <a:xfrm>
            <a:off x="1204213" y="1076775"/>
            <a:ext cx="6735585" cy="388742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4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70" name="Google Shape;170;p4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Navigation</a:t>
            </a:r>
            <a:endParaRPr sz="3500"/>
          </a:p>
        </p:txBody>
      </p:sp>
      <p:pic>
        <p:nvPicPr>
          <p:cNvPr id="171" name="Google Shape;171;p40"/>
          <p:cNvPicPr preferRelativeResize="0"/>
          <p:nvPr/>
        </p:nvPicPr>
        <p:blipFill>
          <a:blip r:embed="rId3">
            <a:alphaModFix/>
          </a:blip>
          <a:stretch>
            <a:fillRect/>
          </a:stretch>
        </p:blipFill>
        <p:spPr>
          <a:xfrm>
            <a:off x="470526" y="444000"/>
            <a:ext cx="7660426" cy="43987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4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78" name="Google Shape;178;p41"/>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Navigation</a:t>
            </a:r>
            <a:endParaRPr sz="3500"/>
          </a:p>
        </p:txBody>
      </p:sp>
      <p:pic>
        <p:nvPicPr>
          <p:cNvPr id="179" name="Google Shape;179;p41"/>
          <p:cNvPicPr preferRelativeResize="0"/>
          <p:nvPr/>
        </p:nvPicPr>
        <p:blipFill>
          <a:blip r:embed="rId3">
            <a:alphaModFix/>
          </a:blip>
          <a:stretch>
            <a:fillRect/>
          </a:stretch>
        </p:blipFill>
        <p:spPr>
          <a:xfrm>
            <a:off x="1252275" y="1071350"/>
            <a:ext cx="6459796" cy="3718799"/>
          </a:xfrm>
          <a:prstGeom prst="rect">
            <a:avLst/>
          </a:prstGeom>
          <a:noFill/>
          <a:ln cap="flat" cmpd="sng" w="9525">
            <a:solidFill>
              <a:schemeClr val="dk1"/>
            </a:solidFill>
            <a:prstDash val="solid"/>
            <a:round/>
            <a:headEnd len="sm" w="sm" type="none"/>
            <a:tailEnd len="sm" w="sm" type="none"/>
          </a:ln>
        </p:spPr>
      </p:pic>
      <p:pic>
        <p:nvPicPr>
          <p:cNvPr id="180" name="Google Shape;180;p41"/>
          <p:cNvPicPr preferRelativeResize="0"/>
          <p:nvPr/>
        </p:nvPicPr>
        <p:blipFill>
          <a:blip r:embed="rId4">
            <a:alphaModFix/>
          </a:blip>
          <a:stretch>
            <a:fillRect/>
          </a:stretch>
        </p:blipFill>
        <p:spPr>
          <a:xfrm>
            <a:off x="6839300" y="2097300"/>
            <a:ext cx="2261551" cy="2932976"/>
          </a:xfrm>
          <a:prstGeom prst="rect">
            <a:avLst/>
          </a:prstGeom>
          <a:noFill/>
          <a:ln cap="flat" cmpd="sng" w="9525">
            <a:solidFill>
              <a:schemeClr val="dk1"/>
            </a:solidFill>
            <a:prstDash val="solid"/>
            <a:round/>
            <a:headEnd len="sm" w="sm" type="none"/>
            <a:tailEnd len="sm" w="sm" type="none"/>
          </a:ln>
        </p:spPr>
      </p:pic>
      <p:sp>
        <p:nvSpPr>
          <p:cNvPr id="181" name="Google Shape;181;p41"/>
          <p:cNvSpPr txBox="1"/>
          <p:nvPr/>
        </p:nvSpPr>
        <p:spPr>
          <a:xfrm>
            <a:off x="3884175" y="4790150"/>
            <a:ext cx="2832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https://docs.humanfirst.ai/docs/integrations/overview</a:t>
            </a:r>
            <a:endParaRPr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4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7" name="Google Shape;187;p4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88" name="Google Shape;188;p4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Navigation</a:t>
            </a:r>
            <a:endParaRPr sz="3500"/>
          </a:p>
        </p:txBody>
      </p:sp>
      <p:pic>
        <p:nvPicPr>
          <p:cNvPr id="189" name="Google Shape;189;p42"/>
          <p:cNvPicPr preferRelativeResize="0"/>
          <p:nvPr/>
        </p:nvPicPr>
        <p:blipFill>
          <a:blip r:embed="rId3">
            <a:alphaModFix/>
          </a:blip>
          <a:stretch>
            <a:fillRect/>
          </a:stretch>
        </p:blipFill>
        <p:spPr>
          <a:xfrm>
            <a:off x="1331100" y="1223825"/>
            <a:ext cx="6481792" cy="371880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4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96" name="Google Shape;196;p4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User Permissions</a:t>
            </a:r>
            <a:endParaRPr sz="3500"/>
          </a:p>
        </p:txBody>
      </p:sp>
      <p:sp>
        <p:nvSpPr>
          <p:cNvPr id="197" name="Google Shape;197;p43"/>
          <p:cNvSpPr txBox="1"/>
          <p:nvPr/>
        </p:nvSpPr>
        <p:spPr>
          <a:xfrm>
            <a:off x="677675" y="1185450"/>
            <a:ext cx="34953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475067"/>
              </a:buClr>
              <a:buSzPts val="1100"/>
              <a:buFont typeface="Inter"/>
              <a:buChar char="■"/>
            </a:pPr>
            <a:r>
              <a:rPr lang="en" sz="1100">
                <a:solidFill>
                  <a:srgbClr val="475067"/>
                </a:solidFill>
                <a:latin typeface="Inter"/>
                <a:ea typeface="Inter"/>
                <a:cs typeface="Inter"/>
                <a:sym typeface="Inter"/>
              </a:rPr>
              <a:t>r</a:t>
            </a:r>
            <a:r>
              <a:rPr lang="en" sz="1100">
                <a:solidFill>
                  <a:srgbClr val="475067"/>
                </a:solidFill>
                <a:latin typeface="Inter"/>
                <a:ea typeface="Inter"/>
                <a:cs typeface="Inter"/>
                <a:sym typeface="Inter"/>
              </a:rPr>
              <a:t>ead - can only view </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write - full control to perform most CRUD operations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a</a:t>
            </a:r>
            <a:r>
              <a:rPr lang="en" sz="1100">
                <a:solidFill>
                  <a:srgbClr val="475067"/>
                </a:solidFill>
                <a:latin typeface="Inter"/>
                <a:ea typeface="Inter"/>
                <a:cs typeface="Inter"/>
                <a:sym typeface="Inter"/>
              </a:rPr>
              <a:t>dmin - user management and invite controls</a:t>
            </a:r>
            <a:endParaRPr sz="1100">
              <a:solidFill>
                <a:srgbClr val="475067"/>
              </a:solidFill>
              <a:latin typeface="Inter"/>
              <a:ea typeface="Inter"/>
              <a:cs typeface="Inter"/>
              <a:sym typeface="Inter"/>
            </a:endParaRPr>
          </a:p>
          <a:p>
            <a:pPr indent="0" lvl="0" marL="0" rtl="0" algn="l">
              <a:lnSpc>
                <a:spcPct val="115000"/>
              </a:lnSpc>
              <a:spcBef>
                <a:spcPts val="1000"/>
              </a:spcBef>
              <a:spcAft>
                <a:spcPts val="0"/>
              </a:spcAft>
              <a:buNone/>
            </a:pPr>
            <a:r>
              <a:t/>
            </a:r>
            <a:endParaRPr sz="1100">
              <a:solidFill>
                <a:srgbClr val="475067"/>
              </a:solidFill>
              <a:latin typeface="Inter"/>
              <a:ea typeface="Inter"/>
              <a:cs typeface="Inter"/>
              <a:sym typeface="Inter"/>
            </a:endParaRPr>
          </a:p>
          <a:p>
            <a:pPr indent="0" lvl="0" marL="0" rtl="0" algn="l">
              <a:lnSpc>
                <a:spcPct val="115000"/>
              </a:lnSpc>
              <a:spcBef>
                <a:spcPts val="1000"/>
              </a:spcBef>
              <a:spcAft>
                <a:spcPts val="1000"/>
              </a:spcAft>
              <a:buNone/>
            </a:pPr>
            <a:r>
              <a:rPr lang="en" sz="1100">
                <a:solidFill>
                  <a:srgbClr val="475067"/>
                </a:solidFill>
                <a:latin typeface="Inter"/>
                <a:ea typeface="Inter"/>
                <a:cs typeface="Inter"/>
                <a:sym typeface="Inter"/>
              </a:rPr>
              <a:t>User permissions are configurable on a per namespace level</a:t>
            </a:r>
            <a:endParaRPr sz="1100">
              <a:solidFill>
                <a:srgbClr val="475067"/>
              </a:solidFill>
              <a:latin typeface="Inter"/>
              <a:ea typeface="Inter"/>
              <a:cs typeface="Inter"/>
              <a:sym typeface="Inter"/>
            </a:endParaRPr>
          </a:p>
        </p:txBody>
      </p:sp>
      <p:pic>
        <p:nvPicPr>
          <p:cNvPr id="198" name="Google Shape;198;p43"/>
          <p:cNvPicPr preferRelativeResize="0"/>
          <p:nvPr/>
        </p:nvPicPr>
        <p:blipFill>
          <a:blip r:embed="rId3">
            <a:alphaModFix/>
          </a:blip>
          <a:stretch>
            <a:fillRect/>
          </a:stretch>
        </p:blipFill>
        <p:spPr>
          <a:xfrm>
            <a:off x="4993975" y="812325"/>
            <a:ext cx="2726147" cy="3718800"/>
          </a:xfrm>
          <a:prstGeom prst="rect">
            <a:avLst/>
          </a:prstGeom>
          <a:noFill/>
          <a:ln>
            <a:noFill/>
          </a:ln>
        </p:spPr>
      </p:pic>
      <p:pic>
        <p:nvPicPr>
          <p:cNvPr id="199" name="Google Shape;199;p43"/>
          <p:cNvPicPr preferRelativeResize="0"/>
          <p:nvPr/>
        </p:nvPicPr>
        <p:blipFill>
          <a:blip r:embed="rId4">
            <a:alphaModFix/>
          </a:blip>
          <a:stretch>
            <a:fillRect/>
          </a:stretch>
        </p:blipFill>
        <p:spPr>
          <a:xfrm>
            <a:off x="7165325" y="2826026"/>
            <a:ext cx="1629450" cy="1297375"/>
          </a:xfrm>
          <a:prstGeom prst="rect">
            <a:avLst/>
          </a:prstGeom>
          <a:noFill/>
          <a:ln>
            <a:noFill/>
          </a:ln>
        </p:spPr>
      </p:pic>
      <p:sp>
        <p:nvSpPr>
          <p:cNvPr id="200" name="Google Shape;200;p43"/>
          <p:cNvSpPr txBox="1"/>
          <p:nvPr/>
        </p:nvSpPr>
        <p:spPr>
          <a:xfrm>
            <a:off x="5240525" y="4771250"/>
            <a:ext cx="29493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https://docs.humanfirst.ai/docs/permissions/user-permissions</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4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07" name="Google Shape;207;p44"/>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Uploading Data</a:t>
            </a:r>
            <a:endParaRPr sz="3500"/>
          </a:p>
        </p:txBody>
      </p:sp>
      <p:sp>
        <p:nvSpPr>
          <p:cNvPr id="208" name="Google Shape;208;p44"/>
          <p:cNvSpPr txBox="1"/>
          <p:nvPr/>
        </p:nvSpPr>
        <p:spPr>
          <a:xfrm>
            <a:off x="666900" y="1119900"/>
            <a:ext cx="75462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475067"/>
              </a:buClr>
              <a:buSzPts val="1200"/>
              <a:buFont typeface="Inter"/>
              <a:buChar char="■"/>
            </a:pPr>
            <a:r>
              <a:rPr lang="en" sz="1100">
                <a:solidFill>
                  <a:srgbClr val="475067"/>
                </a:solidFill>
                <a:latin typeface="Inter"/>
                <a:ea typeface="Inter"/>
                <a:cs typeface="Inter"/>
                <a:sym typeface="Inter"/>
              </a:rPr>
              <a:t>Data types:</a:t>
            </a:r>
            <a:endParaRPr sz="1100">
              <a:solidFill>
                <a:srgbClr val="475067"/>
              </a:solidFill>
              <a:latin typeface="Inter"/>
              <a:ea typeface="Inter"/>
              <a:cs typeface="Inter"/>
              <a:sym typeface="Inter"/>
            </a:endParaRPr>
          </a:p>
          <a:p>
            <a:pPr indent="-298450" lvl="1" marL="9144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Conversations (</a:t>
            </a:r>
            <a:r>
              <a:rPr lang="en" sz="1100">
                <a:solidFill>
                  <a:schemeClr val="accent6"/>
                </a:solidFill>
                <a:latin typeface="Inter"/>
                <a:ea typeface="Inter"/>
                <a:cs typeface="Inter"/>
                <a:sym typeface="Inter"/>
              </a:rPr>
              <a:t>id</a:t>
            </a:r>
            <a:r>
              <a:rPr lang="en" sz="1100">
                <a:solidFill>
                  <a:srgbClr val="475067"/>
                </a:solidFill>
                <a:latin typeface="Inter"/>
                <a:ea typeface="Inter"/>
                <a:cs typeface="Inter"/>
                <a:sym typeface="Inter"/>
              </a:rPr>
              <a:t>, role, timestamp, </a:t>
            </a:r>
            <a:r>
              <a:rPr lang="en" sz="1100">
                <a:solidFill>
                  <a:schemeClr val="accent6"/>
                </a:solidFill>
                <a:latin typeface="Inter"/>
                <a:ea typeface="Inter"/>
                <a:cs typeface="Inter"/>
                <a:sym typeface="Inter"/>
              </a:rPr>
              <a:t>text</a:t>
            </a:r>
            <a:r>
              <a:rPr lang="en" sz="1100">
                <a:solidFill>
                  <a:srgbClr val="475067"/>
                </a:solidFill>
                <a:latin typeface="Inter"/>
                <a:ea typeface="Inter"/>
                <a:cs typeface="Inter"/>
                <a:sym typeface="Inter"/>
              </a:rPr>
              <a:t>)</a:t>
            </a:r>
            <a:endParaRPr sz="1100">
              <a:solidFill>
                <a:srgbClr val="475067"/>
              </a:solidFill>
              <a:latin typeface="Inter"/>
              <a:ea typeface="Inter"/>
              <a:cs typeface="Inter"/>
              <a:sym typeface="Inter"/>
            </a:endParaRPr>
          </a:p>
          <a:p>
            <a:pPr indent="-298450" lvl="1" marL="9144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Utterances</a:t>
            </a:r>
            <a:endParaRPr sz="11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sz="1100">
                <a:solidFill>
                  <a:srgbClr val="475067"/>
                </a:solidFill>
                <a:latin typeface="Inter"/>
                <a:ea typeface="Inter"/>
                <a:cs typeface="Inter"/>
                <a:sym typeface="Inter"/>
              </a:rPr>
              <a:t>Data formats:</a:t>
            </a:r>
            <a:endParaRPr sz="1100">
              <a:solidFill>
                <a:srgbClr val="475067"/>
              </a:solidFill>
              <a:latin typeface="Inter"/>
              <a:ea typeface="Inter"/>
              <a:cs typeface="Inter"/>
              <a:sym typeface="Inter"/>
            </a:endParaRPr>
          </a:p>
          <a:p>
            <a:pPr indent="-317500" lvl="1" marL="914400" rtl="0" algn="l">
              <a:lnSpc>
                <a:spcPct val="115000"/>
              </a:lnSpc>
              <a:spcBef>
                <a:spcPts val="1000"/>
              </a:spcBef>
              <a:spcAft>
                <a:spcPts val="0"/>
              </a:spcAft>
              <a:buClr>
                <a:srgbClr val="475067"/>
              </a:buClr>
              <a:buSzPts val="1400"/>
              <a:buFont typeface="Inter"/>
              <a:buChar char="○"/>
            </a:pPr>
            <a:r>
              <a:rPr lang="en" sz="1100">
                <a:solidFill>
                  <a:srgbClr val="475067"/>
                </a:solidFill>
                <a:latin typeface="Inter"/>
                <a:ea typeface="Inter"/>
                <a:cs typeface="Inter"/>
                <a:sym typeface="Inter"/>
              </a:rPr>
              <a:t>HumanFirst JSON</a:t>
            </a:r>
            <a:endParaRPr sz="1100">
              <a:solidFill>
                <a:srgbClr val="475067"/>
              </a:solidFill>
              <a:latin typeface="Inter"/>
              <a:ea typeface="Inter"/>
              <a:cs typeface="Inter"/>
              <a:sym typeface="Inter"/>
            </a:endParaRPr>
          </a:p>
          <a:p>
            <a:pPr indent="-317500" lvl="1" marL="914400" rtl="0" algn="l">
              <a:lnSpc>
                <a:spcPct val="115000"/>
              </a:lnSpc>
              <a:spcBef>
                <a:spcPts val="1000"/>
              </a:spcBef>
              <a:spcAft>
                <a:spcPts val="0"/>
              </a:spcAft>
              <a:buClr>
                <a:srgbClr val="475067"/>
              </a:buClr>
              <a:buSzPts val="1400"/>
              <a:buFont typeface="Inter"/>
              <a:buChar char="○"/>
            </a:pPr>
            <a:r>
              <a:rPr lang="en" sz="1100">
                <a:solidFill>
                  <a:srgbClr val="475067"/>
                </a:solidFill>
                <a:latin typeface="Inter"/>
                <a:ea typeface="Inter"/>
                <a:cs typeface="Inter"/>
                <a:sym typeface="Inter"/>
              </a:rPr>
              <a:t>CSV</a:t>
            </a:r>
            <a:endParaRPr sz="1100">
              <a:solidFill>
                <a:srgbClr val="475067"/>
              </a:solidFill>
              <a:latin typeface="Inter"/>
              <a:ea typeface="Inter"/>
              <a:cs typeface="Inter"/>
              <a:sym typeface="Inter"/>
            </a:endParaRPr>
          </a:p>
          <a:p>
            <a:pPr indent="-317500" lvl="1" marL="914400" rtl="0" algn="l">
              <a:lnSpc>
                <a:spcPct val="115000"/>
              </a:lnSpc>
              <a:spcBef>
                <a:spcPts val="1000"/>
              </a:spcBef>
              <a:spcAft>
                <a:spcPts val="0"/>
              </a:spcAft>
              <a:buClr>
                <a:srgbClr val="475067"/>
              </a:buClr>
              <a:buSzPts val="1400"/>
              <a:buFont typeface="Inter"/>
              <a:buChar char="○"/>
            </a:pPr>
            <a:r>
              <a:rPr lang="en" sz="1100">
                <a:solidFill>
                  <a:srgbClr val="475067"/>
                </a:solidFill>
                <a:latin typeface="Inter"/>
                <a:ea typeface="Inter"/>
                <a:cs typeface="Inter"/>
                <a:sym typeface="Inter"/>
              </a:rPr>
              <a:t>TXT</a:t>
            </a:r>
            <a:endParaRPr sz="1100">
              <a:solidFill>
                <a:srgbClr val="475067"/>
              </a:solidFill>
              <a:latin typeface="Inter"/>
              <a:ea typeface="Inter"/>
              <a:cs typeface="Inter"/>
              <a:sym typeface="Inter"/>
            </a:endParaRPr>
          </a:p>
          <a:p>
            <a:pPr indent="0" lvl="0" marL="457200" rtl="0" algn="l">
              <a:lnSpc>
                <a:spcPct val="115000"/>
              </a:lnSpc>
              <a:spcBef>
                <a:spcPts val="1000"/>
              </a:spcBef>
              <a:spcAft>
                <a:spcPts val="1000"/>
              </a:spcAft>
              <a:buNone/>
            </a:pPr>
            <a:r>
              <a:t/>
            </a:r>
            <a:endParaRPr sz="1100">
              <a:solidFill>
                <a:srgbClr val="475067"/>
              </a:solidFill>
              <a:latin typeface="Inter"/>
              <a:ea typeface="Inter"/>
              <a:cs typeface="Inter"/>
              <a:sym typeface="Inter"/>
            </a:endParaRPr>
          </a:p>
        </p:txBody>
      </p:sp>
      <p:pic>
        <p:nvPicPr>
          <p:cNvPr id="209" name="Google Shape;209;p44"/>
          <p:cNvPicPr preferRelativeResize="0"/>
          <p:nvPr/>
        </p:nvPicPr>
        <p:blipFill>
          <a:blip r:embed="rId3">
            <a:alphaModFix/>
          </a:blip>
          <a:stretch>
            <a:fillRect/>
          </a:stretch>
        </p:blipFill>
        <p:spPr>
          <a:xfrm>
            <a:off x="5399360" y="651475"/>
            <a:ext cx="2941115" cy="3919125"/>
          </a:xfrm>
          <a:prstGeom prst="rect">
            <a:avLst/>
          </a:prstGeom>
          <a:noFill/>
          <a:ln>
            <a:noFill/>
          </a:ln>
        </p:spPr>
      </p:pic>
      <p:sp>
        <p:nvSpPr>
          <p:cNvPr id="210" name="Google Shape;210;p44"/>
          <p:cNvSpPr txBox="1"/>
          <p:nvPr/>
        </p:nvSpPr>
        <p:spPr>
          <a:xfrm>
            <a:off x="5196750" y="4605850"/>
            <a:ext cx="3073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https://docs.humanfirst.ai/docs/advanced/humanfirst-json</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214" name="Shape 214"/>
        <p:cNvGrpSpPr/>
        <p:nvPr/>
      </p:nvGrpSpPr>
      <p:grpSpPr>
        <a:xfrm>
          <a:off x="0" y="0"/>
          <a:ext cx="0" cy="0"/>
          <a:chOff x="0" y="0"/>
          <a:chExt cx="0" cy="0"/>
        </a:xfrm>
      </p:grpSpPr>
      <p:pic>
        <p:nvPicPr>
          <p:cNvPr id="215" name="Google Shape;215;p45"/>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216" name="Google Shape;216;p45"/>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HumanFirst</a:t>
            </a:r>
            <a:endParaRPr sz="3600">
              <a:solidFill>
                <a:schemeClr val="lt1"/>
              </a:solidFill>
              <a:latin typeface="Manrope SemiBold"/>
              <a:ea typeface="Manrope SemiBold"/>
              <a:cs typeface="Manrope SemiBold"/>
              <a:sym typeface="Manrope SemiBold"/>
            </a:endParaRPr>
          </a:p>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Walkthrough - #2</a:t>
            </a:r>
            <a:endParaRPr sz="3600">
              <a:solidFill>
                <a:schemeClr val="lt1"/>
              </a:solidFill>
              <a:latin typeface="Manrope SemiBold"/>
              <a:ea typeface="Manrope SemiBold"/>
              <a:cs typeface="Manrope SemiBold"/>
              <a:sym typeface="Manrope SemiBold"/>
            </a:endParaRPr>
          </a:p>
        </p:txBody>
      </p:sp>
      <p:pic>
        <p:nvPicPr>
          <p:cNvPr id="217" name="Google Shape;217;p45"/>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218" name="Google Shape;21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4" name="Google Shape;224;p4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25" name="Google Shape;225;p46"/>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Agenda</a:t>
            </a:r>
            <a:endParaRPr sz="3500"/>
          </a:p>
        </p:txBody>
      </p:sp>
      <p:sp>
        <p:nvSpPr>
          <p:cNvPr id="226" name="Google Shape;226;p46"/>
          <p:cNvSpPr txBox="1"/>
          <p:nvPr/>
        </p:nvSpPr>
        <p:spPr>
          <a:xfrm>
            <a:off x="666900" y="1200800"/>
            <a:ext cx="75462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475067"/>
              </a:buClr>
              <a:buSzPts val="1100"/>
              <a:buFont typeface="Inter"/>
              <a:buChar char="■"/>
            </a:pPr>
            <a:r>
              <a:rPr lang="en" sz="1100">
                <a:solidFill>
                  <a:srgbClr val="475067"/>
                </a:solidFill>
                <a:latin typeface="Inter"/>
                <a:ea typeface="Inter"/>
                <a:cs typeface="Inter"/>
                <a:sym typeface="Inter"/>
              </a:rPr>
              <a:t>Setting up a workspace for LLMs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UI Walk Through</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Understanding PxD</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1000"/>
              </a:spcAft>
              <a:buClr>
                <a:srgbClr val="475067"/>
              </a:buClr>
              <a:buSzPts val="1100"/>
              <a:buFont typeface="Inter"/>
              <a:buChar char="■"/>
            </a:pPr>
            <a:r>
              <a:rPr lang="en" sz="1100">
                <a:solidFill>
                  <a:srgbClr val="475067"/>
                </a:solidFill>
                <a:latin typeface="Inter"/>
                <a:ea typeface="Inter"/>
                <a:cs typeface="Inter"/>
                <a:sym typeface="Inter"/>
              </a:rPr>
              <a:t>Prompts Example</a:t>
            </a:r>
            <a:endParaRPr sz="1100">
              <a:solidFill>
                <a:srgbClr val="475067"/>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2" name="Google Shape;232;p4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pic>
        <p:nvPicPr>
          <p:cNvPr id="233" name="Google Shape;233;p47"/>
          <p:cNvPicPr preferRelativeResize="0"/>
          <p:nvPr/>
        </p:nvPicPr>
        <p:blipFill>
          <a:blip r:embed="rId3">
            <a:alphaModFix/>
          </a:blip>
          <a:stretch>
            <a:fillRect/>
          </a:stretch>
        </p:blipFill>
        <p:spPr>
          <a:xfrm>
            <a:off x="367625" y="279600"/>
            <a:ext cx="8495002" cy="4454901"/>
          </a:xfrm>
          <a:prstGeom prst="rect">
            <a:avLst/>
          </a:prstGeom>
          <a:noFill/>
          <a:ln cap="flat" cmpd="sng" w="9525">
            <a:solidFill>
              <a:schemeClr val="dk1"/>
            </a:solidFill>
            <a:prstDash val="solid"/>
            <a:round/>
            <a:headEnd len="sm" w="sm" type="none"/>
            <a:tailEnd len="sm" w="sm" type="none"/>
          </a:ln>
        </p:spPr>
      </p:pic>
      <p:sp>
        <p:nvSpPr>
          <p:cNvPr id="234" name="Google Shape;234;p47"/>
          <p:cNvSpPr txBox="1"/>
          <p:nvPr/>
        </p:nvSpPr>
        <p:spPr>
          <a:xfrm>
            <a:off x="66450" y="3083625"/>
            <a:ext cx="1047900" cy="614100"/>
          </a:xfrm>
          <a:prstGeom prst="rect">
            <a:avLst/>
          </a:prstGeom>
          <a:solidFill>
            <a:srgbClr val="47506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DBF2FA"/>
                </a:solidFill>
              </a:rPr>
              <a:t>Prompts / Pipelines / Labels Pane</a:t>
            </a:r>
            <a:endParaRPr sz="800">
              <a:solidFill>
                <a:srgbClr val="DBF2FA"/>
              </a:solidFill>
            </a:endParaRPr>
          </a:p>
        </p:txBody>
      </p:sp>
      <p:sp>
        <p:nvSpPr>
          <p:cNvPr id="235" name="Google Shape;235;p47"/>
          <p:cNvSpPr txBox="1"/>
          <p:nvPr/>
        </p:nvSpPr>
        <p:spPr>
          <a:xfrm>
            <a:off x="8214300" y="2141525"/>
            <a:ext cx="791400" cy="322500"/>
          </a:xfrm>
          <a:prstGeom prst="rect">
            <a:avLst/>
          </a:prstGeom>
          <a:solidFill>
            <a:srgbClr val="47506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DBF2FA"/>
                </a:solidFill>
              </a:rPr>
              <a:t>Data View</a:t>
            </a:r>
            <a:endParaRPr sz="800">
              <a:solidFill>
                <a:srgbClr val="DBF2F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4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42" name="Google Shape;242;p48"/>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Setting up a workspace</a:t>
            </a:r>
            <a:endParaRPr sz="3500"/>
          </a:p>
        </p:txBody>
      </p:sp>
      <p:sp>
        <p:nvSpPr>
          <p:cNvPr id="243" name="Google Shape;243;p48"/>
          <p:cNvSpPr txBox="1"/>
          <p:nvPr/>
        </p:nvSpPr>
        <p:spPr>
          <a:xfrm>
            <a:off x="683075" y="1077950"/>
            <a:ext cx="37650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475067"/>
              </a:buClr>
              <a:buSzPts val="1100"/>
              <a:buFont typeface="Inter"/>
              <a:buChar char="■"/>
            </a:pPr>
            <a:r>
              <a:rPr lang="en" sz="1100">
                <a:solidFill>
                  <a:srgbClr val="475067"/>
                </a:solidFill>
                <a:latin typeface="Inter"/>
                <a:ea typeface="Inter"/>
                <a:cs typeface="Inter"/>
                <a:sym typeface="Inter"/>
              </a:rPr>
              <a:t>Workspaces allow you to interact with your data (build models, run prompts)</a:t>
            </a:r>
            <a:endParaRPr sz="1100">
              <a:solidFill>
                <a:srgbClr val="475067"/>
              </a:solidFill>
              <a:latin typeface="Inter"/>
              <a:ea typeface="Inter"/>
              <a:cs typeface="Inter"/>
              <a:sym typeface="Inter"/>
            </a:endParaRPr>
          </a:p>
          <a:p>
            <a:pPr indent="-279400" lvl="1" marL="914400" rtl="0" algn="l">
              <a:lnSpc>
                <a:spcPct val="115000"/>
              </a:lnSpc>
              <a:spcBef>
                <a:spcPts val="1000"/>
              </a:spcBef>
              <a:spcAft>
                <a:spcPts val="0"/>
              </a:spcAft>
              <a:buClr>
                <a:srgbClr val="475067"/>
              </a:buClr>
              <a:buSzPts val="800"/>
              <a:buFont typeface="Inter"/>
              <a:buChar char="○"/>
            </a:pPr>
            <a:r>
              <a:rPr lang="en" sz="800">
                <a:solidFill>
                  <a:srgbClr val="475067"/>
                </a:solidFill>
                <a:latin typeface="Inter"/>
                <a:ea typeface="Inter"/>
                <a:cs typeface="Inter"/>
                <a:sym typeface="Inter"/>
              </a:rPr>
              <a:t>Each workspace </a:t>
            </a:r>
            <a:r>
              <a:rPr lang="en" sz="800">
                <a:solidFill>
                  <a:srgbClr val="475067"/>
                </a:solidFill>
                <a:latin typeface="Inter"/>
                <a:ea typeface="Inter"/>
                <a:cs typeface="Inter"/>
                <a:sym typeface="Inter"/>
              </a:rPr>
              <a:t>essentially</a:t>
            </a:r>
            <a:r>
              <a:rPr lang="en" sz="800">
                <a:solidFill>
                  <a:srgbClr val="475067"/>
                </a:solidFill>
                <a:latin typeface="Inter"/>
                <a:ea typeface="Inter"/>
                <a:cs typeface="Inter"/>
                <a:sym typeface="Inter"/>
              </a:rPr>
              <a:t> contains a single NLU model. However can have many prompts/pipelines.</a:t>
            </a:r>
            <a:endParaRPr sz="8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#1 Set up your NLG Provider</a:t>
            </a:r>
            <a:endParaRPr sz="1100">
              <a:solidFill>
                <a:srgbClr val="475067"/>
              </a:solidFill>
              <a:latin typeface="Inter"/>
              <a:ea typeface="Inter"/>
              <a:cs typeface="Inter"/>
              <a:sym typeface="Inter"/>
            </a:endParaRPr>
          </a:p>
          <a:p>
            <a:pPr indent="-279400" lvl="1" marL="914400" rtl="0" algn="l">
              <a:lnSpc>
                <a:spcPct val="115000"/>
              </a:lnSpc>
              <a:spcBef>
                <a:spcPts val="1000"/>
              </a:spcBef>
              <a:spcAft>
                <a:spcPts val="0"/>
              </a:spcAft>
              <a:buClr>
                <a:srgbClr val="475067"/>
              </a:buClr>
              <a:buSzPts val="800"/>
              <a:buFont typeface="Inter"/>
              <a:buChar char="○"/>
            </a:pPr>
            <a:r>
              <a:rPr lang="en" sz="800">
                <a:solidFill>
                  <a:srgbClr val="475067"/>
                </a:solidFill>
                <a:latin typeface="Inter"/>
                <a:ea typeface="Inter"/>
                <a:cs typeface="Inter"/>
                <a:sym typeface="Inter"/>
              </a:rPr>
              <a:t>Head to Settings -&gt; Default NLG Provider and Model</a:t>
            </a:r>
            <a:endParaRPr sz="8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#2 Attaching or upload a dataset</a:t>
            </a:r>
            <a:endParaRPr sz="1100">
              <a:solidFill>
                <a:srgbClr val="475067"/>
              </a:solidFill>
              <a:latin typeface="Inter"/>
              <a:ea typeface="Inter"/>
              <a:cs typeface="Inter"/>
              <a:sym typeface="Inter"/>
            </a:endParaRPr>
          </a:p>
          <a:p>
            <a:pPr indent="-279400" lvl="1" marL="914400" rtl="0" algn="l">
              <a:lnSpc>
                <a:spcPct val="115000"/>
              </a:lnSpc>
              <a:spcBef>
                <a:spcPts val="1000"/>
              </a:spcBef>
              <a:spcAft>
                <a:spcPts val="0"/>
              </a:spcAft>
              <a:buClr>
                <a:srgbClr val="475067"/>
              </a:buClr>
              <a:buSzPts val="800"/>
              <a:buFont typeface="Inter"/>
              <a:buChar char="○"/>
            </a:pPr>
            <a:r>
              <a:rPr lang="en" sz="800">
                <a:solidFill>
                  <a:srgbClr val="475067"/>
                </a:solidFill>
                <a:latin typeface="Inter"/>
                <a:ea typeface="Inter"/>
                <a:cs typeface="Inter"/>
                <a:sym typeface="Inter"/>
              </a:rPr>
              <a:t>Head to the PxD view -&gt; Data Actions button → Add or remove data</a:t>
            </a:r>
            <a:endParaRPr sz="800">
              <a:solidFill>
                <a:srgbClr val="475067"/>
              </a:solidFill>
              <a:latin typeface="Inter"/>
              <a:ea typeface="Inter"/>
              <a:cs typeface="Inter"/>
              <a:sym typeface="Inter"/>
            </a:endParaRPr>
          </a:p>
          <a:p>
            <a:pPr indent="-298450" lvl="0" marL="457200" rtl="0" algn="l">
              <a:lnSpc>
                <a:spcPct val="115000"/>
              </a:lnSpc>
              <a:spcBef>
                <a:spcPts val="1000"/>
              </a:spcBef>
              <a:spcAft>
                <a:spcPts val="1000"/>
              </a:spcAft>
              <a:buClr>
                <a:srgbClr val="475067"/>
              </a:buClr>
              <a:buSzPts val="1100"/>
              <a:buFont typeface="Inter"/>
              <a:buChar char="■"/>
            </a:pPr>
            <a:r>
              <a:rPr lang="en" sz="1100">
                <a:solidFill>
                  <a:srgbClr val="475067"/>
                </a:solidFill>
                <a:latin typeface="Inter"/>
                <a:ea typeface="Inter"/>
                <a:cs typeface="Inter"/>
                <a:sym typeface="Inter"/>
              </a:rPr>
              <a:t>Datasets can be linked to any workspace </a:t>
            </a:r>
            <a:r>
              <a:rPr lang="en" sz="700">
                <a:solidFill>
                  <a:srgbClr val="475067"/>
                </a:solidFill>
                <a:latin typeface="Inter"/>
                <a:ea typeface="Inter"/>
                <a:cs typeface="Inter"/>
                <a:sym typeface="Inter"/>
              </a:rPr>
              <a:t>(even if they are uploaded directly within a workspace)</a:t>
            </a:r>
            <a:endParaRPr sz="800">
              <a:solidFill>
                <a:srgbClr val="475067"/>
              </a:solidFill>
              <a:latin typeface="Inter"/>
              <a:ea typeface="Inter"/>
              <a:cs typeface="Inter"/>
              <a:sym typeface="Inter"/>
            </a:endParaRPr>
          </a:p>
        </p:txBody>
      </p:sp>
      <p:pic>
        <p:nvPicPr>
          <p:cNvPr id="244" name="Google Shape;244;p48"/>
          <p:cNvPicPr preferRelativeResize="0"/>
          <p:nvPr/>
        </p:nvPicPr>
        <p:blipFill>
          <a:blip r:embed="rId3">
            <a:alphaModFix/>
          </a:blip>
          <a:stretch>
            <a:fillRect/>
          </a:stretch>
        </p:blipFill>
        <p:spPr>
          <a:xfrm>
            <a:off x="5375325" y="1088898"/>
            <a:ext cx="3538301" cy="2264775"/>
          </a:xfrm>
          <a:prstGeom prst="rect">
            <a:avLst/>
          </a:prstGeom>
          <a:noFill/>
          <a:ln cap="flat" cmpd="sng" w="9525">
            <a:solidFill>
              <a:schemeClr val="dk1"/>
            </a:solidFill>
            <a:prstDash val="solid"/>
            <a:round/>
            <a:headEnd len="sm" w="sm" type="none"/>
            <a:tailEnd len="sm" w="sm" type="none"/>
          </a:ln>
        </p:spPr>
      </p:pic>
      <p:pic>
        <p:nvPicPr>
          <p:cNvPr id="245" name="Google Shape;245;p48"/>
          <p:cNvPicPr preferRelativeResize="0"/>
          <p:nvPr/>
        </p:nvPicPr>
        <p:blipFill>
          <a:blip r:embed="rId4">
            <a:alphaModFix/>
          </a:blip>
          <a:stretch>
            <a:fillRect/>
          </a:stretch>
        </p:blipFill>
        <p:spPr>
          <a:xfrm>
            <a:off x="4622950" y="3353675"/>
            <a:ext cx="3994451" cy="1140250"/>
          </a:xfrm>
          <a:prstGeom prst="rect">
            <a:avLst/>
          </a:prstGeom>
          <a:noFill/>
          <a:ln cap="flat" cmpd="sng" w="9525">
            <a:solidFill>
              <a:schemeClr val="dk1"/>
            </a:solidFill>
            <a:prstDash val="solid"/>
            <a:round/>
            <a:headEnd len="sm" w="sm" type="none"/>
            <a:tailEnd len="sm" w="sm" type="none"/>
          </a:ln>
        </p:spPr>
      </p:pic>
      <p:pic>
        <p:nvPicPr>
          <p:cNvPr id="246" name="Google Shape;246;p48"/>
          <p:cNvPicPr preferRelativeResize="0"/>
          <p:nvPr/>
        </p:nvPicPr>
        <p:blipFill>
          <a:blip r:embed="rId5">
            <a:alphaModFix/>
          </a:blip>
          <a:stretch>
            <a:fillRect/>
          </a:stretch>
        </p:blipFill>
        <p:spPr>
          <a:xfrm>
            <a:off x="3550450" y="4192075"/>
            <a:ext cx="3661175" cy="8310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4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53" name="Google Shape;253;p4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PxD View</a:t>
            </a:r>
            <a:endParaRPr sz="3500"/>
          </a:p>
        </p:txBody>
      </p:sp>
      <p:sp>
        <p:nvSpPr>
          <p:cNvPr id="254" name="Google Shape;254;p49"/>
          <p:cNvSpPr txBox="1"/>
          <p:nvPr/>
        </p:nvSpPr>
        <p:spPr>
          <a:xfrm>
            <a:off x="532425" y="1265650"/>
            <a:ext cx="41367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Workspace / Data Sources / Generated Tabs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Exploring Metadata / Conversation / Adding Columns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Metadata filtering</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Group by options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Sort by options</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1000"/>
              </a:spcAft>
              <a:buClr>
                <a:srgbClr val="475067"/>
              </a:buClr>
              <a:buSzPts val="1100"/>
              <a:buFont typeface="Inter"/>
              <a:buChar char="■"/>
            </a:pPr>
            <a:r>
              <a:rPr lang="en" sz="1100">
                <a:solidFill>
                  <a:srgbClr val="475067"/>
                </a:solidFill>
                <a:latin typeface="Inter"/>
                <a:ea typeface="Inter"/>
                <a:cs typeface="Inter"/>
                <a:sym typeface="Inter"/>
              </a:rPr>
              <a:t>Duplicates / Labelled Data</a:t>
            </a:r>
            <a:endParaRPr sz="1100">
              <a:solidFill>
                <a:srgbClr val="475067"/>
              </a:solidFill>
              <a:latin typeface="Inter"/>
              <a:ea typeface="Inter"/>
              <a:cs typeface="Inter"/>
              <a:sym typeface="Inter"/>
            </a:endParaRPr>
          </a:p>
        </p:txBody>
      </p:sp>
      <p:pic>
        <p:nvPicPr>
          <p:cNvPr id="255" name="Google Shape;255;p49"/>
          <p:cNvPicPr preferRelativeResize="0"/>
          <p:nvPr/>
        </p:nvPicPr>
        <p:blipFill rotWithShape="1">
          <a:blip r:embed="rId3">
            <a:alphaModFix/>
          </a:blip>
          <a:srcRect b="58375" l="0" r="47559" t="0"/>
          <a:stretch/>
        </p:blipFill>
        <p:spPr>
          <a:xfrm>
            <a:off x="4527000" y="850050"/>
            <a:ext cx="4236001" cy="1825651"/>
          </a:xfrm>
          <a:prstGeom prst="rect">
            <a:avLst/>
          </a:prstGeom>
          <a:noFill/>
          <a:ln cap="flat" cmpd="sng" w="9525">
            <a:solidFill>
              <a:schemeClr val="dk1"/>
            </a:solidFill>
            <a:prstDash val="solid"/>
            <a:round/>
            <a:headEnd len="sm" w="sm" type="none"/>
            <a:tailEnd len="sm" w="sm" type="none"/>
          </a:ln>
        </p:spPr>
      </p:pic>
      <p:pic>
        <p:nvPicPr>
          <p:cNvPr id="256" name="Google Shape;256;p49"/>
          <p:cNvPicPr preferRelativeResize="0"/>
          <p:nvPr/>
        </p:nvPicPr>
        <p:blipFill>
          <a:blip r:embed="rId4">
            <a:alphaModFix/>
          </a:blip>
          <a:stretch>
            <a:fillRect/>
          </a:stretch>
        </p:blipFill>
        <p:spPr>
          <a:xfrm>
            <a:off x="5259665" y="2836300"/>
            <a:ext cx="3061759" cy="18256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5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2" name="Google Shape;262;p5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63" name="Google Shape;263;p5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Prompts</a:t>
            </a:r>
            <a:endParaRPr sz="3500"/>
          </a:p>
        </p:txBody>
      </p:sp>
      <p:sp>
        <p:nvSpPr>
          <p:cNvPr id="264" name="Google Shape;264;p50"/>
          <p:cNvSpPr txBox="1"/>
          <p:nvPr/>
        </p:nvSpPr>
        <p:spPr>
          <a:xfrm>
            <a:off x="532425" y="1265650"/>
            <a:ext cx="44709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475067"/>
              </a:buClr>
              <a:buSzPts val="1100"/>
              <a:buFont typeface="Inter"/>
              <a:buChar char="■"/>
            </a:pPr>
            <a:r>
              <a:rPr lang="en" sz="1100">
                <a:solidFill>
                  <a:schemeClr val="accent6"/>
                </a:solidFill>
                <a:latin typeface="Inter"/>
                <a:ea typeface="Inter"/>
                <a:cs typeface="Inter"/>
                <a:sym typeface="Inter"/>
              </a:rPr>
              <a:t>Prompts in HumanFirst is designed around the paradigm of applying a standardized reliable prompt across your data at scale (PxD)</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Prompts use a templating language to feed the context of the data its being run upon</a:t>
            </a:r>
            <a:endParaRPr sz="1100">
              <a:solidFill>
                <a:schemeClr val="accent6"/>
              </a:solidFill>
              <a:latin typeface="Inter"/>
              <a:ea typeface="Inter"/>
              <a:cs typeface="Inter"/>
              <a:sym typeface="Inter"/>
            </a:endParaRPr>
          </a:p>
          <a:p>
            <a:pPr indent="-279400" lvl="1" marL="914400" rtl="0" algn="l">
              <a:lnSpc>
                <a:spcPct val="115000"/>
              </a:lnSpc>
              <a:spcBef>
                <a:spcPts val="1000"/>
              </a:spcBef>
              <a:spcAft>
                <a:spcPts val="0"/>
              </a:spcAft>
              <a:buClr>
                <a:schemeClr val="accent6"/>
              </a:buClr>
              <a:buSzPts val="800"/>
              <a:buFont typeface="Inter"/>
              <a:buChar char="○"/>
            </a:pPr>
            <a:r>
              <a:rPr lang="en" sz="800">
                <a:solidFill>
                  <a:schemeClr val="accent6"/>
                </a:solidFill>
                <a:latin typeface="Inter"/>
                <a:ea typeface="Inter"/>
                <a:cs typeface="Inter"/>
                <a:sym typeface="Inter"/>
              </a:rPr>
              <a:t>{{ conversation }} - loads the entire conversation for a single utterance</a:t>
            </a:r>
            <a:endParaRPr sz="800">
              <a:solidFill>
                <a:schemeClr val="accent6"/>
              </a:solidFill>
              <a:latin typeface="Inter"/>
              <a:ea typeface="Inter"/>
              <a:cs typeface="Inter"/>
              <a:sym typeface="Inter"/>
            </a:endParaRPr>
          </a:p>
          <a:p>
            <a:pPr indent="-279400" lvl="1" marL="914400" rtl="0" algn="l">
              <a:lnSpc>
                <a:spcPct val="115000"/>
              </a:lnSpc>
              <a:spcBef>
                <a:spcPts val="1000"/>
              </a:spcBef>
              <a:spcAft>
                <a:spcPts val="0"/>
              </a:spcAft>
              <a:buClr>
                <a:schemeClr val="accent6"/>
              </a:buClr>
              <a:buSzPts val="800"/>
              <a:buFont typeface="Inter"/>
              <a:buChar char="○"/>
            </a:pPr>
            <a:r>
              <a:rPr lang="en" sz="800">
                <a:solidFill>
                  <a:schemeClr val="accent6"/>
                </a:solidFill>
                <a:latin typeface="Inter"/>
                <a:ea typeface="Inter"/>
                <a:cs typeface="Inter"/>
                <a:sym typeface="Inter"/>
              </a:rPr>
              <a:t>{{ text }} - loads the utterance text</a:t>
            </a:r>
            <a:endParaRPr sz="800">
              <a:solidFill>
                <a:schemeClr val="accent6"/>
              </a:solidFill>
              <a:latin typeface="Inter"/>
              <a:ea typeface="Inter"/>
              <a:cs typeface="Inter"/>
              <a:sym typeface="Inter"/>
            </a:endParaRPr>
          </a:p>
          <a:p>
            <a:pPr indent="-279400" lvl="1" marL="914400" rtl="0" algn="l">
              <a:lnSpc>
                <a:spcPct val="115000"/>
              </a:lnSpc>
              <a:spcBef>
                <a:spcPts val="1000"/>
              </a:spcBef>
              <a:spcAft>
                <a:spcPts val="0"/>
              </a:spcAft>
              <a:buClr>
                <a:schemeClr val="accent6"/>
              </a:buClr>
              <a:buSzPts val="800"/>
              <a:buFont typeface="Inter"/>
              <a:buChar char="○"/>
            </a:pPr>
            <a:r>
              <a:rPr lang="en" sz="800">
                <a:solidFill>
                  <a:schemeClr val="accent6"/>
                </a:solidFill>
                <a:latin typeface="Inter"/>
                <a:ea typeface="Inter"/>
                <a:cs typeface="Inter"/>
                <a:sym typeface="Inter"/>
              </a:rPr>
              <a:t>{{ sourceConversation }} - loads the source conversation of utterance</a:t>
            </a:r>
            <a:endParaRPr sz="800">
              <a:solidFill>
                <a:schemeClr val="accent6"/>
              </a:solidFill>
              <a:latin typeface="Inter"/>
              <a:ea typeface="Inter"/>
              <a:cs typeface="Inter"/>
              <a:sym typeface="Inter"/>
            </a:endParaRPr>
          </a:p>
          <a:p>
            <a:pPr indent="-279400" lvl="1" marL="914400" rtl="0" algn="l">
              <a:lnSpc>
                <a:spcPct val="115000"/>
              </a:lnSpc>
              <a:spcBef>
                <a:spcPts val="1000"/>
              </a:spcBef>
              <a:spcAft>
                <a:spcPts val="0"/>
              </a:spcAft>
              <a:buClr>
                <a:schemeClr val="accent6"/>
              </a:buClr>
              <a:buSzPts val="800"/>
              <a:buFont typeface="Inter"/>
              <a:buChar char="○"/>
            </a:pPr>
            <a:r>
              <a:rPr lang="en" sz="800">
                <a:solidFill>
                  <a:schemeClr val="accent6"/>
                </a:solidFill>
                <a:latin typeface="Inter"/>
                <a:ea typeface="Inter"/>
                <a:cs typeface="Inter"/>
                <a:sym typeface="Inter"/>
              </a:rPr>
              <a:t>{{ meta “key” }} - loads metadata properties within an utterance</a:t>
            </a:r>
            <a:endParaRPr sz="800">
              <a:solidFill>
                <a:schemeClr val="accent6"/>
              </a:solidFill>
              <a:latin typeface="Inter"/>
              <a:ea typeface="Inter"/>
              <a:cs typeface="Inter"/>
              <a:sym typeface="Inter"/>
            </a:endParaRPr>
          </a:p>
          <a:p>
            <a:pPr indent="-298450" lvl="0" marL="457200" rtl="0" algn="l">
              <a:lnSpc>
                <a:spcPct val="115000"/>
              </a:lnSpc>
              <a:spcBef>
                <a:spcPts val="1000"/>
              </a:spcBef>
              <a:spcAft>
                <a:spcPts val="1000"/>
              </a:spcAft>
              <a:buClr>
                <a:schemeClr val="accent6"/>
              </a:buClr>
              <a:buSzPts val="1100"/>
              <a:buFont typeface="Inter"/>
              <a:buChar char="■"/>
            </a:pPr>
            <a:r>
              <a:rPr lang="en" sz="1100">
                <a:solidFill>
                  <a:schemeClr val="accent6"/>
                </a:solidFill>
                <a:latin typeface="Inter"/>
                <a:ea typeface="Inter"/>
                <a:cs typeface="Inter"/>
                <a:sym typeface="Inter"/>
              </a:rPr>
              <a:t>Prompts are meant to be built iteratively and the UI supports that process</a:t>
            </a:r>
            <a:endParaRPr sz="1100">
              <a:solidFill>
                <a:schemeClr val="accent6"/>
              </a:solidFill>
              <a:latin typeface="Inter"/>
              <a:ea typeface="Inter"/>
              <a:cs typeface="Inter"/>
              <a:sym typeface="Inter"/>
            </a:endParaRPr>
          </a:p>
        </p:txBody>
      </p:sp>
      <p:sp>
        <p:nvSpPr>
          <p:cNvPr id="265" name="Google Shape;265;p50"/>
          <p:cNvSpPr/>
          <p:nvPr/>
        </p:nvSpPr>
        <p:spPr>
          <a:xfrm>
            <a:off x="7881850" y="1962750"/>
            <a:ext cx="1131600" cy="1407000"/>
          </a:xfrm>
          <a:prstGeom prst="roundRect">
            <a:avLst>
              <a:gd fmla="val 16667" name="adj"/>
            </a:avLst>
          </a:prstGeom>
          <a:noFill/>
          <a:ln cap="flat" cmpd="sng" w="9525">
            <a:solidFill>
              <a:srgbClr val="1218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50"/>
          <p:cNvSpPr/>
          <p:nvPr/>
        </p:nvSpPr>
        <p:spPr>
          <a:xfrm>
            <a:off x="5311825" y="626013"/>
            <a:ext cx="1572300" cy="1879200"/>
          </a:xfrm>
          <a:prstGeom prst="roundRect">
            <a:avLst>
              <a:gd fmla="val 5387" name="adj"/>
            </a:avLst>
          </a:prstGeom>
          <a:solidFill>
            <a:srgbClr val="F4F6FB"/>
          </a:solidFill>
          <a:ln cap="flat" cmpd="sng" w="9525">
            <a:solidFill>
              <a:srgbClr val="76CC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00"/>
              <a:t>Customer: Hi, I hope you can help me out. I've been trying to log into your website for the past hour, but every time I enter my password, it keeps saying it's incorrect. I've even tried resetting it, but no luck. Any ideas what's going on?</a:t>
            </a:r>
            <a:endParaRPr sz="400"/>
          </a:p>
          <a:p>
            <a:pPr indent="0" lvl="0" marL="0" rtl="0" algn="ctr">
              <a:spcBef>
                <a:spcPts val="0"/>
              </a:spcBef>
              <a:spcAft>
                <a:spcPts val="0"/>
              </a:spcAft>
              <a:buNone/>
            </a:pPr>
            <a:r>
              <a:t/>
            </a:r>
            <a:endParaRPr sz="400"/>
          </a:p>
          <a:p>
            <a:pPr indent="0" lvl="0" marL="0" rtl="0" algn="ctr">
              <a:spcBef>
                <a:spcPts val="0"/>
              </a:spcBef>
              <a:spcAft>
                <a:spcPts val="0"/>
              </a:spcAft>
              <a:buNone/>
            </a:pPr>
            <a:r>
              <a:rPr lang="en" sz="400"/>
              <a:t>Agent: Oh, that sounds frustrating. Let's see what we can do to get you back in. Could you provide me with your username or email address so I can take a look?</a:t>
            </a:r>
            <a:endParaRPr sz="400"/>
          </a:p>
          <a:p>
            <a:pPr indent="0" lvl="0" marL="0" rtl="0" algn="ctr">
              <a:spcBef>
                <a:spcPts val="0"/>
              </a:spcBef>
              <a:spcAft>
                <a:spcPts val="0"/>
              </a:spcAft>
              <a:buNone/>
            </a:pPr>
            <a:r>
              <a:t/>
            </a:r>
            <a:endParaRPr sz="400"/>
          </a:p>
          <a:p>
            <a:pPr indent="0" lvl="0" marL="0" rtl="0" algn="ctr">
              <a:spcBef>
                <a:spcPts val="0"/>
              </a:spcBef>
              <a:spcAft>
                <a:spcPts val="0"/>
              </a:spcAft>
              <a:buNone/>
            </a:pPr>
            <a:r>
              <a:rPr lang="en" sz="400"/>
              <a:t>Customer: Sure, it's "alice123".</a:t>
            </a:r>
            <a:endParaRPr sz="400"/>
          </a:p>
          <a:p>
            <a:pPr indent="0" lvl="0" marL="0" rtl="0" algn="ctr">
              <a:spcBef>
                <a:spcPts val="0"/>
              </a:spcBef>
              <a:spcAft>
                <a:spcPts val="0"/>
              </a:spcAft>
              <a:buNone/>
            </a:pPr>
            <a:r>
              <a:t/>
            </a:r>
            <a:endParaRPr sz="400"/>
          </a:p>
          <a:p>
            <a:pPr indent="0" lvl="0" marL="0" rtl="0" algn="ctr">
              <a:spcBef>
                <a:spcPts val="0"/>
              </a:spcBef>
              <a:spcAft>
                <a:spcPts val="0"/>
              </a:spcAft>
              <a:buNone/>
            </a:pPr>
            <a:r>
              <a:rPr lang="en" sz="400"/>
              <a:t>Agent: Thanks for that. Let me check our system real quick. Hmm, it looks like there might be a technical glitch on our end. Have you tried accessing the website from a different browser or device?</a:t>
            </a:r>
            <a:endParaRPr sz="400"/>
          </a:p>
          <a:p>
            <a:pPr indent="0" lvl="0" marL="0" rtl="0" algn="ctr">
              <a:spcBef>
                <a:spcPts val="0"/>
              </a:spcBef>
              <a:spcAft>
                <a:spcPts val="0"/>
              </a:spcAft>
              <a:buNone/>
            </a:pPr>
            <a:r>
              <a:t/>
            </a:r>
            <a:endParaRPr sz="400"/>
          </a:p>
          <a:p>
            <a:pPr indent="0" lvl="0" marL="0" rtl="0" algn="ctr">
              <a:spcBef>
                <a:spcPts val="0"/>
              </a:spcBef>
              <a:spcAft>
                <a:spcPts val="0"/>
              </a:spcAft>
              <a:buNone/>
            </a:pPr>
            <a:r>
              <a:rPr lang="en" sz="400"/>
              <a:t>Customer: Yeah, I've tried on both my laptop and my phone, but no dice.</a:t>
            </a:r>
            <a:endParaRPr sz="400"/>
          </a:p>
          <a:p>
            <a:pPr indent="0" lvl="0" marL="0" rtl="0" algn="ctr">
              <a:spcBef>
                <a:spcPts val="0"/>
              </a:spcBef>
              <a:spcAft>
                <a:spcPts val="0"/>
              </a:spcAft>
              <a:buNone/>
            </a:pPr>
            <a:r>
              <a:t/>
            </a:r>
            <a:endParaRPr sz="400"/>
          </a:p>
          <a:p>
            <a:pPr indent="0" lvl="0" marL="0" rtl="0" algn="ctr">
              <a:spcBef>
                <a:spcPts val="0"/>
              </a:spcBef>
              <a:spcAft>
                <a:spcPts val="0"/>
              </a:spcAft>
              <a:buNone/>
            </a:pPr>
            <a:r>
              <a:rPr lang="en" sz="400"/>
              <a:t>Agent: Okay, let's try something else then. Have you recently updated your password or made any changes to your account settings?</a:t>
            </a:r>
            <a:endParaRPr sz="400"/>
          </a:p>
          <a:p>
            <a:pPr indent="0" lvl="0" marL="0" rtl="0" algn="ctr">
              <a:spcBef>
                <a:spcPts val="0"/>
              </a:spcBef>
              <a:spcAft>
                <a:spcPts val="0"/>
              </a:spcAft>
              <a:buNone/>
            </a:pPr>
            <a:r>
              <a:t/>
            </a:r>
            <a:endParaRPr sz="400"/>
          </a:p>
          <a:p>
            <a:pPr indent="0" lvl="0" marL="0" rtl="0" algn="ctr">
              <a:spcBef>
                <a:spcPts val="0"/>
              </a:spcBef>
              <a:spcAft>
                <a:spcPts val="0"/>
              </a:spcAft>
              <a:buNone/>
            </a:pPr>
            <a:r>
              <a:rPr lang="en" sz="400"/>
              <a:t>Customer: No, I haven't touched it in weeks. It's been working fine until today.</a:t>
            </a:r>
            <a:endParaRPr sz="400"/>
          </a:p>
          <a:p>
            <a:pPr indent="0" lvl="0" marL="0" rtl="0" algn="ctr">
              <a:spcBef>
                <a:spcPts val="0"/>
              </a:spcBef>
              <a:spcAft>
                <a:spcPts val="0"/>
              </a:spcAft>
              <a:buNone/>
            </a:pPr>
            <a:r>
              <a:t/>
            </a:r>
            <a:endParaRPr sz="400"/>
          </a:p>
          <a:p>
            <a:pPr indent="0" lvl="0" marL="0" rtl="0" algn="ctr">
              <a:spcBef>
                <a:spcPts val="0"/>
              </a:spcBef>
              <a:spcAft>
                <a:spcPts val="0"/>
              </a:spcAft>
              <a:buNone/>
            </a:pPr>
            <a:r>
              <a:rPr lang="en" sz="400"/>
              <a:t>Agent: I see. It's possible there's an issue with our servers. I'm going to escalate this to our technical team to investigate further. In the meantime, would you like me to assist you in resetting your password again?</a:t>
            </a:r>
            <a:endParaRPr sz="400"/>
          </a:p>
          <a:p>
            <a:pPr indent="0" lvl="0" marL="0" rtl="0" algn="ctr">
              <a:spcBef>
                <a:spcPts val="0"/>
              </a:spcBef>
              <a:spcAft>
                <a:spcPts val="0"/>
              </a:spcAft>
              <a:buNone/>
            </a:pPr>
            <a:r>
              <a:t/>
            </a:r>
            <a:endParaRPr sz="400"/>
          </a:p>
          <a:p>
            <a:pPr indent="0" lvl="0" marL="0" rtl="0" algn="ctr">
              <a:spcBef>
                <a:spcPts val="0"/>
              </a:spcBef>
              <a:spcAft>
                <a:spcPts val="0"/>
              </a:spcAft>
              <a:buNone/>
            </a:pPr>
            <a:r>
              <a:rPr lang="en" sz="400"/>
              <a:t>Customer: Yeah, I guess it can't hurt to try one more..</a:t>
            </a:r>
            <a:endParaRPr sz="400"/>
          </a:p>
        </p:txBody>
      </p:sp>
      <p:sp>
        <p:nvSpPr>
          <p:cNvPr id="267" name="Google Shape;267;p50"/>
          <p:cNvSpPr txBox="1"/>
          <p:nvPr/>
        </p:nvSpPr>
        <p:spPr>
          <a:xfrm>
            <a:off x="5516826" y="356950"/>
            <a:ext cx="11541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Long phone conversation (s)</a:t>
            </a:r>
            <a:endParaRPr sz="600">
              <a:solidFill>
                <a:srgbClr val="475067"/>
              </a:solidFill>
            </a:endParaRPr>
          </a:p>
        </p:txBody>
      </p:sp>
      <p:sp>
        <p:nvSpPr>
          <p:cNvPr id="268" name="Google Shape;268;p50"/>
          <p:cNvSpPr/>
          <p:nvPr/>
        </p:nvSpPr>
        <p:spPr>
          <a:xfrm rot="2130133">
            <a:off x="7150895" y="1665048"/>
            <a:ext cx="676213" cy="250153"/>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269" name="Google Shape;269;p50"/>
          <p:cNvSpPr txBox="1"/>
          <p:nvPr/>
        </p:nvSpPr>
        <p:spPr>
          <a:xfrm>
            <a:off x="7754113" y="17030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Prompts</a:t>
            </a:r>
            <a:endParaRPr sz="600">
              <a:solidFill>
                <a:srgbClr val="475067"/>
              </a:solidFill>
            </a:endParaRPr>
          </a:p>
        </p:txBody>
      </p:sp>
      <p:sp>
        <p:nvSpPr>
          <p:cNvPr id="270" name="Google Shape;270;p50"/>
          <p:cNvSpPr/>
          <p:nvPr/>
        </p:nvSpPr>
        <p:spPr>
          <a:xfrm>
            <a:off x="7940338" y="2219963"/>
            <a:ext cx="1014600" cy="198900"/>
          </a:xfrm>
          <a:prstGeom prst="roundRect">
            <a:avLst>
              <a:gd fmla="val 5387" name="adj"/>
            </a:avLst>
          </a:prstGeom>
          <a:solidFill>
            <a:srgbClr val="F4F6FB"/>
          </a:solidFill>
          <a:ln cap="flat" cmpd="sng" w="9525">
            <a:solidFill>
              <a:srgbClr val="1218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t>Core Call Drivers Prompt</a:t>
            </a:r>
            <a:endParaRPr sz="600"/>
          </a:p>
        </p:txBody>
      </p:sp>
      <p:sp>
        <p:nvSpPr>
          <p:cNvPr id="271" name="Google Shape;271;p50"/>
          <p:cNvSpPr/>
          <p:nvPr/>
        </p:nvSpPr>
        <p:spPr>
          <a:xfrm>
            <a:off x="7940338" y="2496602"/>
            <a:ext cx="1014600" cy="269100"/>
          </a:xfrm>
          <a:prstGeom prst="roundRect">
            <a:avLst>
              <a:gd fmla="val 5387" name="adj"/>
            </a:avLst>
          </a:prstGeom>
          <a:solidFill>
            <a:srgbClr val="F4F6FB"/>
          </a:solidFill>
          <a:ln cap="flat" cmpd="sng" w="9525">
            <a:solidFill>
              <a:srgbClr val="1218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t>FAQ Extraction Prompt</a:t>
            </a:r>
            <a:endParaRPr sz="600"/>
          </a:p>
        </p:txBody>
      </p:sp>
      <p:sp>
        <p:nvSpPr>
          <p:cNvPr id="272" name="Google Shape;272;p50"/>
          <p:cNvSpPr/>
          <p:nvPr/>
        </p:nvSpPr>
        <p:spPr>
          <a:xfrm>
            <a:off x="7940338" y="2843415"/>
            <a:ext cx="1014600" cy="269100"/>
          </a:xfrm>
          <a:prstGeom prst="roundRect">
            <a:avLst>
              <a:gd fmla="val 5387" name="adj"/>
            </a:avLst>
          </a:prstGeom>
          <a:solidFill>
            <a:srgbClr val="F4F6FB"/>
          </a:solidFill>
          <a:ln cap="flat" cmpd="sng" w="9525">
            <a:solidFill>
              <a:srgbClr val="1218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t>Senior Agent Escalation Prompt</a:t>
            </a:r>
            <a:endParaRPr sz="600"/>
          </a:p>
        </p:txBody>
      </p:sp>
      <p:sp>
        <p:nvSpPr>
          <p:cNvPr id="273" name="Google Shape;273;p50"/>
          <p:cNvSpPr/>
          <p:nvPr/>
        </p:nvSpPr>
        <p:spPr>
          <a:xfrm flipH="1" rot="-2131010">
            <a:off x="7151494" y="3449444"/>
            <a:ext cx="670807" cy="250153"/>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highlight>
                <a:srgbClr val="76CCED"/>
              </a:highlight>
            </a:endParaRPr>
          </a:p>
        </p:txBody>
      </p:sp>
      <p:sp>
        <p:nvSpPr>
          <p:cNvPr id="274" name="Google Shape;274;p50"/>
          <p:cNvSpPr/>
          <p:nvPr/>
        </p:nvSpPr>
        <p:spPr>
          <a:xfrm>
            <a:off x="5358700" y="3129600"/>
            <a:ext cx="1572300" cy="1407000"/>
          </a:xfrm>
          <a:prstGeom prst="roundRect">
            <a:avLst>
              <a:gd fmla="val 5387" name="adj"/>
            </a:avLst>
          </a:prstGeom>
          <a:solidFill>
            <a:srgbClr val="F4F6FB"/>
          </a:solidFill>
          <a:ln cap="flat" cmpd="sng" w="9525">
            <a:solidFill>
              <a:srgbClr val="76CC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t>Difficulty logging into the website despite correct password entry and a password reset attempt.</a:t>
            </a:r>
            <a:br>
              <a:rPr lang="en" sz="600"/>
            </a:br>
            <a:br>
              <a:rPr lang="en" sz="600"/>
            </a:br>
            <a:r>
              <a:rPr lang="en" sz="600"/>
              <a:t>Agent investigates technical glitches, and offers immediate assistance with password reset, ultimately resolving the problem.</a:t>
            </a:r>
            <a:endParaRPr sz="600"/>
          </a:p>
        </p:txBody>
      </p:sp>
      <p:sp>
        <p:nvSpPr>
          <p:cNvPr id="275" name="Google Shape;275;p50"/>
          <p:cNvSpPr txBox="1"/>
          <p:nvPr/>
        </p:nvSpPr>
        <p:spPr>
          <a:xfrm>
            <a:off x="5342189" y="2907600"/>
            <a:ext cx="1605300" cy="22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Generated Output</a:t>
            </a:r>
            <a:endParaRPr sz="600">
              <a:solidFill>
                <a:srgbClr val="475067"/>
              </a:solidFill>
            </a:endParaRPr>
          </a:p>
        </p:txBody>
      </p:sp>
      <p:pic>
        <p:nvPicPr>
          <p:cNvPr id="276" name="Google Shape;276;p50"/>
          <p:cNvPicPr preferRelativeResize="0"/>
          <p:nvPr/>
        </p:nvPicPr>
        <p:blipFill>
          <a:blip r:embed="rId3">
            <a:alphaModFix/>
          </a:blip>
          <a:stretch>
            <a:fillRect/>
          </a:stretch>
        </p:blipFill>
        <p:spPr>
          <a:xfrm>
            <a:off x="6631950" y="2143700"/>
            <a:ext cx="560900" cy="560900"/>
          </a:xfrm>
          <a:prstGeom prst="rect">
            <a:avLst/>
          </a:prstGeom>
          <a:noFill/>
          <a:ln>
            <a:noFill/>
          </a:ln>
        </p:spPr>
      </p:pic>
      <p:pic>
        <p:nvPicPr>
          <p:cNvPr id="277" name="Google Shape;277;p50"/>
          <p:cNvPicPr preferRelativeResize="0"/>
          <p:nvPr/>
        </p:nvPicPr>
        <p:blipFill>
          <a:blip r:embed="rId4">
            <a:alphaModFix/>
          </a:blip>
          <a:stretch>
            <a:fillRect/>
          </a:stretch>
        </p:blipFill>
        <p:spPr>
          <a:xfrm>
            <a:off x="6593813" y="4256750"/>
            <a:ext cx="486350" cy="52981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Prompts</a:t>
            </a:r>
            <a:endParaRPr sz="3500"/>
          </a:p>
        </p:txBody>
      </p:sp>
      <p:sp>
        <p:nvSpPr>
          <p:cNvPr id="283" name="Google Shape;283;p51"/>
          <p:cNvSpPr txBox="1"/>
          <p:nvPr/>
        </p:nvSpPr>
        <p:spPr>
          <a:xfrm>
            <a:off x="532425" y="1265650"/>
            <a:ext cx="44709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Prompt Templates</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Running prompt (select vs stash)</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Filtering prompt data</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Run by run analysis</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Prompt Settings</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Post processing</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1000"/>
              </a:spcAft>
              <a:buClr>
                <a:schemeClr val="accent6"/>
              </a:buClr>
              <a:buSzPts val="1100"/>
              <a:buFont typeface="Inter"/>
              <a:buChar char="■"/>
            </a:pPr>
            <a:r>
              <a:rPr lang="en" sz="1100">
                <a:solidFill>
                  <a:schemeClr val="accent6"/>
                </a:solidFill>
                <a:latin typeface="Inter"/>
                <a:ea typeface="Inter"/>
                <a:cs typeface="Inter"/>
                <a:sym typeface="Inter"/>
              </a:rPr>
              <a:t>Merge</a:t>
            </a:r>
            <a:endParaRPr sz="1100">
              <a:solidFill>
                <a:schemeClr val="accent6"/>
              </a:solidFill>
              <a:latin typeface="Inter"/>
              <a:ea typeface="Inter"/>
              <a:cs typeface="Inter"/>
              <a:sym typeface="Inter"/>
            </a:endParaRPr>
          </a:p>
        </p:txBody>
      </p:sp>
      <p:pic>
        <p:nvPicPr>
          <p:cNvPr id="284" name="Google Shape;284;p51"/>
          <p:cNvPicPr preferRelativeResize="0"/>
          <p:nvPr/>
        </p:nvPicPr>
        <p:blipFill>
          <a:blip r:embed="rId3">
            <a:alphaModFix/>
          </a:blip>
          <a:stretch>
            <a:fillRect/>
          </a:stretch>
        </p:blipFill>
        <p:spPr>
          <a:xfrm>
            <a:off x="4119300" y="259550"/>
            <a:ext cx="2494150" cy="2845300"/>
          </a:xfrm>
          <a:prstGeom prst="rect">
            <a:avLst/>
          </a:prstGeom>
          <a:noFill/>
          <a:ln cap="flat" cmpd="sng" w="9525">
            <a:solidFill>
              <a:schemeClr val="dk1"/>
            </a:solidFill>
            <a:prstDash val="solid"/>
            <a:round/>
            <a:headEnd len="sm" w="sm" type="none"/>
            <a:tailEnd len="sm" w="sm" type="none"/>
          </a:ln>
        </p:spPr>
      </p:pic>
      <p:pic>
        <p:nvPicPr>
          <p:cNvPr id="285" name="Google Shape;285;p51"/>
          <p:cNvPicPr preferRelativeResize="0"/>
          <p:nvPr/>
        </p:nvPicPr>
        <p:blipFill>
          <a:blip r:embed="rId4">
            <a:alphaModFix/>
          </a:blip>
          <a:stretch>
            <a:fillRect/>
          </a:stretch>
        </p:blipFill>
        <p:spPr>
          <a:xfrm>
            <a:off x="6037950" y="984850"/>
            <a:ext cx="2848675" cy="38536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52"/>
          <p:cNvSpPr/>
          <p:nvPr/>
        </p:nvSpPr>
        <p:spPr>
          <a:xfrm>
            <a:off x="1270625" y="1717125"/>
            <a:ext cx="3094200" cy="1640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Below is a conversation between a User and an Agent for an insurance provider.</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//Use the tool to add the template here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Please identify the key issue discussed in one or two sentences.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t/>
            </a:r>
            <a:endParaRPr sz="700"/>
          </a:p>
        </p:txBody>
      </p:sp>
      <p:sp>
        <p:nvSpPr>
          <p:cNvPr id="292" name="Google Shape;292;p52"/>
          <p:cNvSpPr/>
          <p:nvPr/>
        </p:nvSpPr>
        <p:spPr>
          <a:xfrm>
            <a:off x="5250025" y="1717125"/>
            <a:ext cx="3094200" cy="1640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Below is a conversation between a User and an Agent for an insurance provider.</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//Use the tool to add the template here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Please identify the key issue discussed in one or two sentences. Provide your reasoning as well. Output your answers as key value pairs.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Expected Output</a:t>
            </a:r>
            <a:endParaRPr sz="700"/>
          </a:p>
          <a:p>
            <a:pPr indent="0" lvl="0" marL="0" rtl="0" algn="l">
              <a:spcBef>
                <a:spcPts val="0"/>
              </a:spcBef>
              <a:spcAft>
                <a:spcPts val="0"/>
              </a:spcAft>
              <a:buNone/>
            </a:pPr>
            <a:r>
              <a:rPr lang="en" sz="700"/>
              <a:t>key_issue: &lt;summarize the key issue discussed&gt;</a:t>
            </a:r>
            <a:endParaRPr sz="700"/>
          </a:p>
          <a:p>
            <a:pPr indent="0" lvl="0" marL="0" rtl="0" algn="l">
              <a:spcBef>
                <a:spcPts val="0"/>
              </a:spcBef>
              <a:spcAft>
                <a:spcPts val="0"/>
              </a:spcAft>
              <a:buNone/>
            </a:pPr>
            <a:r>
              <a:rPr lang="en" sz="700"/>
              <a:t>reasoning: &lt;provide your reasoning&gt;</a:t>
            </a:r>
            <a:endParaRPr sz="700"/>
          </a:p>
          <a:p>
            <a:pPr indent="0" lvl="0" marL="0" rtl="0" algn="l">
              <a:spcBef>
                <a:spcPts val="0"/>
              </a:spcBef>
              <a:spcAft>
                <a:spcPts val="0"/>
              </a:spcAft>
              <a:buNone/>
            </a:pPr>
            <a:r>
              <a:t/>
            </a:r>
            <a:endParaRPr sz="700"/>
          </a:p>
        </p:txBody>
      </p:sp>
      <p:sp>
        <p:nvSpPr>
          <p:cNvPr id="293" name="Google Shape;293;p5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Prompts</a:t>
            </a:r>
            <a:endParaRPr sz="3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99" name="Google Shape;299;p5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Pipelines </a:t>
            </a:r>
            <a:endParaRPr sz="3500"/>
          </a:p>
        </p:txBody>
      </p:sp>
      <p:sp>
        <p:nvSpPr>
          <p:cNvPr id="300" name="Google Shape;300;p53"/>
          <p:cNvSpPr txBox="1"/>
          <p:nvPr/>
        </p:nvSpPr>
        <p:spPr>
          <a:xfrm>
            <a:off x="532425" y="1265650"/>
            <a:ext cx="44709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Use of pipelines</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Pipelines vs Prompts</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Running a pipeline across the data</a:t>
            </a:r>
            <a:endParaRPr sz="1100">
              <a:solidFill>
                <a:schemeClr val="accent6"/>
              </a:solidFill>
              <a:latin typeface="Inter"/>
              <a:ea typeface="Inter"/>
              <a:cs typeface="Inter"/>
              <a:sym typeface="Inter"/>
            </a:endParaRPr>
          </a:p>
          <a:p>
            <a:pPr indent="-279400" lvl="1" marL="914400" rtl="0" algn="l">
              <a:lnSpc>
                <a:spcPct val="115000"/>
              </a:lnSpc>
              <a:spcBef>
                <a:spcPts val="1000"/>
              </a:spcBef>
              <a:spcAft>
                <a:spcPts val="0"/>
              </a:spcAft>
              <a:buClr>
                <a:schemeClr val="accent6"/>
              </a:buClr>
              <a:buSzPts val="800"/>
              <a:buFont typeface="Inter"/>
              <a:buChar char="○"/>
            </a:pPr>
            <a:r>
              <a:rPr lang="en" sz="800">
                <a:solidFill>
                  <a:schemeClr val="accent6"/>
                </a:solidFill>
                <a:latin typeface="Inter"/>
                <a:ea typeface="Inter"/>
                <a:cs typeface="Inter"/>
                <a:sym typeface="Inter"/>
              </a:rPr>
              <a:t>Metadata</a:t>
            </a:r>
            <a:endParaRPr sz="8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Parralization &amp; RPMs</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Caching</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1000"/>
              </a:spcAft>
              <a:buClr>
                <a:schemeClr val="accent6"/>
              </a:buClr>
              <a:buSzPts val="1100"/>
              <a:buFont typeface="Inter"/>
              <a:buChar char="■"/>
            </a:pPr>
            <a:r>
              <a:rPr lang="en" sz="1100">
                <a:solidFill>
                  <a:schemeClr val="accent6"/>
                </a:solidFill>
                <a:latin typeface="Inter"/>
                <a:ea typeface="Inter"/>
                <a:cs typeface="Inter"/>
                <a:sym typeface="Inter"/>
              </a:rPr>
              <a:t>Pipeline Failures / LLM errors</a:t>
            </a:r>
            <a:endParaRPr sz="1100">
              <a:solidFill>
                <a:schemeClr val="accent6"/>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304" name="Shape 304"/>
        <p:cNvGrpSpPr/>
        <p:nvPr/>
      </p:nvGrpSpPr>
      <p:grpSpPr>
        <a:xfrm>
          <a:off x="0" y="0"/>
          <a:ext cx="0" cy="0"/>
          <a:chOff x="0" y="0"/>
          <a:chExt cx="0" cy="0"/>
        </a:xfrm>
      </p:grpSpPr>
      <p:pic>
        <p:nvPicPr>
          <p:cNvPr id="305" name="Google Shape;305;p54"/>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306" name="Google Shape;306;p54"/>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HumanFirst</a:t>
            </a:r>
            <a:endParaRPr sz="3600">
              <a:solidFill>
                <a:schemeClr val="lt1"/>
              </a:solidFill>
              <a:latin typeface="Manrope SemiBold"/>
              <a:ea typeface="Manrope SemiBold"/>
              <a:cs typeface="Manrope SemiBold"/>
              <a:sym typeface="Manrope SemiBold"/>
            </a:endParaRPr>
          </a:p>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Walkthrough - #3</a:t>
            </a:r>
            <a:endParaRPr sz="3600">
              <a:solidFill>
                <a:schemeClr val="lt1"/>
              </a:solidFill>
              <a:latin typeface="Manrope SemiBold"/>
              <a:ea typeface="Manrope SemiBold"/>
              <a:cs typeface="Manrope SemiBold"/>
              <a:sym typeface="Manrope SemiBold"/>
            </a:endParaRPr>
          </a:p>
        </p:txBody>
      </p:sp>
      <p:pic>
        <p:nvPicPr>
          <p:cNvPr id="307" name="Google Shape;307;p54"/>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308" name="Google Shape;308;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5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15" name="Google Shape;315;p55"/>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Agenda</a:t>
            </a:r>
            <a:endParaRPr sz="3500"/>
          </a:p>
        </p:txBody>
      </p:sp>
      <p:sp>
        <p:nvSpPr>
          <p:cNvPr id="316" name="Google Shape;316;p55"/>
          <p:cNvSpPr txBox="1"/>
          <p:nvPr/>
        </p:nvSpPr>
        <p:spPr>
          <a:xfrm>
            <a:off x="666900" y="1200800"/>
            <a:ext cx="75462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475067"/>
              </a:buClr>
              <a:buSzPts val="1100"/>
              <a:buFont typeface="Inter"/>
              <a:buChar char="■"/>
            </a:pPr>
            <a:r>
              <a:rPr lang="en" sz="1100">
                <a:solidFill>
                  <a:srgbClr val="475067"/>
                </a:solidFill>
                <a:latin typeface="Inter"/>
                <a:ea typeface="Inter"/>
                <a:cs typeface="Inter"/>
                <a:sym typeface="Inter"/>
              </a:rPr>
              <a:t>NLU Introduction</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Building a model with clustering / divide &amp; conquer</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Evaluation</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chemeClr val="accent6"/>
                </a:solidFill>
                <a:latin typeface="Inter"/>
                <a:ea typeface="Inter"/>
                <a:cs typeface="Inter"/>
                <a:sym typeface="Inter"/>
              </a:rPr>
              <a:t>Training / </a:t>
            </a:r>
            <a:r>
              <a:rPr lang="en" sz="1100">
                <a:solidFill>
                  <a:srgbClr val="475067"/>
                </a:solidFill>
                <a:latin typeface="Inter"/>
                <a:ea typeface="Inter"/>
                <a:cs typeface="Inter"/>
                <a:sym typeface="Inter"/>
              </a:rPr>
              <a:t>Coverage</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Keeping a model up to date</a:t>
            </a:r>
            <a:endParaRPr sz="1100">
              <a:solidFill>
                <a:srgbClr val="475067"/>
              </a:solidFill>
              <a:latin typeface="Inter"/>
              <a:ea typeface="Inter"/>
              <a:cs typeface="Inter"/>
              <a:sym typeface="Inter"/>
            </a:endParaRPr>
          </a:p>
          <a:p>
            <a:pPr indent="-298450" lvl="0" marL="457200" rtl="0" algn="l">
              <a:lnSpc>
                <a:spcPct val="115000"/>
              </a:lnSpc>
              <a:spcBef>
                <a:spcPts val="1000"/>
              </a:spcBef>
              <a:spcAft>
                <a:spcPts val="1000"/>
              </a:spcAft>
              <a:buClr>
                <a:srgbClr val="475067"/>
              </a:buClr>
              <a:buSzPts val="1100"/>
              <a:buFont typeface="Inter"/>
              <a:buChar char="■"/>
            </a:pPr>
            <a:r>
              <a:rPr lang="en" sz="1100">
                <a:solidFill>
                  <a:srgbClr val="475067"/>
                </a:solidFill>
                <a:latin typeface="Inter"/>
                <a:ea typeface="Inter"/>
                <a:cs typeface="Inter"/>
                <a:sym typeface="Inter"/>
              </a:rPr>
              <a:t>Resources</a:t>
            </a:r>
            <a:endParaRPr sz="1100">
              <a:solidFill>
                <a:srgbClr val="475067"/>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5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23" name="Google Shape;323;p56"/>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NLU Introduction</a:t>
            </a:r>
            <a:endParaRPr sz="3500"/>
          </a:p>
        </p:txBody>
      </p:sp>
      <p:sp>
        <p:nvSpPr>
          <p:cNvPr id="324" name="Google Shape;324;p56"/>
          <p:cNvSpPr txBox="1"/>
          <p:nvPr/>
        </p:nvSpPr>
        <p:spPr>
          <a:xfrm>
            <a:off x="532425" y="1265650"/>
            <a:ext cx="44493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475067"/>
              </a:buClr>
              <a:buSzPts val="1100"/>
              <a:buFont typeface="Inter"/>
              <a:buChar char="■"/>
            </a:pPr>
            <a:r>
              <a:rPr lang="en" sz="1100">
                <a:solidFill>
                  <a:schemeClr val="accent6"/>
                </a:solidFill>
                <a:latin typeface="Inter"/>
                <a:ea typeface="Inter"/>
                <a:cs typeface="Inter"/>
                <a:sym typeface="Inter"/>
              </a:rPr>
              <a:t>HumanFirst supports workflows for building NLU models from the ground up</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rgbClr val="475067"/>
              </a:buClr>
              <a:buSzPts val="1100"/>
              <a:buFont typeface="Inter"/>
              <a:buChar char="■"/>
            </a:pPr>
            <a:r>
              <a:rPr lang="en" sz="1100">
                <a:solidFill>
                  <a:schemeClr val="accent6"/>
                </a:solidFill>
                <a:latin typeface="Inter"/>
                <a:ea typeface="Inter"/>
                <a:cs typeface="Inter"/>
                <a:sym typeface="Inter"/>
              </a:rPr>
              <a:t>Features like Clustering, Semantic Similarity, Disambiguation and Evaluations support these flows</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These models are based on the Universal Sentence Encoder embeddings by Google</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1000"/>
              </a:spcAft>
              <a:buClr>
                <a:schemeClr val="accent6"/>
              </a:buClr>
              <a:buSzPts val="1100"/>
              <a:buFont typeface="Inter"/>
              <a:buChar char="■"/>
            </a:pPr>
            <a:r>
              <a:rPr lang="en" sz="1100">
                <a:solidFill>
                  <a:schemeClr val="accent6"/>
                </a:solidFill>
                <a:latin typeface="Inter"/>
                <a:ea typeface="Inter"/>
                <a:cs typeface="Inter"/>
                <a:sym typeface="Inter"/>
              </a:rPr>
              <a:t>Each workspace contains a single HumanFirst NLU model that is trained on the intents contained within that workspace</a:t>
            </a:r>
            <a:endParaRPr sz="1100">
              <a:solidFill>
                <a:schemeClr val="accent6"/>
              </a:solidFill>
              <a:latin typeface="Inter"/>
              <a:ea typeface="Inter"/>
              <a:cs typeface="Inter"/>
              <a:sym typeface="Inter"/>
            </a:endParaRPr>
          </a:p>
        </p:txBody>
      </p:sp>
      <p:pic>
        <p:nvPicPr>
          <p:cNvPr id="325" name="Google Shape;325;p56"/>
          <p:cNvPicPr preferRelativeResize="0"/>
          <p:nvPr/>
        </p:nvPicPr>
        <p:blipFill>
          <a:blip r:embed="rId3">
            <a:alphaModFix/>
          </a:blip>
          <a:stretch>
            <a:fillRect/>
          </a:stretch>
        </p:blipFill>
        <p:spPr>
          <a:xfrm>
            <a:off x="5076925" y="1303400"/>
            <a:ext cx="3914651" cy="22711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5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pic>
        <p:nvPicPr>
          <p:cNvPr id="332" name="Google Shape;332;p57"/>
          <p:cNvPicPr preferRelativeResize="0"/>
          <p:nvPr/>
        </p:nvPicPr>
        <p:blipFill>
          <a:blip r:embed="rId3">
            <a:alphaModFix/>
          </a:blip>
          <a:stretch>
            <a:fillRect/>
          </a:stretch>
        </p:blipFill>
        <p:spPr>
          <a:xfrm>
            <a:off x="566628" y="235775"/>
            <a:ext cx="7773974" cy="4728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8" name="Google Shape;338;p5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39" name="Google Shape;339;p58"/>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Building a model</a:t>
            </a:r>
            <a:endParaRPr sz="3500"/>
          </a:p>
        </p:txBody>
      </p:sp>
      <p:sp>
        <p:nvSpPr>
          <p:cNvPr id="340" name="Google Shape;340;p58"/>
          <p:cNvSpPr txBox="1"/>
          <p:nvPr/>
        </p:nvSpPr>
        <p:spPr>
          <a:xfrm>
            <a:off x="532425" y="1265650"/>
            <a:ext cx="41367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Models consistent of Labels (intents) and are filled with training phrases</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To build a model from scratch, the common methodology followed is to do divide-n-conquer approach:</a:t>
            </a:r>
            <a:endParaRPr sz="1100">
              <a:solidFill>
                <a:schemeClr val="accent6"/>
              </a:solidFill>
              <a:latin typeface="Inter"/>
              <a:ea typeface="Inter"/>
              <a:cs typeface="Inter"/>
              <a:sym typeface="Inter"/>
            </a:endParaRPr>
          </a:p>
          <a:p>
            <a:pPr indent="-298450" lvl="1" marL="9144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Start off with a set of 5-10 larger parent intents with around 30-100 training utterances</a:t>
            </a:r>
            <a:endParaRPr sz="1100">
              <a:solidFill>
                <a:schemeClr val="accent6"/>
              </a:solidFill>
              <a:latin typeface="Inter"/>
              <a:ea typeface="Inter"/>
              <a:cs typeface="Inter"/>
              <a:sym typeface="Inter"/>
            </a:endParaRPr>
          </a:p>
          <a:p>
            <a:pPr indent="-298450" lvl="1" marL="9144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Then, head into each parent and cluster further, sub-</a:t>
            </a:r>
            <a:r>
              <a:rPr lang="en" sz="1100">
                <a:solidFill>
                  <a:schemeClr val="accent6"/>
                </a:solidFill>
                <a:latin typeface="Inter"/>
                <a:ea typeface="Inter"/>
                <a:cs typeface="Inter"/>
                <a:sym typeface="Inter"/>
              </a:rPr>
              <a:t>dividing</a:t>
            </a:r>
            <a:r>
              <a:rPr lang="en" sz="1100">
                <a:solidFill>
                  <a:schemeClr val="accent6"/>
                </a:solidFill>
                <a:latin typeface="Inter"/>
                <a:ea typeface="Inter"/>
                <a:cs typeface="Inter"/>
                <a:sym typeface="Inter"/>
              </a:rPr>
              <a:t> them into children</a:t>
            </a:r>
            <a:endParaRPr sz="1100">
              <a:solidFill>
                <a:schemeClr val="accent6"/>
              </a:solidFill>
              <a:latin typeface="Inter"/>
              <a:ea typeface="Inter"/>
              <a:cs typeface="Inter"/>
              <a:sym typeface="Inter"/>
            </a:endParaRPr>
          </a:p>
          <a:p>
            <a:pPr indent="-298450" lvl="1" marL="914400" rtl="0" algn="l">
              <a:lnSpc>
                <a:spcPct val="115000"/>
              </a:lnSpc>
              <a:spcBef>
                <a:spcPts val="1000"/>
              </a:spcBef>
              <a:spcAft>
                <a:spcPts val="1000"/>
              </a:spcAft>
              <a:buClr>
                <a:schemeClr val="accent6"/>
              </a:buClr>
              <a:buSzPts val="1100"/>
              <a:buFont typeface="Inter"/>
              <a:buChar char="○"/>
            </a:pPr>
            <a:r>
              <a:rPr lang="en" sz="1100">
                <a:solidFill>
                  <a:schemeClr val="accent6"/>
                </a:solidFill>
                <a:latin typeface="Inter"/>
                <a:ea typeface="Inter"/>
                <a:cs typeface="Inter"/>
                <a:sym typeface="Inter"/>
              </a:rPr>
              <a:t>Repeat until each parent is empty</a:t>
            </a:r>
            <a:endParaRPr sz="1100">
              <a:solidFill>
                <a:schemeClr val="accent6"/>
              </a:solidFill>
              <a:latin typeface="Inter"/>
              <a:ea typeface="Inter"/>
              <a:cs typeface="Inter"/>
              <a:sym typeface="Inter"/>
            </a:endParaRPr>
          </a:p>
        </p:txBody>
      </p:sp>
      <p:pic>
        <p:nvPicPr>
          <p:cNvPr id="341" name="Google Shape;341;p58"/>
          <p:cNvPicPr preferRelativeResize="0"/>
          <p:nvPr/>
        </p:nvPicPr>
        <p:blipFill>
          <a:blip r:embed="rId3">
            <a:alphaModFix/>
          </a:blip>
          <a:stretch>
            <a:fillRect/>
          </a:stretch>
        </p:blipFill>
        <p:spPr>
          <a:xfrm>
            <a:off x="5760539" y="352425"/>
            <a:ext cx="1716050" cy="443865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5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48" name="Google Shape;348;p5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Evaluations</a:t>
            </a:r>
            <a:endParaRPr sz="3500"/>
          </a:p>
        </p:txBody>
      </p:sp>
      <p:sp>
        <p:nvSpPr>
          <p:cNvPr id="349" name="Google Shape;349;p59"/>
          <p:cNvSpPr txBox="1"/>
          <p:nvPr/>
        </p:nvSpPr>
        <p:spPr>
          <a:xfrm>
            <a:off x="532425" y="1265650"/>
            <a:ext cx="41367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Evaluations provide a statistics based approach to tuning your model while building</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Running an evaluation produces a report in HumanFirst, visible in the NLU tab</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An evaluation tests the </a:t>
            </a:r>
            <a:r>
              <a:rPr b="1" lang="en" sz="1100">
                <a:solidFill>
                  <a:schemeClr val="accent6"/>
                </a:solidFill>
                <a:latin typeface="Inter"/>
                <a:ea typeface="Inter"/>
                <a:cs typeface="Inter"/>
                <a:sym typeface="Inter"/>
              </a:rPr>
              <a:t>internal</a:t>
            </a:r>
            <a:r>
              <a:rPr b="1" lang="en" sz="1100">
                <a:solidFill>
                  <a:schemeClr val="accent6"/>
                </a:solidFill>
                <a:latin typeface="Inter"/>
                <a:ea typeface="Inter"/>
                <a:cs typeface="Inter"/>
                <a:sym typeface="Inter"/>
              </a:rPr>
              <a:t> consistency of the NLU model</a:t>
            </a:r>
            <a:r>
              <a:rPr lang="en" sz="1100">
                <a:solidFill>
                  <a:schemeClr val="accent6"/>
                </a:solidFill>
                <a:latin typeface="Inter"/>
                <a:ea typeface="Inter"/>
                <a:cs typeface="Inter"/>
                <a:sym typeface="Inter"/>
              </a:rPr>
              <a:t> - meaning it will only use the data that is </a:t>
            </a:r>
            <a:r>
              <a:rPr b="1" lang="en" sz="1100">
                <a:solidFill>
                  <a:schemeClr val="accent6"/>
                </a:solidFill>
                <a:latin typeface="Inter"/>
                <a:ea typeface="Inter"/>
                <a:cs typeface="Inter"/>
                <a:sym typeface="Inter"/>
              </a:rPr>
              <a:t>Labelled </a:t>
            </a:r>
            <a:r>
              <a:rPr lang="en" sz="1100">
                <a:solidFill>
                  <a:schemeClr val="accent6"/>
                </a:solidFill>
                <a:latin typeface="Inter"/>
                <a:ea typeface="Inter"/>
                <a:cs typeface="Inter"/>
                <a:sym typeface="Inter"/>
              </a:rPr>
              <a:t>(Workspace) and exists within the current model</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A k-fold test is run where the labelled data is split into a train and test set over X folds defined</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1000"/>
              </a:spcAft>
              <a:buClr>
                <a:schemeClr val="accent6"/>
              </a:buClr>
              <a:buSzPts val="1100"/>
              <a:buFont typeface="Inter"/>
              <a:buChar char="■"/>
            </a:pPr>
            <a:r>
              <a:rPr lang="en" sz="1100">
                <a:solidFill>
                  <a:schemeClr val="accent6"/>
                </a:solidFill>
                <a:latin typeface="Inter"/>
                <a:ea typeface="Inter"/>
                <a:cs typeface="Inter"/>
                <a:sym typeface="Inter"/>
              </a:rPr>
              <a:t>The evaluation ensures that each labelled utterance is </a:t>
            </a:r>
            <a:r>
              <a:rPr lang="en" sz="1100">
                <a:solidFill>
                  <a:schemeClr val="accent6"/>
                </a:solidFill>
                <a:latin typeface="Inter"/>
                <a:ea typeface="Inter"/>
                <a:cs typeface="Inter"/>
                <a:sym typeface="Inter"/>
              </a:rPr>
              <a:t>at least</a:t>
            </a:r>
            <a:r>
              <a:rPr lang="en" sz="1100">
                <a:solidFill>
                  <a:schemeClr val="accent6"/>
                </a:solidFill>
                <a:latin typeface="Inter"/>
                <a:ea typeface="Inter"/>
                <a:cs typeface="Inter"/>
                <a:sym typeface="Inter"/>
              </a:rPr>
              <a:t> tested once. The output produces an F1 score for every intent alongside other metrics like Precision, and Recall</a:t>
            </a:r>
            <a:endParaRPr sz="1100">
              <a:solidFill>
                <a:schemeClr val="accent6"/>
              </a:solidFill>
              <a:latin typeface="Inter"/>
              <a:ea typeface="Inter"/>
              <a:cs typeface="Inter"/>
              <a:sym typeface="Inter"/>
            </a:endParaRPr>
          </a:p>
        </p:txBody>
      </p:sp>
      <p:pic>
        <p:nvPicPr>
          <p:cNvPr id="350" name="Google Shape;350;p59"/>
          <p:cNvPicPr preferRelativeResize="0"/>
          <p:nvPr/>
        </p:nvPicPr>
        <p:blipFill>
          <a:blip r:embed="rId3">
            <a:alphaModFix/>
          </a:blip>
          <a:stretch>
            <a:fillRect/>
          </a:stretch>
        </p:blipFill>
        <p:spPr>
          <a:xfrm>
            <a:off x="4821525" y="1272300"/>
            <a:ext cx="4170073" cy="278097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6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57" name="Google Shape;357;p6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Training</a:t>
            </a:r>
            <a:endParaRPr sz="3500"/>
          </a:p>
        </p:txBody>
      </p:sp>
      <p:sp>
        <p:nvSpPr>
          <p:cNvPr id="358" name="Google Shape;358;p60"/>
          <p:cNvSpPr txBox="1"/>
          <p:nvPr/>
        </p:nvSpPr>
        <p:spPr>
          <a:xfrm>
            <a:off x="532425" y="1265650"/>
            <a:ext cx="42744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Training requires a built model with </a:t>
            </a:r>
            <a:r>
              <a:rPr lang="en" sz="1100">
                <a:solidFill>
                  <a:schemeClr val="accent6"/>
                </a:solidFill>
                <a:latin typeface="Inter"/>
                <a:ea typeface="Inter"/>
                <a:cs typeface="Inter"/>
                <a:sym typeface="Inter"/>
              </a:rPr>
              <a:t>at least</a:t>
            </a:r>
            <a:r>
              <a:rPr lang="en" sz="1100">
                <a:solidFill>
                  <a:schemeClr val="accent6"/>
                </a:solidFill>
                <a:latin typeface="Inter"/>
                <a:ea typeface="Inter"/>
                <a:cs typeface="Inter"/>
                <a:sym typeface="Inter"/>
              </a:rPr>
              <a:t> two intents and the goal is to test against data that aren’t labelled. Training process consists of training the model, and inference over the unlabelled data.</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It tests how well the current model predicts or performs against the external data</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Training doesn’t provide a report - instead a confidence score is </a:t>
            </a:r>
            <a:r>
              <a:rPr lang="en" sz="1100">
                <a:solidFill>
                  <a:schemeClr val="accent6"/>
                </a:solidFill>
                <a:latin typeface="Inter"/>
                <a:ea typeface="Inter"/>
                <a:cs typeface="Inter"/>
                <a:sym typeface="Inter"/>
              </a:rPr>
              <a:t>assigned</a:t>
            </a:r>
            <a:r>
              <a:rPr lang="en" sz="1100">
                <a:solidFill>
                  <a:schemeClr val="accent6"/>
                </a:solidFill>
                <a:latin typeface="Inter"/>
                <a:ea typeface="Inter"/>
                <a:cs typeface="Inter"/>
                <a:sym typeface="Inter"/>
              </a:rPr>
              <a:t> to every unlabelled utterance - that score provides the Coverage</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New Unlabelled Data (Data Sources) can be attached to a workspace and a training can be triggered to see how well the model is performing</a:t>
            </a:r>
            <a:endParaRPr sz="1100">
              <a:solidFill>
                <a:schemeClr val="accent6"/>
              </a:solidFill>
              <a:latin typeface="Inter"/>
              <a:ea typeface="Inter"/>
              <a:cs typeface="Inter"/>
              <a:sym typeface="Inter"/>
            </a:endParaRPr>
          </a:p>
          <a:p>
            <a:pPr indent="-298450" lvl="1" marL="914400" rtl="0" algn="l">
              <a:lnSpc>
                <a:spcPct val="115000"/>
              </a:lnSpc>
              <a:spcBef>
                <a:spcPts val="1000"/>
              </a:spcBef>
              <a:spcAft>
                <a:spcPts val="1000"/>
              </a:spcAft>
              <a:buClr>
                <a:schemeClr val="accent6"/>
              </a:buClr>
              <a:buSzPts val="1100"/>
              <a:buFont typeface="Inter"/>
              <a:buChar char="○"/>
            </a:pPr>
            <a:r>
              <a:rPr lang="en" sz="1100">
                <a:solidFill>
                  <a:schemeClr val="accent6"/>
                </a:solidFill>
                <a:latin typeface="Inter"/>
                <a:ea typeface="Inter"/>
                <a:cs typeface="Inter"/>
                <a:sym typeface="Inter"/>
              </a:rPr>
              <a:t>Attaching the last month’s worth of data and testing the coverage</a:t>
            </a:r>
            <a:endParaRPr sz="1100">
              <a:solidFill>
                <a:schemeClr val="accent6"/>
              </a:solidFill>
              <a:latin typeface="Inter"/>
              <a:ea typeface="Inter"/>
              <a:cs typeface="Inter"/>
              <a:sym typeface="Inter"/>
            </a:endParaRPr>
          </a:p>
        </p:txBody>
      </p:sp>
      <p:pic>
        <p:nvPicPr>
          <p:cNvPr id="359" name="Google Shape;359;p60"/>
          <p:cNvPicPr preferRelativeResize="0"/>
          <p:nvPr/>
        </p:nvPicPr>
        <p:blipFill>
          <a:blip r:embed="rId3">
            <a:alphaModFix/>
          </a:blip>
          <a:stretch>
            <a:fillRect/>
          </a:stretch>
        </p:blipFill>
        <p:spPr>
          <a:xfrm>
            <a:off x="5596025" y="269875"/>
            <a:ext cx="2841200" cy="2301875"/>
          </a:xfrm>
          <a:prstGeom prst="rect">
            <a:avLst/>
          </a:prstGeom>
          <a:noFill/>
          <a:ln cap="flat" cmpd="sng" w="9525">
            <a:solidFill>
              <a:schemeClr val="dk1"/>
            </a:solidFill>
            <a:prstDash val="solid"/>
            <a:round/>
            <a:headEnd len="sm" w="sm" type="none"/>
            <a:tailEnd len="sm" w="sm" type="none"/>
          </a:ln>
        </p:spPr>
      </p:pic>
      <p:pic>
        <p:nvPicPr>
          <p:cNvPr id="360" name="Google Shape;360;p60"/>
          <p:cNvPicPr preferRelativeResize="0"/>
          <p:nvPr/>
        </p:nvPicPr>
        <p:blipFill>
          <a:blip r:embed="rId4">
            <a:alphaModFix/>
          </a:blip>
          <a:stretch>
            <a:fillRect/>
          </a:stretch>
        </p:blipFill>
        <p:spPr>
          <a:xfrm>
            <a:off x="4833175" y="2407012"/>
            <a:ext cx="4191001" cy="245421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6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67" name="Google Shape;367;p61"/>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Useful Resources</a:t>
            </a:r>
            <a:endParaRPr sz="3500"/>
          </a:p>
        </p:txBody>
      </p:sp>
      <p:sp>
        <p:nvSpPr>
          <p:cNvPr id="368" name="Google Shape;368;p61"/>
          <p:cNvSpPr txBox="1"/>
          <p:nvPr/>
        </p:nvSpPr>
        <p:spPr>
          <a:xfrm>
            <a:off x="532425" y="1265650"/>
            <a:ext cx="7146000" cy="3552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Disambiguation Walkthrough: </a:t>
            </a:r>
            <a:r>
              <a:rPr lang="en" sz="1100" u="sng">
                <a:solidFill>
                  <a:schemeClr val="hlink"/>
                </a:solidFill>
                <a:latin typeface="Inter"/>
                <a:ea typeface="Inter"/>
                <a:cs typeface="Inter"/>
                <a:sym typeface="Inter"/>
                <a:hlinkClick r:id="rId3"/>
              </a:rPr>
              <a:t>https://docs.humanfirst.ai/docs/academy/improve_a_model/disambiguation</a:t>
            </a:r>
            <a:r>
              <a:rPr lang="en" sz="1100">
                <a:solidFill>
                  <a:schemeClr val="accent6"/>
                </a:solidFill>
                <a:latin typeface="Inter"/>
                <a:ea typeface="Inter"/>
                <a:cs typeface="Inter"/>
                <a:sym typeface="Inter"/>
              </a:rPr>
              <a:t> </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Evaluations: </a:t>
            </a:r>
            <a:r>
              <a:rPr lang="en" sz="1100" u="sng">
                <a:solidFill>
                  <a:schemeClr val="hlink"/>
                </a:solidFill>
                <a:latin typeface="Inter"/>
                <a:ea typeface="Inter"/>
                <a:cs typeface="Inter"/>
                <a:sym typeface="Inter"/>
                <a:hlinkClick r:id="rId4"/>
              </a:rPr>
              <a:t>https://docs.humanfirst.ai/docs/workspace/nlu/evaluate</a:t>
            </a:r>
            <a:r>
              <a:rPr lang="en" sz="1100">
                <a:solidFill>
                  <a:schemeClr val="accent6"/>
                </a:solidFill>
                <a:latin typeface="Inter"/>
                <a:ea typeface="Inter"/>
                <a:cs typeface="Inter"/>
                <a:sym typeface="Inter"/>
              </a:rPr>
              <a:t>  </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0"/>
              </a:spcAft>
              <a:buClr>
                <a:schemeClr val="accent6"/>
              </a:buClr>
              <a:buSzPts val="1100"/>
              <a:buFont typeface="Inter"/>
              <a:buChar char="■"/>
            </a:pPr>
            <a:r>
              <a:rPr lang="en" sz="1100">
                <a:solidFill>
                  <a:schemeClr val="accent6"/>
                </a:solidFill>
                <a:latin typeface="Inter"/>
                <a:ea typeface="Inter"/>
                <a:cs typeface="Inter"/>
                <a:sym typeface="Inter"/>
              </a:rPr>
              <a:t>Divide and Conquer: </a:t>
            </a:r>
            <a:r>
              <a:rPr lang="en" sz="1100" u="sng">
                <a:solidFill>
                  <a:schemeClr val="hlink"/>
                </a:solidFill>
                <a:latin typeface="Inter"/>
                <a:ea typeface="Inter"/>
                <a:cs typeface="Inter"/>
                <a:sym typeface="Inter"/>
                <a:hlinkClick r:id="rId5"/>
              </a:rPr>
              <a:t>https://docs.humanfirst.ai/docs/workflows/divide-and-conquer</a:t>
            </a:r>
            <a:r>
              <a:rPr lang="en" sz="1100">
                <a:solidFill>
                  <a:schemeClr val="accent6"/>
                </a:solidFill>
                <a:latin typeface="Inter"/>
                <a:ea typeface="Inter"/>
                <a:cs typeface="Inter"/>
                <a:sym typeface="Inter"/>
              </a:rPr>
              <a:t> </a:t>
            </a:r>
            <a:endParaRPr sz="1100">
              <a:solidFill>
                <a:schemeClr val="accent6"/>
              </a:solidFill>
              <a:latin typeface="Inter"/>
              <a:ea typeface="Inter"/>
              <a:cs typeface="Inter"/>
              <a:sym typeface="Inter"/>
            </a:endParaRPr>
          </a:p>
          <a:p>
            <a:pPr indent="-298450" lvl="0" marL="457200" rtl="0" algn="l">
              <a:lnSpc>
                <a:spcPct val="115000"/>
              </a:lnSpc>
              <a:spcBef>
                <a:spcPts val="1000"/>
              </a:spcBef>
              <a:spcAft>
                <a:spcPts val="1000"/>
              </a:spcAft>
              <a:buClr>
                <a:schemeClr val="accent6"/>
              </a:buClr>
              <a:buSzPts val="1100"/>
              <a:buFont typeface="Inter"/>
              <a:buChar char="■"/>
            </a:pPr>
            <a:r>
              <a:rPr lang="en" sz="1100">
                <a:solidFill>
                  <a:schemeClr val="accent6"/>
                </a:solidFill>
                <a:latin typeface="Inter"/>
                <a:ea typeface="Inter"/>
                <a:cs typeface="Inter"/>
                <a:sym typeface="Inter"/>
              </a:rPr>
              <a:t>Discovering New Intents: </a:t>
            </a:r>
            <a:r>
              <a:rPr lang="en" sz="1100" u="sng">
                <a:solidFill>
                  <a:schemeClr val="hlink"/>
                </a:solidFill>
                <a:latin typeface="Inter"/>
                <a:ea typeface="Inter"/>
                <a:cs typeface="Inter"/>
                <a:sym typeface="Inter"/>
                <a:hlinkClick r:id="rId6"/>
              </a:rPr>
              <a:t>https://docs.humanfirst.ai/docs/workflows/discovering-new-intents</a:t>
            </a:r>
            <a:r>
              <a:rPr lang="en" sz="1100">
                <a:solidFill>
                  <a:schemeClr val="accent6"/>
                </a:solidFill>
                <a:latin typeface="Inter"/>
                <a:ea typeface="Inter"/>
                <a:cs typeface="Inter"/>
                <a:sym typeface="Inter"/>
              </a:rPr>
              <a:t> </a:t>
            </a:r>
            <a:endParaRPr sz="1100">
              <a:solidFill>
                <a:schemeClr val="accent6"/>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