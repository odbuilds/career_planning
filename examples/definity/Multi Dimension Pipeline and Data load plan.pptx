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4"/>
    <p:sldMasterId id="214748368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y="5143500" cx="9144000"/>
  <p:notesSz cx="6858000" cy="9144000"/>
  <p:embeddedFontLst>
    <p:embeddedFont>
      <p:font typeface="Inter Light"/>
      <p:regular r:id="rId33"/>
      <p:bold r:id="rId34"/>
      <p:italic r:id="rId35"/>
      <p:boldItalic r:id="rId36"/>
    </p:embeddedFont>
    <p:embeddedFont>
      <p:font typeface="Inter"/>
      <p:regular r:id="rId37"/>
      <p:bold r:id="rId38"/>
      <p:italic r:id="rId39"/>
      <p:boldItalic r:id="rId40"/>
    </p:embeddedFont>
    <p:embeddedFont>
      <p:font typeface="Manrope SemiBold"/>
      <p:regular r:id="rId41"/>
      <p:bold r:id="rId42"/>
    </p:embeddedFont>
    <p:embeddedFont>
      <p:font typeface="Manrope"/>
      <p:regular r:id="rId43"/>
      <p:bold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4.xml"/><Relationship Id="rId42" Type="http://schemas.openxmlformats.org/officeDocument/2006/relationships/font" Target="fonts/ManropeSemiBold-bold.fntdata"/><Relationship Id="rId41" Type="http://schemas.openxmlformats.org/officeDocument/2006/relationships/font" Target="fonts/ManropeSemiBold-regular.fntdata"/><Relationship Id="rId22" Type="http://schemas.openxmlformats.org/officeDocument/2006/relationships/slide" Target="slides/slide16.xml"/><Relationship Id="rId44" Type="http://schemas.openxmlformats.org/officeDocument/2006/relationships/font" Target="fonts/Manrope-bold.fntdata"/><Relationship Id="rId21" Type="http://schemas.openxmlformats.org/officeDocument/2006/relationships/slide" Target="slides/slide15.xml"/><Relationship Id="rId43" Type="http://schemas.openxmlformats.org/officeDocument/2006/relationships/font" Target="fonts/Manrope-regular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Light-regular.fntdata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InterLight-italic.fntdata"/><Relationship Id="rId12" Type="http://schemas.openxmlformats.org/officeDocument/2006/relationships/slide" Target="slides/slide6.xml"/><Relationship Id="rId34" Type="http://schemas.openxmlformats.org/officeDocument/2006/relationships/font" Target="fonts/InterLight-bold.fntdata"/><Relationship Id="rId15" Type="http://schemas.openxmlformats.org/officeDocument/2006/relationships/slide" Target="slides/slide9.xml"/><Relationship Id="rId37" Type="http://schemas.openxmlformats.org/officeDocument/2006/relationships/font" Target="fonts/Inter-regular.fntdata"/><Relationship Id="rId14" Type="http://schemas.openxmlformats.org/officeDocument/2006/relationships/slide" Target="slides/slide8.xml"/><Relationship Id="rId36" Type="http://schemas.openxmlformats.org/officeDocument/2006/relationships/font" Target="fonts/InterLight-boldItalic.fntdata"/><Relationship Id="rId17" Type="http://schemas.openxmlformats.org/officeDocument/2006/relationships/slide" Target="slides/slide11.xml"/><Relationship Id="rId39" Type="http://schemas.openxmlformats.org/officeDocument/2006/relationships/font" Target="fonts/Inter-italic.fntdata"/><Relationship Id="rId16" Type="http://schemas.openxmlformats.org/officeDocument/2006/relationships/slide" Target="slides/slide10.xml"/><Relationship Id="rId38" Type="http://schemas.openxmlformats.org/officeDocument/2006/relationships/font" Target="fonts/Inter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699bd2dc47_0_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699bd2dc47_0_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f662bfe62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f662bfe62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d5d625d897_3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d5d625d897_3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16725e502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16725e502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6725e5027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6725e502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16725e502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16725e502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d5d625d897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d5d625d897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16725e5027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16725e5027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16725e5027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16725e5027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16725e502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16725e502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Removed: </a:t>
            </a:r>
            <a:r>
              <a:rPr lang="en" sz="1400">
                <a:solidFill>
                  <a:srgbClr val="475067"/>
                </a:solidFill>
                <a:latin typeface="Inter"/>
                <a:ea typeface="Inter"/>
                <a:cs typeface="Inter"/>
                <a:sym typeface="Inter"/>
              </a:rPr>
              <a:t>Between pipeline finish and downloading the insight implement a short wait (120s suggested to allow index to be in place and remove unnecessary retries and confusion - </a:t>
            </a:r>
            <a:r>
              <a:rPr b="1" i="1" lang="en" sz="1400">
                <a:solidFill>
                  <a:srgbClr val="475067"/>
                </a:solidFill>
                <a:latin typeface="Inter"/>
                <a:ea typeface="Inter"/>
                <a:cs typeface="Inter"/>
                <a:sym typeface="Inter"/>
              </a:rPr>
              <a:t>note release on XYZ makes this not necessary</a:t>
            </a:r>
            <a:endParaRPr b="1" i="1" sz="1400">
              <a:solidFill>
                <a:srgbClr val="475067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/>
            </a:br>
            <a:r>
              <a:rPr lang="en"/>
              <a:t>OK - but have been chasing them previously to make this - so will need to wokr out whether they already have or not.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d5d625d897_3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d5d625d897_3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d5d625d897_3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d5d625d897_3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6725e502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16725e502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6725e5027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6725e5027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16725e5027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16725e5027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9c3aaa4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9c3aaa4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5d625d897_3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5d625d897_3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5d625d897_3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d5d625d897_3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16725e5027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16725e5027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d5d625d897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d5d625d897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5d625d897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5d625d897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d5d625d897_3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d5d625d897_3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16725e502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16725e502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d5d625d897_3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2d5d625d897_3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16725e502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16725e502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0b37132ff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0b37132ff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6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jp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jp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Dark" type="title">
  <p:cSld name="TITLE">
    <p:bg>
      <p:bgPr>
        <a:solidFill>
          <a:srgbClr val="294489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4"/>
          <p:cNvPicPr preferRelativeResize="0"/>
          <p:nvPr/>
        </p:nvPicPr>
        <p:blipFill>
          <a:blip r:embed="rId2">
            <a:alphaModFix amt="14000"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">
    <p:bg>
      <p:bgPr>
        <a:solidFill>
          <a:srgbClr val="294489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5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5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2">
    <p:bg>
      <p:bgPr>
        <a:solidFill>
          <a:srgbClr val="294489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6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">
  <p:cSld name="TITLE_2_1">
    <p:bg>
      <p:bgPr>
        <a:solidFill>
          <a:srgbClr val="12184A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7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Dark 1">
  <p:cSld name="TITLE_2_1_1">
    <p:bg>
      <p:bgPr>
        <a:solidFill>
          <a:srgbClr val="12184A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8"/>
          <p:cNvPicPr preferRelativeResize="0"/>
          <p:nvPr/>
        </p:nvPicPr>
        <p:blipFill rotWithShape="1">
          <a:blip r:embed="rId2">
            <a:alphaModFix amt="33000"/>
          </a:blip>
          <a:srcRect b="26248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8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7" name="Google Shape;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">
  <p:cSld name="TITLE_1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9"/>
          <p:cNvSpPr txBox="1"/>
          <p:nvPr>
            <p:ph idx="12" type="sldNum"/>
          </p:nvPr>
        </p:nvSpPr>
        <p:spPr>
          <a:xfrm>
            <a:off x="8214297" y="45870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Light 1">
  <p:cSld name="TITLE_1_1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3500598" y="-1913375"/>
            <a:ext cx="8774449" cy="8781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3600"/>
              <a:buFont typeface="Manrope"/>
              <a:buNone/>
              <a:defRPr b="1" sz="3600">
                <a:solidFill>
                  <a:srgbClr val="294489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body"/>
          </p:nvPr>
        </p:nvSpPr>
        <p:spPr>
          <a:xfrm>
            <a:off x="668100" y="1421325"/>
            <a:ext cx="7546200" cy="3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●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○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Inter"/>
              <a:buChar char="■"/>
              <a:defRPr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9" name="Google Shape;79;p21"/>
          <p:cNvSpPr txBox="1"/>
          <p:nvPr>
            <p:ph idx="2" type="subTitle"/>
          </p:nvPr>
        </p:nvSpPr>
        <p:spPr>
          <a:xfrm>
            <a:off x="539250" y="984850"/>
            <a:ext cx="64623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None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Light 1">
  <p:cSld name="SECTION_HEADER_5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2" name="Google Shape;8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">
  <p:cSld name="SECTION_HEADER_4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/>
          <p:nvPr/>
        </p:nvSpPr>
        <p:spPr>
          <a:xfrm rot="-5400000">
            <a:off x="4255050" y="271725"/>
            <a:ext cx="51687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Blue 2">
  <p:cSld name="SECTION_HEADER_4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/>
          <p:nvPr/>
        </p:nvSpPr>
        <p:spPr>
          <a:xfrm rot="-5400000">
            <a:off x="4261975" y="265575"/>
            <a:ext cx="5179500" cy="46092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2944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2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76CCED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0" name="Google Shape;90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lac 1">
  <p:cSld name="SECTION_HEADER_4_2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25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E7E9F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4" name="Google Shape;94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lue">
  <p:cSld name="SECTION_HEADER_4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26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BF2FA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">
  <p:cSld name="SECTION_HEADER_4_1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27"/>
          <p:cNvSpPr/>
          <p:nvPr/>
        </p:nvSpPr>
        <p:spPr>
          <a:xfrm flipH="1" rot="5400000">
            <a:off x="-483350" y="448050"/>
            <a:ext cx="5160000" cy="4247400"/>
          </a:xfrm>
          <a:prstGeom prst="round2SameRect">
            <a:avLst>
              <a:gd fmla="val 3711" name="adj1"/>
              <a:gd fmla="val 0" name="adj2"/>
            </a:avLst>
          </a:prstGeom>
          <a:solidFill>
            <a:srgbClr val="D8C5D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2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">
  <p:cSld name="SECTION_HEADER_4_1_1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28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dk2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lit Light Burgundy 1 1">
  <p:cSld name="SECTION_HEADER_4_1_1_1_1"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9" name="Google Shape;109;p29"/>
          <p:cNvSpPr/>
          <p:nvPr/>
        </p:nvSpPr>
        <p:spPr>
          <a:xfrm flipH="1" rot="5400000">
            <a:off x="-979800" y="971550"/>
            <a:ext cx="5160000" cy="3200400"/>
          </a:xfrm>
          <a:prstGeom prst="round2SameRect">
            <a:avLst>
              <a:gd fmla="val 0" name="adj1"/>
              <a:gd fmla="val 0" name="adj2"/>
            </a:avLst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2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Transparency Pattern">
  <p:cSld name="SECTION_HEADER_3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23971" y="-1231413"/>
            <a:ext cx="8587677" cy="8594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4" name="Google Shape;11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ometric Background Light">
  <p:cSld name="SECTION_HEADER_2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1"/>
          <p:cNvPicPr preferRelativeResize="0"/>
          <p:nvPr/>
        </p:nvPicPr>
        <p:blipFill rotWithShape="1">
          <a:blip r:embed="rId2">
            <a:alphaModFix amt="27000"/>
          </a:blip>
          <a:srcRect b="26243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rgbClr val="12184A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8" name="Google Shape;11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">
  <p:cSld name="SECTION_HEADER_1">
    <p:bg>
      <p:bgPr>
        <a:solidFill>
          <a:srgbClr val="294489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ic Dark 1">
  <p:cSld name="SECTION_HEADER_1_1">
    <p:bg>
      <p:bgPr>
        <a:solidFill>
          <a:srgbClr val="294489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06500" y="335925"/>
            <a:ext cx="293825" cy="29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3600"/>
              <a:buFont typeface="Manrope"/>
              <a:buChar char="●"/>
              <a:defRPr b="1" sz="3600"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●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○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650C4C"/>
              </a:buClr>
              <a:buSzPts val="1400"/>
              <a:buFont typeface="Manrope"/>
              <a:buChar char="■"/>
              <a:defRPr>
                <a:solidFill>
                  <a:srgbClr val="650C4C"/>
                </a:solidFill>
                <a:latin typeface="Manrope"/>
                <a:ea typeface="Manrope"/>
                <a:cs typeface="Manrope"/>
                <a:sym typeface="Manrope"/>
              </a:defRPr>
            </a:lvl9pPr>
          </a:lstStyle>
          <a:p/>
        </p:txBody>
      </p:sp>
      <p:sp>
        <p:nvSpPr>
          <p:cNvPr id="126" name="Google Shape;12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●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○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294489"/>
              </a:buClr>
              <a:buSzPts val="1400"/>
              <a:buFont typeface="Inter Light"/>
              <a:buChar char="■"/>
              <a:defRPr>
                <a:solidFill>
                  <a:srgbClr val="294489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7" name="Google Shape;12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23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6"/>
          <p:cNvSpPr txBox="1"/>
          <p:nvPr/>
        </p:nvSpPr>
        <p:spPr>
          <a:xfrm>
            <a:off x="333650" y="1925250"/>
            <a:ext cx="7464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Multi-Dimensional Conversation Analysis</a:t>
            </a:r>
            <a:b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</a:br>
            <a:r>
              <a:rPr lang="en" sz="18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Pipeline and Batch load plan</a:t>
            </a:r>
            <a:endParaRPr sz="18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136" name="Google Shape;13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37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44" name="Google Shape;144;p3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Agenda</a:t>
            </a:r>
            <a:endParaRPr sz="3500"/>
          </a:p>
        </p:txBody>
      </p:sp>
      <p:sp>
        <p:nvSpPr>
          <p:cNvPr id="145" name="Google Shape;145;p37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46" name="Google Shape;146;p37"/>
          <p:cNvSpPr txBox="1"/>
          <p:nvPr>
            <p:ph idx="1" type="body"/>
          </p:nvPr>
        </p:nvSpPr>
        <p:spPr>
          <a:xfrm>
            <a:off x="668100" y="15621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Overview of Definity needs.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Necessary implementation of a rolling window to maintain a manageable amount of data for active model analysis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Additional performance tuning updates planned to support day to day runs for regular Hourly multi dimensional insight availability.  2600 conversations/day.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Suggestions for optimised batch loading process of insight from 9M DP across 220k conversations.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3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53" name="Google Shape;153;p3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Known data shape numbers</a:t>
            </a:r>
            <a:endParaRPr sz="3500"/>
          </a:p>
        </p:txBody>
      </p:sp>
      <p:sp>
        <p:nvSpPr>
          <p:cNvPr id="154" name="Google Shape;154;p3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55" name="Google Shape;155;p38"/>
          <p:cNvSpPr txBox="1"/>
          <p:nvPr>
            <p:ph idx="1" type="body"/>
          </p:nvPr>
        </p:nvSpPr>
        <p:spPr>
          <a:xfrm>
            <a:off x="668100" y="11199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As of 2024-11-20 there were about 30k calls and chats ingested for data load from production.  This is likely the most representative sample to date of the data shape.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23,809 </a:t>
            </a:r>
            <a:r>
              <a:rPr lang="en"/>
              <a:t>calls between 19 June 2024 and 8 July 2024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HF datapoints 39.4 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 2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 868 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9,255</a:t>
            </a:r>
            <a:r>
              <a:rPr lang="en"/>
              <a:t> chats between 19 June 2024 and 6 August 2024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Average HF datapoints </a:t>
            </a:r>
            <a:r>
              <a:rPr lang="en"/>
              <a:t> 37.7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Min 1</a:t>
            </a:r>
            <a:endParaRPr/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Max 243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simplicity an overall average of </a:t>
            </a:r>
            <a:r>
              <a:rPr b="1" lang="en"/>
              <a:t>40 </a:t>
            </a:r>
            <a:r>
              <a:rPr lang="en"/>
              <a:t>is used for calculations on effort here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3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62" name="Google Shape;162;p3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Overview of Definity day to day</a:t>
            </a:r>
            <a:endParaRPr sz="3500"/>
          </a:p>
        </p:txBody>
      </p:sp>
      <p:sp>
        <p:nvSpPr>
          <p:cNvPr id="163" name="Google Shape;163;p3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64" name="Google Shape;164;p39"/>
          <p:cNvSpPr txBox="1"/>
          <p:nvPr>
            <p:ph idx="1" type="body"/>
          </p:nvPr>
        </p:nvSpPr>
        <p:spPr>
          <a:xfrm>
            <a:off x="668100" y="14068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Definity want to maintain dashboards of insight for approximately 2,600 calls per day, across CHAT and PHONE, across two business units Sonnet and NBS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These incorporate a wide </a:t>
            </a:r>
            <a:r>
              <a:rPr lang="en"/>
              <a:t>variety</a:t>
            </a:r>
            <a:r>
              <a:rPr lang="en"/>
              <a:t> of call types including outbound calls, inbound calls, and calls between end customers and agents, brokers and agents and agents and senior agents.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Each business unit has different business requirements and each call type requires different contextual setup in the LLM to produce high quality analysis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are then 5 dimensions of analysis across 4 reports which Definity want to maintain across this call set.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Dimensions of analysis may have multiple workspaces…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0" name="Google Shape;170;p40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71" name="Google Shape;171;p40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Needs for day to day running</a:t>
            </a:r>
            <a:endParaRPr sz="3500"/>
          </a:p>
        </p:txBody>
      </p:sp>
      <p:sp>
        <p:nvSpPr>
          <p:cNvPr id="172" name="Google Shape;172;p40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73" name="Google Shape;173;p40"/>
          <p:cNvSpPr txBox="1"/>
          <p:nvPr>
            <p:ph idx="1" type="body"/>
          </p:nvPr>
        </p:nvSpPr>
        <p:spPr>
          <a:xfrm>
            <a:off x="668100" y="11199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Fast end to end turn around of a process from ingestion from big query through to insight returned to big query to support regularly updated dashboards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freshness requirement in d2d is </a:t>
            </a:r>
            <a:r>
              <a:rPr b="1" lang="en"/>
              <a:t>Hourly </a:t>
            </a:r>
            <a:r>
              <a:rPr lang="en"/>
              <a:t>s</a:t>
            </a:r>
            <a:r>
              <a:rPr lang="en"/>
              <a:t>mall batch sizes for this to occur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Easy to manage conversation set which users can </a:t>
            </a:r>
            <a:r>
              <a:rPr lang="en"/>
              <a:t>understand</a:t>
            </a:r>
            <a:r>
              <a:rPr lang="en"/>
              <a:t> in the tool to maintain the models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</a:t>
            </a:r>
            <a:r>
              <a:rPr lang="en"/>
              <a:t>workspaces which filter and select only certain calls for pipeline processing given various criteria.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pipelines with tuned prompts for different business units and call scenarios.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some dimensions NLU model taxonomies to summarise the data into useful groups for visualisation after BigQuery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9" name="Google Shape;179;p41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0" name="Google Shape;180;p4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Dimensions of analysis</a:t>
            </a:r>
            <a:endParaRPr sz="3500"/>
          </a:p>
        </p:txBody>
      </p:sp>
      <p:sp>
        <p:nvSpPr>
          <p:cNvPr id="181" name="Google Shape;181;p41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182" name="Google Shape;182;p41"/>
          <p:cNvSpPr txBox="1"/>
          <p:nvPr>
            <p:ph idx="1" type="body"/>
          </p:nvPr>
        </p:nvSpPr>
        <p:spPr>
          <a:xfrm>
            <a:off x="668100" y="1356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Topic (INTENT)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topic causing the analysed party to 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Topic (REASON)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was the reason that the analysed party could not do this through self server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FAQs inferred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FAQs can be inferred from this call that might have deflected the call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Escalation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this call is escalated to another more senior agent - why does this happen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Callback</a:t>
            </a:r>
            <a:endParaRPr b="1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this call is a callback why is the callback necessary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8" name="Google Shape;188;p42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89" name="Google Shape;189;p42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More complicated than that</a:t>
            </a:r>
            <a:r>
              <a:rPr lang="en" sz="3500"/>
              <a:t>:</a:t>
            </a:r>
            <a:endParaRPr sz="3500"/>
          </a:p>
        </p:txBody>
      </p:sp>
      <p:sp>
        <p:nvSpPr>
          <p:cNvPr id="190" name="Google Shape;190;p42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pic>
        <p:nvPicPr>
          <p:cNvPr id="191" name="Google Shape;19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25" y="1198338"/>
            <a:ext cx="8839203" cy="1071768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42"/>
          <p:cNvSpPr txBox="1"/>
          <p:nvPr>
            <p:ph idx="1" type="body"/>
          </p:nvPr>
        </p:nvSpPr>
        <p:spPr>
          <a:xfrm>
            <a:off x="668100" y="25717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Key numbers: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 workspaces per convoset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9 pipelines per convoset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Covers varying selection criteria of Phone, Chat, NBS, Sonnet, which varies by report.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Topic report pipelines is every call, other pipelines subsets of some description, but leading to analysis of almost every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43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43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199" name="Google Shape;199;p43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What observed in first joint testing</a:t>
            </a:r>
            <a:endParaRPr sz="3500"/>
          </a:p>
        </p:txBody>
      </p:sp>
      <p:sp>
        <p:nvSpPr>
          <p:cNvPr id="200" name="Google Shape;200;p43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01" name="Google Shape;201;p43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Sessions Tuesday 12th and Thursday 14th November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2h 7m and 2h 30m to perform a single file analysis due to low end to end </a:t>
            </a:r>
            <a:r>
              <a:rPr lang="en"/>
              <a:t>understanding</a:t>
            </a:r>
            <a:r>
              <a:rPr lang="en"/>
              <a:t> of the system by any user.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No user able to operate all steps to conduct realistic testing.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steps display slower than expected running as file numbers grow.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Some steps displayed retries which were not expected to be necessary.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Testing was conducted on only a </a:t>
            </a:r>
            <a:r>
              <a:rPr lang="en"/>
              <a:t>single</a:t>
            </a:r>
            <a:r>
              <a:rPr lang="en"/>
              <a:t> dimension being attempted sequentially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However multiple dimensions were connected to the data set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Later on it is expected that </a:t>
            </a:r>
            <a:r>
              <a:rPr lang="en"/>
              <a:t>dimensions</a:t>
            </a:r>
            <a:r>
              <a:rPr lang="en"/>
              <a:t> of analysis may be running in parallel.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There was no management of the active data volume (using for instance a rolling window) and the number of files was large.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7" name="Google Shape;207;p44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08" name="Google Shape;208;p44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Batch load background</a:t>
            </a:r>
            <a:endParaRPr sz="3500"/>
          </a:p>
        </p:txBody>
      </p:sp>
      <p:sp>
        <p:nvSpPr>
          <p:cNvPr id="209" name="Google Shape;209;p44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10" name="Google Shape;210;p44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Definity are expecting reports to contain data from June 19th 2024.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Ingestion from Five9 into BigQuery has started.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total volume of expected data to be historically loaded is expected to be ~9M datapoints across 220k calls, across 6 dimensions of analysis with 9 pipelines.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assumed approach was to run each dimension as they were signed off by the business across a very large rolling window of data using the day to day process with small batch sizes as fast as possible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This will not be successful because - it would need an actively managed set of data across all reports in the region of of 9M datapoints.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batch sizes are tuned for day to day running and generate an enormous </a:t>
            </a:r>
            <a:r>
              <a:rPr lang="en"/>
              <a:t>amount of unnecessary updates across all the indexes, workspaces, etc involved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45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17" name="Google Shape;217;p45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Recommended Actions</a:t>
            </a:r>
            <a:endParaRPr sz="3500"/>
          </a:p>
        </p:txBody>
      </p:sp>
      <p:sp>
        <p:nvSpPr>
          <p:cNvPr id="218" name="Google Shape;218;p45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19" name="Google Shape;219;p45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Implement the already planned next sprint rolling window to manage the data volumes to a configurable value (10 files suggested initially and work up)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Tolerate longer data readiness delays after pipeline completion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Humanfirst will continue to </a:t>
            </a:r>
            <a:r>
              <a:rPr lang="en"/>
              <a:t>deliver a set of improvements aimed at speeding and smoothing the day to day running - </a:t>
            </a:r>
            <a:r>
              <a:rPr b="1" lang="en"/>
              <a:t>this will allow increasing the rolling window duration for day to day operation. </a:t>
            </a:r>
            <a:endParaRPr b="1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Make a plan for how to do the batch load for each report in an </a:t>
            </a:r>
            <a:r>
              <a:rPr lang="en"/>
              <a:t>efficient</a:t>
            </a:r>
            <a:r>
              <a:rPr lang="en"/>
              <a:t> dedicated manner using the most of the existing solution possible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6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26" name="Google Shape;226;p46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Agreed approach before detail?</a:t>
            </a:r>
            <a:endParaRPr sz="3500"/>
          </a:p>
        </p:txBody>
      </p:sp>
      <p:sp>
        <p:nvSpPr>
          <p:cNvPr id="227" name="Google Shape;227;p46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28" name="Google Shape;228;p46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200"/>
              <a:t>?</a:t>
            </a:r>
            <a:endParaRPr sz="132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47"/>
          <p:cNvSpPr txBox="1"/>
          <p:nvPr/>
        </p:nvSpPr>
        <p:spPr>
          <a:xfrm>
            <a:off x="333650" y="1925250"/>
            <a:ext cx="572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Day to day running improvements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35" name="Google Shape;235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4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43" name="Google Shape;243;p4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Improvements D2D batch 1</a:t>
            </a:r>
            <a:endParaRPr sz="3500"/>
          </a:p>
        </p:txBody>
      </p:sp>
      <p:sp>
        <p:nvSpPr>
          <p:cNvPr id="244" name="Google Shape;244;p48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Search service: lazily download new indices</a:t>
            </a:r>
            <a:r>
              <a:rPr lang="en"/>
              <a:t> (PB-8139)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Dataset was linked to 8 different workspaces (now reduced to 6 by tidy p) , resulting in 8x indices to be recreated and downloaded by our search service on every file upload (resulting in up to ~70-80GB to be redownloaded) - this should result in an 8x speedup for data readiness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tweaks the way we download indices by lazily downloading indices on search requests</a:t>
            </a:r>
            <a:endParaRPr/>
          </a:p>
          <a:p>
            <a:pPr indent="-3175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/>
              <a:t>For this reason, contrarily to what we had previously mentioned, you should call the export endpoint as soon as the pipeline has succeeded</a:t>
            </a:r>
            <a:br>
              <a:rPr lang="en" u="sng"/>
            </a:br>
            <a:endParaRPr u="sng"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Expected release: 1.65 (around Nov 21th)</a:t>
            </a:r>
            <a:endParaRPr/>
          </a:p>
        </p:txBody>
      </p:sp>
      <p:sp>
        <p:nvSpPr>
          <p:cNvPr id="245" name="Google Shape;245;p4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1" name="Google Shape;251;p4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52" name="Google Shape;252;p4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Improvements D2D batch 2</a:t>
            </a:r>
            <a:endParaRPr sz="3500"/>
          </a:p>
        </p:txBody>
      </p:sp>
      <p:sp>
        <p:nvSpPr>
          <p:cNvPr id="253" name="Google Shape;253;p4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54" name="Google Shape;254;p49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Fixes for failing / non-progressing pipeline triggers (PB-8095, PB-8111)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triggers (on file upload/delete and on pipeline generation) from stalling because of failing dependencies. This should either run if the </a:t>
            </a:r>
            <a:r>
              <a:rPr lang="en"/>
              <a:t>dependency</a:t>
            </a:r>
            <a:r>
              <a:rPr lang="en"/>
              <a:t> is not critical, or fail instantaneously with proper error reporting.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Fix for the “worked died while executing task” error encountered previously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Ability to upload files with “no_trigger” to upload many and then have the index built once.  (PB-8157)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Allow </a:t>
            </a:r>
            <a:r>
              <a:rPr lang="en"/>
              <a:t>efficient</a:t>
            </a:r>
            <a:r>
              <a:rPr lang="en"/>
              <a:t> upload of large numbers of small files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 able to delete a file and upload a file with a single index update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Expected release: 1.65.1 (around Nov 28th)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0" name="Google Shape;260;p50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61" name="Google Shape;261;p50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Improvements D2D batch 3</a:t>
            </a:r>
            <a:endParaRPr sz="3500"/>
          </a:p>
        </p:txBody>
      </p:sp>
      <p:sp>
        <p:nvSpPr>
          <p:cNvPr id="262" name="Google Shape;262;p50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63" name="Google Shape;263;p50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Speed improvement in </a:t>
            </a:r>
            <a:r>
              <a:rPr lang="en"/>
              <a:t>generation pipeline with prompt referencing whole conversations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batching in prompt rendering (PB-8112)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Gate unused embedding metrics (PB-8163)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UI improvements for index readiness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Fix the issue where the data view was not refreshing when the index was ready (PB-8110)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Indicate when the queried index is not the latest (as the newly created one is being downloaded) (PB-8110)</a:t>
            </a:r>
            <a:br>
              <a:rPr lang="en"/>
            </a:b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Expected release: 1.66 (around Dec 6th)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51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51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70" name="Google Shape;270;p51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Improvements D2D batch 4</a:t>
            </a:r>
            <a:endParaRPr sz="3500"/>
          </a:p>
        </p:txBody>
      </p:sp>
      <p:sp>
        <p:nvSpPr>
          <p:cNvPr id="271" name="Google Shape;271;p51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72" name="Google Shape;272;p51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Improve our pipeline incrementality &amp; resiliency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incremental indexation (PB-8175)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Better incremental generation pipeline (PB-8180)</a:t>
            </a:r>
            <a:endParaRPr/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Make generation cache more crash-</a:t>
            </a:r>
            <a:r>
              <a:rPr lang="en"/>
              <a:t>resistant</a:t>
            </a:r>
            <a:r>
              <a:rPr lang="en"/>
              <a:t> (PB-8162)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Generate pipeline prompt rurun parameter (PB-8181)</a:t>
            </a:r>
            <a:br>
              <a:rPr lang="en"/>
            </a:b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Expected release: 1.67 (around Dec 20th)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2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8" name="Google Shape;278;p52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79" name="Google Shape;279;p52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Other options can investigate</a:t>
            </a:r>
            <a:endParaRPr sz="3500"/>
          </a:p>
        </p:txBody>
      </p:sp>
      <p:sp>
        <p:nvSpPr>
          <p:cNvPr id="280" name="Google Shape;280;p52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281" name="Google Shape;281;p52"/>
          <p:cNvSpPr txBox="1"/>
          <p:nvPr>
            <p:ph idx="1" type="body"/>
          </p:nvPr>
        </p:nvSpPr>
        <p:spPr>
          <a:xfrm>
            <a:off x="668100" y="128865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Improvements to GUI to make download indexes waits more obvious with a progress counter where they still occur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For APIs options to swap to endpoints which provide expected download duration to allow waits to be predicted not polled for</a:t>
            </a:r>
            <a:br>
              <a:rPr lang="en"/>
            </a:b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Expected release: TBD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53"/>
          <p:cNvSpPr txBox="1"/>
          <p:nvPr/>
        </p:nvSpPr>
        <p:spPr>
          <a:xfrm>
            <a:off x="333650" y="1925250"/>
            <a:ext cx="572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Batch Process 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288" name="Google Shape;28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4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54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296" name="Google Shape;296;p54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Tables involved in BigQuery</a:t>
            </a:r>
            <a:endParaRPr sz="3500"/>
          </a:p>
        </p:txBody>
      </p:sp>
      <p:sp>
        <p:nvSpPr>
          <p:cNvPr id="297" name="Google Shape;297;p54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pic>
        <p:nvPicPr>
          <p:cNvPr id="298" name="Google Shape;298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625" y="1499988"/>
            <a:ext cx="8839204" cy="21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54"/>
          <p:cNvSpPr txBox="1"/>
          <p:nvPr>
            <p:ph idx="1" type="body"/>
          </p:nvPr>
        </p:nvSpPr>
        <p:spPr>
          <a:xfrm>
            <a:off x="805625" y="40424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Tables to left of here can be assumed to be filled by configuration or ingestion from Five9 - they represent data in that has started.  The four tables to the right of this are filled by some combination of pipelines from HumanFirst and need to have a large volume of data loaded and then continuously maintained. “Insight” tables</a:t>
            </a:r>
            <a:endParaRPr sz="1000"/>
          </a:p>
        </p:txBody>
      </p:sp>
      <p:sp>
        <p:nvSpPr>
          <p:cNvPr id="300" name="Google Shape;300;p54"/>
          <p:cNvSpPr/>
          <p:nvPr/>
        </p:nvSpPr>
        <p:spPr>
          <a:xfrm>
            <a:off x="6180100" y="3662300"/>
            <a:ext cx="118800" cy="1431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5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6" name="Google Shape;306;p55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07" name="Google Shape;307;p55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Key options to batch load successfully</a:t>
            </a:r>
            <a:endParaRPr sz="3500"/>
          </a:p>
        </p:txBody>
      </p:sp>
      <p:sp>
        <p:nvSpPr>
          <p:cNvPr id="308" name="Google Shape;308;p55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309" name="Google Shape;309;p55"/>
          <p:cNvSpPr txBox="1"/>
          <p:nvPr>
            <p:ph idx="1" type="body"/>
          </p:nvPr>
        </p:nvSpPr>
        <p:spPr>
          <a:xfrm>
            <a:off x="668100" y="16687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Release all reports to production as a unit and move as a coordinated unit through a historical period until current date with a single rolling window of active data in HF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Dataload individual reports in isolation in an optimised process, then have them join a single window that keeps them up to date.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6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5" name="Google Shape;315;p56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16" name="Google Shape;316;p56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Other options not investigated in detail</a:t>
            </a:r>
            <a:endParaRPr sz="3500"/>
          </a:p>
        </p:txBody>
      </p:sp>
      <p:sp>
        <p:nvSpPr>
          <p:cNvPr id="317" name="Google Shape;317;p56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318" name="Google Shape;318;p56"/>
          <p:cNvSpPr txBox="1"/>
          <p:nvPr>
            <p:ph idx="1" type="body"/>
          </p:nvPr>
        </p:nvSpPr>
        <p:spPr>
          <a:xfrm>
            <a:off x="668100" y="16687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convosets per report</a:t>
            </a:r>
            <a:endParaRPr/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Quadruples overall datapoints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Multiple reloads with 1, 2, 3 then 4 </a:t>
            </a:r>
            <a:r>
              <a:rPr lang="en"/>
              <a:t>reports using a rolling window through the data.</a:t>
            </a:r>
            <a:endParaRPr/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Multiplies total work to be done by 4.</a:t>
            </a:r>
            <a:endParaRPr/>
          </a:p>
          <a:p>
            <a:pPr indent="-317500" lvl="1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Interrupts running four times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57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57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25" name="Google Shape;325;p57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Release all reports as a single release </a:t>
            </a:r>
            <a:endParaRPr sz="3500"/>
          </a:p>
        </p:txBody>
      </p:sp>
      <p:sp>
        <p:nvSpPr>
          <p:cNvPr id="326" name="Google Shape;326;p57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327" name="Google Shape;327;p57"/>
          <p:cNvSpPr txBox="1"/>
          <p:nvPr>
            <p:ph idx="1" type="body"/>
          </p:nvPr>
        </p:nvSpPr>
        <p:spPr>
          <a:xfrm>
            <a:off x="668100" y="16687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Reuses single process 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Doesn’t provide incremental milestone wins for project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Will involve a large delay to the first data in prod people see.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Still faces very large duration issues with the dataload 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Dataload size will become worse with delay and may not be able to addressed by this </a:t>
            </a:r>
            <a:r>
              <a:rPr lang="en"/>
              <a:t>method</a:t>
            </a:r>
            <a:r>
              <a:rPr lang="en"/>
              <a:t> at all leading to a truncated data load size.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8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8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34" name="Google Shape;334;p58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Why is the D2D process is not a good choice for </a:t>
            </a:r>
            <a:r>
              <a:rPr lang="en" sz="3500"/>
              <a:t>batch</a:t>
            </a:r>
            <a:r>
              <a:rPr lang="en" sz="3500"/>
              <a:t> runs.</a:t>
            </a:r>
            <a:endParaRPr sz="3500"/>
          </a:p>
        </p:txBody>
      </p:sp>
      <p:sp>
        <p:nvSpPr>
          <p:cNvPr id="335" name="Google Shape;335;p58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336" name="Google Shape;336;p58"/>
          <p:cNvSpPr txBox="1"/>
          <p:nvPr>
            <p:ph idx="1" type="body"/>
          </p:nvPr>
        </p:nvSpPr>
        <p:spPr>
          <a:xfrm>
            <a:off x="668100" y="16687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Many dimensions are analysis are being updated every file when only one dimension is required for each to be loaded.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Data is very frequently being refreshed for active analysis during the load that will never actually be investigated until the load is finished.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Batch sizes are small and frequent optimized for frequent regular updates in D2D running and not for large data loading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overall duration of running with D2D sized loads compared to Batch loading is likely to be </a:t>
            </a:r>
            <a:r>
              <a:rPr b="1" lang="en"/>
              <a:t>~900x</a:t>
            </a:r>
            <a:r>
              <a:rPr lang="en"/>
              <a:t> slower than an </a:t>
            </a:r>
            <a:r>
              <a:rPr lang="en"/>
              <a:t>optimized</a:t>
            </a:r>
            <a:r>
              <a:rPr lang="en"/>
              <a:t> batch process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9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59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43" name="Google Shape;343;p59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Example Duration Comparison</a:t>
            </a:r>
            <a:endParaRPr sz="3500"/>
          </a:p>
        </p:txBody>
      </p:sp>
      <p:sp>
        <p:nvSpPr>
          <p:cNvPr id="344" name="Google Shape;344;p59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pic>
        <p:nvPicPr>
          <p:cNvPr id="345" name="Google Shape;345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825" y="1356638"/>
            <a:ext cx="7524750" cy="3009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0"/>
          <p:cNvSpPr txBox="1"/>
          <p:nvPr>
            <p:ph idx="12" type="sldNum"/>
          </p:nvPr>
        </p:nvSpPr>
        <p:spPr>
          <a:xfrm>
            <a:off x="8214297" y="4570594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1" name="Google Shape;351;p60"/>
          <p:cNvSpPr txBox="1"/>
          <p:nvPr/>
        </p:nvSpPr>
        <p:spPr>
          <a:xfrm>
            <a:off x="470525" y="381000"/>
            <a:ext cx="8216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sp>
        <p:nvSpPr>
          <p:cNvPr id="352" name="Google Shape;352;p60"/>
          <p:cNvSpPr txBox="1"/>
          <p:nvPr>
            <p:ph type="title"/>
          </p:nvPr>
        </p:nvSpPr>
        <p:spPr>
          <a:xfrm>
            <a:off x="512100" y="319450"/>
            <a:ext cx="7702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/>
              <a:t>Suggestion - column 3</a:t>
            </a:r>
            <a:endParaRPr sz="3500"/>
          </a:p>
        </p:txBody>
      </p:sp>
      <p:sp>
        <p:nvSpPr>
          <p:cNvPr id="353" name="Google Shape;353;p60"/>
          <p:cNvSpPr txBox="1"/>
          <p:nvPr/>
        </p:nvSpPr>
        <p:spPr>
          <a:xfrm>
            <a:off x="807238" y="1356638"/>
            <a:ext cx="1344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900">
              <a:solidFill>
                <a:srgbClr val="475067"/>
              </a:solidFill>
            </a:endParaRPr>
          </a:p>
        </p:txBody>
      </p:sp>
      <p:sp>
        <p:nvSpPr>
          <p:cNvPr id="354" name="Google Shape;354;p60"/>
          <p:cNvSpPr txBox="1"/>
          <p:nvPr>
            <p:ph idx="1" type="body"/>
          </p:nvPr>
        </p:nvSpPr>
        <p:spPr>
          <a:xfrm>
            <a:off x="668100" y="1668700"/>
            <a:ext cx="7546200" cy="25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Create d</a:t>
            </a:r>
            <a:r>
              <a:rPr lang="en"/>
              <a:t>edicated</a:t>
            </a:r>
            <a:r>
              <a:rPr lang="en"/>
              <a:t> batch load conversation set per report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Load all files into it before attaching.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Only attach one dimension of analysis prior to go live - only one index update.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Run pipeline in file batches of ~10k (or some large number) not 400 - this is limited only by LLM failure and rollback time.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Indexes only updated after each pipeline batch and allow monitoring and checking of process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High </a:t>
            </a:r>
            <a:r>
              <a:rPr lang="en"/>
              <a:t>efficiency</a:t>
            </a:r>
            <a:r>
              <a:rPr lang="en"/>
              <a:t> data generation and load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When insight fully generated attach to the rolling window and continue to update with small regular batches.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84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0499" y="0"/>
            <a:ext cx="51435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61"/>
          <p:cNvSpPr txBox="1"/>
          <p:nvPr/>
        </p:nvSpPr>
        <p:spPr>
          <a:xfrm>
            <a:off x="333650" y="1925250"/>
            <a:ext cx="5726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lt1"/>
                </a:solidFill>
                <a:latin typeface="Manrope SemiBold"/>
                <a:ea typeface="Manrope SemiBold"/>
                <a:cs typeface="Manrope SemiBold"/>
                <a:sym typeface="Manrope SemiBold"/>
              </a:rPr>
              <a:t>Thank you</a:t>
            </a:r>
            <a:endParaRPr sz="3600">
              <a:solidFill>
                <a:schemeClr val="lt1"/>
              </a:solidFill>
              <a:latin typeface="Manrope SemiBold"/>
              <a:ea typeface="Manrope SemiBold"/>
              <a:cs typeface="Manrope SemiBold"/>
              <a:sym typeface="Manrope SemiBold"/>
            </a:endParaRPr>
          </a:p>
        </p:txBody>
      </p:sp>
      <p:pic>
        <p:nvPicPr>
          <p:cNvPr id="361" name="Google Shape;361;p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650" y="339750"/>
            <a:ext cx="1941901" cy="46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uman First">
  <a:themeElements>
    <a:clrScheme name="Simple Light">
      <a:dk1>
        <a:srgbClr val="12184A"/>
      </a:dk1>
      <a:lt1>
        <a:srgbClr val="FFFFFF"/>
      </a:lt1>
      <a:dk2>
        <a:srgbClr val="F4F6FB"/>
      </a:dk2>
      <a:lt2>
        <a:srgbClr val="76CCED"/>
      </a:lt2>
      <a:accent1>
        <a:srgbClr val="294489"/>
      </a:accent1>
      <a:accent2>
        <a:srgbClr val="650C4C"/>
      </a:accent2>
      <a:accent3>
        <a:srgbClr val="D0D4DD"/>
      </a:accent3>
      <a:accent4>
        <a:srgbClr val="98A0B3"/>
      </a:accent4>
      <a:accent5>
        <a:srgbClr val="666F85"/>
      </a:accent5>
      <a:accent6>
        <a:srgbClr val="475067"/>
      </a:accent6>
      <a:hlink>
        <a:srgbClr val="2944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