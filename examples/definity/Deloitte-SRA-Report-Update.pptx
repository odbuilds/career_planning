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embeddedFontLst>
    <p:embeddedFont>
      <p:font typeface="Inter Light"/>
      <p:regular r:id="rId23"/>
      <p:bold r:id="rId24"/>
      <p:italic r:id="rId25"/>
      <p:boldItalic r:id="rId26"/>
    </p:embeddedFont>
    <p:embeddedFont>
      <p:font typeface="Inter"/>
      <p:regular r:id="rId27"/>
      <p:bold r:id="rId28"/>
      <p:italic r:id="rId29"/>
      <p:boldItalic r:id="rId30"/>
    </p:embeddedFont>
    <p:embeddedFont>
      <p:font typeface="Manrope SemiBold"/>
      <p:regular r:id="rId31"/>
      <p:bold r:id="rId32"/>
    </p:embeddedFont>
    <p:embeddedFont>
      <p:font typeface="Manrope"/>
      <p:regular r:id="rId33"/>
      <p:bold r:id="rId34"/>
    </p:embeddedFont>
    <p:embeddedFont>
      <p:font typeface="Inter Medium"/>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DB5839-1588-4DBD-A0F2-3C91E36F580D}">
  <a:tblStyle styleId="{FFDB5839-1588-4DBD-A0F2-3C91E36F580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InterLight-bold.fntdata"/><Relationship Id="rId23" Type="http://schemas.openxmlformats.org/officeDocument/2006/relationships/font" Target="fonts/InterLigh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InterLight-boldItalic.fntdata"/><Relationship Id="rId25" Type="http://schemas.openxmlformats.org/officeDocument/2006/relationships/font" Target="fonts/InterLight-italic.fntdata"/><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Inter-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ManropeSemiBold-regular.fntdata"/><Relationship Id="rId30" Type="http://schemas.openxmlformats.org/officeDocument/2006/relationships/font" Target="fonts/Inter-boldItalic.fntdata"/><Relationship Id="rId11" Type="http://schemas.openxmlformats.org/officeDocument/2006/relationships/slide" Target="slides/slide4.xml"/><Relationship Id="rId33" Type="http://schemas.openxmlformats.org/officeDocument/2006/relationships/font" Target="fonts/Manrope-regular.fntdata"/><Relationship Id="rId10" Type="http://schemas.openxmlformats.org/officeDocument/2006/relationships/slide" Target="slides/slide3.xml"/><Relationship Id="rId32" Type="http://schemas.openxmlformats.org/officeDocument/2006/relationships/font" Target="fonts/ManropeSemiBold-bold.fntdata"/><Relationship Id="rId13" Type="http://schemas.openxmlformats.org/officeDocument/2006/relationships/slide" Target="slides/slide6.xml"/><Relationship Id="rId35" Type="http://schemas.openxmlformats.org/officeDocument/2006/relationships/font" Target="fonts/InterMedium-regular.fntdata"/><Relationship Id="rId12" Type="http://schemas.openxmlformats.org/officeDocument/2006/relationships/slide" Target="slides/slide5.xml"/><Relationship Id="rId34" Type="http://schemas.openxmlformats.org/officeDocument/2006/relationships/font" Target="fonts/Manrope-bold.fntdata"/><Relationship Id="rId15" Type="http://schemas.openxmlformats.org/officeDocument/2006/relationships/slide" Target="slides/slide8.xml"/><Relationship Id="rId37" Type="http://schemas.openxmlformats.org/officeDocument/2006/relationships/font" Target="fonts/InterMedium-italic.fntdata"/><Relationship Id="rId14" Type="http://schemas.openxmlformats.org/officeDocument/2006/relationships/slide" Target="slides/slide7.xml"/><Relationship Id="rId36" Type="http://schemas.openxmlformats.org/officeDocument/2006/relationships/font" Target="fonts/InterMedium-bold.fntdata"/><Relationship Id="rId17" Type="http://schemas.openxmlformats.org/officeDocument/2006/relationships/slide" Target="slides/slide10.xml"/><Relationship Id="rId16" Type="http://schemas.openxmlformats.org/officeDocument/2006/relationships/slide" Target="slides/slide9.xml"/><Relationship Id="rId38" Type="http://schemas.openxmlformats.org/officeDocument/2006/relationships/font" Target="fonts/InterMedium-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699bd2dc47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699bd2dc47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f662bfe6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f662bfe6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Sonnet escalation calls are outbound where agents are talking direct to customers.</a:t>
            </a:r>
            <a:endParaRPr/>
          </a:p>
          <a:p>
            <a:pPr indent="0" lvl="0" marL="0" rtl="0" algn="l">
              <a:spcBef>
                <a:spcPts val="0"/>
              </a:spcBef>
              <a:spcAft>
                <a:spcPts val="0"/>
              </a:spcAft>
              <a:buNone/>
            </a:pPr>
            <a:r>
              <a:rPr lang="en"/>
              <a:t> Majority of the calls here don’t mention any escalation reason – and most of the time this is inferred by the </a:t>
            </a:r>
            <a:r>
              <a:rPr lang="en">
                <a:solidFill>
                  <a:schemeClr val="dk1"/>
                </a:solidFill>
              </a:rPr>
              <a:t>conversation</a:t>
            </a:r>
            <a:r>
              <a:rPr lang="en"/>
              <a:t> context.</a:t>
            </a:r>
            <a:endParaRPr/>
          </a:p>
          <a:p>
            <a:pPr indent="0" lvl="0" marL="0" rtl="0" algn="l">
              <a:spcBef>
                <a:spcPts val="0"/>
              </a:spcBef>
              <a:spcAft>
                <a:spcPts val="0"/>
              </a:spcAft>
              <a:buNone/>
            </a:pPr>
            <a:r>
              <a:rPr lang="en"/>
              <a:t>Both NBS and Sonnet support are inbound calls J-S agent containing clear reasons.</a:t>
            </a:r>
            <a:endParaRPr/>
          </a:p>
          <a:p>
            <a:pPr indent="0" lvl="0" marL="0" rtl="0" algn="l">
              <a:spcBef>
                <a:spcPts val="0"/>
              </a:spcBef>
              <a:spcAft>
                <a:spcPts val="0"/>
              </a:spcAft>
              <a:buNone/>
            </a:pPr>
            <a:r>
              <a:rPr lang="en"/>
              <a:t>Prompt to extract None when there is no clear escalation reason the LLM can identify.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f662bfe62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f662bfe62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Derived from </a:t>
            </a:r>
            <a:r>
              <a:rPr lang="en"/>
              <a:t>both</a:t>
            </a:r>
            <a:r>
              <a:rPr lang="en"/>
              <a:t> test team data provided and data discovery – 11 Classes</a:t>
            </a:r>
            <a:endParaRPr/>
          </a:p>
          <a:p>
            <a:pPr indent="0" lvl="0" marL="0" rtl="0" algn="l">
              <a:spcBef>
                <a:spcPts val="0"/>
              </a:spcBef>
              <a:spcAft>
                <a:spcPts val="0"/>
              </a:spcAft>
              <a:buNone/>
            </a:pPr>
            <a:r>
              <a:rPr lang="en"/>
              <a:t>Difference is Policy Clarification vs Underwriting Clarification</a:t>
            </a:r>
            <a:endParaRPr/>
          </a:p>
          <a:p>
            <a:pPr indent="0" lvl="0" marL="0" rtl="0" algn="l">
              <a:spcBef>
                <a:spcPts val="0"/>
              </a:spcBef>
              <a:spcAft>
                <a:spcPts val="0"/>
              </a:spcAft>
              <a:buNone/>
            </a:pPr>
            <a:r>
              <a:rPr lang="en">
                <a:solidFill>
                  <a:schemeClr val="dk1"/>
                </a:solidFill>
              </a:rPr>
              <a:t>Prompt is looking for a clear escalation reason in the conversation. </a:t>
            </a:r>
            <a:endParaRPr>
              <a:solidFill>
                <a:schemeClr val="dk1"/>
              </a:solidFill>
            </a:endParaRPr>
          </a:p>
          <a:p>
            <a:pPr indent="0" lvl="0" marL="0" rtl="0" algn="l">
              <a:spcBef>
                <a:spcPts val="0"/>
              </a:spcBef>
              <a:spcAft>
                <a:spcPts val="0"/>
              </a:spcAft>
              <a:buNone/>
            </a:pPr>
            <a:r>
              <a:rPr lang="en">
                <a:solidFill>
                  <a:schemeClr val="dk1"/>
                </a:solidFill>
              </a:rPr>
              <a:t>For Outbound Sonnet Escalation calls – there is much more inference.</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f662bfe620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f662bfe620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None category in Sonnet Support are calls that were directly with a customer that leaked through the logic used to identify these. </a:t>
            </a:r>
            <a:endParaRPr/>
          </a:p>
          <a:p>
            <a:pPr indent="0" lvl="0" marL="0" rtl="0" algn="l">
              <a:spcBef>
                <a:spcPts val="0"/>
              </a:spcBef>
              <a:spcAft>
                <a:spcPts val="0"/>
              </a:spcAft>
              <a:buNone/>
            </a:pPr>
            <a:r>
              <a:rPr lang="en"/>
              <a:t>Expect this to go down as terminology / business logic used to divide the dataset gets more routinely used.</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sz="1200"/>
              <a:t>LLM reasoning sample for None: The conversation appears to be between a customer and a senior agent, not a junior agent escalating to a senior agent, and no explicit escalation reason is mentioned.</a:t>
            </a:r>
            <a:endParaRPr sz="1200"/>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f662bfe620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f662bfe620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11 classes capture the breadth of escalation issues well </a:t>
            </a:r>
            <a:endParaRPr/>
          </a:p>
          <a:p>
            <a:pPr indent="0" lvl="0" marL="0" rtl="0" algn="l">
              <a:spcBef>
                <a:spcPts val="0"/>
              </a:spcBef>
              <a:spcAft>
                <a:spcPts val="0"/>
              </a:spcAft>
              <a:buNone/>
            </a:pPr>
            <a:r>
              <a:rPr lang="en"/>
              <a:t>Underwriting Clarification / Documentation or Process Unclear being the two biggest is represented in the test set as well</a:t>
            </a:r>
            <a:endParaRPr/>
          </a:p>
          <a:p>
            <a:pPr indent="0" lvl="0" marL="0" rtl="0" algn="l">
              <a:spcBef>
                <a:spcPts val="0"/>
              </a:spcBef>
              <a:spcAft>
                <a:spcPts val="0"/>
              </a:spcAft>
              <a:buNone/>
            </a:pPr>
            <a:r>
              <a:rPr lang="en"/>
              <a:t>Other category being &gt;1% indicates that most calls fall well into the taxonomy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79a5a2ba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79a5a2ba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Call discussing policy </a:t>
            </a:r>
            <a:r>
              <a:rPr lang="en"/>
              <a:t>cancellation and senior agent called direct to discuss with the customer why this occurred and potential reversal.</a:t>
            </a:r>
            <a:r>
              <a:rPr lang="en"/>
              <a: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f662bfe620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f662bfe620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Senior agent calling as there wasn't payments made by the customer that led to a cancellation. Customer claims they made payment but agent mentions it didn't show.</a:t>
            </a:r>
            <a:endParaRPr/>
          </a:p>
          <a:p>
            <a:pPr indent="0" lvl="0" marL="0" rtl="0" algn="l">
              <a:spcBef>
                <a:spcPts val="0"/>
              </a:spcBef>
              <a:spcAft>
                <a:spcPts val="0"/>
              </a:spcAft>
              <a:buNone/>
            </a:pPr>
            <a:r>
              <a:rPr lang="en"/>
              <a:t>Senior agent confirms to Customer that email, registered letters were sent on their side</a:t>
            </a:r>
            <a:endParaRPr/>
          </a:p>
          <a:p>
            <a:pPr indent="0" lvl="0" marL="0" rtl="0" algn="l">
              <a:spcBef>
                <a:spcPts val="0"/>
              </a:spcBef>
              <a:spcAft>
                <a:spcPts val="0"/>
              </a:spcAft>
              <a:buNone/>
            </a:pPr>
            <a:r>
              <a:rPr lang="en"/>
              <a:t>Test team identified Stubborn CX – rebaselined to new taxonomy class Customer Error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f662bfe620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f662bfe620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Call is discussing junior agent trying to understand business use for auto insurance policy.</a:t>
            </a:r>
            <a:endParaRPr/>
          </a:p>
          <a:p>
            <a:pPr indent="0" lvl="0" marL="0" rtl="0" algn="l">
              <a:spcBef>
                <a:spcPts val="0"/>
              </a:spcBef>
              <a:spcAft>
                <a:spcPts val="0"/>
              </a:spcAft>
              <a:buNone/>
            </a:pPr>
            <a:r>
              <a:rPr lang="en"/>
              <a:t>Rebaslined to Policy Clarification since that class didn’t exist for test team.</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f662bfe620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f662bfe62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Case with Other class – Rebaslined to Other as Call Transfer is not a class in the taxonomy of the prompt.</a:t>
            </a:r>
            <a:endParaRPr/>
          </a:p>
          <a:p>
            <a:pPr indent="0" lvl="0" marL="0" rtl="0" algn="l">
              <a:spcBef>
                <a:spcPts val="0"/>
              </a:spcBef>
              <a:spcAft>
                <a:spcPts val="0"/>
              </a:spcAft>
              <a:buNone/>
            </a:pPr>
            <a:r>
              <a:rPr lang="en"/>
              <a:t>Reasoning will show these additional reasons for escalation that aren’t very common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f662bfe620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f662bfe620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Case with a </a:t>
            </a:r>
            <a:r>
              <a:rPr lang="en"/>
              <a:t>New category on discount got matched -- test team didn't have this.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f662bfe620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f662bfe620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t>‚Ä¢ The call was made by a junior agent (Bhavik) to a senior agent (Brian Kelly) seeking clarification on insurance policies for properties with horses.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 junior agent was responding to a broker's inquiry about a policy for a property with three horses, a barn, and a house used for personal purposes only.</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 junior agent was unsure if there were any decline rules for insuring properties with horses.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 senior agent referred to a knowledge base (KB) to find information on the topic.</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They found a KB entry discussing hobby farms and animals, specifically mentioning horses.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 KB stated that there is no exclusion in the policy wording for liability related to the possession of animals such as horses.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It was confirmed that coverage for horses is included both on and off the premises.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 senior agent clarified that insuring properties with horses is not a decline as long as it's for pleasure use.</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 junior agent thanked the senior agent for the information and ended the call.</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 final result was that the junior agent received confirmation that Economical Insurance (under the Sonnet/NBS brand) does provide coverage for properties with horses, as long as they are for personal/pleasure use.</a:t>
            </a:r>
            <a:endParaRPr sz="1200"/>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0fdb8965d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0fdb8965d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E97132"/>
                </a:solidFill>
              </a:rPr>
              <a:t>Call was regarding a system malfunction leading to extra refunds. Ticket needed to be created to stop.</a:t>
            </a:r>
            <a:endParaRPr sz="1200">
              <a:solidFill>
                <a:srgbClr val="E97132"/>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sz="1200"/>
              <a:t>‚Ä¢ The junior agent (Anthony Little) called the senior agent (Phillip Harrington) for support on a policy issue.</a:t>
            </a:r>
            <a:endParaRPr sz="1200"/>
          </a:p>
          <a:p>
            <a:pPr indent="0" lvl="0" marL="0" rtl="0" algn="l">
              <a:lnSpc>
                <a:spcPct val="115000"/>
              </a:lnSpc>
              <a:spcBef>
                <a:spcPts val="0"/>
              </a:spcBef>
              <a:spcAft>
                <a:spcPts val="0"/>
              </a:spcAft>
              <a:buNone/>
            </a:pPr>
            <a:r>
              <a:rPr lang="en" sz="1200"/>
              <a:t>‚Ä¢ The policy in question belongs to Tiffany Zimmerman, policy number 206-739-05.</a:t>
            </a:r>
            <a:endParaRPr sz="1200"/>
          </a:p>
          <a:p>
            <a:pPr indent="0" lvl="0" marL="0" rtl="0" algn="l">
              <a:lnSpc>
                <a:spcPct val="115000"/>
              </a:lnSpc>
              <a:spcBef>
                <a:spcPts val="0"/>
              </a:spcBef>
              <a:spcAft>
                <a:spcPts val="0"/>
              </a:spcAft>
              <a:buNone/>
            </a:pPr>
            <a:r>
              <a:rPr lang="en" sz="1200"/>
              <a:t>‚Ä¢ The total premium for the term was $2733.</a:t>
            </a:r>
            <a:endParaRPr sz="1200"/>
          </a:p>
          <a:p>
            <a:pPr indent="0" lvl="0" marL="0" rtl="0" algn="l">
              <a:lnSpc>
                <a:spcPct val="115000"/>
              </a:lnSpc>
              <a:spcBef>
                <a:spcPts val="0"/>
              </a:spcBef>
              <a:spcAft>
                <a:spcPts val="0"/>
              </a:spcAft>
              <a:buNone/>
            </a:pPr>
            <a:r>
              <a:rPr lang="en" sz="1200"/>
              <a:t>‚Ä¢ Three payments were made: $1100, $1000, and $633, totaling $2733.</a:t>
            </a:r>
            <a:endParaRPr sz="1200"/>
          </a:p>
          <a:p>
            <a:pPr indent="0" lvl="0" marL="0" rtl="0" algn="l">
              <a:lnSpc>
                <a:spcPct val="115000"/>
              </a:lnSpc>
              <a:spcBef>
                <a:spcPts val="0"/>
              </a:spcBef>
              <a:spcAft>
                <a:spcPts val="0"/>
              </a:spcAft>
              <a:buNone/>
            </a:pPr>
            <a:r>
              <a:rPr lang="en" sz="1200"/>
              <a:t>‚Ä¢ Despite the balance being zero, there was a refund of $849 scheduled for November 9th.</a:t>
            </a:r>
            <a:endParaRPr sz="1200"/>
          </a:p>
          <a:p>
            <a:pPr indent="0" lvl="0" marL="0" rtl="0" algn="l">
              <a:lnSpc>
                <a:spcPct val="115000"/>
              </a:lnSpc>
              <a:spcBef>
                <a:spcPts val="0"/>
              </a:spcBef>
              <a:spcAft>
                <a:spcPts val="0"/>
              </a:spcAft>
              <a:buNone/>
            </a:pPr>
            <a:r>
              <a:rPr lang="en" sz="1200"/>
              <a:t>‚Ä¢ The policy was canceled for nonpayment on October 25th.</a:t>
            </a:r>
            <a:endParaRPr sz="1200"/>
          </a:p>
          <a:p>
            <a:pPr indent="0" lvl="0" marL="0" rtl="0" algn="l">
              <a:lnSpc>
                <a:spcPct val="115000"/>
              </a:lnSpc>
              <a:spcBef>
                <a:spcPts val="0"/>
              </a:spcBef>
              <a:spcAft>
                <a:spcPts val="0"/>
              </a:spcAft>
              <a:buNone/>
            </a:pPr>
            <a:r>
              <a:rPr lang="en" sz="1200"/>
              <a:t>‚Ä¢ A payment of $633 was received on October 30th to zero out the balance.</a:t>
            </a:r>
            <a:endParaRPr sz="1200"/>
          </a:p>
          <a:p>
            <a:pPr indent="0" lvl="0" marL="0" rtl="0" algn="l">
              <a:lnSpc>
                <a:spcPct val="115000"/>
              </a:lnSpc>
              <a:spcBef>
                <a:spcPts val="0"/>
              </a:spcBef>
              <a:spcAft>
                <a:spcPts val="0"/>
              </a:spcAft>
              <a:buNone/>
            </a:pPr>
            <a:r>
              <a:rPr lang="en" sz="1200"/>
              <a:t>‚Ä¢ The policy was reinstated the day before the call.</a:t>
            </a:r>
            <a:endParaRPr sz="1200"/>
          </a:p>
          <a:p>
            <a:pPr indent="0" lvl="0" marL="0" rtl="0" algn="l">
              <a:lnSpc>
                <a:spcPct val="115000"/>
              </a:lnSpc>
              <a:spcBef>
                <a:spcPts val="0"/>
              </a:spcBef>
              <a:spcAft>
                <a:spcPts val="0"/>
              </a:spcAft>
              <a:buNone/>
            </a:pPr>
            <a:r>
              <a:rPr lang="en" sz="1200"/>
              <a:t>‚Ä¢ A second credit disbursement was sent back and reapplied.</a:t>
            </a:r>
            <a:endParaRPr sz="1200"/>
          </a:p>
          <a:p>
            <a:pPr indent="0" lvl="0" marL="0" rtl="0" algn="l">
              <a:lnSpc>
                <a:spcPct val="115000"/>
              </a:lnSpc>
              <a:spcBef>
                <a:spcPts val="0"/>
              </a:spcBef>
              <a:spcAft>
                <a:spcPts val="0"/>
              </a:spcAft>
              <a:buNone/>
            </a:pPr>
            <a:r>
              <a:rPr lang="en" sz="1200"/>
              <a:t>‚Ä¢ The junior agent wanted to confirm if they should create a ticket to cancel the refund.</a:t>
            </a:r>
            <a:endParaRPr sz="1200"/>
          </a:p>
          <a:p>
            <a:pPr indent="0" lvl="0" marL="0" rtl="0" algn="l">
              <a:lnSpc>
                <a:spcPct val="115000"/>
              </a:lnSpc>
              <a:spcBef>
                <a:spcPts val="0"/>
              </a:spcBef>
              <a:spcAft>
                <a:spcPts val="0"/>
              </a:spcAft>
              <a:buNone/>
            </a:pPr>
            <a:r>
              <a:rPr lang="en" sz="1200"/>
              <a:t>‚Ä¢ The senior agent agreed that the refund should be stopped as the policy value and amount paid both show $2733 in the Billing Center.</a:t>
            </a:r>
            <a:endParaRPr sz="1200"/>
          </a:p>
          <a:p>
            <a:pPr indent="0" lvl="0" marL="0" rtl="0" algn="l">
              <a:lnSpc>
                <a:spcPct val="115000"/>
              </a:lnSpc>
              <a:spcBef>
                <a:spcPts val="0"/>
              </a:spcBef>
              <a:spcAft>
                <a:spcPts val="0"/>
              </a:spcAft>
              <a:buNone/>
            </a:pPr>
            <a:r>
              <a:rPr lang="en" sz="1200"/>
              <a:t>‚Ä¢ The junior agent will create a ticket to cancel the refund.</a:t>
            </a:r>
            <a:endParaRPr sz="1200"/>
          </a:p>
          <a:p>
            <a:pPr indent="0" lvl="0" marL="0" rtl="0" algn="l">
              <a:lnSpc>
                <a:spcPct val="115000"/>
              </a:lnSpc>
              <a:spcBef>
                <a:spcPts val="0"/>
              </a:spcBef>
              <a:spcAft>
                <a:spcPts val="0"/>
              </a:spcAft>
              <a:buNone/>
            </a:pPr>
            <a:r>
              <a:rPr lang="en" sz="1200"/>
              <a:t>‚Ä¢ The call ended with both agents exchanging pleasantries.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f662bfe620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f662bfe620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E97132"/>
                </a:solidFill>
              </a:rPr>
              <a:t>Process unclear for junior agent on opt-out for DCPD / senior agent also needed to double check to find out</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sz="1200"/>
              <a:t>‚Ä¢ The frontline junior agent called to inquire about the Direct Compensation Property Damage (DCPD) opt-out option for Ontario customers.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 junior agent wanted to confirm if customers could opt out of DCPD after January 1st, even if their policy renewed earlier (e.g., in October).</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 senior agent initially wasn't sure about the specifics of the opt-out process.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 junior agent suggested it might be similar to changing coverage on a policy.</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 senior agent checked available information and found that customers will receive a letter about opting out at their policy renewal.</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It was determined that customers would have to wait until their next renewal to opt out of DCPD.</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For customers who renewed in October, they would have to wait until the following October to opt out.</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 junior agent confirmed they would inform the broker about the renewal-based opt-out process.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‚Ä¢ The call ended with the junior agent having a clear answer to relay to the broker.</a:t>
            </a:r>
            <a:endParaRPr sz="1200"/>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f662bfe620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f662bfe620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rebaselining test results, validated that majority of the identified test data results are grounded and valid.</a:t>
            </a:r>
            <a:endParaRPr/>
          </a:p>
          <a:p>
            <a:pPr indent="0" lvl="0" marL="0" rtl="0" algn="l">
              <a:spcBef>
                <a:spcPts val="0"/>
              </a:spcBef>
              <a:spcAft>
                <a:spcPts val="0"/>
              </a:spcAft>
              <a:buNone/>
            </a:pPr>
            <a:r>
              <a:rPr lang="en"/>
              <a:t>The fail classes are usually ambiguous instances where it could be either one or the other from the test team data.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f789dda76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f789dda76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Mirrors the larger set in terms of category distributions</a:t>
            </a:r>
            <a:endParaRPr/>
          </a:p>
          <a:p>
            <a:pPr indent="0" lvl="0" marL="0" rtl="0" algn="l">
              <a:spcBef>
                <a:spcPts val="0"/>
              </a:spcBef>
              <a:spcAft>
                <a:spcPts val="0"/>
              </a:spcAft>
              <a:buNone/>
            </a:pPr>
            <a:r>
              <a:rPr lang="en"/>
              <a:t>9 cases are mostly </a:t>
            </a:r>
            <a:r>
              <a:rPr lang="en"/>
              <a:t>ambiguous</a:t>
            </a:r>
            <a:r>
              <a:rPr lang="en"/>
              <a:t> scenarios where both the prompt output and the test team rebaseline could equally match</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Dark" type="title">
  <p:cSld name="TITLE">
    <p:bg>
      <p:bgPr>
        <a:solidFill>
          <a:srgbClr val="294489"/>
        </a:solidFill>
      </p:bgPr>
    </p:bg>
    <p:spTree>
      <p:nvGrpSpPr>
        <p:cNvPr id="52" name="Shape 52"/>
        <p:cNvGrpSpPr/>
        <p:nvPr/>
      </p:nvGrpSpPr>
      <p:grpSpPr>
        <a:xfrm>
          <a:off x="0" y="0"/>
          <a:ext cx="0" cy="0"/>
          <a:chOff x="0" y="0"/>
          <a:chExt cx="0" cy="0"/>
        </a:xfrm>
      </p:grpSpPr>
      <p:pic>
        <p:nvPicPr>
          <p:cNvPr id="53" name="Google Shape;53;p14"/>
          <p:cNvPicPr preferRelativeResize="0"/>
          <p:nvPr/>
        </p:nvPicPr>
        <p:blipFill>
          <a:blip r:embed="rId2">
            <a:alphaModFix amt="14000"/>
          </a:blip>
          <a:stretch>
            <a:fillRect/>
          </a:stretch>
        </p:blipFill>
        <p:spPr>
          <a:xfrm>
            <a:off x="-3500598" y="-1913375"/>
            <a:ext cx="8774449" cy="8781099"/>
          </a:xfrm>
          <a:prstGeom prst="rect">
            <a:avLst/>
          </a:prstGeom>
          <a:noFill/>
          <a:ln>
            <a:noFill/>
          </a:ln>
        </p:spPr>
      </p:pic>
      <p:sp>
        <p:nvSpPr>
          <p:cNvPr id="54" name="Google Shape;54;p14"/>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
    <p:bg>
      <p:bgPr>
        <a:solidFill>
          <a:srgbClr val="294489"/>
        </a:solidFill>
      </p:bgPr>
    </p:bg>
    <p:spTree>
      <p:nvGrpSpPr>
        <p:cNvPr id="55" name="Shape 55"/>
        <p:cNvGrpSpPr/>
        <p:nvPr/>
      </p:nvGrpSpPr>
      <p:grpSpPr>
        <a:xfrm>
          <a:off x="0" y="0"/>
          <a:ext cx="0" cy="0"/>
          <a:chOff x="0" y="0"/>
          <a:chExt cx="0" cy="0"/>
        </a:xfrm>
      </p:grpSpPr>
      <p:pic>
        <p:nvPicPr>
          <p:cNvPr id="56" name="Google Shape;56;p15"/>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57" name="Google Shape;57;p15"/>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58" name="Google Shape;58;p15"/>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2">
    <p:bg>
      <p:bgPr>
        <a:solidFill>
          <a:srgbClr val="294489"/>
        </a:solidFill>
      </p:bgPr>
    </p:bg>
    <p:spTree>
      <p:nvGrpSpPr>
        <p:cNvPr id="59" name="Shape 59"/>
        <p:cNvGrpSpPr/>
        <p:nvPr/>
      </p:nvGrpSpPr>
      <p:grpSpPr>
        <a:xfrm>
          <a:off x="0" y="0"/>
          <a:ext cx="0" cy="0"/>
          <a:chOff x="0" y="0"/>
          <a:chExt cx="0" cy="0"/>
        </a:xfrm>
      </p:grpSpPr>
      <p:pic>
        <p:nvPicPr>
          <p:cNvPr id="60" name="Google Shape;60;p16"/>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61" name="Google Shape;61;p16"/>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_1">
    <p:bg>
      <p:bgPr>
        <a:solidFill>
          <a:srgbClr val="12184A"/>
        </a:solidFill>
      </p:bgPr>
    </p:bg>
    <p:spTree>
      <p:nvGrpSpPr>
        <p:cNvPr id="62" name="Shape 62"/>
        <p:cNvGrpSpPr/>
        <p:nvPr/>
      </p:nvGrpSpPr>
      <p:grpSpPr>
        <a:xfrm>
          <a:off x="0" y="0"/>
          <a:ext cx="0" cy="0"/>
          <a:chOff x="0" y="0"/>
          <a:chExt cx="0" cy="0"/>
        </a:xfrm>
      </p:grpSpPr>
      <p:pic>
        <p:nvPicPr>
          <p:cNvPr id="63" name="Google Shape;63;p17"/>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1_1">
    <p:bg>
      <p:bgPr>
        <a:solidFill>
          <a:srgbClr val="12184A"/>
        </a:solidFill>
      </p:bgPr>
    </p:bg>
    <p:spTree>
      <p:nvGrpSpPr>
        <p:cNvPr id="64" name="Shape 64"/>
        <p:cNvGrpSpPr/>
        <p:nvPr/>
      </p:nvGrpSpPr>
      <p:grpSpPr>
        <a:xfrm>
          <a:off x="0" y="0"/>
          <a:ext cx="0" cy="0"/>
          <a:chOff x="0" y="0"/>
          <a:chExt cx="0" cy="0"/>
        </a:xfrm>
      </p:grpSpPr>
      <p:pic>
        <p:nvPicPr>
          <p:cNvPr id="65" name="Google Shape;65;p18"/>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
        <p:nvSpPr>
          <p:cNvPr id="66" name="Google Shape;66;p18"/>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67" name="Google Shape;67;p18"/>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p:cSld name="TITLE_1">
    <p:bg>
      <p:bgPr>
        <a:solidFill>
          <a:srgbClr val="FFFFFF"/>
        </a:solidFill>
      </p:bgPr>
    </p:bg>
    <p:spTree>
      <p:nvGrpSpPr>
        <p:cNvPr id="68" name="Shape 68"/>
        <p:cNvGrpSpPr/>
        <p:nvPr/>
      </p:nvGrpSpPr>
      <p:grpSpPr>
        <a:xfrm>
          <a:off x="0" y="0"/>
          <a:ext cx="0" cy="0"/>
          <a:chOff x="0" y="0"/>
          <a:chExt cx="0" cy="0"/>
        </a:xfrm>
      </p:grpSpPr>
      <p:pic>
        <p:nvPicPr>
          <p:cNvPr id="69" name="Google Shape;69;p19"/>
          <p:cNvPicPr preferRelativeResize="0"/>
          <p:nvPr/>
        </p:nvPicPr>
        <p:blipFill>
          <a:blip r:embed="rId2">
            <a:alphaModFix/>
          </a:blip>
          <a:stretch>
            <a:fillRect/>
          </a:stretch>
        </p:blipFill>
        <p:spPr>
          <a:xfrm>
            <a:off x="-3500598" y="-1913375"/>
            <a:ext cx="8774449" cy="8781099"/>
          </a:xfrm>
          <a:prstGeom prst="rect">
            <a:avLst/>
          </a:prstGeom>
          <a:noFill/>
          <a:ln>
            <a:noFill/>
          </a:ln>
        </p:spPr>
      </p:pic>
      <p:sp>
        <p:nvSpPr>
          <p:cNvPr id="70" name="Google Shape;70;p19"/>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9"/>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1">
  <p:cSld name="TITLE_1_1">
    <p:bg>
      <p:bgPr>
        <a:solidFill>
          <a:srgbClr val="FFFFFF"/>
        </a:solidFill>
      </p:bgPr>
    </p:bg>
    <p:spTree>
      <p:nvGrpSpPr>
        <p:cNvPr id="72" name="Shape 72"/>
        <p:cNvGrpSpPr/>
        <p:nvPr/>
      </p:nvGrpSpPr>
      <p:grpSpPr>
        <a:xfrm>
          <a:off x="0" y="0"/>
          <a:ext cx="0" cy="0"/>
          <a:chOff x="0" y="0"/>
          <a:chExt cx="0" cy="0"/>
        </a:xfrm>
      </p:grpSpPr>
      <p:pic>
        <p:nvPicPr>
          <p:cNvPr id="73" name="Google Shape;73;p20"/>
          <p:cNvPicPr preferRelativeResize="0"/>
          <p:nvPr/>
        </p:nvPicPr>
        <p:blipFill>
          <a:blip r:embed="rId2">
            <a:alphaModFix/>
          </a:blip>
          <a:stretch>
            <a:fillRect/>
          </a:stretch>
        </p:blipFill>
        <p:spPr>
          <a:xfrm>
            <a:off x="-3500598" y="-1913375"/>
            <a:ext cx="8774449" cy="87810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type="secHead">
  <p:cSld name="SECTION_HEADER">
    <p:spTree>
      <p:nvGrpSpPr>
        <p:cNvPr id="74" name="Shape 74"/>
        <p:cNvGrpSpPr/>
        <p:nvPr/>
      </p:nvGrpSpPr>
      <p:grpSpPr>
        <a:xfrm>
          <a:off x="0" y="0"/>
          <a:ext cx="0" cy="0"/>
          <a:chOff x="0" y="0"/>
          <a:chExt cx="0" cy="0"/>
        </a:xfrm>
      </p:grpSpPr>
      <p:sp>
        <p:nvSpPr>
          <p:cNvPr id="75" name="Google Shape;75;p2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6" name="Google Shape;76;p21"/>
          <p:cNvPicPr preferRelativeResize="0"/>
          <p:nvPr/>
        </p:nvPicPr>
        <p:blipFill>
          <a:blip r:embed="rId2">
            <a:alphaModFix/>
          </a:blip>
          <a:stretch>
            <a:fillRect/>
          </a:stretch>
        </p:blipFill>
        <p:spPr>
          <a:xfrm>
            <a:off x="8506500" y="335925"/>
            <a:ext cx="293825" cy="293501"/>
          </a:xfrm>
          <a:prstGeom prst="rect">
            <a:avLst/>
          </a:prstGeom>
          <a:noFill/>
          <a:ln>
            <a:noFill/>
          </a:ln>
        </p:spPr>
      </p:pic>
      <p:sp>
        <p:nvSpPr>
          <p:cNvPr id="77" name="Google Shape;77;p21"/>
          <p:cNvSpPr txBox="1"/>
          <p:nvPr>
            <p:ph type="title"/>
          </p:nvPr>
        </p:nvSpPr>
        <p:spPr>
          <a:xfrm>
            <a:off x="512100" y="319450"/>
            <a:ext cx="7702200" cy="66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294489"/>
              </a:buClr>
              <a:buSzPts val="3600"/>
              <a:buFont typeface="Manrope"/>
              <a:buNone/>
              <a:defRPr b="1" sz="3600">
                <a:solidFill>
                  <a:srgbClr val="294489"/>
                </a:solidFill>
                <a:latin typeface="Manrope"/>
                <a:ea typeface="Manrope"/>
                <a:cs typeface="Manrope"/>
                <a:sym typeface="Manrop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 name="Google Shape;78;p21"/>
          <p:cNvSpPr txBox="1"/>
          <p:nvPr>
            <p:ph idx="1" type="body"/>
          </p:nvPr>
        </p:nvSpPr>
        <p:spPr>
          <a:xfrm>
            <a:off x="668100" y="1421325"/>
            <a:ext cx="7546200" cy="35520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1pPr>
            <a:lvl2pPr indent="-317500" lvl="1" marL="914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2pPr>
            <a:lvl3pPr indent="-317500" lvl="2" marL="1371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3pPr>
            <a:lvl4pPr indent="-317500" lvl="3" marL="1828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4pPr>
            <a:lvl5pPr indent="-317500" lvl="4" marL="22860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5pPr>
            <a:lvl6pPr indent="-317500" lvl="5" marL="2743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6pPr>
            <a:lvl7pPr indent="-317500" lvl="6" marL="3200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7pPr>
            <a:lvl8pPr indent="-317500" lvl="7" marL="3657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8pPr>
            <a:lvl9pPr indent="-317500" lvl="8" marL="4114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9pPr>
          </a:lstStyle>
          <a:p/>
        </p:txBody>
      </p:sp>
      <p:sp>
        <p:nvSpPr>
          <p:cNvPr id="79" name="Google Shape;79;p21"/>
          <p:cNvSpPr txBox="1"/>
          <p:nvPr>
            <p:ph idx="2" type="subTitle"/>
          </p:nvPr>
        </p:nvSpPr>
        <p:spPr>
          <a:xfrm>
            <a:off x="539250" y="984850"/>
            <a:ext cx="6462300" cy="219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1">
  <p:cSld name="SECTION_HEADER_5">
    <p:spTree>
      <p:nvGrpSpPr>
        <p:cNvPr id="80" name="Shape 80"/>
        <p:cNvGrpSpPr/>
        <p:nvPr/>
      </p:nvGrpSpPr>
      <p:grpSpPr>
        <a:xfrm>
          <a:off x="0" y="0"/>
          <a:ext cx="0" cy="0"/>
          <a:chOff x="0" y="0"/>
          <a:chExt cx="0" cy="0"/>
        </a:xfrm>
      </p:grpSpPr>
      <p:sp>
        <p:nvSpPr>
          <p:cNvPr id="81" name="Google Shape;81;p2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22"/>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p:cSld name="SECTION_HEADER_4">
    <p:spTree>
      <p:nvGrpSpPr>
        <p:cNvPr id="83" name="Shape 83"/>
        <p:cNvGrpSpPr/>
        <p:nvPr/>
      </p:nvGrpSpPr>
      <p:grpSpPr>
        <a:xfrm>
          <a:off x="0" y="0"/>
          <a:ext cx="0" cy="0"/>
          <a:chOff x="0" y="0"/>
          <a:chExt cx="0" cy="0"/>
        </a:xfrm>
      </p:grpSpPr>
      <p:sp>
        <p:nvSpPr>
          <p:cNvPr id="84" name="Google Shape;84;p23"/>
          <p:cNvSpPr/>
          <p:nvPr/>
        </p:nvSpPr>
        <p:spPr>
          <a:xfrm rot="-5400000">
            <a:off x="4255050" y="271725"/>
            <a:ext cx="5168700" cy="46092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5" name="Google Shape;85;p2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2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Blue 2">
  <p:cSld name="SECTION_HEADER_4_3">
    <p:spTree>
      <p:nvGrpSpPr>
        <p:cNvPr id="87" name="Shape 87"/>
        <p:cNvGrpSpPr/>
        <p:nvPr/>
      </p:nvGrpSpPr>
      <p:grpSpPr>
        <a:xfrm>
          <a:off x="0" y="0"/>
          <a:ext cx="0" cy="0"/>
          <a:chOff x="0" y="0"/>
          <a:chExt cx="0" cy="0"/>
        </a:xfrm>
      </p:grpSpPr>
      <p:sp>
        <p:nvSpPr>
          <p:cNvPr id="88" name="Google Shape;88;p24"/>
          <p:cNvSpPr/>
          <p:nvPr/>
        </p:nvSpPr>
        <p:spPr>
          <a:xfrm rot="-5400000">
            <a:off x="4261975" y="265575"/>
            <a:ext cx="5179500" cy="4609200"/>
          </a:xfrm>
          <a:prstGeom prst="round2SameRect">
            <a:avLst>
              <a:gd fmla="val 3711" name="adj1"/>
              <a:gd fmla="val 0" name="adj2"/>
            </a:avLst>
          </a:prstGeom>
          <a:solidFill>
            <a:srgbClr val="2944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9" name="Google Shape;89;p2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76CCED"/>
                </a:solidFill>
                <a:latin typeface="Inter"/>
                <a:ea typeface="Inter"/>
                <a:cs typeface="Inter"/>
                <a:sym typeface="Inter"/>
              </a:defRPr>
            </a:lvl1pPr>
            <a:lvl2pPr lvl="1" rtl="0">
              <a:buNone/>
              <a:defRPr>
                <a:solidFill>
                  <a:srgbClr val="76CCED"/>
                </a:solidFill>
                <a:latin typeface="Inter"/>
                <a:ea typeface="Inter"/>
                <a:cs typeface="Inter"/>
                <a:sym typeface="Inter"/>
              </a:defRPr>
            </a:lvl2pPr>
            <a:lvl3pPr lvl="2" rtl="0">
              <a:buNone/>
              <a:defRPr>
                <a:solidFill>
                  <a:srgbClr val="76CCED"/>
                </a:solidFill>
                <a:latin typeface="Inter"/>
                <a:ea typeface="Inter"/>
                <a:cs typeface="Inter"/>
                <a:sym typeface="Inter"/>
              </a:defRPr>
            </a:lvl3pPr>
            <a:lvl4pPr lvl="3" rtl="0">
              <a:buNone/>
              <a:defRPr>
                <a:solidFill>
                  <a:srgbClr val="76CCED"/>
                </a:solidFill>
                <a:latin typeface="Inter"/>
                <a:ea typeface="Inter"/>
                <a:cs typeface="Inter"/>
                <a:sym typeface="Inter"/>
              </a:defRPr>
            </a:lvl4pPr>
            <a:lvl5pPr lvl="4" rtl="0">
              <a:buNone/>
              <a:defRPr>
                <a:solidFill>
                  <a:srgbClr val="76CCED"/>
                </a:solidFill>
                <a:latin typeface="Inter"/>
                <a:ea typeface="Inter"/>
                <a:cs typeface="Inter"/>
                <a:sym typeface="Inter"/>
              </a:defRPr>
            </a:lvl5pPr>
            <a:lvl6pPr lvl="5" rtl="0">
              <a:buNone/>
              <a:defRPr>
                <a:solidFill>
                  <a:srgbClr val="76CCED"/>
                </a:solidFill>
                <a:latin typeface="Inter"/>
                <a:ea typeface="Inter"/>
                <a:cs typeface="Inter"/>
                <a:sym typeface="Inter"/>
              </a:defRPr>
            </a:lvl6pPr>
            <a:lvl7pPr lvl="6" rtl="0">
              <a:buNone/>
              <a:defRPr>
                <a:solidFill>
                  <a:srgbClr val="76CCED"/>
                </a:solidFill>
                <a:latin typeface="Inter"/>
                <a:ea typeface="Inter"/>
                <a:cs typeface="Inter"/>
                <a:sym typeface="Inter"/>
              </a:defRPr>
            </a:lvl7pPr>
            <a:lvl8pPr lvl="7" rtl="0">
              <a:buNone/>
              <a:defRPr>
                <a:solidFill>
                  <a:srgbClr val="76CCED"/>
                </a:solidFill>
                <a:latin typeface="Inter"/>
                <a:ea typeface="Inter"/>
                <a:cs typeface="Inter"/>
                <a:sym typeface="Inter"/>
              </a:defRPr>
            </a:lvl8pPr>
            <a:lvl9pPr lvl="8" rtl="0">
              <a:buNone/>
              <a:defRPr>
                <a:solidFill>
                  <a:srgbClr val="76CCED"/>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24"/>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1">
  <p:cSld name="SECTION_HEADER_4_2">
    <p:spTree>
      <p:nvGrpSpPr>
        <p:cNvPr id="91" name="Shape 91"/>
        <p:cNvGrpSpPr/>
        <p:nvPr/>
      </p:nvGrpSpPr>
      <p:grpSpPr>
        <a:xfrm>
          <a:off x="0" y="0"/>
          <a:ext cx="0" cy="0"/>
          <a:chOff x="0" y="0"/>
          <a:chExt cx="0" cy="0"/>
        </a:xfrm>
      </p:grpSpPr>
      <p:sp>
        <p:nvSpPr>
          <p:cNvPr id="92" name="Google Shape;92;p2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25"/>
          <p:cNvSpPr/>
          <p:nvPr/>
        </p:nvSpPr>
        <p:spPr>
          <a:xfrm flipH="1" rot="5400000">
            <a:off x="-483350" y="448050"/>
            <a:ext cx="5160000" cy="42474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4" name="Google Shape;94;p25"/>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lue">
  <p:cSld name="SECTION_HEADER_4_1">
    <p:spTree>
      <p:nvGrpSpPr>
        <p:cNvPr id="95" name="Shape 95"/>
        <p:cNvGrpSpPr/>
        <p:nvPr/>
      </p:nvGrpSpPr>
      <p:grpSpPr>
        <a:xfrm>
          <a:off x="0" y="0"/>
          <a:ext cx="0" cy="0"/>
          <a:chOff x="0" y="0"/>
          <a:chExt cx="0" cy="0"/>
        </a:xfrm>
      </p:grpSpPr>
      <p:sp>
        <p:nvSpPr>
          <p:cNvPr id="96" name="Google Shape;96;p2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6"/>
          <p:cNvSpPr/>
          <p:nvPr/>
        </p:nvSpPr>
        <p:spPr>
          <a:xfrm flipH="1" rot="5400000">
            <a:off x="-483350" y="448050"/>
            <a:ext cx="5160000" cy="4247400"/>
          </a:xfrm>
          <a:prstGeom prst="round2SameRect">
            <a:avLst>
              <a:gd fmla="val 3711" name="adj1"/>
              <a:gd fmla="val 0" name="adj2"/>
            </a:avLst>
          </a:prstGeom>
          <a:solidFill>
            <a:srgbClr val="DBF2F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8" name="Google Shape;98;p26"/>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p:cSld name="SECTION_HEADER_4_1_1">
    <p:spTree>
      <p:nvGrpSpPr>
        <p:cNvPr id="99" name="Shape 99"/>
        <p:cNvGrpSpPr/>
        <p:nvPr/>
      </p:nvGrpSpPr>
      <p:grpSpPr>
        <a:xfrm>
          <a:off x="0" y="0"/>
          <a:ext cx="0" cy="0"/>
          <a:chOff x="0" y="0"/>
          <a:chExt cx="0" cy="0"/>
        </a:xfrm>
      </p:grpSpPr>
      <p:sp>
        <p:nvSpPr>
          <p:cNvPr id="100" name="Google Shape;100;p2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7"/>
          <p:cNvSpPr/>
          <p:nvPr/>
        </p:nvSpPr>
        <p:spPr>
          <a:xfrm flipH="1" rot="5400000">
            <a:off x="-483350" y="448050"/>
            <a:ext cx="5160000" cy="4247400"/>
          </a:xfrm>
          <a:prstGeom prst="round2SameRect">
            <a:avLst>
              <a:gd fmla="val 3711" name="adj1"/>
              <a:gd fmla="val 0" name="adj2"/>
            </a:avLst>
          </a:prstGeom>
          <a:solidFill>
            <a:srgbClr val="D8C5D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2" name="Google Shape;102;p27"/>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p:cSld name="SECTION_HEADER_4_1_1_1">
    <p:spTree>
      <p:nvGrpSpPr>
        <p:cNvPr id="103" name="Shape 103"/>
        <p:cNvGrpSpPr/>
        <p:nvPr/>
      </p:nvGrpSpPr>
      <p:grpSpPr>
        <a:xfrm>
          <a:off x="0" y="0"/>
          <a:ext cx="0" cy="0"/>
          <a:chOff x="0" y="0"/>
          <a:chExt cx="0" cy="0"/>
        </a:xfrm>
      </p:grpSpPr>
      <p:sp>
        <p:nvSpPr>
          <p:cNvPr id="104" name="Google Shape;104;p2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8"/>
          <p:cNvSpPr/>
          <p:nvPr/>
        </p:nvSpPr>
        <p:spPr>
          <a:xfrm flipH="1" rot="5400000">
            <a:off x="-979800" y="971550"/>
            <a:ext cx="5160000" cy="3200400"/>
          </a:xfrm>
          <a:prstGeom prst="round2SameRect">
            <a:avLst>
              <a:gd fmla="val 0"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6" name="Google Shape;106;p28"/>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1">
  <p:cSld name="SECTION_HEADER_4_1_1_1_1">
    <p:bg>
      <p:bgPr>
        <a:solidFill>
          <a:schemeClr val="dk2"/>
        </a:solidFill>
      </p:bgPr>
    </p:bg>
    <p:spTree>
      <p:nvGrpSpPr>
        <p:cNvPr id="107" name="Shape 107"/>
        <p:cNvGrpSpPr/>
        <p:nvPr/>
      </p:nvGrpSpPr>
      <p:grpSpPr>
        <a:xfrm>
          <a:off x="0" y="0"/>
          <a:ext cx="0" cy="0"/>
          <a:chOff x="0" y="0"/>
          <a:chExt cx="0" cy="0"/>
        </a:xfrm>
      </p:grpSpPr>
      <p:sp>
        <p:nvSpPr>
          <p:cNvPr id="108" name="Google Shape;108;p2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29"/>
          <p:cNvSpPr/>
          <p:nvPr/>
        </p:nvSpPr>
        <p:spPr>
          <a:xfrm flipH="1" rot="5400000">
            <a:off x="-979800" y="971550"/>
            <a:ext cx="5160000" cy="3200400"/>
          </a:xfrm>
          <a:prstGeom prst="round2SameRect">
            <a:avLst>
              <a:gd fmla="val 0" name="adj1"/>
              <a:gd fmla="val 0" name="adj2"/>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10" name="Google Shape;110;p29"/>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Transparency Pattern">
  <p:cSld name="SECTION_HEADER_3">
    <p:spTree>
      <p:nvGrpSpPr>
        <p:cNvPr id="111" name="Shape 111"/>
        <p:cNvGrpSpPr/>
        <p:nvPr/>
      </p:nvGrpSpPr>
      <p:grpSpPr>
        <a:xfrm>
          <a:off x="0" y="0"/>
          <a:ext cx="0" cy="0"/>
          <a:chOff x="0" y="0"/>
          <a:chExt cx="0" cy="0"/>
        </a:xfrm>
      </p:grpSpPr>
      <p:pic>
        <p:nvPicPr>
          <p:cNvPr id="112" name="Google Shape;112;p30"/>
          <p:cNvPicPr preferRelativeResize="0"/>
          <p:nvPr/>
        </p:nvPicPr>
        <p:blipFill>
          <a:blip r:embed="rId2">
            <a:alphaModFix/>
          </a:blip>
          <a:stretch>
            <a:fillRect/>
          </a:stretch>
        </p:blipFill>
        <p:spPr>
          <a:xfrm>
            <a:off x="2723971" y="-1231413"/>
            <a:ext cx="8587677" cy="8594174"/>
          </a:xfrm>
          <a:prstGeom prst="rect">
            <a:avLst/>
          </a:prstGeom>
          <a:noFill/>
          <a:ln>
            <a:noFill/>
          </a:ln>
        </p:spPr>
      </p:pic>
      <p:sp>
        <p:nvSpPr>
          <p:cNvPr id="113" name="Google Shape;113;p3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4" name="Google Shape;114;p30"/>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Light">
  <p:cSld name="SECTION_HEADER_2">
    <p:spTree>
      <p:nvGrpSpPr>
        <p:cNvPr id="115" name="Shape 115"/>
        <p:cNvGrpSpPr/>
        <p:nvPr/>
      </p:nvGrpSpPr>
      <p:grpSpPr>
        <a:xfrm>
          <a:off x="0" y="0"/>
          <a:ext cx="0" cy="0"/>
          <a:chOff x="0" y="0"/>
          <a:chExt cx="0" cy="0"/>
        </a:xfrm>
      </p:grpSpPr>
      <p:pic>
        <p:nvPicPr>
          <p:cNvPr id="116" name="Google Shape;116;p31"/>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117" name="Google Shape;117;p3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8" name="Google Shape;118;p31"/>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p:cSld name="SECTION_HEADER_1">
    <p:bg>
      <p:bgPr>
        <a:solidFill>
          <a:srgbClr val="294489"/>
        </a:solidFill>
      </p:bgPr>
    </p:bg>
    <p:spTree>
      <p:nvGrpSpPr>
        <p:cNvPr id="119" name="Shape 119"/>
        <p:cNvGrpSpPr/>
        <p:nvPr/>
      </p:nvGrpSpPr>
      <p:grpSpPr>
        <a:xfrm>
          <a:off x="0" y="0"/>
          <a:ext cx="0" cy="0"/>
          <a:chOff x="0" y="0"/>
          <a:chExt cx="0" cy="0"/>
        </a:xfrm>
      </p:grpSpPr>
      <p:sp>
        <p:nvSpPr>
          <p:cNvPr id="120" name="Google Shape;120;p3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1">
  <p:cSld name="SECTION_HEADER_1_1">
    <p:bg>
      <p:bgPr>
        <a:solidFill>
          <a:srgbClr val="294489"/>
        </a:solidFill>
      </p:bgPr>
    </p:bg>
    <p:spTree>
      <p:nvGrpSpPr>
        <p:cNvPr id="121" name="Shape 121"/>
        <p:cNvGrpSpPr/>
        <p:nvPr/>
      </p:nvGrpSpPr>
      <p:grpSpPr>
        <a:xfrm>
          <a:off x="0" y="0"/>
          <a:ext cx="0" cy="0"/>
          <a:chOff x="0" y="0"/>
          <a:chExt cx="0" cy="0"/>
        </a:xfrm>
      </p:grpSpPr>
      <p:sp>
        <p:nvSpPr>
          <p:cNvPr id="122" name="Google Shape;122;p3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23" name="Google Shape;123;p3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4" name="Shape 124"/>
        <p:cNvGrpSpPr/>
        <p:nvPr/>
      </p:nvGrpSpPr>
      <p:grpSpPr>
        <a:xfrm>
          <a:off x="0" y="0"/>
          <a:ext cx="0" cy="0"/>
          <a:chOff x="0" y="0"/>
          <a:chExt cx="0" cy="0"/>
        </a:xfrm>
      </p:grpSpPr>
      <p:sp>
        <p:nvSpPr>
          <p:cNvPr id="125" name="Google Shape;125;p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rgbClr val="650C4C"/>
              </a:buClr>
              <a:buSzPts val="3600"/>
              <a:buFont typeface="Manrope"/>
              <a:buChar char="●"/>
              <a:defRPr b="1" sz="3600">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9pPr>
          </a:lstStyle>
          <a:p/>
        </p:txBody>
      </p:sp>
      <p:sp>
        <p:nvSpPr>
          <p:cNvPr id="126" name="Google Shape;126;p34"/>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1pPr>
            <a:lvl2pPr indent="-317500" lvl="1" marL="914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2pPr>
            <a:lvl3pPr indent="-317500" lvl="2" marL="1371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3pPr>
            <a:lvl4pPr indent="-317500" lvl="3" marL="1828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4pPr>
            <a:lvl5pPr indent="-317500" lvl="4" marL="22860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5pPr>
            <a:lvl6pPr indent="-317500" lvl="5" marL="2743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6pPr>
            <a:lvl7pPr indent="-317500" lvl="6" marL="3200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7pPr>
            <a:lvl8pPr indent="-317500" lvl="7" marL="3657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8pPr>
            <a:lvl9pPr indent="-317500" lvl="8" marL="4114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9pPr>
          </a:lstStyle>
          <a:p/>
        </p:txBody>
      </p:sp>
      <p:sp>
        <p:nvSpPr>
          <p:cNvPr id="127" name="Google Shape;12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33" name="Shape 133"/>
        <p:cNvGrpSpPr/>
        <p:nvPr/>
      </p:nvGrpSpPr>
      <p:grpSpPr>
        <a:xfrm>
          <a:off x="0" y="0"/>
          <a:ext cx="0" cy="0"/>
          <a:chOff x="0" y="0"/>
          <a:chExt cx="0" cy="0"/>
        </a:xfrm>
      </p:grpSpPr>
      <p:pic>
        <p:nvPicPr>
          <p:cNvPr id="134" name="Google Shape;134;p36"/>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35" name="Google Shape;135;p36"/>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Agent Escalation</a:t>
            </a:r>
            <a:endParaRPr sz="3600">
              <a:solidFill>
                <a:schemeClr val="lt1"/>
              </a:solidFill>
              <a:latin typeface="Manrope SemiBold"/>
              <a:ea typeface="Manrope SemiBold"/>
              <a:cs typeface="Manrope SemiBold"/>
              <a:sym typeface="Manrope SemiBold"/>
            </a:endParaRPr>
          </a:p>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Report Update</a:t>
            </a:r>
            <a:endParaRPr sz="3600">
              <a:solidFill>
                <a:schemeClr val="lt1"/>
              </a:solidFill>
              <a:latin typeface="Manrope SemiBold"/>
              <a:ea typeface="Manrope SemiBold"/>
              <a:cs typeface="Manrope SemiBold"/>
              <a:sym typeface="Manrope SemiBold"/>
            </a:endParaRPr>
          </a:p>
        </p:txBody>
      </p:sp>
      <p:pic>
        <p:nvPicPr>
          <p:cNvPr id="136" name="Google Shape;136;p36"/>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37" name="Google Shape;13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3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44" name="Google Shape;144;p37"/>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Overview</a:t>
            </a:r>
            <a:endParaRPr sz="3500"/>
          </a:p>
        </p:txBody>
      </p:sp>
      <p:sp>
        <p:nvSpPr>
          <p:cNvPr id="145" name="Google Shape;145;p37"/>
          <p:cNvSpPr txBox="1"/>
          <p:nvPr/>
        </p:nvSpPr>
        <p:spPr>
          <a:xfrm>
            <a:off x="807238" y="1356638"/>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900">
              <a:solidFill>
                <a:srgbClr val="475067"/>
              </a:solidFill>
            </a:endParaRPr>
          </a:p>
        </p:txBody>
      </p:sp>
      <p:graphicFrame>
        <p:nvGraphicFramePr>
          <p:cNvPr id="146" name="Google Shape;146;p37"/>
          <p:cNvGraphicFramePr/>
          <p:nvPr/>
        </p:nvGraphicFramePr>
        <p:xfrm>
          <a:off x="1150750" y="1675450"/>
          <a:ext cx="3000000" cy="3000000"/>
        </p:xfrm>
        <a:graphic>
          <a:graphicData uri="http://schemas.openxmlformats.org/drawingml/2006/table">
            <a:tbl>
              <a:tblPr>
                <a:noFill/>
                <a:tableStyleId>{FFDB5839-1588-4DBD-A0F2-3C91E36F580D}</a:tableStyleId>
              </a:tblPr>
              <a:tblGrid>
                <a:gridCol w="1809750"/>
                <a:gridCol w="1809750"/>
                <a:gridCol w="1809750"/>
                <a:gridCol w="1809750"/>
              </a:tblGrid>
              <a:tr h="381000">
                <a:tc>
                  <a:txBody>
                    <a:bodyPr/>
                    <a:lstStyle/>
                    <a:p>
                      <a:pPr indent="0" lvl="0" marL="0" rtl="0" algn="l">
                        <a:spcBef>
                          <a:spcPts val="0"/>
                        </a:spcBef>
                        <a:spcAft>
                          <a:spcPts val="0"/>
                        </a:spcAft>
                        <a:buNone/>
                      </a:pPr>
                      <a:r>
                        <a:rPr lang="en">
                          <a:latin typeface="Inter Medium"/>
                          <a:ea typeface="Inter Medium"/>
                          <a:cs typeface="Inter Medium"/>
                          <a:sym typeface="Inter Medium"/>
                        </a:rPr>
                        <a:t>Type</a:t>
                      </a:r>
                      <a:endParaRPr>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Direction</a:t>
                      </a:r>
                      <a:endParaRPr>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Context</a:t>
                      </a:r>
                      <a:endParaRPr>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Likelihood</a:t>
                      </a:r>
                      <a:endParaRPr>
                        <a:latin typeface="Inter Medium"/>
                        <a:ea typeface="Inter Medium"/>
                        <a:cs typeface="Inter Medium"/>
                        <a:sym typeface="Inter Medium"/>
                      </a:endParaRPr>
                    </a:p>
                  </a:txBody>
                  <a:tcPr marT="91425" marB="91425" marR="91425" marL="91425"/>
                </a:tc>
              </a:tr>
              <a:tr h="381000">
                <a:tc>
                  <a:txBody>
                    <a:bodyPr/>
                    <a:lstStyle/>
                    <a:p>
                      <a:pPr indent="0" lvl="0" marL="0" rtl="0" algn="l">
                        <a:spcBef>
                          <a:spcPts val="0"/>
                        </a:spcBef>
                        <a:spcAft>
                          <a:spcPts val="0"/>
                        </a:spcAft>
                        <a:buNone/>
                      </a:pPr>
                      <a:r>
                        <a:rPr lang="en" sz="1300">
                          <a:latin typeface="Inter Medium"/>
                          <a:ea typeface="Inter Medium"/>
                          <a:cs typeface="Inter Medium"/>
                          <a:sym typeface="Inter Medium"/>
                        </a:rPr>
                        <a:t>Sonnet Escalation</a:t>
                      </a:r>
                      <a:endParaRPr sz="1300">
                        <a:latin typeface="Inter Medium"/>
                        <a:ea typeface="Inter Medium"/>
                        <a:cs typeface="Inter Medium"/>
                        <a:sym typeface="Inter Medium"/>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Medium"/>
                          <a:ea typeface="Inter Medium"/>
                          <a:cs typeface="Inter Medium"/>
                          <a:sym typeface="Inter Medium"/>
                        </a:rPr>
                        <a:t>Outbound</a:t>
                      </a:r>
                      <a:r>
                        <a:rPr lang="en" sz="1000">
                          <a:latin typeface="Inter Medium"/>
                          <a:ea typeface="Inter Medium"/>
                          <a:cs typeface="Inter Medium"/>
                          <a:sym typeface="Inter Medium"/>
                        </a:rPr>
                        <a:t> </a:t>
                      </a:r>
                      <a:endParaRPr sz="1000">
                        <a:latin typeface="Inter Medium"/>
                        <a:ea typeface="Inter Medium"/>
                        <a:cs typeface="Inter Medium"/>
                        <a:sym typeface="Inter Medium"/>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Medium"/>
                          <a:ea typeface="Inter Medium"/>
                          <a:cs typeface="Inter Medium"/>
                          <a:sym typeface="Inter Medium"/>
                        </a:rPr>
                        <a:t>Agent to Customer</a:t>
                      </a:r>
                      <a:endParaRPr sz="1000">
                        <a:latin typeface="Inter Medium"/>
                        <a:ea typeface="Inter Medium"/>
                        <a:cs typeface="Inter Medium"/>
                        <a:sym typeface="Inter Medium"/>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Medium"/>
                          <a:ea typeface="Inter Medium"/>
                          <a:cs typeface="Inter Medium"/>
                          <a:sym typeface="Inter Medium"/>
                        </a:rPr>
                        <a:t>Unlikely to contain escalation reason</a:t>
                      </a:r>
                      <a:endParaRPr sz="1000">
                        <a:latin typeface="Inter Medium"/>
                        <a:ea typeface="Inter Medium"/>
                        <a:cs typeface="Inter Medium"/>
                        <a:sym typeface="Inter Medium"/>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300">
                          <a:latin typeface="Inter Medium"/>
                          <a:ea typeface="Inter Medium"/>
                          <a:cs typeface="Inter Medium"/>
                          <a:sym typeface="Inter Medium"/>
                        </a:rPr>
                        <a:t>Sonnet Support</a:t>
                      </a:r>
                      <a:endParaRPr sz="1300">
                        <a:latin typeface="Inter Medium"/>
                        <a:ea typeface="Inter Medium"/>
                        <a:cs typeface="Inter Medium"/>
                        <a:sym typeface="Inter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Medium"/>
                          <a:ea typeface="Inter Medium"/>
                          <a:cs typeface="Inter Medium"/>
                          <a:sym typeface="Inter Medium"/>
                        </a:rPr>
                        <a:t>Inbound</a:t>
                      </a:r>
                      <a:endParaRPr sz="1000">
                        <a:latin typeface="Inter Medium"/>
                        <a:ea typeface="Inter Medium"/>
                        <a:cs typeface="Inter Medium"/>
                        <a:sym typeface="Inter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Medium"/>
                          <a:ea typeface="Inter Medium"/>
                          <a:cs typeface="Inter Medium"/>
                          <a:sym typeface="Inter Medium"/>
                        </a:rPr>
                        <a:t>J-Agent to S-Agent</a:t>
                      </a:r>
                      <a:endParaRPr sz="1000">
                        <a:latin typeface="Inter Medium"/>
                        <a:ea typeface="Inter Medium"/>
                        <a:cs typeface="Inter Medium"/>
                        <a:sym typeface="Inter Medium"/>
                      </a:endParaRPr>
                    </a:p>
                    <a:p>
                      <a:pPr indent="0" lvl="0" marL="0" rtl="0" algn="l">
                        <a:spcBef>
                          <a:spcPts val="0"/>
                        </a:spcBef>
                        <a:spcAft>
                          <a:spcPts val="0"/>
                        </a:spcAft>
                        <a:buNone/>
                      </a:pPr>
                      <a:r>
                        <a:t/>
                      </a:r>
                      <a:endParaRPr sz="1000">
                        <a:latin typeface="Inter Medium"/>
                        <a:ea typeface="Inter Medium"/>
                        <a:cs typeface="Inter Medium"/>
                        <a:sym typeface="Inter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Medium"/>
                          <a:ea typeface="Inter Medium"/>
                          <a:cs typeface="Inter Medium"/>
                          <a:sym typeface="Inter Medium"/>
                        </a:rPr>
                        <a:t>Likely to contain escalation reason</a:t>
                      </a:r>
                      <a:endParaRPr sz="1000">
                        <a:latin typeface="Inter Medium"/>
                        <a:ea typeface="Inter Medium"/>
                        <a:cs typeface="Inter Medium"/>
                        <a:sym typeface="Inter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300">
                          <a:latin typeface="Inter Medium"/>
                          <a:ea typeface="Inter Medium"/>
                          <a:cs typeface="Inter Medium"/>
                          <a:sym typeface="Inter Medium"/>
                        </a:rPr>
                        <a:t>NBS Escalation/Support</a:t>
                      </a:r>
                      <a:endParaRPr sz="1300">
                        <a:latin typeface="Inter Medium"/>
                        <a:ea typeface="Inter Medium"/>
                        <a:cs typeface="Inter Medium"/>
                        <a:sym typeface="Inter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000">
                          <a:latin typeface="Inter Medium"/>
                          <a:ea typeface="Inter Medium"/>
                          <a:cs typeface="Inter Medium"/>
                          <a:sym typeface="Inter Medium"/>
                        </a:rPr>
                        <a:t>Inbound </a:t>
                      </a:r>
                      <a:endParaRPr sz="1000">
                        <a:latin typeface="Inter Medium"/>
                        <a:ea typeface="Inter Medium"/>
                        <a:cs typeface="Inter Medium"/>
                        <a:sym typeface="Inter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000">
                          <a:latin typeface="Inter Medium"/>
                          <a:ea typeface="Inter Medium"/>
                          <a:cs typeface="Inter Medium"/>
                          <a:sym typeface="Inter Medium"/>
                        </a:rPr>
                        <a:t>J-Agent to S-Agent</a:t>
                      </a:r>
                      <a:endParaRPr sz="1000">
                        <a:latin typeface="Inter Medium"/>
                        <a:ea typeface="Inter Medium"/>
                        <a:cs typeface="Inter Medium"/>
                        <a:sym typeface="Inter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000">
                          <a:latin typeface="Inter Medium"/>
                          <a:ea typeface="Inter Medium"/>
                          <a:cs typeface="Inter Medium"/>
                          <a:sym typeface="Inter Medium"/>
                        </a:rPr>
                        <a:t>Likely to contain escalation reason</a:t>
                      </a:r>
                      <a:endParaRPr sz="1000">
                        <a:latin typeface="Inter Medium"/>
                        <a:ea typeface="Inter Medium"/>
                        <a:cs typeface="Inter Medium"/>
                        <a:sym typeface="Inter Medium"/>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2" name="Google Shape;152;p3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53" name="Google Shape;153;p38"/>
          <p:cNvSpPr txBox="1"/>
          <p:nvPr>
            <p:ph type="title"/>
          </p:nvPr>
        </p:nvSpPr>
        <p:spPr>
          <a:xfrm>
            <a:off x="506700" y="114575"/>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Escalation Reasons</a:t>
            </a:r>
            <a:endParaRPr sz="3500"/>
          </a:p>
        </p:txBody>
      </p:sp>
      <p:sp>
        <p:nvSpPr>
          <p:cNvPr id="154" name="Google Shape;154;p38"/>
          <p:cNvSpPr txBox="1"/>
          <p:nvPr/>
        </p:nvSpPr>
        <p:spPr>
          <a:xfrm>
            <a:off x="2898525" y="780225"/>
            <a:ext cx="7833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Inter Medium"/>
                <a:ea typeface="Inter Medium"/>
                <a:cs typeface="Inter Medium"/>
                <a:sym typeface="Inter Medium"/>
              </a:rPr>
              <a:t>Sonnet</a:t>
            </a:r>
            <a:endParaRPr sz="1300">
              <a:latin typeface="Inter Medium"/>
              <a:ea typeface="Inter Medium"/>
              <a:cs typeface="Inter Medium"/>
              <a:sym typeface="Inter Medium"/>
            </a:endParaRPr>
          </a:p>
          <a:p>
            <a:pPr indent="0" lvl="0" marL="0" rtl="0" algn="ctr">
              <a:spcBef>
                <a:spcPts val="0"/>
              </a:spcBef>
              <a:spcAft>
                <a:spcPts val="0"/>
              </a:spcAft>
              <a:buNone/>
            </a:pPr>
            <a:r>
              <a:t/>
            </a:r>
            <a:endParaRPr b="1" sz="800">
              <a:solidFill>
                <a:srgbClr val="475067"/>
              </a:solidFill>
            </a:endParaRPr>
          </a:p>
        </p:txBody>
      </p:sp>
      <p:sp>
        <p:nvSpPr>
          <p:cNvPr id="155" name="Google Shape;155;p38"/>
          <p:cNvSpPr/>
          <p:nvPr/>
        </p:nvSpPr>
        <p:spPr>
          <a:xfrm>
            <a:off x="2350725" y="1173825"/>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Agent Reassurance or Confidence</a:t>
            </a:r>
            <a:endParaRPr b="1" sz="800">
              <a:latin typeface="Inter"/>
              <a:ea typeface="Inter"/>
              <a:cs typeface="Inter"/>
              <a:sym typeface="Inter"/>
            </a:endParaRPr>
          </a:p>
        </p:txBody>
      </p:sp>
      <p:sp>
        <p:nvSpPr>
          <p:cNvPr id="156" name="Google Shape;156;p38"/>
          <p:cNvSpPr txBox="1"/>
          <p:nvPr/>
        </p:nvSpPr>
        <p:spPr>
          <a:xfrm>
            <a:off x="6026950" y="780225"/>
            <a:ext cx="5487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Inter Medium"/>
                <a:ea typeface="Inter Medium"/>
                <a:cs typeface="Inter Medium"/>
                <a:sym typeface="Inter Medium"/>
              </a:rPr>
              <a:t>NBS</a:t>
            </a:r>
            <a:endParaRPr b="1" sz="800">
              <a:solidFill>
                <a:srgbClr val="475067"/>
              </a:solidFill>
            </a:endParaRPr>
          </a:p>
        </p:txBody>
      </p:sp>
      <p:sp>
        <p:nvSpPr>
          <p:cNvPr id="157" name="Google Shape;157;p38"/>
          <p:cNvSpPr/>
          <p:nvPr/>
        </p:nvSpPr>
        <p:spPr>
          <a:xfrm>
            <a:off x="2350725" y="152325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Customer Service Complaint</a:t>
            </a:r>
            <a:endParaRPr b="1" sz="800">
              <a:latin typeface="Inter"/>
              <a:ea typeface="Inter"/>
              <a:cs typeface="Inter"/>
              <a:sym typeface="Inter"/>
            </a:endParaRPr>
          </a:p>
        </p:txBody>
      </p:sp>
      <p:sp>
        <p:nvSpPr>
          <p:cNvPr id="158" name="Google Shape;158;p38"/>
          <p:cNvSpPr/>
          <p:nvPr/>
        </p:nvSpPr>
        <p:spPr>
          <a:xfrm>
            <a:off x="2350725" y="1872690"/>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Documentation or Process Unclear</a:t>
            </a:r>
            <a:endParaRPr b="1" sz="800">
              <a:latin typeface="Inter"/>
              <a:ea typeface="Inter"/>
              <a:cs typeface="Inter"/>
              <a:sym typeface="Inter"/>
            </a:endParaRPr>
          </a:p>
        </p:txBody>
      </p:sp>
      <p:sp>
        <p:nvSpPr>
          <p:cNvPr id="159" name="Google Shape;159;p38"/>
          <p:cNvSpPr/>
          <p:nvPr/>
        </p:nvSpPr>
        <p:spPr>
          <a:xfrm>
            <a:off x="2350725" y="222212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Frontline Agent Error</a:t>
            </a:r>
            <a:endParaRPr b="1" sz="800">
              <a:latin typeface="Inter"/>
              <a:ea typeface="Inter"/>
              <a:cs typeface="Inter"/>
              <a:sym typeface="Inter"/>
            </a:endParaRPr>
          </a:p>
        </p:txBody>
      </p:sp>
      <p:sp>
        <p:nvSpPr>
          <p:cNvPr id="160" name="Google Shape;160;p38"/>
          <p:cNvSpPr/>
          <p:nvPr/>
        </p:nvSpPr>
        <p:spPr>
          <a:xfrm>
            <a:off x="2350725" y="2571555"/>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Other</a:t>
            </a:r>
            <a:endParaRPr b="1" sz="800">
              <a:latin typeface="Inter"/>
              <a:ea typeface="Inter"/>
              <a:cs typeface="Inter"/>
              <a:sym typeface="Inter"/>
            </a:endParaRPr>
          </a:p>
        </p:txBody>
      </p:sp>
      <p:sp>
        <p:nvSpPr>
          <p:cNvPr id="161" name="Google Shape;161;p38"/>
          <p:cNvSpPr/>
          <p:nvPr/>
        </p:nvSpPr>
        <p:spPr>
          <a:xfrm>
            <a:off x="2350725" y="292098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Reverse Accidentally Made Change</a:t>
            </a:r>
            <a:endParaRPr b="1" sz="800">
              <a:latin typeface="Inter"/>
              <a:ea typeface="Inter"/>
              <a:cs typeface="Inter"/>
              <a:sym typeface="Inter"/>
            </a:endParaRPr>
          </a:p>
        </p:txBody>
      </p:sp>
      <p:sp>
        <p:nvSpPr>
          <p:cNvPr id="162" name="Google Shape;162;p38"/>
          <p:cNvSpPr/>
          <p:nvPr/>
        </p:nvSpPr>
        <p:spPr>
          <a:xfrm>
            <a:off x="2350725" y="3270419"/>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Stubborn Customer</a:t>
            </a:r>
            <a:endParaRPr b="1" sz="800">
              <a:latin typeface="Inter"/>
              <a:ea typeface="Inter"/>
              <a:cs typeface="Inter"/>
              <a:sym typeface="Inter"/>
            </a:endParaRPr>
          </a:p>
        </p:txBody>
      </p:sp>
      <p:sp>
        <p:nvSpPr>
          <p:cNvPr id="163" name="Google Shape;163;p38"/>
          <p:cNvSpPr/>
          <p:nvPr/>
        </p:nvSpPr>
        <p:spPr>
          <a:xfrm>
            <a:off x="2350725" y="361985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System Error</a:t>
            </a:r>
            <a:endParaRPr b="1" sz="800">
              <a:latin typeface="Inter"/>
              <a:ea typeface="Inter"/>
              <a:cs typeface="Inter"/>
              <a:sym typeface="Inter"/>
            </a:endParaRPr>
          </a:p>
        </p:txBody>
      </p:sp>
      <p:sp>
        <p:nvSpPr>
          <p:cNvPr id="164" name="Google Shape;164;p38"/>
          <p:cNvSpPr/>
          <p:nvPr/>
        </p:nvSpPr>
        <p:spPr>
          <a:xfrm>
            <a:off x="2350725" y="3969277"/>
            <a:ext cx="1878900" cy="306000"/>
          </a:xfrm>
          <a:prstGeom prst="roundRect">
            <a:avLst>
              <a:gd fmla="val 5387" name="adj"/>
            </a:avLst>
          </a:prstGeom>
          <a:solidFill>
            <a:srgbClr val="F4F6FB"/>
          </a:solidFill>
          <a:ln cap="flat" cmpd="sng" w="9525">
            <a:solidFill>
              <a:srgbClr val="76CC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Policy Clarification</a:t>
            </a:r>
            <a:endParaRPr b="1" sz="800">
              <a:latin typeface="Inter"/>
              <a:ea typeface="Inter"/>
              <a:cs typeface="Inter"/>
              <a:sym typeface="Inter"/>
            </a:endParaRPr>
          </a:p>
        </p:txBody>
      </p:sp>
      <p:sp>
        <p:nvSpPr>
          <p:cNvPr id="165" name="Google Shape;165;p38"/>
          <p:cNvSpPr/>
          <p:nvPr/>
        </p:nvSpPr>
        <p:spPr>
          <a:xfrm>
            <a:off x="2350725" y="431870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Customer Error</a:t>
            </a:r>
            <a:endParaRPr b="1" sz="800">
              <a:latin typeface="Inter"/>
              <a:ea typeface="Inter"/>
              <a:cs typeface="Inter"/>
              <a:sym typeface="Inter"/>
            </a:endParaRPr>
          </a:p>
        </p:txBody>
      </p:sp>
      <p:sp>
        <p:nvSpPr>
          <p:cNvPr id="166" name="Google Shape;166;p38"/>
          <p:cNvSpPr/>
          <p:nvPr/>
        </p:nvSpPr>
        <p:spPr>
          <a:xfrm>
            <a:off x="5361850" y="1173825"/>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Agent Reassurance or Confidence</a:t>
            </a:r>
            <a:endParaRPr b="1" sz="800">
              <a:latin typeface="Inter"/>
              <a:ea typeface="Inter"/>
              <a:cs typeface="Inter"/>
              <a:sym typeface="Inter"/>
            </a:endParaRPr>
          </a:p>
        </p:txBody>
      </p:sp>
      <p:sp>
        <p:nvSpPr>
          <p:cNvPr id="167" name="Google Shape;167;p38"/>
          <p:cNvSpPr/>
          <p:nvPr/>
        </p:nvSpPr>
        <p:spPr>
          <a:xfrm>
            <a:off x="5361850" y="152325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Customer Service Complaint</a:t>
            </a:r>
            <a:endParaRPr b="1" sz="800">
              <a:latin typeface="Inter"/>
              <a:ea typeface="Inter"/>
              <a:cs typeface="Inter"/>
              <a:sym typeface="Inter"/>
            </a:endParaRPr>
          </a:p>
        </p:txBody>
      </p:sp>
      <p:sp>
        <p:nvSpPr>
          <p:cNvPr id="168" name="Google Shape;168;p38"/>
          <p:cNvSpPr/>
          <p:nvPr/>
        </p:nvSpPr>
        <p:spPr>
          <a:xfrm>
            <a:off x="5361850" y="1872690"/>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Documentation or Process Unclear</a:t>
            </a:r>
            <a:endParaRPr b="1" sz="800">
              <a:latin typeface="Inter"/>
              <a:ea typeface="Inter"/>
              <a:cs typeface="Inter"/>
              <a:sym typeface="Inter"/>
            </a:endParaRPr>
          </a:p>
        </p:txBody>
      </p:sp>
      <p:sp>
        <p:nvSpPr>
          <p:cNvPr id="169" name="Google Shape;169;p38"/>
          <p:cNvSpPr/>
          <p:nvPr/>
        </p:nvSpPr>
        <p:spPr>
          <a:xfrm>
            <a:off x="5361850" y="222212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Frontline Agent Error</a:t>
            </a:r>
            <a:endParaRPr b="1" sz="800">
              <a:latin typeface="Inter"/>
              <a:ea typeface="Inter"/>
              <a:cs typeface="Inter"/>
              <a:sym typeface="Inter"/>
            </a:endParaRPr>
          </a:p>
        </p:txBody>
      </p:sp>
      <p:sp>
        <p:nvSpPr>
          <p:cNvPr id="170" name="Google Shape;170;p38"/>
          <p:cNvSpPr/>
          <p:nvPr/>
        </p:nvSpPr>
        <p:spPr>
          <a:xfrm>
            <a:off x="5361850" y="2571555"/>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Other</a:t>
            </a:r>
            <a:endParaRPr b="1" sz="800">
              <a:latin typeface="Inter"/>
              <a:ea typeface="Inter"/>
              <a:cs typeface="Inter"/>
              <a:sym typeface="Inter"/>
            </a:endParaRPr>
          </a:p>
        </p:txBody>
      </p:sp>
      <p:sp>
        <p:nvSpPr>
          <p:cNvPr id="171" name="Google Shape;171;p38"/>
          <p:cNvSpPr/>
          <p:nvPr/>
        </p:nvSpPr>
        <p:spPr>
          <a:xfrm>
            <a:off x="5361850" y="292098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Reverse Accidentally Made Change</a:t>
            </a:r>
            <a:endParaRPr b="1" sz="800">
              <a:latin typeface="Inter"/>
              <a:ea typeface="Inter"/>
              <a:cs typeface="Inter"/>
              <a:sym typeface="Inter"/>
            </a:endParaRPr>
          </a:p>
        </p:txBody>
      </p:sp>
      <p:sp>
        <p:nvSpPr>
          <p:cNvPr id="172" name="Google Shape;172;p38"/>
          <p:cNvSpPr/>
          <p:nvPr/>
        </p:nvSpPr>
        <p:spPr>
          <a:xfrm>
            <a:off x="5361850" y="3270419"/>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Stubborn Customer</a:t>
            </a:r>
            <a:endParaRPr b="1" sz="800">
              <a:latin typeface="Inter"/>
              <a:ea typeface="Inter"/>
              <a:cs typeface="Inter"/>
              <a:sym typeface="Inter"/>
            </a:endParaRPr>
          </a:p>
        </p:txBody>
      </p:sp>
      <p:sp>
        <p:nvSpPr>
          <p:cNvPr id="173" name="Google Shape;173;p38"/>
          <p:cNvSpPr/>
          <p:nvPr/>
        </p:nvSpPr>
        <p:spPr>
          <a:xfrm>
            <a:off x="5361850" y="361985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System Error</a:t>
            </a:r>
            <a:endParaRPr b="1" sz="800">
              <a:latin typeface="Inter"/>
              <a:ea typeface="Inter"/>
              <a:cs typeface="Inter"/>
              <a:sym typeface="Inter"/>
            </a:endParaRPr>
          </a:p>
        </p:txBody>
      </p:sp>
      <p:sp>
        <p:nvSpPr>
          <p:cNvPr id="174" name="Google Shape;174;p38"/>
          <p:cNvSpPr/>
          <p:nvPr/>
        </p:nvSpPr>
        <p:spPr>
          <a:xfrm>
            <a:off x="5361850" y="3969277"/>
            <a:ext cx="1878900" cy="306000"/>
          </a:xfrm>
          <a:prstGeom prst="roundRect">
            <a:avLst>
              <a:gd fmla="val 5387" name="adj"/>
            </a:avLst>
          </a:prstGeom>
          <a:solidFill>
            <a:srgbClr val="F4F6FB"/>
          </a:solidFill>
          <a:ln cap="flat" cmpd="sng" w="9525">
            <a:solidFill>
              <a:srgbClr val="76CC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Underwriting Clarification</a:t>
            </a:r>
            <a:endParaRPr b="1" sz="800">
              <a:latin typeface="Inter"/>
              <a:ea typeface="Inter"/>
              <a:cs typeface="Inter"/>
              <a:sym typeface="Inter"/>
            </a:endParaRPr>
          </a:p>
        </p:txBody>
      </p:sp>
      <p:sp>
        <p:nvSpPr>
          <p:cNvPr id="175" name="Google Shape;175;p38"/>
          <p:cNvSpPr/>
          <p:nvPr/>
        </p:nvSpPr>
        <p:spPr>
          <a:xfrm>
            <a:off x="5361850" y="431870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Customer Error</a:t>
            </a:r>
            <a:endParaRPr b="1" sz="800">
              <a:latin typeface="Inter"/>
              <a:ea typeface="Inter"/>
              <a:cs typeface="Inter"/>
              <a:sym typeface="Inter"/>
            </a:endParaRPr>
          </a:p>
        </p:txBody>
      </p:sp>
      <p:sp>
        <p:nvSpPr>
          <p:cNvPr id="176" name="Google Shape;176;p38"/>
          <p:cNvSpPr/>
          <p:nvPr/>
        </p:nvSpPr>
        <p:spPr>
          <a:xfrm>
            <a:off x="2350725" y="466812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Product or Discount Eligibility</a:t>
            </a:r>
            <a:endParaRPr b="1" sz="800">
              <a:latin typeface="Inter"/>
              <a:ea typeface="Inter"/>
              <a:cs typeface="Inter"/>
              <a:sym typeface="Inter"/>
            </a:endParaRPr>
          </a:p>
        </p:txBody>
      </p:sp>
      <p:sp>
        <p:nvSpPr>
          <p:cNvPr id="177" name="Google Shape;177;p38"/>
          <p:cNvSpPr/>
          <p:nvPr/>
        </p:nvSpPr>
        <p:spPr>
          <a:xfrm>
            <a:off x="5361850" y="466812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Product or Discount Eligibility</a:t>
            </a:r>
            <a:endParaRPr b="1" sz="800">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3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84" name="Google Shape;184;p39"/>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Sonnet </a:t>
            </a:r>
            <a:r>
              <a:rPr lang="en" sz="3500"/>
              <a:t>Distributions</a:t>
            </a:r>
            <a:endParaRPr sz="3500"/>
          </a:p>
        </p:txBody>
      </p:sp>
      <p:pic>
        <p:nvPicPr>
          <p:cNvPr id="185" name="Google Shape;185;p39"/>
          <p:cNvPicPr preferRelativeResize="0"/>
          <p:nvPr/>
        </p:nvPicPr>
        <p:blipFill>
          <a:blip r:embed="rId3">
            <a:alphaModFix/>
          </a:blip>
          <a:stretch>
            <a:fillRect/>
          </a:stretch>
        </p:blipFill>
        <p:spPr>
          <a:xfrm>
            <a:off x="648925" y="1443300"/>
            <a:ext cx="3537300" cy="2536600"/>
          </a:xfrm>
          <a:prstGeom prst="rect">
            <a:avLst/>
          </a:prstGeom>
          <a:noFill/>
          <a:ln cap="flat" cmpd="sng" w="9525">
            <a:solidFill>
              <a:schemeClr val="dk1"/>
            </a:solidFill>
            <a:prstDash val="solid"/>
            <a:round/>
            <a:headEnd len="sm" w="sm" type="none"/>
            <a:tailEnd len="sm" w="sm" type="none"/>
          </a:ln>
        </p:spPr>
      </p:pic>
      <p:pic>
        <p:nvPicPr>
          <p:cNvPr id="186" name="Google Shape;186;p39"/>
          <p:cNvPicPr preferRelativeResize="0"/>
          <p:nvPr/>
        </p:nvPicPr>
        <p:blipFill>
          <a:blip r:embed="rId4">
            <a:alphaModFix/>
          </a:blip>
          <a:stretch>
            <a:fillRect/>
          </a:stretch>
        </p:blipFill>
        <p:spPr>
          <a:xfrm>
            <a:off x="4358350" y="1443303"/>
            <a:ext cx="4256203" cy="2536600"/>
          </a:xfrm>
          <a:prstGeom prst="rect">
            <a:avLst/>
          </a:prstGeom>
          <a:noFill/>
          <a:ln cap="flat" cmpd="sng" w="9525">
            <a:solidFill>
              <a:schemeClr val="dk1"/>
            </a:solidFill>
            <a:prstDash val="solid"/>
            <a:round/>
            <a:headEnd len="sm" w="sm" type="none"/>
            <a:tailEnd len="sm" w="sm" type="none"/>
          </a:ln>
        </p:spPr>
      </p:pic>
      <p:sp>
        <p:nvSpPr>
          <p:cNvPr id="187" name="Google Shape;187;p39"/>
          <p:cNvSpPr txBox="1"/>
          <p:nvPr/>
        </p:nvSpPr>
        <p:spPr>
          <a:xfrm>
            <a:off x="1339675" y="4033575"/>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Inbound – J Agent to S Agent</a:t>
            </a:r>
            <a:endParaRPr sz="700">
              <a:solidFill>
                <a:srgbClr val="475067"/>
              </a:solidFill>
            </a:endParaRPr>
          </a:p>
        </p:txBody>
      </p:sp>
      <p:sp>
        <p:nvSpPr>
          <p:cNvPr id="188" name="Google Shape;188;p39"/>
          <p:cNvSpPr txBox="1"/>
          <p:nvPr/>
        </p:nvSpPr>
        <p:spPr>
          <a:xfrm>
            <a:off x="5561250" y="39799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Outbound</a:t>
            </a:r>
            <a:r>
              <a:rPr lang="en" sz="700">
                <a:solidFill>
                  <a:srgbClr val="475067"/>
                </a:solidFill>
              </a:rPr>
              <a:t> – S Agent to Customer</a:t>
            </a:r>
            <a:endParaRPr sz="700">
              <a:solidFill>
                <a:srgbClr val="475067"/>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4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4" name="Google Shape;194;p4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95" name="Google Shape;195;p40"/>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NBS</a:t>
            </a:r>
            <a:r>
              <a:rPr lang="en" sz="3500"/>
              <a:t> Distributions</a:t>
            </a:r>
            <a:endParaRPr sz="3500"/>
          </a:p>
        </p:txBody>
      </p:sp>
      <p:sp>
        <p:nvSpPr>
          <p:cNvPr id="196" name="Google Shape;196;p40"/>
          <p:cNvSpPr txBox="1"/>
          <p:nvPr/>
        </p:nvSpPr>
        <p:spPr>
          <a:xfrm>
            <a:off x="3514800" y="428855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Inbound – J Agent to S Agent</a:t>
            </a:r>
            <a:endParaRPr sz="700">
              <a:solidFill>
                <a:srgbClr val="475067"/>
              </a:solidFill>
            </a:endParaRPr>
          </a:p>
          <a:p>
            <a:pPr indent="0" lvl="0" marL="0" rtl="0" algn="ctr">
              <a:spcBef>
                <a:spcPts val="0"/>
              </a:spcBef>
              <a:spcAft>
                <a:spcPts val="0"/>
              </a:spcAft>
              <a:buNone/>
            </a:pPr>
            <a:r>
              <a:rPr lang="en" sz="700">
                <a:solidFill>
                  <a:srgbClr val="475067"/>
                </a:solidFill>
              </a:rPr>
              <a:t>Both Support and Escalation</a:t>
            </a:r>
            <a:endParaRPr sz="700">
              <a:solidFill>
                <a:srgbClr val="475067"/>
              </a:solidFill>
            </a:endParaRPr>
          </a:p>
        </p:txBody>
      </p:sp>
      <p:pic>
        <p:nvPicPr>
          <p:cNvPr id="197" name="Google Shape;197;p40"/>
          <p:cNvPicPr preferRelativeResize="0"/>
          <p:nvPr/>
        </p:nvPicPr>
        <p:blipFill>
          <a:blip r:embed="rId3">
            <a:alphaModFix/>
          </a:blip>
          <a:stretch>
            <a:fillRect/>
          </a:stretch>
        </p:blipFill>
        <p:spPr>
          <a:xfrm>
            <a:off x="2437413" y="1428024"/>
            <a:ext cx="4005169" cy="274367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3" name="Google Shape;203;p4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04" name="Google Shape;204;p41"/>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Sonnet Escalation Example</a:t>
            </a:r>
            <a:endParaRPr sz="3500"/>
          </a:p>
        </p:txBody>
      </p:sp>
      <p:sp>
        <p:nvSpPr>
          <p:cNvPr id="205" name="Google Shape;205;p41"/>
          <p:cNvSpPr/>
          <p:nvPr/>
        </p:nvSpPr>
        <p:spPr>
          <a:xfrm>
            <a:off x="786825" y="1646150"/>
            <a:ext cx="1561500" cy="20217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t>
            </a:r>
            <a:endParaRPr sz="700"/>
          </a:p>
          <a:p>
            <a:pPr indent="0" lvl="0" marL="0" rtl="0" algn="ctr">
              <a:spcBef>
                <a:spcPts val="0"/>
              </a:spcBef>
              <a:spcAft>
                <a:spcPts val="0"/>
              </a:spcAft>
              <a:buNone/>
            </a:pPr>
            <a:r>
              <a:rPr lang="en" sz="700"/>
              <a:t>User: Okay. Take your time.</a:t>
            </a:r>
            <a:endParaRPr sz="700"/>
          </a:p>
          <a:p>
            <a:pPr indent="0" lvl="0" marL="0" rtl="0" algn="ctr">
              <a:spcBef>
                <a:spcPts val="0"/>
              </a:spcBef>
              <a:spcAft>
                <a:spcPts val="0"/>
              </a:spcAft>
              <a:buNone/>
            </a:pPr>
            <a:r>
              <a:rPr lang="en" sz="700"/>
              <a:t>User: 231 N70-6M7.</a:t>
            </a:r>
            <a:endParaRPr sz="700"/>
          </a:p>
          <a:p>
            <a:pPr indent="0" lvl="0" marL="0" rtl="0" algn="ctr">
              <a:spcBef>
                <a:spcPts val="0"/>
              </a:spcBef>
              <a:spcAft>
                <a:spcPts val="0"/>
              </a:spcAft>
              <a:buNone/>
            </a:pPr>
            <a:r>
              <a:rPr lang="en" sz="700"/>
              <a:t>User: Thanks so much. Okay. So I understand your policy is cancelling for final non-payment. So yeah. So with this one, your payment was missed on May 31st.</a:t>
            </a:r>
            <a:endParaRPr sz="700"/>
          </a:p>
          <a:p>
            <a:pPr indent="0" lvl="0" marL="0" rtl="0" algn="ctr">
              <a:spcBef>
                <a:spcPts val="0"/>
              </a:spcBef>
              <a:spcAft>
                <a:spcPts val="0"/>
              </a:spcAft>
              <a:buNone/>
            </a:pPr>
            <a:r>
              <a:rPr lang="en" sz="700"/>
              <a:t>User: We sent you the email to update your payment information within three business days. So that email does say to continue your policy, you have to update your payment information within three business days.</a:t>
            </a:r>
            <a:endParaRPr sz="700"/>
          </a:p>
        </p:txBody>
      </p:sp>
      <p:sp>
        <p:nvSpPr>
          <p:cNvPr id="206" name="Google Shape;206;p41"/>
          <p:cNvSpPr txBox="1"/>
          <p:nvPr/>
        </p:nvSpPr>
        <p:spPr>
          <a:xfrm>
            <a:off x="642375" y="37108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0108ac69-07c4-5cff-b31f-e29d2d077d10</a:t>
            </a:r>
            <a:endParaRPr sz="700">
              <a:solidFill>
                <a:srgbClr val="475067"/>
              </a:solidFill>
            </a:endParaRPr>
          </a:p>
          <a:p>
            <a:pPr indent="0" lvl="0" marL="0" rtl="0" algn="ctr">
              <a:spcBef>
                <a:spcPts val="0"/>
              </a:spcBef>
              <a:spcAft>
                <a:spcPts val="0"/>
              </a:spcAft>
              <a:buNone/>
            </a:pPr>
            <a:r>
              <a:t/>
            </a:r>
            <a:endParaRPr sz="700">
              <a:solidFill>
                <a:srgbClr val="475067"/>
              </a:solidFill>
            </a:endParaRPr>
          </a:p>
          <a:p>
            <a:pPr indent="0" lvl="0" marL="0" rtl="0" algn="ctr">
              <a:spcBef>
                <a:spcPts val="0"/>
              </a:spcBef>
              <a:spcAft>
                <a:spcPts val="0"/>
              </a:spcAft>
              <a:buNone/>
            </a:pPr>
            <a:r>
              <a:rPr lang="en" sz="700">
                <a:solidFill>
                  <a:srgbClr val="475067"/>
                </a:solidFill>
              </a:rPr>
              <a:t>Test Team: Stubborn CX</a:t>
            </a:r>
            <a:endParaRPr sz="700">
              <a:solidFill>
                <a:srgbClr val="475067"/>
              </a:solidFill>
            </a:endParaRPr>
          </a:p>
          <a:p>
            <a:pPr indent="0" lvl="0" marL="0" rtl="0" algn="ctr">
              <a:spcBef>
                <a:spcPts val="0"/>
              </a:spcBef>
              <a:spcAft>
                <a:spcPts val="0"/>
              </a:spcAft>
              <a:buNone/>
            </a:pPr>
            <a:r>
              <a:rPr lang="en" sz="700">
                <a:solidFill>
                  <a:srgbClr val="475067"/>
                </a:solidFill>
              </a:rPr>
              <a:t>Rebaseline</a:t>
            </a:r>
            <a:r>
              <a:rPr lang="en" sz="700">
                <a:solidFill>
                  <a:srgbClr val="475067"/>
                </a:solidFill>
              </a:rPr>
              <a:t>: Yes</a:t>
            </a:r>
            <a:endParaRPr sz="700">
              <a:solidFill>
                <a:srgbClr val="475067"/>
              </a:solidFill>
            </a:endParaRPr>
          </a:p>
        </p:txBody>
      </p:sp>
      <p:graphicFrame>
        <p:nvGraphicFramePr>
          <p:cNvPr id="207" name="Google Shape;207;p41"/>
          <p:cNvGraphicFramePr/>
          <p:nvPr/>
        </p:nvGraphicFramePr>
        <p:xfrm>
          <a:off x="2832325" y="1468913"/>
          <a:ext cx="3000000" cy="3000000"/>
        </p:xfrm>
        <a:graphic>
          <a:graphicData uri="http://schemas.openxmlformats.org/drawingml/2006/table">
            <a:tbl>
              <a:tblPr>
                <a:noFill/>
                <a:tableStyleId>{FFDB5839-1588-4DBD-A0F2-3C91E36F580D}</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Policy Clarification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Clarify policy cancellation process and explore options to prevent cancellation</a:t>
                      </a:r>
                      <a:endParaRPr sz="1000">
                        <a:latin typeface="Inter"/>
                        <a:ea typeface="Inter"/>
                        <a:cs typeface="Inter"/>
                        <a:sym typeface="Inter"/>
                      </a:endParaRPr>
                    </a:p>
                  </a:txBody>
                  <a:tcPr marT="91425" marB="91425" marR="91425" marL="91425"/>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The senior agent is calling to explain the cancellation process and discuss the customer's options, as the frontline agent was unable to reverse the cancellation decision.</a:t>
                      </a:r>
                      <a:endParaRPr sz="1000">
                        <a:latin typeface="Inter"/>
                        <a:ea typeface="Inter"/>
                        <a:cs typeface="Inter"/>
                        <a:sym typeface="Inte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3" name="Google Shape;213;p4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14" name="Google Shape;214;p42"/>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Sonnet Escalation Example</a:t>
            </a:r>
            <a:endParaRPr sz="3500"/>
          </a:p>
        </p:txBody>
      </p:sp>
      <p:sp>
        <p:nvSpPr>
          <p:cNvPr id="215" name="Google Shape;215;p42"/>
          <p:cNvSpPr/>
          <p:nvPr/>
        </p:nvSpPr>
        <p:spPr>
          <a:xfrm>
            <a:off x="786825" y="1039900"/>
            <a:ext cx="1561500" cy="26709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User: "Yeah, so I talked to my bank, and my bank and I went through all my banking, and they don't see you guys taking anything out of my account. I go on my online banking. I don't see anything from you guys coming out of my account. And you guys are telling me that you tried three times to do it, and now you're trying to cancel my insurance."</a:t>
            </a:r>
            <a:endParaRPr sz="700"/>
          </a:p>
          <a:p>
            <a:pPr indent="0" lvl="0" marL="0" rtl="0" algn="ctr">
              <a:spcBef>
                <a:spcPts val="0"/>
              </a:spcBef>
              <a:spcAft>
                <a:spcPts val="0"/>
              </a:spcAft>
              <a:buNone/>
            </a:pPr>
            <a:r>
              <a:rPr lang="en" sz="700"/>
              <a:t>…</a:t>
            </a:r>
            <a:endParaRPr sz="700"/>
          </a:p>
          <a:p>
            <a:pPr indent="0" lvl="0" marL="0" rtl="0" algn="ctr">
              <a:spcBef>
                <a:spcPts val="0"/>
              </a:spcBef>
              <a:spcAft>
                <a:spcPts val="0"/>
              </a:spcAft>
              <a:buNone/>
            </a:pPr>
            <a:r>
              <a:rPr lang="en" sz="700"/>
              <a:t>Agent: you know, like December the 14th, that was a missed payment, we sent you an email to update the payment information within three business days. That didn't happen. A register letter gets created. January 14th, same thing happened. And then March 14th, that was pretty much like the final one, right?</a:t>
            </a:r>
            <a:endParaRPr sz="700"/>
          </a:p>
        </p:txBody>
      </p:sp>
      <p:sp>
        <p:nvSpPr>
          <p:cNvPr id="216" name="Google Shape;216;p42"/>
          <p:cNvSpPr txBox="1"/>
          <p:nvPr/>
        </p:nvSpPr>
        <p:spPr>
          <a:xfrm>
            <a:off x="642375" y="37108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07099c62-4dff-5e54-af43-ad644612bc23</a:t>
            </a:r>
            <a:endParaRPr sz="700">
              <a:solidFill>
                <a:srgbClr val="475067"/>
              </a:solidFill>
            </a:endParaRPr>
          </a:p>
          <a:p>
            <a:pPr indent="0" lvl="0" marL="0" rtl="0" algn="ctr">
              <a:spcBef>
                <a:spcPts val="0"/>
              </a:spcBef>
              <a:spcAft>
                <a:spcPts val="0"/>
              </a:spcAft>
              <a:buNone/>
            </a:pPr>
            <a:r>
              <a:t/>
            </a:r>
            <a:endParaRPr sz="700">
              <a:solidFill>
                <a:srgbClr val="475067"/>
              </a:solidFill>
            </a:endParaRPr>
          </a:p>
          <a:p>
            <a:pPr indent="0" lvl="0" marL="0" rtl="0" algn="ctr">
              <a:spcBef>
                <a:spcPts val="0"/>
              </a:spcBef>
              <a:spcAft>
                <a:spcPts val="0"/>
              </a:spcAft>
              <a:buNone/>
            </a:pPr>
            <a:r>
              <a:rPr lang="en" sz="700">
                <a:solidFill>
                  <a:srgbClr val="475067"/>
                </a:solidFill>
              </a:rPr>
              <a:t>Test Team: </a:t>
            </a:r>
            <a:r>
              <a:rPr lang="en" sz="700">
                <a:solidFill>
                  <a:srgbClr val="475067"/>
                </a:solidFill>
              </a:rPr>
              <a:t>Stubborn CX / Frontline Agent Error</a:t>
            </a:r>
            <a:endParaRPr sz="700">
              <a:solidFill>
                <a:srgbClr val="475067"/>
              </a:solidFill>
            </a:endParaRPr>
          </a:p>
          <a:p>
            <a:pPr indent="0" lvl="0" marL="0" rtl="0" algn="ctr">
              <a:spcBef>
                <a:spcPts val="0"/>
              </a:spcBef>
              <a:spcAft>
                <a:spcPts val="0"/>
              </a:spcAft>
              <a:buNone/>
            </a:pPr>
            <a:r>
              <a:rPr lang="en" sz="700">
                <a:solidFill>
                  <a:srgbClr val="475067"/>
                </a:solidFill>
              </a:rPr>
              <a:t>Rebaseline: Yes</a:t>
            </a:r>
            <a:endParaRPr sz="700">
              <a:solidFill>
                <a:srgbClr val="475067"/>
              </a:solidFill>
            </a:endParaRPr>
          </a:p>
        </p:txBody>
      </p:sp>
      <p:graphicFrame>
        <p:nvGraphicFramePr>
          <p:cNvPr id="217" name="Google Shape;217;p42"/>
          <p:cNvGraphicFramePr/>
          <p:nvPr/>
        </p:nvGraphicFramePr>
        <p:xfrm>
          <a:off x="2832325" y="1468913"/>
          <a:ext cx="3000000" cy="3000000"/>
        </p:xfrm>
        <a:graphic>
          <a:graphicData uri="http://schemas.openxmlformats.org/drawingml/2006/table">
            <a:tbl>
              <a:tblPr>
                <a:noFill/>
                <a:tableStyleId>{FFDB5839-1588-4DBD-A0F2-3C91E36F580D}</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Customer Error</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Discrepancy with missed payments and potential policy cancellation</a:t>
                      </a:r>
                      <a:endParaRPr sz="1000">
                        <a:latin typeface="Inter"/>
                        <a:ea typeface="Inter"/>
                        <a:cs typeface="Inter"/>
                        <a:sym typeface="Inter"/>
                      </a:endParaRPr>
                    </a:p>
                  </a:txBody>
                  <a:tcPr marT="91425" marB="91425" marR="91425" marL="91425"/>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The customer disputes missed payments and potential policy cancellation, which the front-line agent was unable to resolve, necessitating escalation to a senior agent.</a:t>
                      </a:r>
                      <a:endParaRPr sz="1000">
                        <a:latin typeface="Inter"/>
                        <a:ea typeface="Inter"/>
                        <a:cs typeface="Inter"/>
                        <a:sym typeface="Inte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4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24" name="Google Shape;224;p43"/>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Sonnet Support Example</a:t>
            </a:r>
            <a:endParaRPr sz="3500"/>
          </a:p>
        </p:txBody>
      </p:sp>
      <p:sp>
        <p:nvSpPr>
          <p:cNvPr id="225" name="Google Shape;225;p43"/>
          <p:cNvSpPr/>
          <p:nvPr/>
        </p:nvSpPr>
        <p:spPr>
          <a:xfrm>
            <a:off x="786825" y="1952150"/>
            <a:ext cx="1561500" cy="14241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User: "I have a customer who's on the phone right now. They've bought a new truck and they want to add it onto their policy. They have some questions regarding business use. I think this is going to be a decline, but I just wanted to check with you before I say no."</a:t>
            </a:r>
            <a:endParaRPr sz="700"/>
          </a:p>
          <a:p>
            <a:pPr indent="0" lvl="0" marL="0" rtl="0" algn="ctr">
              <a:spcBef>
                <a:spcPts val="0"/>
              </a:spcBef>
              <a:spcAft>
                <a:spcPts val="0"/>
              </a:spcAft>
              <a:buNone/>
            </a:pPr>
            <a:r>
              <a:rPr lang="en" sz="700"/>
              <a:t>Agent: Yeah, of course. Let's take a look.</a:t>
            </a:r>
            <a:endParaRPr sz="700"/>
          </a:p>
        </p:txBody>
      </p:sp>
      <p:sp>
        <p:nvSpPr>
          <p:cNvPr id="226" name="Google Shape;226;p43"/>
          <p:cNvSpPr txBox="1"/>
          <p:nvPr/>
        </p:nvSpPr>
        <p:spPr>
          <a:xfrm>
            <a:off x="642375" y="35131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1fe44f3e-8944-5d59-9a2f-d3914df589fa</a:t>
            </a:r>
            <a:endParaRPr sz="700">
              <a:solidFill>
                <a:srgbClr val="475067"/>
              </a:solidFill>
            </a:endParaRPr>
          </a:p>
          <a:p>
            <a:pPr indent="0" lvl="0" marL="0" rtl="0" algn="ctr">
              <a:spcBef>
                <a:spcPts val="0"/>
              </a:spcBef>
              <a:spcAft>
                <a:spcPts val="0"/>
              </a:spcAft>
              <a:buNone/>
            </a:pPr>
            <a:r>
              <a:t/>
            </a:r>
            <a:endParaRPr sz="700">
              <a:solidFill>
                <a:srgbClr val="475067"/>
              </a:solidFill>
            </a:endParaRPr>
          </a:p>
          <a:p>
            <a:pPr indent="0" lvl="0" marL="0" rtl="0" algn="ctr">
              <a:spcBef>
                <a:spcPts val="0"/>
              </a:spcBef>
              <a:spcAft>
                <a:spcPts val="0"/>
              </a:spcAft>
              <a:buNone/>
            </a:pPr>
            <a:r>
              <a:rPr lang="en" sz="700">
                <a:solidFill>
                  <a:srgbClr val="475067"/>
                </a:solidFill>
              </a:rPr>
              <a:t>Test Team: </a:t>
            </a:r>
            <a:r>
              <a:rPr lang="en" sz="700">
                <a:solidFill>
                  <a:srgbClr val="475067"/>
                </a:solidFill>
              </a:rPr>
              <a:t>Reassurance/Agent Confidence</a:t>
            </a:r>
            <a:endParaRPr sz="700">
              <a:solidFill>
                <a:srgbClr val="475067"/>
              </a:solidFill>
            </a:endParaRPr>
          </a:p>
          <a:p>
            <a:pPr indent="0" lvl="0" marL="0" rtl="0" algn="ctr">
              <a:spcBef>
                <a:spcPts val="0"/>
              </a:spcBef>
              <a:spcAft>
                <a:spcPts val="0"/>
              </a:spcAft>
              <a:buNone/>
            </a:pPr>
            <a:r>
              <a:rPr lang="en" sz="700">
                <a:solidFill>
                  <a:srgbClr val="475067"/>
                </a:solidFill>
              </a:rPr>
              <a:t>Rebaseline: Yes</a:t>
            </a:r>
            <a:endParaRPr sz="700">
              <a:solidFill>
                <a:srgbClr val="475067"/>
              </a:solidFill>
            </a:endParaRPr>
          </a:p>
        </p:txBody>
      </p:sp>
      <p:graphicFrame>
        <p:nvGraphicFramePr>
          <p:cNvPr id="227" name="Google Shape;227;p43"/>
          <p:cNvGraphicFramePr/>
          <p:nvPr/>
        </p:nvGraphicFramePr>
        <p:xfrm>
          <a:off x="2832325" y="1468913"/>
          <a:ext cx="3000000" cy="3000000"/>
        </p:xfrm>
        <a:graphic>
          <a:graphicData uri="http://schemas.openxmlformats.org/drawingml/2006/table">
            <a:tbl>
              <a:tblPr>
                <a:noFill/>
                <a:tableStyleId>{FFDB5839-1588-4DBD-A0F2-3C91E36F580D}</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Policy Clarification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Unsure on business use eligibility for auto insurance</a:t>
                      </a:r>
                      <a:endParaRPr sz="1000">
                        <a:latin typeface="Inter"/>
                        <a:ea typeface="Inter"/>
                        <a:cs typeface="Inter"/>
                        <a:sym typeface="Inter"/>
                      </a:endParaRPr>
                    </a:p>
                  </a:txBody>
                  <a:tcPr marT="91425" marB="91425" marR="91425" marL="91425"/>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The junior agent needed clarification on the specific criteria for business use coverage in auto insurance policies, which falls under policy clarification.</a:t>
                      </a:r>
                      <a:endParaRPr sz="1000">
                        <a:latin typeface="Inter"/>
                        <a:ea typeface="Inter"/>
                        <a:cs typeface="Inter"/>
                        <a:sym typeface="Inte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3" name="Google Shape;233;p4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34" name="Google Shape;234;p44"/>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Sonnet Support Example</a:t>
            </a:r>
            <a:endParaRPr sz="3500"/>
          </a:p>
        </p:txBody>
      </p:sp>
      <p:sp>
        <p:nvSpPr>
          <p:cNvPr id="235" name="Google Shape;235;p44"/>
          <p:cNvSpPr/>
          <p:nvPr/>
        </p:nvSpPr>
        <p:spPr>
          <a:xfrm>
            <a:off x="786825" y="1952150"/>
            <a:ext cx="1561500" cy="14241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User: "Hi, Jack Sharp. I was just on the phone with the resolution specialist and the call dropped. We were just wrapping up, but I was wondering if you could, are you able to reach back through them and connect me?"</a:t>
            </a:r>
            <a:endParaRPr sz="700"/>
          </a:p>
        </p:txBody>
      </p:sp>
      <p:sp>
        <p:nvSpPr>
          <p:cNvPr id="236" name="Google Shape;236;p44"/>
          <p:cNvSpPr txBox="1"/>
          <p:nvPr/>
        </p:nvSpPr>
        <p:spPr>
          <a:xfrm>
            <a:off x="642375" y="35131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307ad34f-4f94-5e58-8b5a-39795f1df7af</a:t>
            </a:r>
            <a:endParaRPr sz="700">
              <a:solidFill>
                <a:srgbClr val="475067"/>
              </a:solidFill>
            </a:endParaRPr>
          </a:p>
          <a:p>
            <a:pPr indent="0" lvl="0" marL="0" rtl="0" algn="ctr">
              <a:spcBef>
                <a:spcPts val="0"/>
              </a:spcBef>
              <a:spcAft>
                <a:spcPts val="0"/>
              </a:spcAft>
              <a:buNone/>
            </a:pPr>
            <a:r>
              <a:t/>
            </a:r>
            <a:endParaRPr sz="700">
              <a:solidFill>
                <a:srgbClr val="475067"/>
              </a:solidFill>
            </a:endParaRPr>
          </a:p>
          <a:p>
            <a:pPr indent="0" lvl="0" marL="0" rtl="0" algn="ctr">
              <a:spcBef>
                <a:spcPts val="0"/>
              </a:spcBef>
              <a:spcAft>
                <a:spcPts val="0"/>
              </a:spcAft>
              <a:buNone/>
            </a:pPr>
            <a:r>
              <a:rPr lang="en" sz="700">
                <a:solidFill>
                  <a:srgbClr val="475067"/>
                </a:solidFill>
              </a:rPr>
              <a:t>Test Team: </a:t>
            </a:r>
            <a:r>
              <a:rPr lang="en" sz="700">
                <a:solidFill>
                  <a:srgbClr val="475067"/>
                </a:solidFill>
              </a:rPr>
              <a:t>Call Transfer</a:t>
            </a:r>
            <a:endParaRPr sz="700">
              <a:solidFill>
                <a:srgbClr val="475067"/>
              </a:solidFill>
            </a:endParaRPr>
          </a:p>
          <a:p>
            <a:pPr indent="0" lvl="0" marL="0" rtl="0" algn="ctr">
              <a:spcBef>
                <a:spcPts val="0"/>
              </a:spcBef>
              <a:spcAft>
                <a:spcPts val="0"/>
              </a:spcAft>
              <a:buNone/>
            </a:pPr>
            <a:r>
              <a:rPr lang="en" sz="700">
                <a:solidFill>
                  <a:srgbClr val="475067"/>
                </a:solidFill>
              </a:rPr>
              <a:t>Rebaseline: Yes</a:t>
            </a:r>
            <a:endParaRPr sz="700">
              <a:solidFill>
                <a:srgbClr val="475067"/>
              </a:solidFill>
            </a:endParaRPr>
          </a:p>
        </p:txBody>
      </p:sp>
      <p:graphicFrame>
        <p:nvGraphicFramePr>
          <p:cNvPr id="237" name="Google Shape;237;p44"/>
          <p:cNvGraphicFramePr/>
          <p:nvPr/>
        </p:nvGraphicFramePr>
        <p:xfrm>
          <a:off x="2832325" y="1468913"/>
          <a:ext cx="3000000" cy="3000000"/>
        </p:xfrm>
        <a:graphic>
          <a:graphicData uri="http://schemas.openxmlformats.org/drawingml/2006/table">
            <a:tbl>
              <a:tblPr>
                <a:noFill/>
                <a:tableStyleId>{FFDB5839-1588-4DBD-A0F2-3C91E36F580D}</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Other</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Reconnect customer with previous agent after call drop</a:t>
                      </a:r>
                      <a:endParaRPr sz="1000">
                        <a:latin typeface="Inter"/>
                        <a:ea typeface="Inter"/>
                        <a:cs typeface="Inter"/>
                        <a:sym typeface="Inter"/>
                      </a:endParaRPr>
                    </a:p>
                  </a:txBody>
                  <a:tcPr marT="91425" marB="91425" marR="91425" marL="91425"/>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The junior agent is seeking assistance to reconnect a customer with a previous agent after an unexpected call drop, which doesn't fit neatly into the predefined categories.</a:t>
                      </a:r>
                      <a:endParaRPr sz="1000">
                        <a:latin typeface="Inter"/>
                        <a:ea typeface="Inter"/>
                        <a:cs typeface="Inter"/>
                        <a:sym typeface="Inte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3" name="Google Shape;243;p45"/>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44" name="Google Shape;244;p45"/>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Sonnet Support Example</a:t>
            </a:r>
            <a:endParaRPr sz="3500"/>
          </a:p>
        </p:txBody>
      </p:sp>
      <p:sp>
        <p:nvSpPr>
          <p:cNvPr id="245" name="Google Shape;245;p45"/>
          <p:cNvSpPr/>
          <p:nvPr/>
        </p:nvSpPr>
        <p:spPr>
          <a:xfrm>
            <a:off x="786825" y="1952150"/>
            <a:ext cx="1561500" cy="14241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User: "</a:t>
            </a:r>
            <a:r>
              <a:rPr lang="en" sz="700"/>
              <a:t>Yeah, so insured wanted to add a group discount and wanted to backdate it.  So I told them that it's not possible. They can only add it as of today. And he's saying that he's like an Economicall employee. So when I told him about it, he said he wanted to escalate it."</a:t>
            </a:r>
            <a:endParaRPr sz="700"/>
          </a:p>
        </p:txBody>
      </p:sp>
      <p:sp>
        <p:nvSpPr>
          <p:cNvPr id="246" name="Google Shape;246;p45"/>
          <p:cNvSpPr txBox="1"/>
          <p:nvPr/>
        </p:nvSpPr>
        <p:spPr>
          <a:xfrm>
            <a:off x="642375" y="35131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401a80a4-efee-593c-ba9c-9fb6ee615c62</a:t>
            </a:r>
            <a:endParaRPr sz="700">
              <a:solidFill>
                <a:srgbClr val="475067"/>
              </a:solidFill>
            </a:endParaRPr>
          </a:p>
          <a:p>
            <a:pPr indent="0" lvl="0" marL="0" rtl="0" algn="ctr">
              <a:spcBef>
                <a:spcPts val="0"/>
              </a:spcBef>
              <a:spcAft>
                <a:spcPts val="0"/>
              </a:spcAft>
              <a:buNone/>
            </a:pPr>
            <a:r>
              <a:t/>
            </a:r>
            <a:endParaRPr sz="700">
              <a:solidFill>
                <a:srgbClr val="475067"/>
              </a:solidFill>
            </a:endParaRPr>
          </a:p>
          <a:p>
            <a:pPr indent="0" lvl="0" marL="0" rtl="0" algn="ctr">
              <a:spcBef>
                <a:spcPts val="0"/>
              </a:spcBef>
              <a:spcAft>
                <a:spcPts val="0"/>
              </a:spcAft>
              <a:buNone/>
            </a:pPr>
            <a:r>
              <a:rPr lang="en" sz="700">
                <a:solidFill>
                  <a:srgbClr val="475067"/>
                </a:solidFill>
              </a:rPr>
              <a:t>Test Team: </a:t>
            </a:r>
            <a:r>
              <a:rPr lang="en" sz="700">
                <a:solidFill>
                  <a:srgbClr val="475067"/>
                </a:solidFill>
              </a:rPr>
              <a:t>Stubborn Customer</a:t>
            </a:r>
            <a:endParaRPr sz="700">
              <a:solidFill>
                <a:srgbClr val="475067"/>
              </a:solidFill>
            </a:endParaRPr>
          </a:p>
          <a:p>
            <a:pPr indent="0" lvl="0" marL="0" rtl="0" algn="ctr">
              <a:spcBef>
                <a:spcPts val="0"/>
              </a:spcBef>
              <a:spcAft>
                <a:spcPts val="0"/>
              </a:spcAft>
              <a:buNone/>
            </a:pPr>
            <a:r>
              <a:rPr lang="en" sz="700">
                <a:solidFill>
                  <a:srgbClr val="475067"/>
                </a:solidFill>
              </a:rPr>
              <a:t>Rebaseline: Yes</a:t>
            </a:r>
            <a:endParaRPr sz="700">
              <a:solidFill>
                <a:srgbClr val="475067"/>
              </a:solidFill>
            </a:endParaRPr>
          </a:p>
        </p:txBody>
      </p:sp>
      <p:graphicFrame>
        <p:nvGraphicFramePr>
          <p:cNvPr id="247" name="Google Shape;247;p45"/>
          <p:cNvGraphicFramePr/>
          <p:nvPr/>
        </p:nvGraphicFramePr>
        <p:xfrm>
          <a:off x="2832325" y="1468913"/>
          <a:ext cx="3000000" cy="3000000"/>
        </p:xfrm>
        <a:graphic>
          <a:graphicData uri="http://schemas.openxmlformats.org/drawingml/2006/table">
            <a:tbl>
              <a:tblPr>
                <a:noFill/>
                <a:tableStyleId>{FFDB5839-1588-4DBD-A0F2-3C91E36F580D}</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Product or Discount Eligibility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Confirm the process for adding a group discount retroactively</a:t>
                      </a:r>
                      <a:endParaRPr sz="1000">
                        <a:latin typeface="Inter"/>
                        <a:ea typeface="Inter"/>
                        <a:cs typeface="Inter"/>
                        <a:sym typeface="Inter"/>
                      </a:endParaRPr>
                    </a:p>
                  </a:txBody>
                  <a:tcPr marT="91425" marB="91425" marR="91425" marL="91425"/>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The junior agent sought clarification on the policy for backdating group discounts, especially for an employee, to ensure they were handling the situation correctly.</a:t>
                      </a:r>
                      <a:endParaRPr sz="1000">
                        <a:latin typeface="Inter"/>
                        <a:ea typeface="Inter"/>
                        <a:cs typeface="Inter"/>
                        <a:sym typeface="Inte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3" name="Google Shape;253;p46"/>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54" name="Google Shape;254;p46"/>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NBS</a:t>
            </a:r>
            <a:r>
              <a:rPr lang="en" sz="3500"/>
              <a:t> Escalation Example</a:t>
            </a:r>
            <a:endParaRPr sz="3500"/>
          </a:p>
        </p:txBody>
      </p:sp>
      <p:sp>
        <p:nvSpPr>
          <p:cNvPr id="255" name="Google Shape;255;p46"/>
          <p:cNvSpPr/>
          <p:nvPr/>
        </p:nvSpPr>
        <p:spPr>
          <a:xfrm>
            <a:off x="786825" y="1952150"/>
            <a:ext cx="1561500" cy="14241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User: "</a:t>
            </a:r>
            <a:r>
              <a:rPr lang="en" sz="700"/>
              <a:t>Do we have any decline rule for horses?"</a:t>
            </a:r>
            <a:endParaRPr sz="700"/>
          </a:p>
        </p:txBody>
      </p:sp>
      <p:sp>
        <p:nvSpPr>
          <p:cNvPr id="256" name="Google Shape;256;p46"/>
          <p:cNvSpPr txBox="1"/>
          <p:nvPr/>
        </p:nvSpPr>
        <p:spPr>
          <a:xfrm>
            <a:off x="642375" y="35131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01234ef0-c437-5776-9e0f-ee404033172d</a:t>
            </a:r>
            <a:endParaRPr sz="700">
              <a:solidFill>
                <a:srgbClr val="475067"/>
              </a:solidFill>
            </a:endParaRPr>
          </a:p>
          <a:p>
            <a:pPr indent="0" lvl="0" marL="0" rtl="0" algn="ctr">
              <a:spcBef>
                <a:spcPts val="0"/>
              </a:spcBef>
              <a:spcAft>
                <a:spcPts val="0"/>
              </a:spcAft>
              <a:buNone/>
            </a:pPr>
            <a:r>
              <a:t/>
            </a:r>
            <a:endParaRPr sz="700">
              <a:solidFill>
                <a:srgbClr val="475067"/>
              </a:solidFill>
            </a:endParaRPr>
          </a:p>
          <a:p>
            <a:pPr indent="0" lvl="0" marL="0" rtl="0" algn="ctr">
              <a:spcBef>
                <a:spcPts val="0"/>
              </a:spcBef>
              <a:spcAft>
                <a:spcPts val="0"/>
              </a:spcAft>
              <a:buNone/>
            </a:pPr>
            <a:r>
              <a:rPr lang="en" sz="700">
                <a:solidFill>
                  <a:srgbClr val="475067"/>
                </a:solidFill>
              </a:rPr>
              <a:t>Test Team: </a:t>
            </a:r>
            <a:r>
              <a:rPr lang="en" sz="700">
                <a:solidFill>
                  <a:srgbClr val="475067"/>
                </a:solidFill>
              </a:rPr>
              <a:t>Underwriting rule</a:t>
            </a:r>
            <a:endParaRPr sz="700">
              <a:solidFill>
                <a:srgbClr val="475067"/>
              </a:solidFill>
            </a:endParaRPr>
          </a:p>
        </p:txBody>
      </p:sp>
      <p:graphicFrame>
        <p:nvGraphicFramePr>
          <p:cNvPr id="257" name="Google Shape;257;p46"/>
          <p:cNvGraphicFramePr/>
          <p:nvPr/>
        </p:nvGraphicFramePr>
        <p:xfrm>
          <a:off x="2805750" y="1020338"/>
          <a:ext cx="3000000" cy="3000000"/>
        </p:xfrm>
        <a:graphic>
          <a:graphicData uri="http://schemas.openxmlformats.org/drawingml/2006/table">
            <a:tbl>
              <a:tblPr>
                <a:noFill/>
                <a:tableStyleId>{FFDB5839-1588-4DBD-A0F2-3C91E36F580D}</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Underwriting Clarification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Coverage for horses on property</a:t>
                      </a:r>
                      <a:endParaRPr sz="1000">
                        <a:latin typeface="Inter"/>
                        <a:ea typeface="Inter"/>
                        <a:cs typeface="Inter"/>
                        <a:sym typeface="Inter"/>
                      </a:endParaRPr>
                    </a:p>
                  </a:txBody>
                  <a:tcPr marT="91425" marB="91425" marR="91425" marL="91425"/>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The junior broker (User) called to seek clarification about whether there are any decline rules for insuring properties with horses. The broker was unsure about Economical Insurance's policy regarding coverage for horses on a property with a barn and house used for personal use only. This indicates that the junior broker needed clarification on underwriting guidelines specific to this situation. The senior agent was able to provide information from a knowledge base (KB) that confirmed horses are covered under the policy for liability, both on and off the premises, as long as it's for pleasure use. This interaction falls under the category of Underwriting Clarification, as it involves seeking guidance on specific policy coverage and risk acceptance criteria.</a:t>
                      </a:r>
                      <a:endParaRPr sz="900">
                        <a:latin typeface="Inter"/>
                        <a:ea typeface="Inter"/>
                        <a:cs typeface="Inter"/>
                        <a:sym typeface="Inter"/>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3" name="Google Shape;263;p4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64" name="Google Shape;264;p47"/>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NBS Escalation Example</a:t>
            </a:r>
            <a:endParaRPr sz="3500"/>
          </a:p>
        </p:txBody>
      </p:sp>
      <p:sp>
        <p:nvSpPr>
          <p:cNvPr id="265" name="Google Shape;265;p47"/>
          <p:cNvSpPr/>
          <p:nvPr/>
        </p:nvSpPr>
        <p:spPr>
          <a:xfrm>
            <a:off x="786825" y="1952150"/>
            <a:ext cx="1561500" cy="14241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User: "Perfect. I just want to make sure that I haven't gone crazy. So total premium for this term was 2733. Yeah. I see three payments, one for 1100, one for 1000, which would bring us to 2100, and the third one for 633, which would bring us to 733. So that should be a zero balance, but there still is a refund scheduled for November 9th for $849.”</a:t>
            </a:r>
            <a:endParaRPr sz="700"/>
          </a:p>
        </p:txBody>
      </p:sp>
      <p:sp>
        <p:nvSpPr>
          <p:cNvPr id="266" name="Google Shape;266;p47"/>
          <p:cNvSpPr txBox="1"/>
          <p:nvPr/>
        </p:nvSpPr>
        <p:spPr>
          <a:xfrm>
            <a:off x="642375" y="35131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02e4ed62-c068-549f-8435-cec50f3f47b9</a:t>
            </a:r>
            <a:endParaRPr sz="700">
              <a:solidFill>
                <a:srgbClr val="475067"/>
              </a:solidFill>
            </a:endParaRPr>
          </a:p>
          <a:p>
            <a:pPr indent="0" lvl="0" marL="0" rtl="0" algn="ctr">
              <a:spcBef>
                <a:spcPts val="0"/>
              </a:spcBef>
              <a:spcAft>
                <a:spcPts val="0"/>
              </a:spcAft>
              <a:buNone/>
            </a:pPr>
            <a:r>
              <a:t/>
            </a:r>
            <a:endParaRPr sz="700">
              <a:solidFill>
                <a:srgbClr val="475067"/>
              </a:solidFill>
            </a:endParaRPr>
          </a:p>
          <a:p>
            <a:pPr indent="0" lvl="0" marL="0" rtl="0" algn="ctr">
              <a:spcBef>
                <a:spcPts val="0"/>
              </a:spcBef>
              <a:spcAft>
                <a:spcPts val="0"/>
              </a:spcAft>
              <a:buNone/>
            </a:pPr>
            <a:r>
              <a:rPr lang="en" sz="700">
                <a:solidFill>
                  <a:srgbClr val="475067"/>
                </a:solidFill>
              </a:rPr>
              <a:t>Test Team: Billing logic</a:t>
            </a:r>
            <a:endParaRPr sz="700">
              <a:solidFill>
                <a:srgbClr val="475067"/>
              </a:solidFill>
            </a:endParaRPr>
          </a:p>
        </p:txBody>
      </p:sp>
      <p:graphicFrame>
        <p:nvGraphicFramePr>
          <p:cNvPr id="267" name="Google Shape;267;p47"/>
          <p:cNvGraphicFramePr/>
          <p:nvPr/>
        </p:nvGraphicFramePr>
        <p:xfrm>
          <a:off x="2769850" y="999838"/>
          <a:ext cx="3000000" cy="3000000"/>
        </p:xfrm>
        <a:graphic>
          <a:graphicData uri="http://schemas.openxmlformats.org/drawingml/2006/table">
            <a:tbl>
              <a:tblPr>
                <a:noFill/>
                <a:tableStyleId>{FFDB5839-1588-4DBD-A0F2-3C91E36F580D}</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System Error</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Unexpected refund scheduled despite zero balance</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junior broker (User) contacted the senior agent to verify a discrepancy in the policy's financial transactions. The policy (206-739-05 for Tiffany Zimmerman) shows a total premium of $2733, which has been fully paid through three payments. However, there is still a refund of $849 scheduled for November 9th, despite the account having a zero balance. The junior broker wanted to confirm that they weren't missing anything obvious and to verify if they should create a ticket to cancel this refund. This situation appears to be a system error where an unnecessary refund was scheduled, possibly due to the policy's cancellation and reinstatement process. The junior broker sought guidance to ensure they were interpreting the situation correctly and to determine the appropriate action to resolve the discrepancy.</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4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74" name="Google Shape;274;p48"/>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NBS </a:t>
            </a:r>
            <a:r>
              <a:rPr lang="en" sz="3500">
                <a:solidFill>
                  <a:schemeClr val="accent1"/>
                </a:solidFill>
              </a:rPr>
              <a:t>Escalation</a:t>
            </a:r>
            <a:r>
              <a:rPr lang="en" sz="3500"/>
              <a:t> Example</a:t>
            </a:r>
            <a:endParaRPr sz="3500"/>
          </a:p>
        </p:txBody>
      </p:sp>
      <p:sp>
        <p:nvSpPr>
          <p:cNvPr id="275" name="Google Shape;275;p48"/>
          <p:cNvSpPr/>
          <p:nvPr/>
        </p:nvSpPr>
        <p:spPr>
          <a:xfrm>
            <a:off x="786825" y="1952150"/>
            <a:ext cx="1561500" cy="14241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User: "Yeah, so if somebody had a renewal in October, they can still choose to opt out from DCPD after January. Like, it's not something they have to wait for the renewal to come up, right?”</a:t>
            </a:r>
            <a:endParaRPr sz="700"/>
          </a:p>
          <a:p>
            <a:pPr indent="0" lvl="0" marL="0" rtl="0" algn="ctr">
              <a:spcBef>
                <a:spcPts val="0"/>
              </a:spcBef>
              <a:spcAft>
                <a:spcPts val="0"/>
              </a:spcAft>
              <a:buNone/>
            </a:pPr>
            <a:r>
              <a:rPr lang="en" sz="700"/>
              <a:t>Agent: I'm not entirely sure.</a:t>
            </a:r>
            <a:endParaRPr sz="700"/>
          </a:p>
        </p:txBody>
      </p:sp>
      <p:sp>
        <p:nvSpPr>
          <p:cNvPr id="276" name="Google Shape;276;p48"/>
          <p:cNvSpPr txBox="1"/>
          <p:nvPr/>
        </p:nvSpPr>
        <p:spPr>
          <a:xfrm>
            <a:off x="642375" y="35131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034b4c5c-f95b-5248-a189-b5a95c1e334d</a:t>
            </a:r>
            <a:endParaRPr sz="700">
              <a:solidFill>
                <a:srgbClr val="475067"/>
              </a:solidFill>
            </a:endParaRPr>
          </a:p>
          <a:p>
            <a:pPr indent="0" lvl="0" marL="0" rtl="0" algn="ctr">
              <a:spcBef>
                <a:spcPts val="0"/>
              </a:spcBef>
              <a:spcAft>
                <a:spcPts val="0"/>
              </a:spcAft>
              <a:buNone/>
            </a:pPr>
            <a:r>
              <a:t/>
            </a:r>
            <a:endParaRPr sz="700">
              <a:solidFill>
                <a:srgbClr val="475067"/>
              </a:solidFill>
            </a:endParaRPr>
          </a:p>
          <a:p>
            <a:pPr indent="0" lvl="0" marL="0" rtl="0" algn="ctr">
              <a:spcBef>
                <a:spcPts val="0"/>
              </a:spcBef>
              <a:spcAft>
                <a:spcPts val="0"/>
              </a:spcAft>
              <a:buNone/>
            </a:pPr>
            <a:r>
              <a:rPr lang="en" sz="700">
                <a:solidFill>
                  <a:srgbClr val="475067"/>
                </a:solidFill>
              </a:rPr>
              <a:t>Test Team: </a:t>
            </a:r>
            <a:r>
              <a:rPr lang="en" sz="700">
                <a:solidFill>
                  <a:srgbClr val="475067"/>
                </a:solidFill>
              </a:rPr>
              <a:t>Timing of DCPD opt-out - Agent is asking if insured can opt out mid-term or if they need to wait until renewal.</a:t>
            </a:r>
            <a:r>
              <a:rPr lang="en" sz="700">
                <a:solidFill>
                  <a:srgbClr val="475067"/>
                </a:solidFill>
              </a:rPr>
              <a:t> </a:t>
            </a:r>
            <a:endParaRPr sz="700">
              <a:solidFill>
                <a:srgbClr val="475067"/>
              </a:solidFill>
            </a:endParaRPr>
          </a:p>
        </p:txBody>
      </p:sp>
      <p:graphicFrame>
        <p:nvGraphicFramePr>
          <p:cNvPr id="277" name="Google Shape;277;p48"/>
          <p:cNvGraphicFramePr/>
          <p:nvPr/>
        </p:nvGraphicFramePr>
        <p:xfrm>
          <a:off x="2750100" y="1334538"/>
          <a:ext cx="3000000" cy="3000000"/>
        </p:xfrm>
        <a:graphic>
          <a:graphicData uri="http://schemas.openxmlformats.org/drawingml/2006/table">
            <a:tbl>
              <a:tblPr>
                <a:noFill/>
                <a:tableStyleId>{FFDB5839-1588-4DBD-A0F2-3C91E36F580D}</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Documentation or Process Unclear</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DCPD opt-out options for Ontario customers</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junior broker (User) is seeking clarification about the Direct Compensation Property Damage (DCPD) opt-out process for Ontario customers. They are unsure about the timing and procedure for customers to opt out, particularly for those whose policies renewed before the January 1st implementation date. The conversation reveals that the junior broker lacks clear information about the process, indicating that the documentation or process details have not been clearly communicated to frontline staff. The senior agent also seems to have limited information, having to check for details during the call. This suggests that the escalation was necessary due to unclear or incomplete documentation about the new DCPD opt-out process.</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4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84" name="Google Shape;284;p49"/>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Sonnet Test Results</a:t>
            </a:r>
            <a:endParaRPr sz="3500"/>
          </a:p>
        </p:txBody>
      </p:sp>
      <p:pic>
        <p:nvPicPr>
          <p:cNvPr id="285" name="Google Shape;285;p49"/>
          <p:cNvPicPr preferRelativeResize="0"/>
          <p:nvPr/>
        </p:nvPicPr>
        <p:blipFill>
          <a:blip r:embed="rId3">
            <a:alphaModFix/>
          </a:blip>
          <a:stretch>
            <a:fillRect/>
          </a:stretch>
        </p:blipFill>
        <p:spPr>
          <a:xfrm>
            <a:off x="5255950" y="1642300"/>
            <a:ext cx="2520639" cy="945850"/>
          </a:xfrm>
          <a:prstGeom prst="rect">
            <a:avLst/>
          </a:prstGeom>
          <a:noFill/>
          <a:ln cap="flat" cmpd="sng" w="9525">
            <a:solidFill>
              <a:schemeClr val="dk1"/>
            </a:solidFill>
            <a:prstDash val="solid"/>
            <a:round/>
            <a:headEnd len="sm" w="sm" type="none"/>
            <a:tailEnd len="sm" w="sm" type="none"/>
          </a:ln>
        </p:spPr>
      </p:pic>
      <p:pic>
        <p:nvPicPr>
          <p:cNvPr id="286" name="Google Shape;286;p49"/>
          <p:cNvPicPr preferRelativeResize="0"/>
          <p:nvPr/>
        </p:nvPicPr>
        <p:blipFill>
          <a:blip r:embed="rId4">
            <a:alphaModFix/>
          </a:blip>
          <a:stretch>
            <a:fillRect/>
          </a:stretch>
        </p:blipFill>
        <p:spPr>
          <a:xfrm>
            <a:off x="981277" y="1625900"/>
            <a:ext cx="2944414" cy="978662"/>
          </a:xfrm>
          <a:prstGeom prst="rect">
            <a:avLst/>
          </a:prstGeom>
          <a:noFill/>
          <a:ln cap="flat" cmpd="sng" w="9525">
            <a:solidFill>
              <a:schemeClr val="dk1"/>
            </a:solidFill>
            <a:prstDash val="solid"/>
            <a:round/>
            <a:headEnd len="sm" w="sm" type="none"/>
            <a:tailEnd len="sm" w="sm" type="none"/>
          </a:ln>
        </p:spPr>
      </p:pic>
      <p:pic>
        <p:nvPicPr>
          <p:cNvPr id="287" name="Google Shape;287;p49"/>
          <p:cNvPicPr preferRelativeResize="0"/>
          <p:nvPr/>
        </p:nvPicPr>
        <p:blipFill>
          <a:blip r:embed="rId5">
            <a:alphaModFix/>
          </a:blip>
          <a:stretch>
            <a:fillRect/>
          </a:stretch>
        </p:blipFill>
        <p:spPr>
          <a:xfrm>
            <a:off x="4791125" y="2739429"/>
            <a:ext cx="3292288" cy="1228246"/>
          </a:xfrm>
          <a:prstGeom prst="rect">
            <a:avLst/>
          </a:prstGeom>
          <a:noFill/>
          <a:ln cap="flat" cmpd="sng" w="9525">
            <a:solidFill>
              <a:schemeClr val="dk1"/>
            </a:solidFill>
            <a:prstDash val="solid"/>
            <a:round/>
            <a:headEnd len="sm" w="sm" type="none"/>
            <a:tailEnd len="sm" w="sm" type="none"/>
          </a:ln>
        </p:spPr>
      </p:pic>
      <p:pic>
        <p:nvPicPr>
          <p:cNvPr id="288" name="Google Shape;288;p49"/>
          <p:cNvPicPr preferRelativeResize="0"/>
          <p:nvPr/>
        </p:nvPicPr>
        <p:blipFill>
          <a:blip r:embed="rId6">
            <a:alphaModFix/>
          </a:blip>
          <a:stretch>
            <a:fillRect/>
          </a:stretch>
        </p:blipFill>
        <p:spPr>
          <a:xfrm>
            <a:off x="512100" y="2748891"/>
            <a:ext cx="3747739" cy="1218784"/>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5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95" name="Google Shape;295;p50"/>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NBS Test</a:t>
            </a:r>
            <a:r>
              <a:rPr lang="en" sz="3500"/>
              <a:t> Results</a:t>
            </a:r>
            <a:endParaRPr sz="3500"/>
          </a:p>
        </p:txBody>
      </p:sp>
      <p:pic>
        <p:nvPicPr>
          <p:cNvPr id="296" name="Google Shape;296;p50"/>
          <p:cNvPicPr preferRelativeResize="0"/>
          <p:nvPr/>
        </p:nvPicPr>
        <p:blipFill>
          <a:blip r:embed="rId3">
            <a:alphaModFix/>
          </a:blip>
          <a:stretch>
            <a:fillRect/>
          </a:stretch>
        </p:blipFill>
        <p:spPr>
          <a:xfrm>
            <a:off x="2987750" y="1432324"/>
            <a:ext cx="2904476" cy="1018675"/>
          </a:xfrm>
          <a:prstGeom prst="rect">
            <a:avLst/>
          </a:prstGeom>
          <a:noFill/>
          <a:ln cap="flat" cmpd="sng" w="9525">
            <a:solidFill>
              <a:schemeClr val="dk1"/>
            </a:solidFill>
            <a:prstDash val="solid"/>
            <a:round/>
            <a:headEnd len="sm" w="sm" type="none"/>
            <a:tailEnd len="sm" w="sm" type="none"/>
          </a:ln>
        </p:spPr>
      </p:pic>
      <p:pic>
        <p:nvPicPr>
          <p:cNvPr id="297" name="Google Shape;297;p50"/>
          <p:cNvPicPr preferRelativeResize="0"/>
          <p:nvPr/>
        </p:nvPicPr>
        <p:blipFill>
          <a:blip r:embed="rId4">
            <a:alphaModFix/>
          </a:blip>
          <a:stretch>
            <a:fillRect/>
          </a:stretch>
        </p:blipFill>
        <p:spPr>
          <a:xfrm>
            <a:off x="2563688" y="2608850"/>
            <a:ext cx="3752601" cy="16721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Human First">
  <a:themeElements>
    <a:clrScheme name="Simple Light">
      <a:dk1>
        <a:srgbClr val="12184A"/>
      </a:dk1>
      <a:lt1>
        <a:srgbClr val="FFFFFF"/>
      </a:lt1>
      <a:dk2>
        <a:srgbClr val="F4F6FB"/>
      </a:dk2>
      <a:lt2>
        <a:srgbClr val="76CCED"/>
      </a:lt2>
      <a:accent1>
        <a:srgbClr val="294489"/>
      </a:accent1>
      <a:accent2>
        <a:srgbClr val="650C4C"/>
      </a:accent2>
      <a:accent3>
        <a:srgbClr val="D0D4DD"/>
      </a:accent3>
      <a:accent4>
        <a:srgbClr val="98A0B3"/>
      </a:accent4>
      <a:accent5>
        <a:srgbClr val="666F85"/>
      </a:accent5>
      <a:accent6>
        <a:srgbClr val="475067"/>
      </a:accent6>
      <a:hlink>
        <a:srgbClr val="2944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