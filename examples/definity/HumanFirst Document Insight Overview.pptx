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5143500" cx="9144000"/>
  <p:notesSz cx="6858000" cy="9144000"/>
  <p:embeddedFontLst>
    <p:embeddedFont>
      <p:font typeface="Inter Light"/>
      <p:regular r:id="rId41"/>
      <p:bold r:id="rId42"/>
      <p:italic r:id="rId43"/>
      <p:boldItalic r:id="rId44"/>
    </p:embeddedFont>
    <p:embeddedFont>
      <p:font typeface="Inter"/>
      <p:regular r:id="rId45"/>
      <p:bold r:id="rId46"/>
      <p:italic r:id="rId47"/>
      <p:boldItalic r:id="rId48"/>
    </p:embeddedFont>
    <p:embeddedFont>
      <p:font typeface="Manrope SemiBold"/>
      <p:regular r:id="rId49"/>
      <p:bold r:id="rId50"/>
    </p:embeddedFont>
    <p:embeddedFont>
      <p:font typeface="Manrope"/>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DE32D8-F077-431D-9DB8-49D1D2CB80EE}">
  <a:tblStyle styleId="{A3DE32D8-F077-431D-9DB8-49D1D2CB80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font" Target="fonts/InterLight-bold.fntdata"/><Relationship Id="rId41" Type="http://schemas.openxmlformats.org/officeDocument/2006/relationships/font" Target="fonts/InterLight-regular.fntdata"/><Relationship Id="rId44" Type="http://schemas.openxmlformats.org/officeDocument/2006/relationships/font" Target="fonts/InterLight-boldItalic.fntdata"/><Relationship Id="rId43" Type="http://schemas.openxmlformats.org/officeDocument/2006/relationships/font" Target="fonts/InterLight-italic.fntdata"/><Relationship Id="rId46" Type="http://schemas.openxmlformats.org/officeDocument/2006/relationships/font" Target="fonts/Inter-bold.fntdata"/><Relationship Id="rId45"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Inter-boldItalic.fntdata"/><Relationship Id="rId47" Type="http://schemas.openxmlformats.org/officeDocument/2006/relationships/font" Target="fonts/Inter-italic.fntdata"/><Relationship Id="rId49" Type="http://schemas.openxmlformats.org/officeDocument/2006/relationships/font" Target="fonts/ManropeSemiBol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anrope-regular.fntdata"/><Relationship Id="rId50" Type="http://schemas.openxmlformats.org/officeDocument/2006/relationships/font" Target="fonts/ManropeSemiBold-bold.fntdata"/><Relationship Id="rId52" Type="http://schemas.openxmlformats.org/officeDocument/2006/relationships/font" Target="fonts/Manrope-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662bfe6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662bfe6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0bc21d04b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0bc21d04b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0bc21d04b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0bc21d04b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bc21d04b5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0bc21d04b5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0bc21d04b5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0bc21d04b5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0bc21d04b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0bc21d04b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ABCD 5532 used for example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1413cfda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1413cfda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0bc21d04b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0bc21d04b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0e998fedc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0e998fedc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0bc21d04b5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0bc21d04b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0bc21d04b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0bc21d04b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1209074b3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1209074b3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209074b3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1209074b3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1209074b3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1209074b3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209074b3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1209074b3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1209074b3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1209074b3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1209074b3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1209074b3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1209074b3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1209074b3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1209074b3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1209074b3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1209074b3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1209074b3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1209074b3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1209074b3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1209074b3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1209074b3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0bc21d04b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0bc21d04b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0bc21d04b5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0bc21d04b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0bc21d04b5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0bc21d04b5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1209074b3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1209074b3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1209074b3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1209074b3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125e9c44d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125e9c44d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125e9c44d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125e9c44d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0bc21d04b5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0bc21d04b5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0bc21d04b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0bc21d04b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0b37132ff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0b37132ff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hyperlink" Target="https://humanfirst.a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hyperlink" Target="https://pypi.org/project/humanfirst/" TargetMode="External"/><Relationship Id="rId4" Type="http://schemas.openxmlformats.org/officeDocument/2006/relationships/image" Target="../media/image8.png"/><Relationship Id="rId5"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 Id="rId3" Type="http://schemas.openxmlformats.org/officeDocument/2006/relationships/image" Target="../media/image14.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74643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Document to Insight</a:t>
            </a:r>
            <a:br>
              <a:rPr lang="en" sz="3600">
                <a:solidFill>
                  <a:schemeClr val="lt1"/>
                </a:solidFill>
                <a:latin typeface="Manrope SemiBold"/>
                <a:ea typeface="Manrope SemiBold"/>
                <a:cs typeface="Manrope SemiBold"/>
                <a:sym typeface="Manrope SemiBold"/>
              </a:rPr>
            </a:br>
            <a:r>
              <a:rPr lang="en" sz="1800">
                <a:solidFill>
                  <a:schemeClr val="lt1"/>
                </a:solidFill>
                <a:latin typeface="Manrope SemiBold"/>
                <a:ea typeface="Manrope SemiBold"/>
                <a:cs typeface="Manrope SemiBold"/>
                <a:sym typeface="Manrope SemiBold"/>
              </a:rPr>
              <a:t>An Overview</a:t>
            </a:r>
            <a:endParaRPr sz="18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3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44" name="Google Shape;144;p3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Agenda</a:t>
            </a:r>
            <a:endParaRPr sz="3500"/>
          </a:p>
        </p:txBody>
      </p:sp>
      <p:sp>
        <p:nvSpPr>
          <p:cNvPr id="145" name="Google Shape;145;p37"/>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sp>
        <p:nvSpPr>
          <p:cNvPr id="146" name="Google Shape;146;p37"/>
          <p:cNvSpPr txBox="1"/>
          <p:nvPr>
            <p:ph idx="1" type="body"/>
          </p:nvPr>
        </p:nvSpPr>
        <p:spPr>
          <a:xfrm>
            <a:off x="668100" y="1119900"/>
            <a:ext cx="75462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What is HumanFirst and Prompt x Data (PxD)?</a:t>
            </a:r>
            <a:endParaRPr/>
          </a:p>
          <a:p>
            <a:pPr indent="-317500" lvl="0" marL="457200" rtl="0" algn="l">
              <a:spcBef>
                <a:spcPts val="0"/>
              </a:spcBef>
              <a:spcAft>
                <a:spcPts val="0"/>
              </a:spcAft>
              <a:buSzPts val="1400"/>
              <a:buChar char="●"/>
            </a:pPr>
            <a:r>
              <a:rPr lang="en"/>
              <a:t>Key conceptual flow within HF</a:t>
            </a:r>
            <a:endParaRPr/>
          </a:p>
          <a:p>
            <a:pPr indent="-317500" lvl="0" marL="457200" rtl="0" algn="l">
              <a:spcBef>
                <a:spcPts val="0"/>
              </a:spcBef>
              <a:spcAft>
                <a:spcPts val="0"/>
              </a:spcAft>
              <a:buSzPts val="1400"/>
              <a:buChar char="●"/>
            </a:pPr>
            <a:r>
              <a:rPr lang="en"/>
              <a:t>Practical Examples</a:t>
            </a:r>
            <a:endParaRPr/>
          </a:p>
          <a:p>
            <a:pPr indent="-317500" lvl="1" marL="914400" rtl="0" algn="l">
              <a:spcBef>
                <a:spcPts val="0"/>
              </a:spcBef>
              <a:spcAft>
                <a:spcPts val="0"/>
              </a:spcAft>
              <a:buSzPts val="1400"/>
              <a:buChar char="○"/>
            </a:pPr>
            <a:r>
              <a:rPr lang="en"/>
              <a:t>Data in</a:t>
            </a:r>
            <a:endParaRPr/>
          </a:p>
          <a:p>
            <a:pPr indent="-317500" lvl="1" marL="914400" rtl="0" algn="l">
              <a:spcBef>
                <a:spcPts val="0"/>
              </a:spcBef>
              <a:spcAft>
                <a:spcPts val="0"/>
              </a:spcAft>
              <a:buSzPts val="1400"/>
              <a:buChar char="○"/>
            </a:pPr>
            <a:r>
              <a:rPr lang="en"/>
              <a:t>Prompt</a:t>
            </a:r>
            <a:endParaRPr/>
          </a:p>
          <a:p>
            <a:pPr indent="-317500" lvl="1" marL="914400" rtl="0" algn="l">
              <a:spcBef>
                <a:spcPts val="0"/>
              </a:spcBef>
              <a:spcAft>
                <a:spcPts val="0"/>
              </a:spcAft>
              <a:buSzPts val="1400"/>
              <a:buChar char="○"/>
            </a:pPr>
            <a:r>
              <a:rPr lang="en"/>
              <a:t>Insights</a:t>
            </a:r>
            <a:endParaRPr/>
          </a:p>
          <a:p>
            <a:pPr indent="-317500" lvl="1" marL="914400" rtl="0" algn="l">
              <a:spcBef>
                <a:spcPts val="0"/>
              </a:spcBef>
              <a:spcAft>
                <a:spcPts val="0"/>
              </a:spcAft>
              <a:buSzPts val="1400"/>
              <a:buChar char="○"/>
            </a:pPr>
            <a:r>
              <a:rPr lang="en"/>
              <a:t>Pipeline</a:t>
            </a:r>
            <a:endParaRPr/>
          </a:p>
          <a:p>
            <a:pPr indent="-317500" lvl="1" marL="914400" rtl="0" algn="l">
              <a:spcBef>
                <a:spcPts val="0"/>
              </a:spcBef>
              <a:spcAft>
                <a:spcPts val="0"/>
              </a:spcAft>
              <a:buSzPts val="1400"/>
              <a:buChar char="○"/>
            </a:pPr>
            <a:r>
              <a:rPr lang="en"/>
              <a:t>Classification Model</a:t>
            </a:r>
            <a:endParaRPr/>
          </a:p>
          <a:p>
            <a:pPr indent="-317500" lvl="1" marL="914400" rtl="0" algn="l">
              <a:spcBef>
                <a:spcPts val="0"/>
              </a:spcBef>
              <a:spcAft>
                <a:spcPts val="0"/>
              </a:spcAft>
              <a:buSzPts val="1400"/>
              <a:buChar char="○"/>
            </a:pPr>
            <a:r>
              <a:rPr lang="en"/>
              <a:t>Data exploration</a:t>
            </a:r>
            <a:endParaRPr/>
          </a:p>
          <a:p>
            <a:pPr indent="-317500" lvl="1" marL="914400" rtl="0" algn="l">
              <a:spcBef>
                <a:spcPts val="0"/>
              </a:spcBef>
              <a:spcAft>
                <a:spcPts val="0"/>
              </a:spcAft>
              <a:buSzPts val="1400"/>
              <a:buChar char="○"/>
            </a:pPr>
            <a:r>
              <a:rPr lang="en"/>
              <a:t>Visualisation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3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53" name="Google Shape;153;p3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u="sng">
                <a:solidFill>
                  <a:schemeClr val="hlink"/>
                </a:solidFill>
                <a:hlinkClick r:id="rId3"/>
              </a:rPr>
              <a:t>https://HumanFirst.ai</a:t>
            </a:r>
            <a:endParaRPr sz="3500"/>
          </a:p>
          <a:p>
            <a:pPr indent="0" lvl="0" marL="0" rtl="0" algn="l">
              <a:spcBef>
                <a:spcPts val="0"/>
              </a:spcBef>
              <a:spcAft>
                <a:spcPts val="0"/>
              </a:spcAft>
              <a:buNone/>
            </a:pPr>
            <a:r>
              <a:t/>
            </a:r>
            <a:endParaRPr sz="3500"/>
          </a:p>
        </p:txBody>
      </p:sp>
      <p:sp>
        <p:nvSpPr>
          <p:cNvPr id="154" name="Google Shape;154;p38"/>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sp>
        <p:nvSpPr>
          <p:cNvPr id="155" name="Google Shape;155;p38"/>
          <p:cNvSpPr txBox="1"/>
          <p:nvPr>
            <p:ph idx="1" type="body"/>
          </p:nvPr>
        </p:nvSpPr>
        <p:spPr>
          <a:xfrm>
            <a:off x="668100" y="1119900"/>
            <a:ext cx="7546200" cy="35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a:br>
            <a:r>
              <a:rPr lang="en"/>
              <a:t>A horizontal Prompt and Data (PxD) suite for building AI systems you can trust.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lang="en"/>
              <a:t>LLM Model family agnostic </a:t>
            </a:r>
            <a:endParaRPr b="1"/>
          </a:p>
          <a:p>
            <a:pPr indent="-317500" lvl="1" marL="914400" rtl="0" algn="l">
              <a:spcBef>
                <a:spcPts val="0"/>
              </a:spcBef>
              <a:spcAft>
                <a:spcPts val="0"/>
              </a:spcAft>
              <a:buSzPts val="1400"/>
              <a:buChar char="○"/>
            </a:pPr>
            <a:r>
              <a:rPr lang="en"/>
              <a:t>Google, Anthropic, OpenAi, Co:here…</a:t>
            </a:r>
            <a:endParaRPr/>
          </a:p>
          <a:p>
            <a:pPr indent="-317500" lvl="0" marL="457200" rtl="0" algn="l">
              <a:spcBef>
                <a:spcPts val="0"/>
              </a:spcBef>
              <a:spcAft>
                <a:spcPts val="0"/>
              </a:spcAft>
              <a:buSzPts val="1400"/>
              <a:buChar char="●"/>
            </a:pPr>
            <a:r>
              <a:rPr b="1" lang="en"/>
              <a:t>Work across</a:t>
            </a:r>
            <a:r>
              <a:rPr b="1" lang="en"/>
              <a:t> wide variety of input material</a:t>
            </a:r>
            <a:endParaRPr b="1"/>
          </a:p>
          <a:p>
            <a:pPr indent="-317500" lvl="1" marL="914400" rtl="0" algn="l">
              <a:spcBef>
                <a:spcPts val="0"/>
              </a:spcBef>
              <a:spcAft>
                <a:spcPts val="0"/>
              </a:spcAft>
              <a:buSzPts val="1400"/>
              <a:buChar char="○"/>
            </a:pPr>
            <a:r>
              <a:rPr lang="en"/>
              <a:t>not limited to any one vertical use case or type of data</a:t>
            </a:r>
            <a:endParaRPr/>
          </a:p>
          <a:p>
            <a:pPr indent="-317500" lvl="0" marL="457200" rtl="0" algn="l">
              <a:spcBef>
                <a:spcPts val="0"/>
              </a:spcBef>
              <a:spcAft>
                <a:spcPts val="0"/>
              </a:spcAft>
              <a:buSzPts val="1400"/>
              <a:buChar char="●"/>
            </a:pPr>
            <a:r>
              <a:rPr b="1" lang="en"/>
              <a:t>Pipeline management across large datasets</a:t>
            </a:r>
            <a:endParaRPr b="1"/>
          </a:p>
          <a:p>
            <a:pPr indent="-317500" lvl="1" marL="914400" rtl="0" algn="l">
              <a:spcBef>
                <a:spcPts val="0"/>
              </a:spcBef>
              <a:spcAft>
                <a:spcPts val="0"/>
              </a:spcAft>
              <a:buSzPts val="1400"/>
              <a:buChar char="○"/>
            </a:pPr>
            <a:r>
              <a:rPr lang="en"/>
              <a:t>Keep a data set enriched with derived insight</a:t>
            </a:r>
            <a:endParaRPr/>
          </a:p>
          <a:p>
            <a:pPr indent="-317500" lvl="0" marL="457200" rtl="0" algn="l">
              <a:spcBef>
                <a:spcPts val="0"/>
              </a:spcBef>
              <a:spcAft>
                <a:spcPts val="0"/>
              </a:spcAft>
              <a:buSzPts val="1400"/>
              <a:buChar char="●"/>
            </a:pPr>
            <a:r>
              <a:rPr b="1" lang="en"/>
              <a:t>Prompt and </a:t>
            </a:r>
            <a:r>
              <a:rPr b="1" lang="en"/>
              <a:t>Classifier design</a:t>
            </a:r>
            <a:endParaRPr b="1"/>
          </a:p>
          <a:p>
            <a:pPr indent="-317500" lvl="1" marL="914400" rtl="0" algn="l">
              <a:spcBef>
                <a:spcPts val="0"/>
              </a:spcBef>
              <a:spcAft>
                <a:spcPts val="0"/>
              </a:spcAft>
              <a:buSzPts val="1400"/>
              <a:buChar char="○"/>
            </a:pPr>
            <a:r>
              <a:rPr lang="en"/>
              <a:t>Derive complex structured insight from unstructured data</a:t>
            </a:r>
            <a:endParaRPr/>
          </a:p>
          <a:p>
            <a:pPr indent="-317500" lvl="1" marL="914400" rtl="0" algn="l">
              <a:spcBef>
                <a:spcPts val="0"/>
              </a:spcBef>
              <a:spcAft>
                <a:spcPts val="0"/>
              </a:spcAft>
              <a:buSzPts val="1400"/>
              <a:buChar char="○"/>
            </a:pPr>
            <a:r>
              <a:rPr lang="en"/>
              <a:t>Reduce the number of classes an LLM provides to a taxonomy meeting your objectives</a:t>
            </a:r>
            <a:endParaRPr/>
          </a:p>
          <a:p>
            <a:pPr indent="-317500" lvl="0" marL="457200" rtl="0" algn="l">
              <a:spcBef>
                <a:spcPts val="0"/>
              </a:spcBef>
              <a:spcAft>
                <a:spcPts val="0"/>
              </a:spcAft>
              <a:buSzPts val="1400"/>
              <a:buChar char="●"/>
            </a:pPr>
            <a:r>
              <a:rPr b="1" lang="en"/>
              <a:t>Maintain and evolve your solution</a:t>
            </a:r>
            <a:endParaRPr b="1"/>
          </a:p>
          <a:p>
            <a:pPr indent="-317500" lvl="1" marL="914400" rtl="0" algn="l">
              <a:spcBef>
                <a:spcPts val="0"/>
              </a:spcBef>
              <a:spcAft>
                <a:spcPts val="0"/>
              </a:spcAft>
              <a:buSzPts val="1400"/>
              <a:buChar char="○"/>
            </a:pPr>
            <a:r>
              <a:rPr lang="en"/>
              <a:t>Expand granularity, cover new business releases, track model drift.</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9"/>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3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62" name="Google Shape;162;p3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Conceptual Flow in HF</a:t>
            </a:r>
            <a:endParaRPr sz="3500"/>
          </a:p>
          <a:p>
            <a:pPr indent="0" lvl="0" marL="0" rtl="0" algn="l">
              <a:spcBef>
                <a:spcPts val="0"/>
              </a:spcBef>
              <a:spcAft>
                <a:spcPts val="0"/>
              </a:spcAft>
              <a:buNone/>
            </a:pPr>
            <a:r>
              <a:t/>
            </a:r>
            <a:endParaRPr sz="3500"/>
          </a:p>
        </p:txBody>
      </p:sp>
      <p:pic>
        <p:nvPicPr>
          <p:cNvPr id="163" name="Google Shape;163;p39"/>
          <p:cNvPicPr preferRelativeResize="0"/>
          <p:nvPr/>
        </p:nvPicPr>
        <p:blipFill>
          <a:blip r:embed="rId3">
            <a:alphaModFix/>
          </a:blip>
          <a:stretch>
            <a:fillRect/>
          </a:stretch>
        </p:blipFill>
        <p:spPr>
          <a:xfrm>
            <a:off x="376463" y="1615137"/>
            <a:ext cx="1119825" cy="1119825"/>
          </a:xfrm>
          <a:prstGeom prst="rect">
            <a:avLst/>
          </a:prstGeom>
          <a:noFill/>
          <a:ln>
            <a:noFill/>
          </a:ln>
        </p:spPr>
      </p:pic>
      <p:sp>
        <p:nvSpPr>
          <p:cNvPr id="164" name="Google Shape;164;p39"/>
          <p:cNvSpPr txBox="1"/>
          <p:nvPr/>
        </p:nvSpPr>
        <p:spPr>
          <a:xfrm>
            <a:off x="71047" y="2921125"/>
            <a:ext cx="17307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Documents are</a:t>
            </a:r>
            <a:r>
              <a:rPr lang="en" sz="1200"/>
              <a:t> regularly loaded into HF forming a dataset</a:t>
            </a:r>
            <a:endParaRPr sz="1200"/>
          </a:p>
        </p:txBody>
      </p:sp>
      <p:pic>
        <p:nvPicPr>
          <p:cNvPr id="165" name="Google Shape;165;p39"/>
          <p:cNvPicPr preferRelativeResize="0"/>
          <p:nvPr/>
        </p:nvPicPr>
        <p:blipFill>
          <a:blip r:embed="rId4">
            <a:alphaModFix/>
          </a:blip>
          <a:stretch>
            <a:fillRect/>
          </a:stretch>
        </p:blipFill>
        <p:spPr>
          <a:xfrm>
            <a:off x="2414510" y="1842350"/>
            <a:ext cx="665400" cy="665400"/>
          </a:xfrm>
          <a:prstGeom prst="rect">
            <a:avLst/>
          </a:prstGeom>
          <a:noFill/>
          <a:ln>
            <a:noFill/>
          </a:ln>
        </p:spPr>
      </p:pic>
      <p:sp>
        <p:nvSpPr>
          <p:cNvPr id="166" name="Google Shape;166;p39"/>
          <p:cNvSpPr txBox="1"/>
          <p:nvPr/>
        </p:nvSpPr>
        <p:spPr>
          <a:xfrm>
            <a:off x="1803699" y="2921125"/>
            <a:ext cx="18870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 prompt guides the AI in reading the transcript and following business rules to extract </a:t>
            </a:r>
            <a:r>
              <a:rPr lang="en" sz="1200"/>
              <a:t>structured</a:t>
            </a:r>
            <a:r>
              <a:rPr lang="en" sz="1200"/>
              <a:t> data along with evidence for that decision</a:t>
            </a:r>
            <a:br>
              <a:rPr lang="en" sz="1200"/>
            </a:br>
            <a:endParaRPr sz="1200"/>
          </a:p>
        </p:txBody>
      </p:sp>
      <p:pic>
        <p:nvPicPr>
          <p:cNvPr id="167" name="Google Shape;167;p39"/>
          <p:cNvPicPr preferRelativeResize="0"/>
          <p:nvPr/>
        </p:nvPicPr>
        <p:blipFill>
          <a:blip r:embed="rId5">
            <a:alphaModFix/>
          </a:blip>
          <a:stretch>
            <a:fillRect/>
          </a:stretch>
        </p:blipFill>
        <p:spPr>
          <a:xfrm>
            <a:off x="4316041" y="1743925"/>
            <a:ext cx="922974" cy="922974"/>
          </a:xfrm>
          <a:prstGeom prst="rect">
            <a:avLst/>
          </a:prstGeom>
          <a:noFill/>
          <a:ln>
            <a:noFill/>
          </a:ln>
        </p:spPr>
      </p:pic>
      <p:sp>
        <p:nvSpPr>
          <p:cNvPr id="168" name="Google Shape;168;p39"/>
          <p:cNvSpPr txBox="1"/>
          <p:nvPr/>
        </p:nvSpPr>
        <p:spPr>
          <a:xfrm>
            <a:off x="3875124" y="2921125"/>
            <a:ext cx="1804800" cy="189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Pipeline provides caching and automation to maintain a view of that per-document insight across the whole dataset</a:t>
            </a:r>
            <a:endParaRPr sz="1200"/>
          </a:p>
        </p:txBody>
      </p:sp>
      <p:pic>
        <p:nvPicPr>
          <p:cNvPr id="169" name="Google Shape;169;p39"/>
          <p:cNvPicPr preferRelativeResize="0"/>
          <p:nvPr/>
        </p:nvPicPr>
        <p:blipFill>
          <a:blip r:embed="rId6">
            <a:alphaModFix/>
          </a:blip>
          <a:stretch>
            <a:fillRect/>
          </a:stretch>
        </p:blipFill>
        <p:spPr>
          <a:xfrm>
            <a:off x="6145332" y="1610175"/>
            <a:ext cx="1190475" cy="1190475"/>
          </a:xfrm>
          <a:prstGeom prst="rect">
            <a:avLst/>
          </a:prstGeom>
          <a:noFill/>
          <a:ln>
            <a:noFill/>
          </a:ln>
        </p:spPr>
      </p:pic>
      <p:sp>
        <p:nvSpPr>
          <p:cNvPr id="170" name="Google Shape;170;p39"/>
          <p:cNvSpPr txBox="1"/>
          <p:nvPr/>
        </p:nvSpPr>
        <p:spPr>
          <a:xfrm>
            <a:off x="5724004" y="2921125"/>
            <a:ext cx="20331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Classification maps the outputs into a hierarchical </a:t>
            </a:r>
            <a:r>
              <a:rPr lang="en" sz="1200"/>
              <a:t>taxonomy</a:t>
            </a:r>
            <a:r>
              <a:rPr lang="en" sz="1200"/>
              <a:t> depending on the intended data use</a:t>
            </a:r>
            <a:endParaRPr sz="1200"/>
          </a:p>
        </p:txBody>
      </p:sp>
      <p:pic>
        <p:nvPicPr>
          <p:cNvPr id="171" name="Google Shape;171;p39"/>
          <p:cNvPicPr preferRelativeResize="0"/>
          <p:nvPr/>
        </p:nvPicPr>
        <p:blipFill>
          <a:blip r:embed="rId7">
            <a:alphaModFix/>
          </a:blip>
          <a:stretch>
            <a:fillRect/>
          </a:stretch>
        </p:blipFill>
        <p:spPr>
          <a:xfrm>
            <a:off x="7948025" y="1835962"/>
            <a:ext cx="738900" cy="738900"/>
          </a:xfrm>
          <a:prstGeom prst="rect">
            <a:avLst/>
          </a:prstGeom>
          <a:noFill/>
          <a:ln>
            <a:noFill/>
          </a:ln>
        </p:spPr>
      </p:pic>
      <p:sp>
        <p:nvSpPr>
          <p:cNvPr id="172" name="Google Shape;172;p39"/>
          <p:cNvSpPr txBox="1"/>
          <p:nvPr/>
        </p:nvSpPr>
        <p:spPr>
          <a:xfrm>
            <a:off x="7508975" y="2921125"/>
            <a:ext cx="1617000" cy="111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Cluster</a:t>
            </a:r>
            <a:endParaRPr sz="1200"/>
          </a:p>
          <a:p>
            <a:pPr indent="0" lvl="0" marL="0" rtl="0" algn="ctr">
              <a:spcBef>
                <a:spcPts val="0"/>
              </a:spcBef>
              <a:spcAft>
                <a:spcPts val="0"/>
              </a:spcAft>
              <a:buNone/>
            </a:pPr>
            <a:r>
              <a:rPr lang="en" sz="1200"/>
              <a:t>Filter</a:t>
            </a:r>
            <a:endParaRPr sz="1200"/>
          </a:p>
          <a:p>
            <a:pPr indent="0" lvl="0" marL="0" rtl="0" algn="ctr">
              <a:spcBef>
                <a:spcPts val="0"/>
              </a:spcBef>
              <a:spcAft>
                <a:spcPts val="0"/>
              </a:spcAft>
              <a:buNone/>
            </a:pPr>
            <a:r>
              <a:rPr lang="en" sz="1200"/>
              <a:t>Explore</a:t>
            </a:r>
            <a:endParaRPr sz="1200"/>
          </a:p>
          <a:p>
            <a:pPr indent="0" lvl="0" marL="0" rtl="0" algn="ctr">
              <a:spcBef>
                <a:spcPts val="0"/>
              </a:spcBef>
              <a:spcAft>
                <a:spcPts val="0"/>
              </a:spcAft>
              <a:buNone/>
            </a:pPr>
            <a:r>
              <a:rPr lang="en" sz="1200"/>
              <a:t>Export</a:t>
            </a:r>
            <a:endParaRPr sz="1200"/>
          </a:p>
          <a:p>
            <a:pPr indent="0" lvl="0" marL="0" rtl="0" algn="ctr">
              <a:spcBef>
                <a:spcPts val="0"/>
              </a:spcBef>
              <a:spcAft>
                <a:spcPts val="0"/>
              </a:spcAft>
              <a:buNone/>
            </a:pPr>
            <a:r>
              <a:t/>
            </a:r>
            <a:endParaRPr sz="1200"/>
          </a:p>
          <a:p>
            <a:pPr indent="0" lvl="0" marL="0" rtl="0" algn="l">
              <a:spcBef>
                <a:spcPts val="0"/>
              </a:spcBef>
              <a:spcAft>
                <a:spcPts val="0"/>
              </a:spcAft>
              <a:buNone/>
            </a:pPr>
            <a:r>
              <a:rPr lang="en" sz="1200"/>
              <a:t>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0"/>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4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9" name="Google Shape;179;p4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SDK or GUI</a:t>
            </a:r>
            <a:endParaRPr sz="3500"/>
          </a:p>
          <a:p>
            <a:pPr indent="0" lvl="0" marL="0" rtl="0" algn="l">
              <a:spcBef>
                <a:spcPts val="0"/>
              </a:spcBef>
              <a:spcAft>
                <a:spcPts val="0"/>
              </a:spcAft>
              <a:buNone/>
            </a:pPr>
            <a:r>
              <a:t/>
            </a:r>
            <a:endParaRPr sz="3500"/>
          </a:p>
        </p:txBody>
      </p:sp>
      <p:sp>
        <p:nvSpPr>
          <p:cNvPr id="180" name="Google Shape;180;p40"/>
          <p:cNvSpPr txBox="1"/>
          <p:nvPr/>
        </p:nvSpPr>
        <p:spPr>
          <a:xfrm>
            <a:off x="2553372" y="2932838"/>
            <a:ext cx="17307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Full Python SDK for building enterprise workflows</a:t>
            </a:r>
            <a:br>
              <a:rPr lang="en" sz="1200"/>
            </a:br>
            <a:br>
              <a:rPr lang="en" sz="1200"/>
            </a:br>
            <a:r>
              <a:rPr lang="en" sz="1200" u="sng">
                <a:solidFill>
                  <a:schemeClr val="hlink"/>
                </a:solidFill>
                <a:hlinkClick r:id="rId3"/>
              </a:rPr>
              <a:t>https://pypi.org/project/humanfirst/</a:t>
            </a:r>
            <a:endParaRPr sz="1200"/>
          </a:p>
          <a:p>
            <a:pPr indent="0" lvl="0" marL="0" rtl="0" algn="ctr">
              <a:spcBef>
                <a:spcPts val="0"/>
              </a:spcBef>
              <a:spcAft>
                <a:spcPts val="0"/>
              </a:spcAft>
              <a:buNone/>
            </a:pPr>
            <a:br>
              <a:rPr lang="en" sz="1200"/>
            </a:br>
            <a:br>
              <a:rPr lang="en" sz="1200"/>
            </a:br>
            <a:endParaRPr sz="1200"/>
          </a:p>
        </p:txBody>
      </p:sp>
      <p:sp>
        <p:nvSpPr>
          <p:cNvPr id="181" name="Google Shape;181;p40"/>
          <p:cNvSpPr txBox="1"/>
          <p:nvPr/>
        </p:nvSpPr>
        <p:spPr>
          <a:xfrm>
            <a:off x="4286024" y="2932838"/>
            <a:ext cx="18870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SDK organised the way the GUI is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Interactively upload your datasets to</a:t>
            </a:r>
            <a:endParaRPr sz="1200"/>
          </a:p>
          <a:p>
            <a:pPr indent="0" lvl="0" marL="0" rtl="0" algn="ctr">
              <a:spcBef>
                <a:spcPts val="0"/>
              </a:spcBef>
              <a:spcAft>
                <a:spcPts val="0"/>
              </a:spcAft>
              <a:buNone/>
            </a:pPr>
            <a:r>
              <a:rPr lang="en" sz="1200"/>
              <a:t> explore more insights</a:t>
            </a:r>
            <a:br>
              <a:rPr lang="en" sz="1200"/>
            </a:br>
            <a:endParaRPr sz="1200"/>
          </a:p>
        </p:txBody>
      </p:sp>
      <p:pic>
        <p:nvPicPr>
          <p:cNvPr id="182" name="Google Shape;182;p40"/>
          <p:cNvPicPr preferRelativeResize="0"/>
          <p:nvPr/>
        </p:nvPicPr>
        <p:blipFill>
          <a:blip r:embed="rId4">
            <a:alphaModFix/>
          </a:blip>
          <a:stretch>
            <a:fillRect/>
          </a:stretch>
        </p:blipFill>
        <p:spPr>
          <a:xfrm>
            <a:off x="2940537" y="1797250"/>
            <a:ext cx="956376" cy="956376"/>
          </a:xfrm>
          <a:prstGeom prst="rect">
            <a:avLst/>
          </a:prstGeom>
          <a:noFill/>
          <a:ln>
            <a:noFill/>
          </a:ln>
        </p:spPr>
      </p:pic>
      <p:pic>
        <p:nvPicPr>
          <p:cNvPr id="183" name="Google Shape;183;p40"/>
          <p:cNvPicPr preferRelativeResize="0"/>
          <p:nvPr/>
        </p:nvPicPr>
        <p:blipFill>
          <a:blip r:embed="rId5">
            <a:alphaModFix/>
          </a:blip>
          <a:stretch>
            <a:fillRect/>
          </a:stretch>
        </p:blipFill>
        <p:spPr>
          <a:xfrm>
            <a:off x="4695650" y="1797248"/>
            <a:ext cx="1067751" cy="10677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87" name="Shape 187"/>
        <p:cNvGrpSpPr/>
        <p:nvPr/>
      </p:nvGrpSpPr>
      <p:grpSpPr>
        <a:xfrm>
          <a:off x="0" y="0"/>
          <a:ext cx="0" cy="0"/>
          <a:chOff x="0" y="0"/>
          <a:chExt cx="0" cy="0"/>
        </a:xfrm>
      </p:grpSpPr>
      <p:pic>
        <p:nvPicPr>
          <p:cNvPr id="188" name="Google Shape;188;p41"/>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89" name="Google Shape;189;p41"/>
          <p:cNvSpPr txBox="1"/>
          <p:nvPr/>
        </p:nvSpPr>
        <p:spPr>
          <a:xfrm>
            <a:off x="333650" y="1925250"/>
            <a:ext cx="74643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Example using Topic report for a conversation</a:t>
            </a:r>
            <a:br>
              <a:rPr lang="en" sz="3600">
                <a:solidFill>
                  <a:schemeClr val="lt1"/>
                </a:solidFill>
                <a:latin typeface="Manrope SemiBold"/>
                <a:ea typeface="Manrope SemiBold"/>
                <a:cs typeface="Manrope SemiBold"/>
                <a:sym typeface="Manrope SemiBold"/>
              </a:rPr>
            </a:br>
            <a:r>
              <a:rPr lang="en" sz="1800">
                <a:solidFill>
                  <a:schemeClr val="lt1"/>
                </a:solidFill>
                <a:latin typeface="Manrope SemiBold"/>
                <a:ea typeface="Manrope SemiBold"/>
                <a:cs typeface="Manrope SemiBold"/>
                <a:sym typeface="Manrope SemiBold"/>
              </a:rPr>
              <a:t>Definity</a:t>
            </a:r>
            <a:endParaRPr sz="1800">
              <a:solidFill>
                <a:schemeClr val="lt1"/>
              </a:solidFill>
              <a:latin typeface="Manrope SemiBold"/>
              <a:ea typeface="Manrope SemiBold"/>
              <a:cs typeface="Manrope SemiBold"/>
              <a:sym typeface="Manrope SemiBold"/>
            </a:endParaRPr>
          </a:p>
        </p:txBody>
      </p:sp>
      <p:pic>
        <p:nvPicPr>
          <p:cNvPr id="190" name="Google Shape;190;p41"/>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91" name="Google Shape;19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2"/>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4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98" name="Google Shape;198;p4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Document</a:t>
            </a:r>
            <a:endParaRPr sz="3500"/>
          </a:p>
          <a:p>
            <a:pPr indent="0" lvl="0" marL="0" rtl="0" algn="l">
              <a:spcBef>
                <a:spcPts val="0"/>
              </a:spcBef>
              <a:spcAft>
                <a:spcPts val="0"/>
              </a:spcAft>
              <a:buNone/>
            </a:pPr>
            <a:r>
              <a:t/>
            </a:r>
            <a:endParaRPr sz="3500"/>
          </a:p>
        </p:txBody>
      </p:sp>
      <p:pic>
        <p:nvPicPr>
          <p:cNvPr id="199" name="Google Shape;199;p42"/>
          <p:cNvPicPr preferRelativeResize="0"/>
          <p:nvPr/>
        </p:nvPicPr>
        <p:blipFill>
          <a:blip r:embed="rId3">
            <a:alphaModFix/>
          </a:blip>
          <a:stretch>
            <a:fillRect/>
          </a:stretch>
        </p:blipFill>
        <p:spPr>
          <a:xfrm>
            <a:off x="1312338" y="1761112"/>
            <a:ext cx="1119825" cy="1119825"/>
          </a:xfrm>
          <a:prstGeom prst="rect">
            <a:avLst/>
          </a:prstGeom>
          <a:noFill/>
          <a:ln>
            <a:noFill/>
          </a:ln>
        </p:spPr>
      </p:pic>
      <p:sp>
        <p:nvSpPr>
          <p:cNvPr id="200" name="Google Shape;200;p42"/>
          <p:cNvSpPr txBox="1"/>
          <p:nvPr/>
        </p:nvSpPr>
        <p:spPr>
          <a:xfrm>
            <a:off x="10069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 complex document is loaded into HumanFirst</a:t>
            </a:r>
            <a:endParaRPr sz="1200"/>
          </a:p>
        </p:txBody>
      </p:sp>
      <p:pic>
        <p:nvPicPr>
          <p:cNvPr id="201" name="Google Shape;201;p42"/>
          <p:cNvPicPr preferRelativeResize="0"/>
          <p:nvPr/>
        </p:nvPicPr>
        <p:blipFill>
          <a:blip r:embed="rId4">
            <a:alphaModFix/>
          </a:blip>
          <a:stretch>
            <a:fillRect/>
          </a:stretch>
        </p:blipFill>
        <p:spPr>
          <a:xfrm>
            <a:off x="3650570" y="0"/>
            <a:ext cx="2804054" cy="5143499"/>
          </a:xfrm>
          <a:prstGeom prst="rect">
            <a:avLst/>
          </a:prstGeom>
          <a:noFill/>
          <a:ln>
            <a:noFill/>
          </a:ln>
        </p:spPr>
      </p:pic>
      <p:sp>
        <p:nvSpPr>
          <p:cNvPr id="202" name="Google Shape;202;p42"/>
          <p:cNvSpPr txBox="1"/>
          <p:nvPr/>
        </p:nvSpPr>
        <p:spPr>
          <a:xfrm>
            <a:off x="5829075" y="2211550"/>
            <a:ext cx="3065400" cy="7758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3F5597"/>
                </a:solidFill>
                <a:highlight>
                  <a:srgbClr val="FFFFFF"/>
                </a:highlight>
                <a:latin typeface="Inter"/>
                <a:ea typeface="Inter"/>
                <a:cs typeface="Inter"/>
                <a:sym typeface="Inter"/>
              </a:rPr>
              <a:t>“I want to know when to expect my refund for the guess jacket… I thought you said you only wanted to know the status?... now I changed my mind so answer the question”</a:t>
            </a:r>
            <a:endParaRPr sz="900">
              <a:solidFill>
                <a:srgbClr val="3F5597"/>
              </a:solidFill>
              <a:highlight>
                <a:srgbClr val="FFFFFF"/>
              </a:highlight>
              <a:latin typeface="Inter"/>
              <a:ea typeface="Inter"/>
              <a:cs typeface="Inter"/>
              <a:sym typeface="Inter"/>
            </a:endParaRPr>
          </a:p>
          <a:p>
            <a:pPr indent="0" lvl="0" marL="0" rtl="0" algn="l">
              <a:lnSpc>
                <a:spcPct val="115000"/>
              </a:lnSpc>
              <a:spcBef>
                <a:spcPts val="0"/>
              </a:spcBef>
              <a:spcAft>
                <a:spcPts val="0"/>
              </a:spcAft>
              <a:buNone/>
            </a:pPr>
            <a:r>
              <a:t/>
            </a:r>
            <a:endParaRPr sz="900">
              <a:solidFill>
                <a:srgbClr val="3F5597"/>
              </a:solidFill>
              <a:highlight>
                <a:srgbClr val="FFFFFF"/>
              </a:highlight>
              <a:latin typeface="Inter"/>
              <a:ea typeface="Inter"/>
              <a:cs typeface="Inter"/>
              <a:sym typeface="Inter"/>
            </a:endParaRPr>
          </a:p>
          <a:p>
            <a:pPr indent="0" lvl="0" marL="0" rtl="0" algn="l">
              <a:lnSpc>
                <a:spcPct val="115000"/>
              </a:lnSpc>
              <a:spcBef>
                <a:spcPts val="0"/>
              </a:spcBef>
              <a:spcAft>
                <a:spcPts val="0"/>
              </a:spcAft>
              <a:buNone/>
            </a:pPr>
            <a:r>
              <a:t/>
            </a:r>
            <a:endParaRPr i="1" sz="900">
              <a:solidFill>
                <a:srgbClr val="3F5597"/>
              </a:solidFill>
              <a:highlight>
                <a:srgbClr val="FFFFFF"/>
              </a:highlight>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3"/>
          <p:cNvSpPr txBox="1"/>
          <p:nvPr/>
        </p:nvSpPr>
        <p:spPr>
          <a:xfrm>
            <a:off x="2952100" y="1792300"/>
            <a:ext cx="5559900" cy="17040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Courier New"/>
                <a:ea typeface="Courier New"/>
                <a:cs typeface="Courier New"/>
                <a:sym typeface="Courier New"/>
              </a:rPr>
              <a:t>Was this conversation fully resolved?</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conversation }}</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p:txBody>
      </p:sp>
      <p:sp>
        <p:nvSpPr>
          <p:cNvPr id="208" name="Google Shape;208;p43"/>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4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10" name="Google Shape;210;p43"/>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Prompt - the idea</a:t>
            </a:r>
            <a:endParaRPr sz="3500"/>
          </a:p>
        </p:txBody>
      </p:sp>
      <p:sp>
        <p:nvSpPr>
          <p:cNvPr id="211" name="Google Shape;211;p43"/>
          <p:cNvSpPr txBox="1"/>
          <p:nvPr/>
        </p:nvSpPr>
        <p:spPr>
          <a:xfrm>
            <a:off x="707375" y="3067100"/>
            <a:ext cx="21993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An idea of a prompt is explored, it’s unlikely to be good enough</a:t>
            </a:r>
            <a:endParaRPr sz="1200"/>
          </a:p>
          <a:p>
            <a:pPr indent="0" lvl="0" marL="0" rtl="0" algn="ctr">
              <a:spcBef>
                <a:spcPts val="0"/>
              </a:spcBef>
              <a:spcAft>
                <a:spcPts val="0"/>
              </a:spcAft>
              <a:buNone/>
            </a:pPr>
            <a:r>
              <a:rPr lang="en" sz="1200"/>
              <a:t>to produce satisfactory results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The concept “fully resolved” will have different meanings for every person and for every LLM</a:t>
            </a:r>
            <a:endParaRPr sz="1200"/>
          </a:p>
        </p:txBody>
      </p:sp>
      <p:pic>
        <p:nvPicPr>
          <p:cNvPr id="212" name="Google Shape;212;p43"/>
          <p:cNvPicPr preferRelativeResize="0"/>
          <p:nvPr/>
        </p:nvPicPr>
        <p:blipFill>
          <a:blip r:embed="rId3">
            <a:alphaModFix/>
          </a:blip>
          <a:stretch>
            <a:fillRect/>
          </a:stretch>
        </p:blipFill>
        <p:spPr>
          <a:xfrm>
            <a:off x="1463385" y="1842350"/>
            <a:ext cx="665400" cy="665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4"/>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4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19" name="Google Shape;219;p44"/>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Prompt</a:t>
            </a:r>
            <a:endParaRPr sz="3500"/>
          </a:p>
        </p:txBody>
      </p:sp>
      <p:sp>
        <p:nvSpPr>
          <p:cNvPr id="220" name="Google Shape;220;p44"/>
          <p:cNvSpPr txBox="1"/>
          <p:nvPr/>
        </p:nvSpPr>
        <p:spPr>
          <a:xfrm>
            <a:off x="9307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 structured prompt guiding the AI in how to interpret the document and what output is required is prepared and then tuned </a:t>
            </a:r>
            <a:endParaRPr sz="1200"/>
          </a:p>
        </p:txBody>
      </p:sp>
      <p:pic>
        <p:nvPicPr>
          <p:cNvPr id="221" name="Google Shape;221;p44"/>
          <p:cNvPicPr preferRelativeResize="0"/>
          <p:nvPr/>
        </p:nvPicPr>
        <p:blipFill>
          <a:blip r:embed="rId3">
            <a:alphaModFix/>
          </a:blip>
          <a:stretch>
            <a:fillRect/>
          </a:stretch>
        </p:blipFill>
        <p:spPr>
          <a:xfrm>
            <a:off x="1463385" y="1842350"/>
            <a:ext cx="665400" cy="665400"/>
          </a:xfrm>
          <a:prstGeom prst="rect">
            <a:avLst/>
          </a:prstGeom>
          <a:noFill/>
          <a:ln>
            <a:noFill/>
          </a:ln>
        </p:spPr>
      </p:pic>
      <p:sp>
        <p:nvSpPr>
          <p:cNvPr id="222" name="Google Shape;222;p44"/>
          <p:cNvSpPr txBox="1"/>
          <p:nvPr/>
        </p:nvSpPr>
        <p:spPr>
          <a:xfrm>
            <a:off x="2952100" y="1792300"/>
            <a:ext cx="5559900" cy="17040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Courier New"/>
                <a:ea typeface="Courier New"/>
                <a:cs typeface="Courier New"/>
                <a:sym typeface="Courier New"/>
              </a:rPr>
              <a:t>The following is a conversation between a "User" and an "Agent" of an online fashion retailer</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conversation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Your job is to analyse whether this conversation was fully resolved?</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Give your reasoning, then your answer as Yes, No or Unclear, followed by a brief one line description of the remaining issue is there is one, or "None" if there is not.</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5"/>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4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29" name="Google Shape;229;p4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Prompt tuned(CIDER) </a:t>
            </a:r>
            <a:endParaRPr sz="3500"/>
          </a:p>
          <a:p>
            <a:pPr indent="0" lvl="0" marL="0" rtl="0" algn="l">
              <a:spcBef>
                <a:spcPts val="0"/>
              </a:spcBef>
              <a:spcAft>
                <a:spcPts val="0"/>
              </a:spcAft>
              <a:buNone/>
            </a:pPr>
            <a:r>
              <a:t/>
            </a:r>
            <a:endParaRPr sz="3500"/>
          </a:p>
        </p:txBody>
      </p:sp>
      <p:sp>
        <p:nvSpPr>
          <p:cNvPr id="230" name="Google Shape;230;p45"/>
          <p:cNvSpPr txBox="1"/>
          <p:nvPr/>
        </p:nvSpPr>
        <p:spPr>
          <a:xfrm>
            <a:off x="893075" y="3062075"/>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 prompt guiding the AI (</a:t>
            </a:r>
            <a:r>
              <a:rPr b="1" lang="en" sz="1200"/>
              <a:t>simplified</a:t>
            </a:r>
            <a:r>
              <a:rPr lang="en" sz="1200"/>
              <a:t>)</a:t>
            </a:r>
            <a:endParaRPr sz="1200"/>
          </a:p>
        </p:txBody>
      </p:sp>
      <p:pic>
        <p:nvPicPr>
          <p:cNvPr id="231" name="Google Shape;231;p45"/>
          <p:cNvPicPr preferRelativeResize="0"/>
          <p:nvPr/>
        </p:nvPicPr>
        <p:blipFill>
          <a:blip r:embed="rId3">
            <a:alphaModFix/>
          </a:blip>
          <a:stretch>
            <a:fillRect/>
          </a:stretch>
        </p:blipFill>
        <p:spPr>
          <a:xfrm>
            <a:off x="1463385" y="1842350"/>
            <a:ext cx="665400" cy="665400"/>
          </a:xfrm>
          <a:prstGeom prst="rect">
            <a:avLst/>
          </a:prstGeom>
          <a:noFill/>
          <a:ln>
            <a:noFill/>
          </a:ln>
        </p:spPr>
      </p:pic>
      <p:sp>
        <p:nvSpPr>
          <p:cNvPr id="232" name="Google Shape;232;p45"/>
          <p:cNvSpPr txBox="1"/>
          <p:nvPr/>
        </p:nvSpPr>
        <p:spPr>
          <a:xfrm>
            <a:off x="3027650" y="1059450"/>
            <a:ext cx="5559900" cy="3584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Courier New"/>
                <a:ea typeface="Courier New"/>
                <a:cs typeface="Courier New"/>
                <a:sym typeface="Courier New"/>
              </a:rPr>
              <a:t>The following is a conversation between a "User" and an "Agent" of an online fashion retailer</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&lt;conversation&gt;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conversation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&lt;/conversation&gt;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Your job is to analyse whether this conversation was fully resolved?</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consider what the users initial request was</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the actions the Agent took to help give it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the User's reaction to the agent solution</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Give your reasoning, then your answer as Yes, No or Unclear, followed by a brief one line description of the remaining issue is there is one, or "None" if there is not.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Respond with plain text key value pairs in this format: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reasoning: [ Reasoning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resolved: [ Yes, No or Unclear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remaining_issue: [ Your one line summary of remaining issue or None ]</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p:txBody>
      </p:sp>
      <p:sp>
        <p:nvSpPr>
          <p:cNvPr id="233" name="Google Shape;233;p45"/>
          <p:cNvSpPr/>
          <p:nvPr/>
        </p:nvSpPr>
        <p:spPr>
          <a:xfrm>
            <a:off x="534000" y="1496200"/>
            <a:ext cx="2377800" cy="2377800"/>
          </a:xfrm>
          <a:prstGeom prst="rect">
            <a:avLst/>
          </a:prstGeom>
          <a:solidFill>
            <a:srgbClr val="FFFFFF">
              <a:alpha val="613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45"/>
          <p:cNvSpPr/>
          <p:nvPr/>
        </p:nvSpPr>
        <p:spPr>
          <a:xfrm>
            <a:off x="906775" y="1269500"/>
            <a:ext cx="1792500" cy="357600"/>
          </a:xfrm>
          <a:prstGeom prst="wedgeRoundRectCallout">
            <a:avLst>
              <a:gd fmla="val 73981" name="adj1"/>
              <a:gd fmla="val -41548" name="adj2"/>
              <a:gd fmla="val 0" name="adj3"/>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a:t>C</a:t>
            </a:r>
            <a:r>
              <a:rPr lang="en"/>
              <a:t>ontext</a:t>
            </a:r>
            <a:endParaRPr/>
          </a:p>
        </p:txBody>
      </p:sp>
      <p:sp>
        <p:nvSpPr>
          <p:cNvPr id="235" name="Google Shape;235;p45"/>
          <p:cNvSpPr/>
          <p:nvPr/>
        </p:nvSpPr>
        <p:spPr>
          <a:xfrm>
            <a:off x="906625" y="2347400"/>
            <a:ext cx="1792500" cy="357600"/>
          </a:xfrm>
          <a:prstGeom prst="wedgeRoundRectCallout">
            <a:avLst>
              <a:gd fmla="val 79851" name="adj1"/>
              <a:gd fmla="val -130250" name="adj2"/>
              <a:gd fmla="val 0" name="adj3"/>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a:t>D</a:t>
            </a:r>
            <a:r>
              <a:rPr lang="en"/>
              <a:t>elimiters</a:t>
            </a:r>
            <a:endParaRPr/>
          </a:p>
        </p:txBody>
      </p:sp>
      <p:sp>
        <p:nvSpPr>
          <p:cNvPr id="236" name="Google Shape;236;p45"/>
          <p:cNvSpPr/>
          <p:nvPr/>
        </p:nvSpPr>
        <p:spPr>
          <a:xfrm>
            <a:off x="906625" y="1808450"/>
            <a:ext cx="1792500" cy="357600"/>
          </a:xfrm>
          <a:prstGeom prst="wedgeRoundRectCallout">
            <a:avLst>
              <a:gd fmla="val 82099" name="adj1"/>
              <a:gd fmla="val 71176" name="adj2"/>
              <a:gd fmla="val 0" name="adj3"/>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a:t>I</a:t>
            </a:r>
            <a:r>
              <a:rPr lang="en"/>
              <a:t>nstructions</a:t>
            </a:r>
            <a:endParaRPr/>
          </a:p>
        </p:txBody>
      </p:sp>
      <p:sp>
        <p:nvSpPr>
          <p:cNvPr id="237" name="Google Shape;237;p45"/>
          <p:cNvSpPr/>
          <p:nvPr/>
        </p:nvSpPr>
        <p:spPr>
          <a:xfrm>
            <a:off x="893075" y="3567775"/>
            <a:ext cx="1806000" cy="357600"/>
          </a:xfrm>
          <a:prstGeom prst="wedgeRoundRectCallout">
            <a:avLst>
              <a:gd fmla="val 69457" name="adj1"/>
              <a:gd fmla="val 58173" name="adj2"/>
              <a:gd fmla="val 0" name="adj3"/>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a:t>R</a:t>
            </a:r>
            <a:r>
              <a:rPr lang="en"/>
              <a:t>esponse Format</a:t>
            </a:r>
            <a:endParaRPr/>
          </a:p>
        </p:txBody>
      </p:sp>
      <p:sp>
        <p:nvSpPr>
          <p:cNvPr id="238" name="Google Shape;238;p45"/>
          <p:cNvSpPr/>
          <p:nvPr/>
        </p:nvSpPr>
        <p:spPr>
          <a:xfrm>
            <a:off x="893075" y="2854599"/>
            <a:ext cx="1806000" cy="559800"/>
          </a:xfrm>
          <a:prstGeom prst="wedgeRoundRectCallout">
            <a:avLst>
              <a:gd fmla="val 61985" name="adj1"/>
              <a:gd fmla="val 55533" name="adj2"/>
              <a:gd fmla="val 0" name="adj3"/>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a:t>E</a:t>
            </a:r>
            <a:r>
              <a:rPr lang="en"/>
              <a:t>xamples here maybe?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6"/>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4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45" name="Google Shape;245;p4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Insight</a:t>
            </a:r>
            <a:endParaRPr sz="3500"/>
          </a:p>
          <a:p>
            <a:pPr indent="0" lvl="0" marL="0" rtl="0" algn="l">
              <a:spcBef>
                <a:spcPts val="0"/>
              </a:spcBef>
              <a:spcAft>
                <a:spcPts val="0"/>
              </a:spcAft>
              <a:buNone/>
            </a:pPr>
            <a:r>
              <a:t/>
            </a:r>
            <a:endParaRPr sz="3500"/>
          </a:p>
        </p:txBody>
      </p:sp>
      <p:sp>
        <p:nvSpPr>
          <p:cNvPr id="246" name="Google Shape;246;p46"/>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The prompt produces the insight including it’s reasoning</a:t>
            </a:r>
            <a:endParaRPr sz="1200"/>
          </a:p>
        </p:txBody>
      </p:sp>
      <p:graphicFrame>
        <p:nvGraphicFramePr>
          <p:cNvPr id="247" name="Google Shape;247;p46"/>
          <p:cNvGraphicFramePr/>
          <p:nvPr/>
        </p:nvGraphicFramePr>
        <p:xfrm>
          <a:off x="3436875" y="1119900"/>
          <a:ext cx="3000000" cy="3000000"/>
        </p:xfrm>
        <a:graphic>
          <a:graphicData uri="http://schemas.openxmlformats.org/drawingml/2006/table">
            <a:tbl>
              <a:tblPr>
                <a:noFill/>
                <a:tableStyleId>{A3DE32D8-F077-431D-9DB8-49D1D2CB80EE}</a:tableStyleId>
              </a:tblPr>
              <a:tblGrid>
                <a:gridCol w="1706975"/>
                <a:gridCol w="3070450"/>
              </a:tblGrid>
              <a:tr h="351875">
                <a:tc>
                  <a:txBody>
                    <a:bodyPr/>
                    <a:lstStyle/>
                    <a:p>
                      <a:pPr indent="0" lvl="0" marL="0" rtl="0" algn="l">
                        <a:spcBef>
                          <a:spcPts val="0"/>
                        </a:spcBef>
                        <a:spcAft>
                          <a:spcPts val="0"/>
                        </a:spcAft>
                        <a:buNone/>
                      </a:pPr>
                      <a:r>
                        <a:rPr lang="en" sz="1200"/>
                        <a:t>resolved</a:t>
                      </a:r>
                      <a:endParaRPr sz="1200"/>
                    </a:p>
                  </a:txBody>
                  <a:tcPr marT="91425" marB="91425" marR="91425" marL="91425"/>
                </a:tc>
                <a:tc>
                  <a:txBody>
                    <a:bodyPr/>
                    <a:lstStyle/>
                    <a:p>
                      <a:pPr indent="0" lvl="0" marL="0" rtl="0" algn="l">
                        <a:spcBef>
                          <a:spcPts val="0"/>
                        </a:spcBef>
                        <a:spcAft>
                          <a:spcPts val="0"/>
                        </a:spcAft>
                        <a:buNone/>
                      </a:pPr>
                      <a:r>
                        <a:rPr lang="en" sz="900">
                          <a:solidFill>
                            <a:srgbClr val="3F5597"/>
                          </a:solidFill>
                          <a:highlight>
                            <a:srgbClr val="FFFFFF"/>
                          </a:highlight>
                          <a:latin typeface="Inter"/>
                          <a:ea typeface="Inter"/>
                          <a:cs typeface="Inter"/>
                          <a:sym typeface="Inter"/>
                        </a:rPr>
                        <a:t>No</a:t>
                      </a:r>
                      <a:endParaRPr sz="1800">
                        <a:solidFill>
                          <a:schemeClr val="dk1"/>
                        </a:solidFill>
                      </a:endParaRPr>
                    </a:p>
                  </a:txBody>
                  <a:tcPr marT="91425" marB="91425" marR="91425" marL="91425"/>
                </a:tc>
              </a:tr>
              <a:tr h="523875">
                <a:tc>
                  <a:txBody>
                    <a:bodyPr/>
                    <a:lstStyle/>
                    <a:p>
                      <a:pPr indent="0" lvl="0" marL="0" rtl="0" algn="l">
                        <a:spcBef>
                          <a:spcPts val="0"/>
                        </a:spcBef>
                        <a:spcAft>
                          <a:spcPts val="0"/>
                        </a:spcAft>
                        <a:buNone/>
                      </a:pPr>
                      <a:r>
                        <a:rPr lang="en" sz="1200"/>
                        <a:t>remaining_issue</a:t>
                      </a:r>
                      <a:endParaRPr sz="1200"/>
                    </a:p>
                  </a:txBody>
                  <a:tcPr marT="91425" marB="91425" marR="91425" marL="91425"/>
                </a:tc>
                <a:tc>
                  <a:txBody>
                    <a:bodyPr/>
                    <a:lstStyle/>
                    <a:p>
                      <a:pPr indent="0" lvl="0" marL="0" rtl="0" algn="l">
                        <a:spcBef>
                          <a:spcPts val="0"/>
                        </a:spcBef>
                        <a:spcAft>
                          <a:spcPts val="0"/>
                        </a:spcAft>
                        <a:buNone/>
                      </a:pPr>
                      <a:r>
                        <a:rPr lang="en" sz="900">
                          <a:solidFill>
                            <a:srgbClr val="3F5597"/>
                          </a:solidFill>
                          <a:highlight>
                            <a:srgbClr val="FFFFFF"/>
                          </a:highlight>
                          <a:latin typeface="Inter"/>
                          <a:ea typeface="Inter"/>
                          <a:cs typeface="Inter"/>
                          <a:sym typeface="Inter"/>
                        </a:rPr>
                        <a:t>User wants to add an item to their existing refund and confirm the total refund amount, which the agent couldn't address.</a:t>
                      </a:r>
                      <a:endParaRPr sz="1800">
                        <a:solidFill>
                          <a:schemeClr val="dk1"/>
                        </a:solidFill>
                      </a:endParaRPr>
                    </a:p>
                  </a:txBody>
                  <a:tcPr marT="91425" marB="91425" marR="91425" marL="91425"/>
                </a:tc>
              </a:tr>
              <a:tr h="1021900">
                <a:tc>
                  <a:txBody>
                    <a:bodyPr/>
                    <a:lstStyle/>
                    <a:p>
                      <a:pPr indent="0" lvl="0" marL="0" rtl="0" algn="l">
                        <a:spcBef>
                          <a:spcPts val="0"/>
                        </a:spcBef>
                        <a:spcAft>
                          <a:spcPts val="0"/>
                        </a:spcAft>
                        <a:buNone/>
                      </a:pPr>
                      <a:r>
                        <a:rPr lang="en" sz="1200"/>
                        <a:t>reasoning</a:t>
                      </a:r>
                      <a:endParaRPr sz="1200"/>
                    </a:p>
                  </a:txBody>
                  <a:tcPr marT="91425" marB="91425" marR="91425" marL="91425"/>
                </a:tc>
                <a:tc>
                  <a:txBody>
                    <a:bodyPr/>
                    <a:lstStyle/>
                    <a:p>
                      <a:pPr indent="0" lvl="0" marL="0" rtl="0" algn="l">
                        <a:lnSpc>
                          <a:spcPct val="115000"/>
                        </a:lnSpc>
                        <a:spcBef>
                          <a:spcPts val="0"/>
                        </a:spcBef>
                        <a:spcAft>
                          <a:spcPts val="0"/>
                        </a:spcAft>
                        <a:buNone/>
                      </a:pPr>
                      <a:r>
                        <a:rPr lang="en" sz="900">
                          <a:solidFill>
                            <a:srgbClr val="3F5597"/>
                          </a:solidFill>
                          <a:highlight>
                            <a:srgbClr val="FFFFFF"/>
                          </a:highlight>
                          <a:latin typeface="Inter"/>
                          <a:ea typeface="Inter"/>
                          <a:cs typeface="Inter"/>
                          <a:sym typeface="Inter"/>
                        </a:rPr>
                        <a:t>The conversation was not fully resolved. The user's initial request was to know the status of their refund for a Guess jacket. The agent provided this information, stating the refund was in progress. However, the user then changed their request, wanting to add another item to the refund and inquiring about the total amount. The agent seemed confused by this change and didn't address the new request adequately. The user became frustrated and asked for a manager. The agent's off-the-record comment about not being able to see amounts further indicates they were unable to assist with the user's new request.</a:t>
                      </a:r>
                      <a:endParaRPr sz="1800">
                        <a:solidFill>
                          <a:schemeClr val="dk1"/>
                        </a:solidFill>
                      </a:endParaRPr>
                    </a:p>
                  </a:txBody>
                  <a:tcPr marT="91425" marB="91425" marR="91425" marL="91425"/>
                </a:tc>
              </a:tr>
            </a:tbl>
          </a:graphicData>
        </a:graphic>
      </p:graphicFrame>
      <p:pic>
        <p:nvPicPr>
          <p:cNvPr id="248" name="Google Shape;248;p46"/>
          <p:cNvPicPr preferRelativeResize="0"/>
          <p:nvPr/>
        </p:nvPicPr>
        <p:blipFill>
          <a:blip r:embed="rId3">
            <a:alphaModFix/>
          </a:blip>
          <a:stretch>
            <a:fillRect/>
          </a:stretch>
        </p:blipFill>
        <p:spPr>
          <a:xfrm>
            <a:off x="1615785" y="1842350"/>
            <a:ext cx="665400" cy="665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7"/>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4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55" name="Google Shape;255;p4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Pipeline</a:t>
            </a:r>
            <a:endParaRPr sz="3500"/>
          </a:p>
          <a:p>
            <a:pPr indent="0" lvl="0" marL="0" rtl="0" algn="l">
              <a:spcBef>
                <a:spcPts val="0"/>
              </a:spcBef>
              <a:spcAft>
                <a:spcPts val="0"/>
              </a:spcAft>
              <a:buNone/>
            </a:pPr>
            <a:r>
              <a:t/>
            </a:r>
            <a:endParaRPr sz="3500"/>
          </a:p>
        </p:txBody>
      </p:sp>
      <p:sp>
        <p:nvSpPr>
          <p:cNvPr id="256" name="Google Shape;256;p47"/>
          <p:cNvSpPr txBox="1"/>
          <p:nvPr/>
        </p:nvSpPr>
        <p:spPr>
          <a:xfrm>
            <a:off x="691638" y="2875650"/>
            <a:ext cx="2513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Pipeline caches results, minimising</a:t>
            </a:r>
            <a:r>
              <a:rPr lang="en" sz="1200"/>
              <a:t> </a:t>
            </a:r>
            <a:r>
              <a:rPr lang="en" sz="1200"/>
              <a:t>LLM costs</a:t>
            </a:r>
            <a:br>
              <a:rPr lang="en" sz="1200"/>
            </a:br>
            <a:br>
              <a:rPr lang="en" sz="1200"/>
            </a:br>
            <a:r>
              <a:rPr lang="en" sz="1200"/>
              <a:t>Runs prompts at maximum speed LLM allows, handles </a:t>
            </a:r>
            <a:r>
              <a:rPr lang="en" sz="1200"/>
              <a:t>parallelism</a:t>
            </a:r>
            <a:r>
              <a:rPr lang="en" sz="1200"/>
              <a:t> and retries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Maintains a view of </a:t>
            </a:r>
            <a:r>
              <a:rPr lang="en" sz="1200"/>
              <a:t>derived</a:t>
            </a:r>
            <a:r>
              <a:rPr lang="en" sz="1200"/>
              <a:t> information across whole dataset</a:t>
            </a:r>
            <a:endParaRPr sz="1200"/>
          </a:p>
        </p:txBody>
      </p:sp>
      <p:pic>
        <p:nvPicPr>
          <p:cNvPr id="257" name="Google Shape;257;p47"/>
          <p:cNvPicPr preferRelativeResize="0"/>
          <p:nvPr/>
        </p:nvPicPr>
        <p:blipFill>
          <a:blip r:embed="rId3">
            <a:alphaModFix/>
          </a:blip>
          <a:stretch>
            <a:fillRect/>
          </a:stretch>
        </p:blipFill>
        <p:spPr>
          <a:xfrm>
            <a:off x="1487004" y="1743925"/>
            <a:ext cx="922974" cy="922974"/>
          </a:xfrm>
          <a:prstGeom prst="rect">
            <a:avLst/>
          </a:prstGeom>
          <a:noFill/>
          <a:ln>
            <a:noFill/>
          </a:ln>
        </p:spPr>
      </p:pic>
      <p:pic>
        <p:nvPicPr>
          <p:cNvPr id="258" name="Google Shape;258;p47"/>
          <p:cNvPicPr preferRelativeResize="0"/>
          <p:nvPr/>
        </p:nvPicPr>
        <p:blipFill rotWithShape="1">
          <a:blip r:embed="rId4">
            <a:alphaModFix/>
          </a:blip>
          <a:srcRect b="4484" l="0" r="606" t="7758"/>
          <a:stretch/>
        </p:blipFill>
        <p:spPr>
          <a:xfrm>
            <a:off x="3357750" y="1516350"/>
            <a:ext cx="5559000" cy="2760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8"/>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4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65" name="Google Shape;265;p4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Pipeline - Filtering</a:t>
            </a:r>
            <a:endParaRPr sz="3500"/>
          </a:p>
          <a:p>
            <a:pPr indent="0" lvl="0" marL="0" rtl="0" algn="l">
              <a:spcBef>
                <a:spcPts val="0"/>
              </a:spcBef>
              <a:spcAft>
                <a:spcPts val="0"/>
              </a:spcAft>
              <a:buNone/>
            </a:pPr>
            <a:r>
              <a:t/>
            </a:r>
            <a:endParaRPr sz="3500"/>
          </a:p>
        </p:txBody>
      </p:sp>
      <p:sp>
        <p:nvSpPr>
          <p:cNvPr id="266" name="Google Shape;266;p48"/>
          <p:cNvSpPr txBox="1"/>
          <p:nvPr/>
        </p:nvSpPr>
        <p:spPr>
          <a:xfrm>
            <a:off x="691650" y="2875650"/>
            <a:ext cx="2513700" cy="169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Pipelines can be filtered for the final run and the individual keys required</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Here we are filtering by resolved and we can filter by resolved=No to discover how many of the 5000 data points are not resolved</a:t>
            </a:r>
            <a:endParaRPr sz="1200"/>
          </a:p>
        </p:txBody>
      </p:sp>
      <p:pic>
        <p:nvPicPr>
          <p:cNvPr id="267" name="Google Shape;267;p48"/>
          <p:cNvPicPr preferRelativeResize="0"/>
          <p:nvPr/>
        </p:nvPicPr>
        <p:blipFill>
          <a:blip r:embed="rId3">
            <a:alphaModFix/>
          </a:blip>
          <a:stretch>
            <a:fillRect/>
          </a:stretch>
        </p:blipFill>
        <p:spPr>
          <a:xfrm>
            <a:off x="1487004" y="1743925"/>
            <a:ext cx="922974" cy="922974"/>
          </a:xfrm>
          <a:prstGeom prst="rect">
            <a:avLst/>
          </a:prstGeom>
          <a:noFill/>
          <a:ln>
            <a:noFill/>
          </a:ln>
        </p:spPr>
      </p:pic>
      <p:pic>
        <p:nvPicPr>
          <p:cNvPr id="268" name="Google Shape;268;p48"/>
          <p:cNvPicPr preferRelativeResize="0"/>
          <p:nvPr/>
        </p:nvPicPr>
        <p:blipFill rotWithShape="1">
          <a:blip r:embed="rId4">
            <a:alphaModFix/>
          </a:blip>
          <a:srcRect b="4485" l="0" r="0" t="7919"/>
          <a:stretch/>
        </p:blipFill>
        <p:spPr>
          <a:xfrm>
            <a:off x="3357750" y="1521400"/>
            <a:ext cx="5592701" cy="2755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9"/>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4" name="Google Shape;274;p4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75" name="Google Shape;275;p4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Pipeline - Batch actions</a:t>
            </a:r>
            <a:endParaRPr sz="3500"/>
          </a:p>
          <a:p>
            <a:pPr indent="0" lvl="0" marL="0" rtl="0" algn="l">
              <a:spcBef>
                <a:spcPts val="0"/>
              </a:spcBef>
              <a:spcAft>
                <a:spcPts val="0"/>
              </a:spcAft>
              <a:buNone/>
            </a:pPr>
            <a:r>
              <a:t/>
            </a:r>
            <a:endParaRPr sz="3500"/>
          </a:p>
        </p:txBody>
      </p:sp>
      <p:sp>
        <p:nvSpPr>
          <p:cNvPr id="276" name="Google Shape;276;p49"/>
          <p:cNvSpPr txBox="1"/>
          <p:nvPr/>
        </p:nvSpPr>
        <p:spPr>
          <a:xfrm>
            <a:off x="691638" y="2875650"/>
            <a:ext cx="2513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Batch actions move each key back to annotations on the original document - these go onto the initial utterance of the conversation</a:t>
            </a:r>
            <a:endParaRPr sz="1200"/>
          </a:p>
        </p:txBody>
      </p:sp>
      <p:pic>
        <p:nvPicPr>
          <p:cNvPr id="277" name="Google Shape;277;p49"/>
          <p:cNvPicPr preferRelativeResize="0"/>
          <p:nvPr/>
        </p:nvPicPr>
        <p:blipFill>
          <a:blip r:embed="rId3">
            <a:alphaModFix/>
          </a:blip>
          <a:stretch>
            <a:fillRect/>
          </a:stretch>
        </p:blipFill>
        <p:spPr>
          <a:xfrm>
            <a:off x="1487004" y="1743925"/>
            <a:ext cx="922974" cy="922974"/>
          </a:xfrm>
          <a:prstGeom prst="rect">
            <a:avLst/>
          </a:prstGeom>
          <a:noFill/>
          <a:ln>
            <a:noFill/>
          </a:ln>
        </p:spPr>
      </p:pic>
      <p:pic>
        <p:nvPicPr>
          <p:cNvPr id="278" name="Google Shape;278;p49"/>
          <p:cNvPicPr preferRelativeResize="0"/>
          <p:nvPr/>
        </p:nvPicPr>
        <p:blipFill rotWithShape="1">
          <a:blip r:embed="rId4">
            <a:alphaModFix/>
          </a:blip>
          <a:srcRect b="4485" l="0" r="0" t="8079"/>
          <a:stretch/>
        </p:blipFill>
        <p:spPr>
          <a:xfrm>
            <a:off x="3362775" y="1526425"/>
            <a:ext cx="5592701" cy="27506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0"/>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5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85" name="Google Shape;285;p5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Pipeline - Derived Columnar Data</a:t>
            </a:r>
            <a:endParaRPr sz="3500"/>
          </a:p>
          <a:p>
            <a:pPr indent="0" lvl="0" marL="0" rtl="0" algn="l">
              <a:spcBef>
                <a:spcPts val="0"/>
              </a:spcBef>
              <a:spcAft>
                <a:spcPts val="0"/>
              </a:spcAft>
              <a:buNone/>
            </a:pPr>
            <a:r>
              <a:t/>
            </a:r>
            <a:endParaRPr sz="3500"/>
          </a:p>
        </p:txBody>
      </p:sp>
      <p:sp>
        <p:nvSpPr>
          <p:cNvPr id="286" name="Google Shape;286;p50"/>
          <p:cNvSpPr txBox="1"/>
          <p:nvPr/>
        </p:nvSpPr>
        <p:spPr>
          <a:xfrm>
            <a:off x="691638" y="2875650"/>
            <a:ext cx="2513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The original documents can now be displayed, sorted and filtered by the derived data</a:t>
            </a:r>
            <a:endParaRPr sz="1200"/>
          </a:p>
        </p:txBody>
      </p:sp>
      <p:pic>
        <p:nvPicPr>
          <p:cNvPr id="287" name="Google Shape;287;p50"/>
          <p:cNvPicPr preferRelativeResize="0"/>
          <p:nvPr/>
        </p:nvPicPr>
        <p:blipFill>
          <a:blip r:embed="rId3">
            <a:alphaModFix/>
          </a:blip>
          <a:stretch>
            <a:fillRect/>
          </a:stretch>
        </p:blipFill>
        <p:spPr>
          <a:xfrm>
            <a:off x="1487004" y="1743925"/>
            <a:ext cx="922974" cy="922974"/>
          </a:xfrm>
          <a:prstGeom prst="rect">
            <a:avLst/>
          </a:prstGeom>
          <a:noFill/>
          <a:ln>
            <a:noFill/>
          </a:ln>
        </p:spPr>
      </p:pic>
      <p:pic>
        <p:nvPicPr>
          <p:cNvPr id="288" name="Google Shape;288;p50"/>
          <p:cNvPicPr preferRelativeResize="0"/>
          <p:nvPr/>
        </p:nvPicPr>
        <p:blipFill rotWithShape="1">
          <a:blip r:embed="rId4">
            <a:alphaModFix/>
          </a:blip>
          <a:srcRect b="4335" l="0" r="0" t="7915"/>
          <a:stretch/>
        </p:blipFill>
        <p:spPr>
          <a:xfrm>
            <a:off x="3357750" y="1521400"/>
            <a:ext cx="5592701" cy="2760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1"/>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5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95" name="Google Shape;295;p51"/>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Pipeline - Derived Columnar Data</a:t>
            </a:r>
            <a:endParaRPr sz="3500"/>
          </a:p>
          <a:p>
            <a:pPr indent="0" lvl="0" marL="0" rtl="0" algn="l">
              <a:spcBef>
                <a:spcPts val="0"/>
              </a:spcBef>
              <a:spcAft>
                <a:spcPts val="0"/>
              </a:spcAft>
              <a:buNone/>
            </a:pPr>
            <a:r>
              <a:t/>
            </a:r>
            <a:endParaRPr sz="3500"/>
          </a:p>
        </p:txBody>
      </p:sp>
      <p:sp>
        <p:nvSpPr>
          <p:cNvPr id="296" name="Google Shape;296;p51"/>
          <p:cNvSpPr txBox="1"/>
          <p:nvPr/>
        </p:nvSpPr>
        <p:spPr>
          <a:xfrm>
            <a:off x="691638" y="2875650"/>
            <a:ext cx="2513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We can see how many are not resolved, and that we have about 506 out of 5180 and each has </a:t>
            </a:r>
            <a:r>
              <a:rPr lang="en" sz="1200"/>
              <a:t>subtly</a:t>
            </a:r>
            <a:r>
              <a:rPr lang="en" sz="1200"/>
              <a:t> different reasons.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What are the key groups here?</a:t>
            </a:r>
            <a:endParaRPr sz="1200"/>
          </a:p>
        </p:txBody>
      </p:sp>
      <p:pic>
        <p:nvPicPr>
          <p:cNvPr id="297" name="Google Shape;297;p51"/>
          <p:cNvPicPr preferRelativeResize="0"/>
          <p:nvPr/>
        </p:nvPicPr>
        <p:blipFill>
          <a:blip r:embed="rId3">
            <a:alphaModFix/>
          </a:blip>
          <a:stretch>
            <a:fillRect/>
          </a:stretch>
        </p:blipFill>
        <p:spPr>
          <a:xfrm>
            <a:off x="1487004" y="1743925"/>
            <a:ext cx="922974" cy="922974"/>
          </a:xfrm>
          <a:prstGeom prst="rect">
            <a:avLst/>
          </a:prstGeom>
          <a:noFill/>
          <a:ln>
            <a:noFill/>
          </a:ln>
        </p:spPr>
      </p:pic>
      <p:pic>
        <p:nvPicPr>
          <p:cNvPr id="298" name="Google Shape;298;p51"/>
          <p:cNvPicPr preferRelativeResize="0"/>
          <p:nvPr/>
        </p:nvPicPr>
        <p:blipFill rotWithShape="1">
          <a:blip r:embed="rId4">
            <a:alphaModFix/>
          </a:blip>
          <a:srcRect b="4335" l="0" r="0" t="7915"/>
          <a:stretch/>
        </p:blipFill>
        <p:spPr>
          <a:xfrm>
            <a:off x="3357750" y="1521400"/>
            <a:ext cx="5592701" cy="2760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2"/>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4" name="Google Shape;304;p5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05" name="Google Shape;305;p5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Classification </a:t>
            </a:r>
            <a:endParaRPr sz="3500"/>
          </a:p>
          <a:p>
            <a:pPr indent="0" lvl="0" marL="0" rtl="0" algn="l">
              <a:spcBef>
                <a:spcPts val="0"/>
              </a:spcBef>
              <a:spcAft>
                <a:spcPts val="0"/>
              </a:spcAft>
              <a:buNone/>
            </a:pPr>
            <a:r>
              <a:t/>
            </a:r>
            <a:endParaRPr sz="3500"/>
          </a:p>
        </p:txBody>
      </p:sp>
      <p:graphicFrame>
        <p:nvGraphicFramePr>
          <p:cNvPr id="306" name="Google Shape;306;p52"/>
          <p:cNvGraphicFramePr/>
          <p:nvPr/>
        </p:nvGraphicFramePr>
        <p:xfrm>
          <a:off x="3436875" y="1119900"/>
          <a:ext cx="3000000" cy="3000000"/>
        </p:xfrm>
        <a:graphic>
          <a:graphicData uri="http://schemas.openxmlformats.org/drawingml/2006/table">
            <a:tbl>
              <a:tblPr>
                <a:noFill/>
                <a:tableStyleId>{A3DE32D8-F077-431D-9DB8-49D1D2CB80EE}</a:tableStyleId>
              </a:tblPr>
              <a:tblGrid>
                <a:gridCol w="1706975"/>
                <a:gridCol w="3070450"/>
              </a:tblGrid>
              <a:tr h="351875">
                <a:tc>
                  <a:txBody>
                    <a:bodyPr/>
                    <a:lstStyle/>
                    <a:p>
                      <a:pPr indent="0" lvl="0" marL="0" rtl="0" algn="l">
                        <a:spcBef>
                          <a:spcPts val="0"/>
                        </a:spcBef>
                        <a:spcAft>
                          <a:spcPts val="0"/>
                        </a:spcAft>
                        <a:buNone/>
                      </a:pPr>
                      <a:r>
                        <a:rPr lang="en" sz="1200"/>
                        <a:t>resolved</a:t>
                      </a:r>
                      <a:endParaRPr sz="1200"/>
                    </a:p>
                  </a:txBody>
                  <a:tcPr marT="91425" marB="91425" marR="91425" marL="91425"/>
                </a:tc>
                <a:tc>
                  <a:txBody>
                    <a:bodyPr/>
                    <a:lstStyle/>
                    <a:p>
                      <a:pPr indent="0" lvl="0" marL="0" rtl="0" algn="l">
                        <a:spcBef>
                          <a:spcPts val="0"/>
                        </a:spcBef>
                        <a:spcAft>
                          <a:spcPts val="0"/>
                        </a:spcAft>
                        <a:buNone/>
                      </a:pPr>
                      <a:r>
                        <a:rPr lang="en" sz="900">
                          <a:solidFill>
                            <a:srgbClr val="3F5597"/>
                          </a:solidFill>
                          <a:highlight>
                            <a:srgbClr val="FFFFFF"/>
                          </a:highlight>
                          <a:latin typeface="Inter"/>
                          <a:ea typeface="Inter"/>
                          <a:cs typeface="Inter"/>
                          <a:sym typeface="Inter"/>
                        </a:rPr>
                        <a:t>No</a:t>
                      </a:r>
                      <a:endParaRPr sz="1800">
                        <a:solidFill>
                          <a:schemeClr val="dk1"/>
                        </a:solidFill>
                      </a:endParaRPr>
                    </a:p>
                  </a:txBody>
                  <a:tcPr marT="91425" marB="91425" marR="91425" marL="91425"/>
                </a:tc>
              </a:tr>
              <a:tr h="523875">
                <a:tc>
                  <a:txBody>
                    <a:bodyPr/>
                    <a:lstStyle/>
                    <a:p>
                      <a:pPr indent="0" lvl="0" marL="0" rtl="0" algn="l">
                        <a:spcBef>
                          <a:spcPts val="0"/>
                        </a:spcBef>
                        <a:spcAft>
                          <a:spcPts val="0"/>
                        </a:spcAft>
                        <a:buNone/>
                      </a:pPr>
                      <a:r>
                        <a:rPr lang="en" sz="1200"/>
                        <a:t>remaining_issue</a:t>
                      </a:r>
                      <a:endParaRPr sz="1200"/>
                    </a:p>
                  </a:txBody>
                  <a:tcPr marT="91425" marB="91425" marR="91425" marL="91425"/>
                </a:tc>
                <a:tc>
                  <a:txBody>
                    <a:bodyPr/>
                    <a:lstStyle/>
                    <a:p>
                      <a:pPr indent="0" lvl="0" marL="0" rtl="0" algn="l">
                        <a:spcBef>
                          <a:spcPts val="0"/>
                        </a:spcBef>
                        <a:spcAft>
                          <a:spcPts val="0"/>
                        </a:spcAft>
                        <a:buNone/>
                      </a:pPr>
                      <a:r>
                        <a:rPr lang="en" sz="900">
                          <a:solidFill>
                            <a:srgbClr val="3F5597"/>
                          </a:solidFill>
                          <a:highlight>
                            <a:srgbClr val="FFFFFF"/>
                          </a:highlight>
                          <a:latin typeface="Inter"/>
                          <a:ea typeface="Inter"/>
                          <a:cs typeface="Inter"/>
                          <a:sym typeface="Inter"/>
                        </a:rPr>
                        <a:t>User wants to add an item to their existing refund and confirm the total refund amount, which the agent couldn't address.</a:t>
                      </a:r>
                      <a:endParaRPr sz="1800">
                        <a:solidFill>
                          <a:schemeClr val="dk1"/>
                        </a:solidFill>
                      </a:endParaRPr>
                    </a:p>
                  </a:txBody>
                  <a:tcPr marT="91425" marB="91425" marR="91425" marL="91425"/>
                </a:tc>
              </a:tr>
              <a:tr h="1021900">
                <a:tc>
                  <a:txBody>
                    <a:bodyPr/>
                    <a:lstStyle/>
                    <a:p>
                      <a:pPr indent="0" lvl="0" marL="0" rtl="0" algn="l">
                        <a:spcBef>
                          <a:spcPts val="0"/>
                        </a:spcBef>
                        <a:spcAft>
                          <a:spcPts val="0"/>
                        </a:spcAft>
                        <a:buNone/>
                      </a:pPr>
                      <a:r>
                        <a:rPr lang="en" sz="1200"/>
                        <a:t>reasoning</a:t>
                      </a:r>
                      <a:endParaRPr sz="1200"/>
                    </a:p>
                  </a:txBody>
                  <a:tcPr marT="91425" marB="91425" marR="91425" marL="91425"/>
                </a:tc>
                <a:tc>
                  <a:txBody>
                    <a:bodyPr/>
                    <a:lstStyle/>
                    <a:p>
                      <a:pPr indent="0" lvl="0" marL="0" rtl="0" algn="l">
                        <a:lnSpc>
                          <a:spcPct val="115000"/>
                        </a:lnSpc>
                        <a:spcBef>
                          <a:spcPts val="0"/>
                        </a:spcBef>
                        <a:spcAft>
                          <a:spcPts val="0"/>
                        </a:spcAft>
                        <a:buNone/>
                      </a:pPr>
                      <a:r>
                        <a:rPr lang="en" sz="900">
                          <a:solidFill>
                            <a:srgbClr val="3F5597"/>
                          </a:solidFill>
                          <a:highlight>
                            <a:srgbClr val="FFFFFF"/>
                          </a:highlight>
                          <a:latin typeface="Inter"/>
                          <a:ea typeface="Inter"/>
                          <a:cs typeface="Inter"/>
                          <a:sym typeface="Inter"/>
                        </a:rPr>
                        <a:t>The conversation was not fully resolved. The user's initial request was to know the status of their refund for a Guess jacket. The agent provided this information, stating the refund was in progress. However, the user then changed their request, wanting to add another item to the refund and inquiring about the total amount. The agent seemed confused by this change and didn't address the new request adequately. The user became frustrated and asked for a manager. The agent's off-the-record comment about not being able to see amounts further indicates they were unable to assist with the user's new request.</a:t>
                      </a:r>
                      <a:endParaRPr sz="1800">
                        <a:solidFill>
                          <a:schemeClr val="dk1"/>
                        </a:solidFill>
                      </a:endParaRPr>
                    </a:p>
                  </a:txBody>
                  <a:tcPr marT="91425" marB="91425" marR="91425" marL="91425"/>
                </a:tc>
              </a:tr>
            </a:tbl>
          </a:graphicData>
        </a:graphic>
      </p:graphicFrame>
      <p:sp>
        <p:nvSpPr>
          <p:cNvPr id="307" name="Google Shape;307;p52"/>
          <p:cNvSpPr/>
          <p:nvPr/>
        </p:nvSpPr>
        <p:spPr>
          <a:xfrm>
            <a:off x="512100" y="1119900"/>
            <a:ext cx="2374500" cy="1051500"/>
          </a:xfrm>
          <a:prstGeom prst="wedgeRoundRectCallout">
            <a:avLst>
              <a:gd fmla="val 75672" name="adj1"/>
              <a:gd fmla="val -32418" name="adj2"/>
              <a:gd fmla="val 0" name="adj3"/>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200"/>
              <a:t>Some data, like resolved </a:t>
            </a:r>
            <a:r>
              <a:rPr b="1" lang="en" sz="1200"/>
              <a:t>yes</a:t>
            </a:r>
            <a:r>
              <a:rPr lang="en" sz="1200"/>
              <a:t> or </a:t>
            </a:r>
            <a:r>
              <a:rPr b="1" lang="en" sz="1200"/>
              <a:t>no,</a:t>
            </a:r>
            <a:r>
              <a:rPr lang="en" sz="1200"/>
              <a:t> can be instantly used to filter and work with the original documents as it has a small number of distinct values</a:t>
            </a:r>
            <a:endParaRPr sz="1200"/>
          </a:p>
        </p:txBody>
      </p:sp>
      <p:sp>
        <p:nvSpPr>
          <p:cNvPr id="308" name="Google Shape;308;p52"/>
          <p:cNvSpPr/>
          <p:nvPr/>
        </p:nvSpPr>
        <p:spPr>
          <a:xfrm>
            <a:off x="512100" y="2347575"/>
            <a:ext cx="2374500" cy="2493600"/>
          </a:xfrm>
          <a:prstGeom prst="wedgeRoundRectCallout">
            <a:avLst>
              <a:gd fmla="val 85855" name="adj1"/>
              <a:gd fmla="val -70404" name="adj2"/>
              <a:gd fmla="val 0" name="adj3"/>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200"/>
              <a:t>Some data has </a:t>
            </a:r>
            <a:r>
              <a:rPr lang="en" sz="1200"/>
              <a:t>almost</a:t>
            </a:r>
            <a:r>
              <a:rPr lang="en" sz="1200"/>
              <a:t> a different value for every call, but they seem to fall into certain groups we might want to report on. </a:t>
            </a:r>
            <a:br>
              <a:rPr lang="en" sz="1200"/>
            </a:br>
            <a:br>
              <a:rPr lang="en" sz="1200"/>
            </a:br>
            <a:r>
              <a:rPr b="1" lang="en" sz="1200"/>
              <a:t>Classification </a:t>
            </a:r>
            <a:r>
              <a:rPr lang="en" sz="1200"/>
              <a:t>helps to quickly build a model to discover and label classes we are interested in to better use the data in reports and visualisation</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3"/>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5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15" name="Google Shape;315;p53"/>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download CSV</a:t>
            </a:r>
            <a:endParaRPr sz="3500"/>
          </a:p>
        </p:txBody>
      </p:sp>
      <p:sp>
        <p:nvSpPr>
          <p:cNvPr id="316" name="Google Shape;316;p53"/>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Download the data as a CSV (all 5180) to upload to group the classes of reasons</a:t>
            </a:r>
            <a:br>
              <a:rPr lang="en" sz="1200"/>
            </a:br>
            <a:br>
              <a:rPr lang="en" sz="1200"/>
            </a:br>
            <a:r>
              <a:rPr lang="en" sz="1200"/>
              <a:t>Ensure have a date and a role column or add them in CSV</a:t>
            </a:r>
            <a:endParaRPr sz="1200"/>
          </a:p>
        </p:txBody>
      </p:sp>
      <p:pic>
        <p:nvPicPr>
          <p:cNvPr id="317" name="Google Shape;317;p53"/>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18" name="Google Shape;318;p53"/>
          <p:cNvPicPr preferRelativeResize="0"/>
          <p:nvPr/>
        </p:nvPicPr>
        <p:blipFill rotWithShape="1">
          <a:blip r:embed="rId4">
            <a:alphaModFix/>
          </a:blip>
          <a:srcRect b="4335" l="0" r="0" t="7915"/>
          <a:stretch/>
        </p:blipFill>
        <p:spPr>
          <a:xfrm>
            <a:off x="3357750" y="1521400"/>
            <a:ext cx="5592701" cy="2760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4"/>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5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25" name="Google Shape;325;p54"/>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upload - Cluster</a:t>
            </a:r>
            <a:endParaRPr sz="3500"/>
          </a:p>
        </p:txBody>
      </p:sp>
      <p:sp>
        <p:nvSpPr>
          <p:cNvPr id="326" name="Google Shape;326;p54"/>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Upload to a new workspace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Clustering helps speed the process of creating a model</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pic>
        <p:nvPicPr>
          <p:cNvPr id="327" name="Google Shape;327;p54"/>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28" name="Google Shape;328;p54"/>
          <p:cNvPicPr preferRelativeResize="0"/>
          <p:nvPr/>
        </p:nvPicPr>
        <p:blipFill rotWithShape="1">
          <a:blip r:embed="rId4">
            <a:alphaModFix/>
          </a:blip>
          <a:srcRect b="4488" l="0" r="0" t="8366"/>
          <a:stretch/>
        </p:blipFill>
        <p:spPr>
          <a:xfrm>
            <a:off x="3329100" y="1545500"/>
            <a:ext cx="5592701" cy="2741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5"/>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5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35" name="Google Shape;335;p5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Grow Coverage</a:t>
            </a:r>
            <a:endParaRPr sz="3500"/>
          </a:p>
        </p:txBody>
      </p:sp>
      <p:sp>
        <p:nvSpPr>
          <p:cNvPr id="336" name="Google Shape;336;p55"/>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Monitor and increase coverage of the issue model across the dataset</a:t>
            </a:r>
            <a:endParaRPr sz="1200"/>
          </a:p>
        </p:txBody>
      </p:sp>
      <p:pic>
        <p:nvPicPr>
          <p:cNvPr id="337" name="Google Shape;337;p55"/>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38" name="Google Shape;338;p55"/>
          <p:cNvPicPr preferRelativeResize="0"/>
          <p:nvPr/>
        </p:nvPicPr>
        <p:blipFill rotWithShape="1">
          <a:blip r:embed="rId4">
            <a:alphaModFix/>
          </a:blip>
          <a:srcRect b="4488" l="0" r="0" t="8366"/>
          <a:stretch/>
        </p:blipFill>
        <p:spPr>
          <a:xfrm>
            <a:off x="3339150" y="1535425"/>
            <a:ext cx="5592701" cy="2741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6"/>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5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45" name="Google Shape;345;p5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Growing Coverage</a:t>
            </a:r>
            <a:endParaRPr sz="3500"/>
          </a:p>
        </p:txBody>
      </p:sp>
      <p:sp>
        <p:nvSpPr>
          <p:cNvPr id="346" name="Google Shape;346;p56"/>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Increasing classes</a:t>
            </a:r>
            <a:endParaRPr sz="1200"/>
          </a:p>
        </p:txBody>
      </p:sp>
      <p:pic>
        <p:nvPicPr>
          <p:cNvPr id="347" name="Google Shape;347;p56"/>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48" name="Google Shape;348;p56"/>
          <p:cNvPicPr preferRelativeResize="0"/>
          <p:nvPr/>
        </p:nvPicPr>
        <p:blipFill rotWithShape="1">
          <a:blip r:embed="rId4">
            <a:alphaModFix/>
          </a:blip>
          <a:srcRect b="4488" l="0" r="0" t="8366"/>
          <a:stretch/>
        </p:blipFill>
        <p:spPr>
          <a:xfrm>
            <a:off x="3278700" y="1555600"/>
            <a:ext cx="5592701" cy="2741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7"/>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5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55" name="Google Shape;355;p5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Total Coverage</a:t>
            </a:r>
            <a:endParaRPr sz="3500"/>
          </a:p>
        </p:txBody>
      </p:sp>
      <p:sp>
        <p:nvSpPr>
          <p:cNvPr id="356" name="Google Shape;356;p57"/>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Total coverage of set including duplicates (and many have “None” I.e no remaining issue here)</a:t>
            </a:r>
            <a:endParaRPr sz="1200"/>
          </a:p>
        </p:txBody>
      </p:sp>
      <p:pic>
        <p:nvPicPr>
          <p:cNvPr id="357" name="Google Shape;357;p57"/>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58" name="Google Shape;358;p57"/>
          <p:cNvPicPr preferRelativeResize="0"/>
          <p:nvPr/>
        </p:nvPicPr>
        <p:blipFill rotWithShape="1">
          <a:blip r:embed="rId4">
            <a:alphaModFix/>
          </a:blip>
          <a:srcRect b="4490" l="0" r="0" t="-4490"/>
          <a:stretch/>
        </p:blipFill>
        <p:spPr>
          <a:xfrm>
            <a:off x="2935600" y="1124900"/>
            <a:ext cx="5592701" cy="3145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8"/>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5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65" name="Google Shape;365;p5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Model Quality</a:t>
            </a:r>
            <a:endParaRPr sz="3500"/>
          </a:p>
        </p:txBody>
      </p:sp>
      <p:sp>
        <p:nvSpPr>
          <p:cNvPr id="366" name="Google Shape;366;p58"/>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As you grow the number of classes you discover and label, maintain and improve the quality of the model</a:t>
            </a:r>
            <a:endParaRPr sz="1200"/>
          </a:p>
        </p:txBody>
      </p:sp>
      <p:pic>
        <p:nvPicPr>
          <p:cNvPr id="367" name="Google Shape;367;p58"/>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68" name="Google Shape;368;p58"/>
          <p:cNvPicPr preferRelativeResize="0"/>
          <p:nvPr/>
        </p:nvPicPr>
        <p:blipFill rotWithShape="1">
          <a:blip r:embed="rId4">
            <a:alphaModFix/>
          </a:blip>
          <a:srcRect b="4275" l="0" r="0" t="7936"/>
          <a:stretch/>
        </p:blipFill>
        <p:spPr>
          <a:xfrm>
            <a:off x="3213175" y="1567450"/>
            <a:ext cx="5592701" cy="27617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5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75" name="Google Shape;375;p5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overall</a:t>
            </a:r>
            <a:endParaRPr sz="3500"/>
          </a:p>
          <a:p>
            <a:pPr indent="0" lvl="0" marL="0" rtl="0" algn="l">
              <a:spcBef>
                <a:spcPts val="0"/>
              </a:spcBef>
              <a:spcAft>
                <a:spcPts val="0"/>
              </a:spcAft>
              <a:buNone/>
            </a:pPr>
            <a:r>
              <a:t/>
            </a:r>
            <a:endParaRPr sz="3500"/>
          </a:p>
        </p:txBody>
      </p:sp>
      <p:sp>
        <p:nvSpPr>
          <p:cNvPr id="376" name="Google Shape;376;p59"/>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Individual result is now mapped onto a business verified two level hierarchy</a:t>
            </a:r>
            <a:endParaRPr sz="1200"/>
          </a:p>
        </p:txBody>
      </p:sp>
      <p:pic>
        <p:nvPicPr>
          <p:cNvPr id="377" name="Google Shape;377;p59"/>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78" name="Google Shape;378;p59"/>
          <p:cNvPicPr preferRelativeResize="0"/>
          <p:nvPr/>
        </p:nvPicPr>
        <p:blipFill rotWithShape="1">
          <a:blip r:embed="rId4">
            <a:alphaModFix/>
          </a:blip>
          <a:srcRect b="4275" l="0" r="0" t="7936"/>
          <a:stretch/>
        </p:blipFill>
        <p:spPr>
          <a:xfrm>
            <a:off x="2966225" y="1521975"/>
            <a:ext cx="5592701" cy="27617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6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85" name="Google Shape;385;p6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example</a:t>
            </a:r>
            <a:endParaRPr sz="3500"/>
          </a:p>
          <a:p>
            <a:pPr indent="0" lvl="0" marL="0" rtl="0" algn="l">
              <a:spcBef>
                <a:spcPts val="0"/>
              </a:spcBef>
              <a:spcAft>
                <a:spcPts val="0"/>
              </a:spcAft>
              <a:buNone/>
            </a:pPr>
            <a:r>
              <a:t/>
            </a:r>
            <a:endParaRPr sz="3500"/>
          </a:p>
        </p:txBody>
      </p:sp>
      <p:sp>
        <p:nvSpPr>
          <p:cNvPr id="386" name="Google Shape;386;p60"/>
          <p:cNvSpPr txBox="1"/>
          <p:nvPr/>
        </p:nvSpPr>
        <p:spPr>
          <a:xfrm>
            <a:off x="386250" y="3067100"/>
            <a:ext cx="32970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Individual result is mapped onto a business verified two level hierarchy</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The tool reports the top n (~10) categories.  The top category being the most likely is taken when it exceeds a confidence clip</a:t>
            </a:r>
            <a:endParaRPr sz="1200"/>
          </a:p>
        </p:txBody>
      </p:sp>
      <p:pic>
        <p:nvPicPr>
          <p:cNvPr id="387" name="Google Shape;387;p60"/>
          <p:cNvPicPr preferRelativeResize="0"/>
          <p:nvPr/>
        </p:nvPicPr>
        <p:blipFill>
          <a:blip r:embed="rId3">
            <a:alphaModFix/>
          </a:blip>
          <a:stretch>
            <a:fillRect/>
          </a:stretch>
        </p:blipFill>
        <p:spPr>
          <a:xfrm>
            <a:off x="1353244" y="1610175"/>
            <a:ext cx="1190475" cy="1190475"/>
          </a:xfrm>
          <a:prstGeom prst="rect">
            <a:avLst/>
          </a:prstGeom>
          <a:noFill/>
          <a:ln>
            <a:noFill/>
          </a:ln>
        </p:spPr>
      </p:pic>
      <p:graphicFrame>
        <p:nvGraphicFramePr>
          <p:cNvPr id="388" name="Google Shape;388;p60"/>
          <p:cNvGraphicFramePr/>
          <p:nvPr/>
        </p:nvGraphicFramePr>
        <p:xfrm>
          <a:off x="4074000" y="1827450"/>
          <a:ext cx="3000000" cy="3000000"/>
        </p:xfrm>
        <a:graphic>
          <a:graphicData uri="http://schemas.openxmlformats.org/drawingml/2006/table">
            <a:tbl>
              <a:tblPr>
                <a:noFill/>
                <a:tableStyleId>{A3DE32D8-F077-431D-9DB8-49D1D2CB80EE}</a:tableStyleId>
              </a:tblPr>
              <a:tblGrid>
                <a:gridCol w="3420875"/>
                <a:gridCol w="944200"/>
              </a:tblGrid>
              <a:tr h="1021900">
                <a:tc>
                  <a:txBody>
                    <a:bodyPr/>
                    <a:lstStyle/>
                    <a:p>
                      <a:pPr indent="0" lvl="0" marL="0" rtl="0" algn="l">
                        <a:spcBef>
                          <a:spcPts val="0"/>
                        </a:spcBef>
                        <a:spcAft>
                          <a:spcPts val="0"/>
                        </a:spcAft>
                        <a:buNone/>
                      </a:pPr>
                      <a:r>
                        <a:rPr lang="en" sz="1300">
                          <a:solidFill>
                            <a:schemeClr val="dk1"/>
                          </a:solidFill>
                          <a:latin typeface="Inter"/>
                          <a:ea typeface="Inter"/>
                          <a:cs typeface="Inter"/>
                          <a:sym typeface="Inter"/>
                        </a:rPr>
                        <a:t>Refunds -&gt; </a:t>
                      </a:r>
                      <a:endParaRPr sz="1300">
                        <a:solidFill>
                          <a:schemeClr val="dk1"/>
                        </a:solidFill>
                        <a:latin typeface="Inter"/>
                        <a:ea typeface="Inter"/>
                        <a:cs typeface="Inter"/>
                        <a:sym typeface="Inter"/>
                      </a:endParaRPr>
                    </a:p>
                    <a:p>
                      <a:pPr indent="0" lvl="0" marL="0" rtl="0" algn="l">
                        <a:spcBef>
                          <a:spcPts val="0"/>
                        </a:spcBef>
                        <a:spcAft>
                          <a:spcPts val="0"/>
                        </a:spcAft>
                        <a:buNone/>
                      </a:pPr>
                      <a:r>
                        <a:rPr lang="en" sz="1300">
                          <a:solidFill>
                            <a:schemeClr val="dk1"/>
                          </a:solidFill>
                          <a:latin typeface="Inter"/>
                          <a:ea typeface="Inter"/>
                          <a:cs typeface="Inter"/>
                          <a:sym typeface="Inter"/>
                        </a:rPr>
                        <a:t>Add item to refund</a:t>
                      </a:r>
                      <a:endParaRPr sz="1800">
                        <a:solidFill>
                          <a:schemeClr val="dk1"/>
                        </a:solidFill>
                      </a:endParaRPr>
                    </a:p>
                  </a:txBody>
                  <a:tcPr marT="91425" marB="91425" marR="91425" marL="91425">
                    <a:lnR cap="flat" cmpd="sng" w="9525">
                      <a:solidFill>
                        <a:srgbClr val="38761D"/>
                      </a:solidFill>
                      <a:prstDash val="solid"/>
                      <a:round/>
                      <a:headEnd len="sm" w="sm" type="none"/>
                      <a:tailEnd len="sm" w="sm" type="none"/>
                    </a:lnR>
                  </a:tcPr>
                </a:tc>
                <a:tc>
                  <a:txBody>
                    <a:bodyPr/>
                    <a:lstStyle/>
                    <a:p>
                      <a:pPr indent="0" lvl="0" marL="0" rtl="0" algn="l">
                        <a:spcBef>
                          <a:spcPts val="0"/>
                        </a:spcBef>
                        <a:spcAft>
                          <a:spcPts val="0"/>
                        </a:spcAft>
                        <a:buNone/>
                      </a:pPr>
                      <a:r>
                        <a:rPr b="1" lang="en" sz="1300">
                          <a:solidFill>
                            <a:srgbClr val="6AA84F"/>
                          </a:solidFill>
                          <a:latin typeface="Inter"/>
                          <a:ea typeface="Inter"/>
                          <a:cs typeface="Inter"/>
                          <a:sym typeface="Inter"/>
                        </a:rPr>
                        <a:t>79%</a:t>
                      </a:r>
                      <a:endParaRPr b="1" sz="1300">
                        <a:solidFill>
                          <a:srgbClr val="6AA84F"/>
                        </a:solidFill>
                        <a:latin typeface="Inter"/>
                        <a:ea typeface="Inter"/>
                        <a:cs typeface="Inter"/>
                        <a:sym typeface="Inter"/>
                      </a:endParaRPr>
                    </a:p>
                  </a:txBody>
                  <a:tcPr marT="91425" marB="91425" marR="91425" marL="91425">
                    <a:lnL cap="flat" cmpd="sng" w="9525">
                      <a:solidFill>
                        <a:srgbClr val="38761D"/>
                      </a:solidFill>
                      <a:prstDash val="solid"/>
                      <a:round/>
                      <a:headEnd len="sm" w="sm" type="none"/>
                      <a:tailEnd len="sm" w="sm" type="none"/>
                    </a:lnL>
                    <a:lnR cap="flat" cmpd="sng" w="9525">
                      <a:solidFill>
                        <a:srgbClr val="38761D"/>
                      </a:solidFill>
                      <a:prstDash val="solid"/>
                      <a:round/>
                      <a:headEnd len="sm" w="sm" type="none"/>
                      <a:tailEnd len="sm" w="sm" type="none"/>
                    </a:lnR>
                    <a:lnT cap="flat" cmpd="sng" w="9525">
                      <a:solidFill>
                        <a:srgbClr val="38761D"/>
                      </a:solidFill>
                      <a:prstDash val="solid"/>
                      <a:round/>
                      <a:headEnd len="sm" w="sm" type="none"/>
                      <a:tailEnd len="sm" w="sm" type="none"/>
                    </a:lnT>
                    <a:lnB cap="flat" cmpd="sng" w="9525">
                      <a:solidFill>
                        <a:srgbClr val="38761D"/>
                      </a:solidFill>
                      <a:prstDash val="solid"/>
                      <a:round/>
                      <a:headEnd len="sm" w="sm" type="none"/>
                      <a:tailEnd len="sm" w="sm" type="none"/>
                    </a:lnB>
                  </a:tcPr>
                </a:tc>
              </a:tr>
              <a:tr h="523875">
                <a:tc>
                  <a:txBody>
                    <a:bodyPr/>
                    <a:lstStyle/>
                    <a:p>
                      <a:pPr indent="0" lvl="0" marL="0" rtl="0" algn="l">
                        <a:spcBef>
                          <a:spcPts val="0"/>
                        </a:spcBef>
                        <a:spcAft>
                          <a:spcPts val="0"/>
                        </a:spcAft>
                        <a:buNone/>
                      </a:pPr>
                      <a:r>
                        <a:rPr lang="en" sz="1300">
                          <a:solidFill>
                            <a:schemeClr val="dk1"/>
                          </a:solidFill>
                          <a:highlight>
                            <a:srgbClr val="FFFFFF"/>
                          </a:highlight>
                          <a:latin typeface="Inter"/>
                          <a:ea typeface="Inter"/>
                          <a:cs typeface="Inter"/>
                          <a:sym typeface="Inter"/>
                        </a:rPr>
                        <a:t>Pricing and charges -&gt; </a:t>
                      </a:r>
                      <a:endParaRPr sz="1300">
                        <a:solidFill>
                          <a:schemeClr val="dk1"/>
                        </a:solidFill>
                        <a:highlight>
                          <a:srgbClr val="FFFFFF"/>
                        </a:highlight>
                        <a:latin typeface="Inter"/>
                        <a:ea typeface="Inter"/>
                        <a:cs typeface="Inter"/>
                        <a:sym typeface="Inter"/>
                      </a:endParaRPr>
                    </a:p>
                    <a:p>
                      <a:pPr indent="0" lvl="0" marL="0" rtl="0" algn="l">
                        <a:spcBef>
                          <a:spcPts val="0"/>
                        </a:spcBef>
                        <a:spcAft>
                          <a:spcPts val="0"/>
                        </a:spcAft>
                        <a:buNone/>
                      </a:pPr>
                      <a:r>
                        <a:rPr lang="en" sz="1300">
                          <a:solidFill>
                            <a:schemeClr val="dk1"/>
                          </a:solidFill>
                          <a:highlight>
                            <a:srgbClr val="FFFFFF"/>
                          </a:highlight>
                          <a:latin typeface="Inter"/>
                          <a:ea typeface="Inter"/>
                          <a:cs typeface="Inter"/>
                          <a:sym typeface="Inter"/>
                        </a:rPr>
                        <a:t>Double charge not resolved</a:t>
                      </a:r>
                      <a:endParaRPr sz="1800">
                        <a:solidFill>
                          <a:schemeClr val="dk1"/>
                        </a:solidFill>
                      </a:endParaRPr>
                    </a:p>
                  </a:txBody>
                  <a:tcPr marT="91425" marB="91425" marR="91425" marL="91425"/>
                </a:tc>
                <a:tc>
                  <a:txBody>
                    <a:bodyPr/>
                    <a:lstStyle/>
                    <a:p>
                      <a:pPr indent="0" lvl="0" marL="0" rtl="0" algn="l">
                        <a:spcBef>
                          <a:spcPts val="0"/>
                        </a:spcBef>
                        <a:spcAft>
                          <a:spcPts val="0"/>
                        </a:spcAft>
                        <a:buNone/>
                      </a:pPr>
                      <a:r>
                        <a:rPr b="1" lang="en" sz="1300">
                          <a:solidFill>
                            <a:srgbClr val="FF0000"/>
                          </a:solidFill>
                          <a:highlight>
                            <a:srgbClr val="FFFFFF"/>
                          </a:highlight>
                          <a:latin typeface="Inter"/>
                          <a:ea typeface="Inter"/>
                          <a:cs typeface="Inter"/>
                          <a:sym typeface="Inter"/>
                        </a:rPr>
                        <a:t>7%</a:t>
                      </a:r>
                      <a:endParaRPr b="1" sz="1300">
                        <a:solidFill>
                          <a:srgbClr val="FF0000"/>
                        </a:solidFill>
                        <a:highlight>
                          <a:srgbClr val="FFFFFF"/>
                        </a:highlight>
                        <a:latin typeface="Inter"/>
                        <a:ea typeface="Inter"/>
                        <a:cs typeface="Inter"/>
                        <a:sym typeface="Inter"/>
                      </a:endParaRPr>
                    </a:p>
                  </a:txBody>
                  <a:tcPr marT="91425" marB="91425" marR="91425" marL="91425">
                    <a:lnT cap="flat" cmpd="sng" w="9525">
                      <a:solidFill>
                        <a:srgbClr val="38761D"/>
                      </a:solidFill>
                      <a:prstDash val="solid"/>
                      <a:round/>
                      <a:headEnd len="sm" w="sm" type="none"/>
                      <a:tailEnd len="sm" w="sm" type="none"/>
                    </a:lnT>
                  </a:tcPr>
                </a:tc>
              </a:tr>
              <a:tr h="1021900">
                <a:tc>
                  <a:txBody>
                    <a:bodyPr/>
                    <a:lstStyle/>
                    <a:p>
                      <a:pPr indent="0" lvl="0" marL="0" rtl="0" algn="l">
                        <a:spcBef>
                          <a:spcPts val="0"/>
                        </a:spcBef>
                        <a:spcAft>
                          <a:spcPts val="0"/>
                        </a:spcAft>
                        <a:buNone/>
                      </a:pPr>
                      <a:r>
                        <a:rPr lang="en" sz="1300">
                          <a:solidFill>
                            <a:schemeClr val="dk1"/>
                          </a:solidFill>
                          <a:highlight>
                            <a:schemeClr val="lt1"/>
                          </a:highlight>
                          <a:latin typeface="Inter"/>
                          <a:ea typeface="Inter"/>
                          <a:cs typeface="Inter"/>
                          <a:sym typeface="Inter"/>
                        </a:rPr>
                        <a:t>Pricing and charges -&gt; </a:t>
                      </a:r>
                      <a:endParaRPr sz="1300">
                        <a:solidFill>
                          <a:schemeClr val="dk1"/>
                        </a:solidFill>
                        <a:highlight>
                          <a:schemeClr val="lt1"/>
                        </a:highlight>
                        <a:latin typeface="Inter"/>
                        <a:ea typeface="Inter"/>
                        <a:cs typeface="Inter"/>
                        <a:sym typeface="Inter"/>
                      </a:endParaRPr>
                    </a:p>
                    <a:p>
                      <a:pPr indent="0" lvl="0" marL="0" rtl="0" algn="l">
                        <a:spcBef>
                          <a:spcPts val="0"/>
                        </a:spcBef>
                        <a:spcAft>
                          <a:spcPts val="0"/>
                        </a:spcAft>
                        <a:buNone/>
                      </a:pPr>
                      <a:r>
                        <a:rPr lang="en" sz="1300">
                          <a:solidFill>
                            <a:schemeClr val="dk1"/>
                          </a:solidFill>
                          <a:highlight>
                            <a:schemeClr val="lt1"/>
                          </a:highlight>
                          <a:latin typeface="Inter"/>
                          <a:ea typeface="Inter"/>
                          <a:cs typeface="Inter"/>
                          <a:sym typeface="Inter"/>
                        </a:rPr>
                        <a:t>Shipping cost not addressed or not refunded</a:t>
                      </a:r>
                      <a:endParaRPr sz="1800">
                        <a:solidFill>
                          <a:schemeClr val="dk1"/>
                        </a:solidFill>
                      </a:endParaRPr>
                    </a:p>
                  </a:txBody>
                  <a:tcPr marT="91425" marB="91425" marR="91425" marL="91425"/>
                </a:tc>
                <a:tc>
                  <a:txBody>
                    <a:bodyPr/>
                    <a:lstStyle/>
                    <a:p>
                      <a:pPr indent="0" lvl="0" marL="0" rtl="0" algn="l">
                        <a:spcBef>
                          <a:spcPts val="0"/>
                        </a:spcBef>
                        <a:spcAft>
                          <a:spcPts val="0"/>
                        </a:spcAft>
                        <a:buNone/>
                      </a:pPr>
                      <a:r>
                        <a:rPr b="1" lang="en" sz="1300">
                          <a:solidFill>
                            <a:srgbClr val="FF0000"/>
                          </a:solidFill>
                          <a:highlight>
                            <a:srgbClr val="FFFFFF"/>
                          </a:highlight>
                          <a:latin typeface="Inter"/>
                          <a:ea typeface="Inter"/>
                          <a:cs typeface="Inter"/>
                          <a:sym typeface="Inter"/>
                        </a:rPr>
                        <a:t>3%</a:t>
                      </a:r>
                      <a:endParaRPr b="1" sz="1300">
                        <a:solidFill>
                          <a:srgbClr val="FF0000"/>
                        </a:solidFill>
                        <a:highlight>
                          <a:srgbClr val="FFFFFF"/>
                        </a:highlight>
                        <a:latin typeface="Inter"/>
                        <a:ea typeface="Inter"/>
                        <a:cs typeface="Inter"/>
                        <a:sym typeface="Inter"/>
                      </a:endParaRPr>
                    </a:p>
                  </a:txBody>
                  <a:tcPr marT="91425" marB="91425" marR="91425" marL="91425"/>
                </a:tc>
              </a:tr>
            </a:tbl>
          </a:graphicData>
        </a:graphic>
      </p:graphicFrame>
      <p:sp>
        <p:nvSpPr>
          <p:cNvPr id="389" name="Google Shape;389;p60"/>
          <p:cNvSpPr txBox="1"/>
          <p:nvPr/>
        </p:nvSpPr>
        <p:spPr>
          <a:xfrm>
            <a:off x="4074000" y="1042350"/>
            <a:ext cx="42981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300">
                <a:solidFill>
                  <a:schemeClr val="dk1"/>
                </a:solidFill>
                <a:latin typeface="Inter"/>
                <a:ea typeface="Inter"/>
                <a:cs typeface="Inter"/>
                <a:sym typeface="Inter"/>
              </a:rPr>
              <a:t>“User wants to add an item to their existing refund and confirm the total refund amount, which the agent couldn't address.</a:t>
            </a:r>
            <a:r>
              <a:rPr i="1" lang="en" sz="1300">
                <a:solidFill>
                  <a:schemeClr val="dk1"/>
                </a:solidFill>
                <a:latin typeface="Inter"/>
                <a:ea typeface="Inter"/>
                <a:cs typeface="Inter"/>
                <a:sym typeface="Inter"/>
              </a:rPr>
              <a:t>”</a:t>
            </a:r>
            <a:endParaRPr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1"/>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6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96" name="Google Shape;396;p61"/>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model summary</a:t>
            </a:r>
            <a:endParaRPr sz="3500"/>
          </a:p>
          <a:p>
            <a:pPr indent="0" lvl="0" marL="0" rtl="0" algn="l">
              <a:spcBef>
                <a:spcPts val="0"/>
              </a:spcBef>
              <a:spcAft>
                <a:spcPts val="0"/>
              </a:spcAft>
              <a:buNone/>
            </a:pPr>
            <a:r>
              <a:t/>
            </a:r>
            <a:endParaRPr sz="3500"/>
          </a:p>
        </p:txBody>
      </p:sp>
      <p:sp>
        <p:nvSpPr>
          <p:cNvPr id="397" name="Google Shape;397;p61"/>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Here 2 levels</a:t>
            </a:r>
            <a:br>
              <a:rPr lang="en" sz="1200"/>
            </a:br>
            <a:r>
              <a:rPr lang="en" sz="1200"/>
              <a:t>~10 primary classes</a:t>
            </a:r>
            <a:endParaRPr sz="1200"/>
          </a:p>
          <a:p>
            <a:pPr indent="0" lvl="0" marL="0" rtl="0" algn="ctr">
              <a:spcBef>
                <a:spcPts val="0"/>
              </a:spcBef>
              <a:spcAft>
                <a:spcPts val="0"/>
              </a:spcAft>
              <a:buNone/>
            </a:pPr>
            <a:r>
              <a:rPr lang="en" sz="1200"/>
              <a:t>~20-25 sub classes</a:t>
            </a:r>
            <a:endParaRPr sz="1200"/>
          </a:p>
        </p:txBody>
      </p:sp>
      <p:pic>
        <p:nvPicPr>
          <p:cNvPr id="398" name="Google Shape;398;p61"/>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399" name="Google Shape;399;p61"/>
          <p:cNvPicPr preferRelativeResize="0"/>
          <p:nvPr/>
        </p:nvPicPr>
        <p:blipFill rotWithShape="1">
          <a:blip r:embed="rId4">
            <a:alphaModFix/>
          </a:blip>
          <a:srcRect b="0" l="369" r="0" t="0"/>
          <a:stretch/>
        </p:blipFill>
        <p:spPr>
          <a:xfrm>
            <a:off x="3008700" y="1272300"/>
            <a:ext cx="5496074" cy="31458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2"/>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6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06" name="Google Shape;406;p6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Load model into pipeline</a:t>
            </a:r>
            <a:endParaRPr sz="3500"/>
          </a:p>
          <a:p>
            <a:pPr indent="0" lvl="0" marL="0" rtl="0" algn="l">
              <a:spcBef>
                <a:spcPts val="0"/>
              </a:spcBef>
              <a:spcAft>
                <a:spcPts val="0"/>
              </a:spcAft>
              <a:buNone/>
            </a:pPr>
            <a:r>
              <a:t/>
            </a:r>
            <a:endParaRPr sz="3500"/>
          </a:p>
        </p:txBody>
      </p:sp>
      <p:sp>
        <p:nvSpPr>
          <p:cNvPr id="407" name="Google Shape;407;p62"/>
          <p:cNvSpPr txBox="1"/>
          <p:nvPr/>
        </p:nvSpPr>
        <p:spPr>
          <a:xfrm>
            <a:off x="386250" y="3067100"/>
            <a:ext cx="32970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Model exported back to main workspace with pipeline</a:t>
            </a:r>
            <a:br>
              <a:rPr lang="en" sz="1200"/>
            </a:br>
            <a:br>
              <a:rPr lang="en" sz="1200"/>
            </a:br>
            <a:r>
              <a:rPr lang="en" sz="1200"/>
              <a:t>Every pipeline result is now automatically evaluated against the classification model</a:t>
            </a:r>
            <a:br>
              <a:rPr lang="en" sz="1200"/>
            </a:br>
            <a:br>
              <a:rPr lang="en" sz="1200"/>
            </a:br>
            <a:endParaRPr sz="1200"/>
          </a:p>
          <a:p>
            <a:pPr indent="0" lvl="0" marL="0" rtl="0" algn="ctr">
              <a:spcBef>
                <a:spcPts val="0"/>
              </a:spcBef>
              <a:spcAft>
                <a:spcPts val="0"/>
              </a:spcAft>
              <a:buNone/>
            </a:pPr>
            <a:r>
              <a:t/>
            </a:r>
            <a:endParaRPr sz="1200"/>
          </a:p>
        </p:txBody>
      </p:sp>
      <p:pic>
        <p:nvPicPr>
          <p:cNvPr id="408" name="Google Shape;408;p62"/>
          <p:cNvPicPr preferRelativeResize="0"/>
          <p:nvPr/>
        </p:nvPicPr>
        <p:blipFill>
          <a:blip r:embed="rId3">
            <a:alphaModFix/>
          </a:blip>
          <a:stretch>
            <a:fillRect/>
          </a:stretch>
        </p:blipFill>
        <p:spPr>
          <a:xfrm>
            <a:off x="512094" y="1610175"/>
            <a:ext cx="1190475" cy="1190475"/>
          </a:xfrm>
          <a:prstGeom prst="rect">
            <a:avLst/>
          </a:prstGeom>
          <a:noFill/>
          <a:ln>
            <a:noFill/>
          </a:ln>
        </p:spPr>
      </p:pic>
      <p:pic>
        <p:nvPicPr>
          <p:cNvPr id="409" name="Google Shape;409;p62"/>
          <p:cNvPicPr preferRelativeResize="0"/>
          <p:nvPr/>
        </p:nvPicPr>
        <p:blipFill>
          <a:blip r:embed="rId4">
            <a:alphaModFix/>
          </a:blip>
          <a:stretch>
            <a:fillRect/>
          </a:stretch>
        </p:blipFill>
        <p:spPr>
          <a:xfrm>
            <a:off x="2627766" y="1743925"/>
            <a:ext cx="922974" cy="922974"/>
          </a:xfrm>
          <a:prstGeom prst="rect">
            <a:avLst/>
          </a:prstGeom>
          <a:noFill/>
          <a:ln>
            <a:noFill/>
          </a:ln>
        </p:spPr>
      </p:pic>
      <p:sp>
        <p:nvSpPr>
          <p:cNvPr id="410" name="Google Shape;410;p62"/>
          <p:cNvSpPr txBox="1"/>
          <p:nvPr/>
        </p:nvSpPr>
        <p:spPr>
          <a:xfrm>
            <a:off x="1812525" y="1850513"/>
            <a:ext cx="705300" cy="7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200"/>
              <a:t>+</a:t>
            </a:r>
            <a:endParaRPr sz="6200"/>
          </a:p>
        </p:txBody>
      </p:sp>
      <p:pic>
        <p:nvPicPr>
          <p:cNvPr id="411" name="Google Shape;411;p62"/>
          <p:cNvPicPr preferRelativeResize="0"/>
          <p:nvPr/>
        </p:nvPicPr>
        <p:blipFill rotWithShape="1">
          <a:blip r:embed="rId5">
            <a:alphaModFix/>
          </a:blip>
          <a:srcRect b="4355" l="0" r="0" t="7841"/>
          <a:stretch/>
        </p:blipFill>
        <p:spPr>
          <a:xfrm>
            <a:off x="3835650" y="1499825"/>
            <a:ext cx="5155949" cy="2546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3"/>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6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18" name="Google Shape;418;p63"/>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Insight aligned with monitoring</a:t>
            </a:r>
            <a:endParaRPr sz="3500"/>
          </a:p>
          <a:p>
            <a:pPr indent="0" lvl="0" marL="0" rtl="0" algn="l">
              <a:spcBef>
                <a:spcPts val="0"/>
              </a:spcBef>
              <a:spcAft>
                <a:spcPts val="0"/>
              </a:spcAft>
              <a:buNone/>
            </a:pPr>
            <a:r>
              <a:t/>
            </a:r>
            <a:endParaRPr sz="3500"/>
          </a:p>
        </p:txBody>
      </p:sp>
      <p:graphicFrame>
        <p:nvGraphicFramePr>
          <p:cNvPr id="419" name="Google Shape;419;p63"/>
          <p:cNvGraphicFramePr/>
          <p:nvPr/>
        </p:nvGraphicFramePr>
        <p:xfrm>
          <a:off x="470550" y="1145075"/>
          <a:ext cx="3000000" cy="3000000"/>
        </p:xfrm>
        <a:graphic>
          <a:graphicData uri="http://schemas.openxmlformats.org/drawingml/2006/table">
            <a:tbl>
              <a:tblPr>
                <a:noFill/>
                <a:tableStyleId>{A3DE32D8-F077-431D-9DB8-49D1D2CB80EE}</a:tableStyleId>
              </a:tblPr>
              <a:tblGrid>
                <a:gridCol w="1302075"/>
                <a:gridCol w="3980000"/>
                <a:gridCol w="1686925"/>
                <a:gridCol w="1359375"/>
              </a:tblGrid>
              <a:tr h="425800">
                <a:tc>
                  <a:txBody>
                    <a:bodyPr/>
                    <a:lstStyle/>
                    <a:p>
                      <a:pPr indent="0" lvl="0" marL="0" rtl="0" algn="l">
                        <a:spcBef>
                          <a:spcPts val="0"/>
                        </a:spcBef>
                        <a:spcAft>
                          <a:spcPts val="0"/>
                        </a:spcAft>
                        <a:buNone/>
                      </a:pPr>
                      <a:r>
                        <a:rPr b="1" lang="en" sz="1000"/>
                        <a:t>Information</a:t>
                      </a:r>
                      <a:endParaRPr b="1" sz="1000"/>
                    </a:p>
                  </a:txBody>
                  <a:tcPr marT="91425" marB="91425" marR="91425" marL="91425"/>
                </a:tc>
                <a:tc>
                  <a:txBody>
                    <a:bodyPr/>
                    <a:lstStyle/>
                    <a:p>
                      <a:pPr indent="0" lvl="0" marL="0" rtl="0" algn="l">
                        <a:spcBef>
                          <a:spcPts val="0"/>
                        </a:spcBef>
                        <a:spcAft>
                          <a:spcPts val="0"/>
                        </a:spcAft>
                        <a:buNone/>
                      </a:pPr>
                      <a:r>
                        <a:rPr b="1" lang="en" sz="1000"/>
                        <a:t>Value</a:t>
                      </a:r>
                      <a:endParaRPr b="1" sz="1000">
                        <a:solidFill>
                          <a:srgbClr val="3F5597"/>
                        </a:solidFill>
                        <a:highlight>
                          <a:srgbClr val="FFFFFF"/>
                        </a:highlight>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t>Top Matching Class</a:t>
                      </a:r>
                      <a:endParaRPr b="1" sz="1000">
                        <a:solidFill>
                          <a:srgbClr val="3F5597"/>
                        </a:solidFill>
                        <a:highlight>
                          <a:srgbClr val="FFFFFF"/>
                        </a:highlight>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solidFill>
                            <a:schemeClr val="dk1"/>
                          </a:solidFill>
                          <a:highlight>
                            <a:srgbClr val="FFFFFF"/>
                          </a:highlight>
                          <a:latin typeface="Inter"/>
                          <a:ea typeface="Inter"/>
                          <a:cs typeface="Inter"/>
                          <a:sym typeface="Inter"/>
                        </a:rPr>
                        <a:t>Top Matching Score</a:t>
                      </a:r>
                      <a:endParaRPr b="1" sz="1000">
                        <a:solidFill>
                          <a:schemeClr val="dk1"/>
                        </a:solidFill>
                        <a:highlight>
                          <a:srgbClr val="FFFFFF"/>
                        </a:highlight>
                        <a:latin typeface="Inter"/>
                        <a:ea typeface="Inter"/>
                        <a:cs typeface="Inter"/>
                        <a:sym typeface="Inter"/>
                      </a:endParaRPr>
                    </a:p>
                  </a:txBody>
                  <a:tcPr marT="91425" marB="91425" marR="91425" marL="91425"/>
                </a:tc>
              </a:tr>
              <a:tr h="292725">
                <a:tc>
                  <a:txBody>
                    <a:bodyPr/>
                    <a:lstStyle/>
                    <a:p>
                      <a:pPr indent="0" lvl="0" marL="0" rtl="0" algn="l">
                        <a:spcBef>
                          <a:spcPts val="0"/>
                        </a:spcBef>
                        <a:spcAft>
                          <a:spcPts val="0"/>
                        </a:spcAft>
                        <a:buNone/>
                      </a:pPr>
                      <a:r>
                        <a:rPr lang="en" sz="1000"/>
                        <a:t>resolved</a:t>
                      </a:r>
                      <a:endParaRPr sz="1000"/>
                    </a:p>
                  </a:txBody>
                  <a:tcPr marT="91425" marB="91425" marR="91425" marL="91425"/>
                </a:tc>
                <a:tc>
                  <a:txBody>
                    <a:bodyPr/>
                    <a:lstStyle/>
                    <a:p>
                      <a:pPr indent="0" lvl="0" marL="0" rtl="0" algn="l">
                        <a:spcBef>
                          <a:spcPts val="0"/>
                        </a:spcBef>
                        <a:spcAft>
                          <a:spcPts val="0"/>
                        </a:spcAft>
                        <a:buNone/>
                      </a:pPr>
                      <a:r>
                        <a:rPr lang="en" sz="1000">
                          <a:solidFill>
                            <a:srgbClr val="3F5597"/>
                          </a:solidFill>
                          <a:highlight>
                            <a:srgbClr val="FFFFFF"/>
                          </a:highlight>
                          <a:latin typeface="Inter"/>
                          <a:ea typeface="Inter"/>
                          <a:cs typeface="Inter"/>
                          <a:sym typeface="Inter"/>
                        </a:rPr>
                        <a:t>No</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t/>
                      </a:r>
                      <a:endParaRPr sz="1000">
                        <a:solidFill>
                          <a:srgbClr val="3F5597"/>
                        </a:solidFill>
                        <a:highlight>
                          <a:srgbClr val="FFFFFF"/>
                        </a:highlight>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solidFill>
                          <a:srgbClr val="3F5597"/>
                        </a:solidFill>
                        <a:highlight>
                          <a:srgbClr val="FFFFFF"/>
                        </a:highlight>
                        <a:latin typeface="Inter"/>
                        <a:ea typeface="Inter"/>
                        <a:cs typeface="Inter"/>
                        <a:sym typeface="Inter"/>
                      </a:endParaRPr>
                    </a:p>
                  </a:txBody>
                  <a:tcPr marT="91425" marB="91425" marR="91425" marL="91425">
                    <a:lnB cap="flat" cmpd="sng" w="9525">
                      <a:solidFill>
                        <a:srgbClr val="38761D"/>
                      </a:solidFill>
                      <a:prstDash val="solid"/>
                      <a:round/>
                      <a:headEnd len="sm" w="sm" type="none"/>
                      <a:tailEnd len="sm" w="sm" type="none"/>
                    </a:lnB>
                  </a:tcPr>
                </a:tc>
              </a:tr>
              <a:tr h="446925">
                <a:tc>
                  <a:txBody>
                    <a:bodyPr/>
                    <a:lstStyle/>
                    <a:p>
                      <a:pPr indent="0" lvl="0" marL="0" rtl="0" algn="l">
                        <a:spcBef>
                          <a:spcPts val="0"/>
                        </a:spcBef>
                        <a:spcAft>
                          <a:spcPts val="0"/>
                        </a:spcAft>
                        <a:buNone/>
                      </a:pPr>
                      <a:r>
                        <a:rPr lang="en" sz="1000"/>
                        <a:t>remaining_issue</a:t>
                      </a:r>
                      <a:endParaRPr sz="1000"/>
                    </a:p>
                  </a:txBody>
                  <a:tcPr marT="91425" marB="91425" marR="91425" marL="91425"/>
                </a:tc>
                <a:tc>
                  <a:txBody>
                    <a:bodyPr/>
                    <a:lstStyle/>
                    <a:p>
                      <a:pPr indent="0" lvl="0" marL="0" rtl="0" algn="l">
                        <a:spcBef>
                          <a:spcPts val="0"/>
                        </a:spcBef>
                        <a:spcAft>
                          <a:spcPts val="0"/>
                        </a:spcAft>
                        <a:buNone/>
                      </a:pPr>
                      <a:r>
                        <a:rPr lang="en" sz="1000">
                          <a:solidFill>
                            <a:srgbClr val="3F5597"/>
                          </a:solidFill>
                          <a:highlight>
                            <a:srgbClr val="FFFFFF"/>
                          </a:highlight>
                          <a:latin typeface="Inter"/>
                          <a:ea typeface="Inter"/>
                          <a:cs typeface="Inter"/>
                          <a:sym typeface="Inter"/>
                        </a:rPr>
                        <a:t>User wants to add an item to their existing refund and confirm the total refund amount, which the agent couldn't address.</a:t>
                      </a:r>
                      <a:endParaRPr sz="1000">
                        <a:solidFill>
                          <a:schemeClr val="dk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000">
                          <a:solidFill>
                            <a:schemeClr val="dk1"/>
                          </a:solidFill>
                          <a:latin typeface="Inter"/>
                          <a:ea typeface="Inter"/>
                          <a:cs typeface="Inter"/>
                          <a:sym typeface="Inter"/>
                        </a:rPr>
                        <a:t>Refunds -&gt;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 sz="1000">
                          <a:solidFill>
                            <a:schemeClr val="dk1"/>
                          </a:solidFill>
                          <a:latin typeface="Inter"/>
                          <a:ea typeface="Inter"/>
                          <a:cs typeface="Inter"/>
                          <a:sym typeface="Inter"/>
                        </a:rPr>
                        <a:t>Add item to refund</a:t>
                      </a:r>
                      <a:endParaRPr sz="1000">
                        <a:solidFill>
                          <a:schemeClr val="dk1"/>
                        </a:solidFill>
                        <a:highlight>
                          <a:srgbClr val="FFFFFF"/>
                        </a:highlight>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38761D"/>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solidFill>
                            <a:srgbClr val="6AA84F"/>
                          </a:solidFill>
                          <a:latin typeface="Inter"/>
                          <a:ea typeface="Inter"/>
                          <a:cs typeface="Inter"/>
                          <a:sym typeface="Inter"/>
                        </a:rPr>
                        <a:t>79%</a:t>
                      </a:r>
                      <a:endParaRPr b="1" sz="1000">
                        <a:solidFill>
                          <a:srgbClr val="6AA84F"/>
                        </a:solidFill>
                        <a:highlight>
                          <a:srgbClr val="FFFFFF"/>
                        </a:highlight>
                        <a:latin typeface="Inter"/>
                        <a:ea typeface="Inter"/>
                        <a:cs typeface="Inter"/>
                        <a:sym typeface="Inter"/>
                      </a:endParaRPr>
                    </a:p>
                  </a:txBody>
                  <a:tcPr marT="91425" marB="91425" marR="91425" marL="91425">
                    <a:lnL cap="flat" cmpd="sng" w="9525">
                      <a:solidFill>
                        <a:srgbClr val="38761D"/>
                      </a:solidFill>
                      <a:prstDash val="solid"/>
                      <a:round/>
                      <a:headEnd len="sm" w="sm" type="none"/>
                      <a:tailEnd len="sm" w="sm" type="none"/>
                    </a:lnL>
                    <a:lnR cap="flat" cmpd="sng" w="9525">
                      <a:solidFill>
                        <a:srgbClr val="38761D"/>
                      </a:solidFill>
                      <a:prstDash val="solid"/>
                      <a:round/>
                      <a:headEnd len="sm" w="sm" type="none"/>
                      <a:tailEnd len="sm" w="sm" type="none"/>
                    </a:lnR>
                    <a:lnT cap="flat" cmpd="sng" w="9525">
                      <a:solidFill>
                        <a:srgbClr val="38761D"/>
                      </a:solidFill>
                      <a:prstDash val="solid"/>
                      <a:round/>
                      <a:headEnd len="sm" w="sm" type="none"/>
                      <a:tailEnd len="sm" w="sm" type="none"/>
                    </a:lnT>
                    <a:lnB cap="flat" cmpd="sng" w="9525">
                      <a:solidFill>
                        <a:srgbClr val="38761D"/>
                      </a:solidFill>
                      <a:prstDash val="solid"/>
                      <a:round/>
                      <a:headEnd len="sm" w="sm" type="none"/>
                      <a:tailEnd len="sm" w="sm" type="none"/>
                    </a:lnB>
                  </a:tcPr>
                </a:tc>
              </a:tr>
              <a:tr h="2166025">
                <a:tc>
                  <a:txBody>
                    <a:bodyPr/>
                    <a:lstStyle/>
                    <a:p>
                      <a:pPr indent="0" lvl="0" marL="0" rtl="0" algn="l">
                        <a:spcBef>
                          <a:spcPts val="0"/>
                        </a:spcBef>
                        <a:spcAft>
                          <a:spcPts val="0"/>
                        </a:spcAft>
                        <a:buNone/>
                      </a:pPr>
                      <a:r>
                        <a:rPr lang="en" sz="1000"/>
                        <a:t>reasoning</a:t>
                      </a:r>
                      <a:endParaRPr sz="1000"/>
                    </a:p>
                  </a:txBody>
                  <a:tcPr marT="91425" marB="91425" marR="91425" marL="91425"/>
                </a:tc>
                <a:tc>
                  <a:txBody>
                    <a:bodyPr/>
                    <a:lstStyle/>
                    <a:p>
                      <a:pPr indent="0" lvl="0" marL="0" rtl="0" algn="l">
                        <a:lnSpc>
                          <a:spcPct val="115000"/>
                        </a:lnSpc>
                        <a:spcBef>
                          <a:spcPts val="0"/>
                        </a:spcBef>
                        <a:spcAft>
                          <a:spcPts val="0"/>
                        </a:spcAft>
                        <a:buNone/>
                      </a:pPr>
                      <a:r>
                        <a:rPr lang="en" sz="1000">
                          <a:solidFill>
                            <a:srgbClr val="3F5597"/>
                          </a:solidFill>
                          <a:highlight>
                            <a:srgbClr val="FFFFFF"/>
                          </a:highlight>
                          <a:latin typeface="Inter"/>
                          <a:ea typeface="Inter"/>
                          <a:cs typeface="Inter"/>
                          <a:sym typeface="Inter"/>
                        </a:rPr>
                        <a:t>The conversation was not fully resolved. The user's initial request was to know the status of their refund for a Guess jacket. The agent provided this information, stating the refund was in progress. However, the user then changed their request, wanting to add another item to the refund and inquiring about the total amount. The agent seemed confused by this change and didn't address the new request adequately. The user became frustrated and asked for a manager. The agent's off-the-record comment about not being able to see amounts further indicates they were unable to assist with the user's new request.</a:t>
                      </a:r>
                      <a:endParaRPr sz="10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t/>
                      </a:r>
                      <a:endParaRPr sz="1000">
                        <a:solidFill>
                          <a:srgbClr val="3F5597"/>
                        </a:solidFill>
                        <a:highlight>
                          <a:srgbClr val="FFFFFF"/>
                        </a:highlight>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t/>
                      </a:r>
                      <a:endParaRPr sz="1000">
                        <a:solidFill>
                          <a:srgbClr val="3F5597"/>
                        </a:solidFill>
                        <a:highlight>
                          <a:srgbClr val="FFFFFF"/>
                        </a:highlight>
                        <a:latin typeface="Inter"/>
                        <a:ea typeface="Inter"/>
                        <a:cs typeface="Inter"/>
                        <a:sym typeface="Inter"/>
                      </a:endParaRPr>
                    </a:p>
                  </a:txBody>
                  <a:tcPr marT="91425" marB="91425" marR="91425" marL="91425">
                    <a:lnT cap="flat" cmpd="sng" w="9525">
                      <a:solidFill>
                        <a:srgbClr val="38761D"/>
                      </a:solidFill>
                      <a:prstDash val="solid"/>
                      <a:round/>
                      <a:headEnd len="sm" w="sm" type="none"/>
                      <a:tailEnd len="sm" w="sm" type="none"/>
                    </a:lnT>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4"/>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6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26" name="Google Shape;426;p64"/>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Validate</a:t>
            </a:r>
            <a:endParaRPr sz="3500"/>
          </a:p>
          <a:p>
            <a:pPr indent="0" lvl="0" marL="0" rtl="0" algn="l">
              <a:spcBef>
                <a:spcPts val="0"/>
              </a:spcBef>
              <a:spcAft>
                <a:spcPts val="0"/>
              </a:spcAft>
              <a:buNone/>
            </a:pPr>
            <a:r>
              <a:t/>
            </a:r>
            <a:endParaRPr sz="3500"/>
          </a:p>
        </p:txBody>
      </p:sp>
      <p:pic>
        <p:nvPicPr>
          <p:cNvPr id="427" name="Google Shape;427;p64"/>
          <p:cNvPicPr preferRelativeResize="0"/>
          <p:nvPr/>
        </p:nvPicPr>
        <p:blipFill>
          <a:blip r:embed="rId3">
            <a:alphaModFix/>
          </a:blip>
          <a:stretch>
            <a:fillRect/>
          </a:stretch>
        </p:blipFill>
        <p:spPr>
          <a:xfrm>
            <a:off x="512094" y="1610175"/>
            <a:ext cx="1190475" cy="1190475"/>
          </a:xfrm>
          <a:prstGeom prst="rect">
            <a:avLst/>
          </a:prstGeom>
          <a:noFill/>
          <a:ln>
            <a:noFill/>
          </a:ln>
        </p:spPr>
      </p:pic>
      <p:pic>
        <p:nvPicPr>
          <p:cNvPr id="428" name="Google Shape;428;p64"/>
          <p:cNvPicPr preferRelativeResize="0"/>
          <p:nvPr/>
        </p:nvPicPr>
        <p:blipFill>
          <a:blip r:embed="rId4">
            <a:alphaModFix/>
          </a:blip>
          <a:stretch>
            <a:fillRect/>
          </a:stretch>
        </p:blipFill>
        <p:spPr>
          <a:xfrm>
            <a:off x="2627766" y="1743925"/>
            <a:ext cx="922974" cy="922974"/>
          </a:xfrm>
          <a:prstGeom prst="rect">
            <a:avLst/>
          </a:prstGeom>
          <a:noFill/>
          <a:ln>
            <a:noFill/>
          </a:ln>
        </p:spPr>
      </p:pic>
      <p:sp>
        <p:nvSpPr>
          <p:cNvPr id="429" name="Google Shape;429;p64"/>
          <p:cNvSpPr txBox="1"/>
          <p:nvPr/>
        </p:nvSpPr>
        <p:spPr>
          <a:xfrm>
            <a:off x="1812525" y="1850513"/>
            <a:ext cx="705300" cy="7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200"/>
              <a:t>+</a:t>
            </a:r>
            <a:endParaRPr sz="6200"/>
          </a:p>
        </p:txBody>
      </p:sp>
      <p:sp>
        <p:nvSpPr>
          <p:cNvPr id="430" name="Google Shape;430;p64"/>
          <p:cNvSpPr txBox="1"/>
          <p:nvPr/>
        </p:nvSpPr>
        <p:spPr>
          <a:xfrm>
            <a:off x="386250" y="3067100"/>
            <a:ext cx="32970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Confirm that the criteria for validation are understood…</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by the Humans involved</a:t>
            </a:r>
            <a:endParaRPr sz="1200"/>
          </a:p>
          <a:p>
            <a:pPr indent="0" lvl="0" marL="0" rtl="0" algn="ctr">
              <a:spcBef>
                <a:spcPts val="0"/>
              </a:spcBef>
              <a:spcAft>
                <a:spcPts val="0"/>
              </a:spcAft>
              <a:buNone/>
            </a:pPr>
            <a:r>
              <a:rPr lang="en" sz="1200"/>
              <a:t>by the AI</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b="1" lang="en" sz="1200"/>
              <a:t>And there is a signed off test set confirming this</a:t>
            </a:r>
            <a:endParaRPr b="1" sz="1200"/>
          </a:p>
        </p:txBody>
      </p:sp>
      <p:graphicFrame>
        <p:nvGraphicFramePr>
          <p:cNvPr id="431" name="Google Shape;431;p64"/>
          <p:cNvGraphicFramePr/>
          <p:nvPr/>
        </p:nvGraphicFramePr>
        <p:xfrm>
          <a:off x="3620400" y="276275"/>
          <a:ext cx="3000000" cy="3000000"/>
        </p:xfrm>
        <a:graphic>
          <a:graphicData uri="http://schemas.openxmlformats.org/drawingml/2006/table">
            <a:tbl>
              <a:tblPr>
                <a:noFill/>
                <a:tableStyleId>{A3DE32D8-F077-431D-9DB8-49D1D2CB80EE}</a:tableStyleId>
              </a:tblPr>
              <a:tblGrid>
                <a:gridCol w="746900"/>
                <a:gridCol w="1343500"/>
                <a:gridCol w="1343500"/>
                <a:gridCol w="1343500"/>
              </a:tblGrid>
              <a:tr h="351875">
                <a:tc>
                  <a:txBody>
                    <a:bodyPr/>
                    <a:lstStyle/>
                    <a:p>
                      <a:pPr indent="0" lvl="0" marL="0" rtl="0" algn="l">
                        <a:spcBef>
                          <a:spcPts val="0"/>
                        </a:spcBef>
                        <a:spcAft>
                          <a:spcPts val="0"/>
                        </a:spcAft>
                        <a:buNone/>
                      </a:pPr>
                      <a:r>
                        <a:rPr b="1" lang="en" sz="700"/>
                        <a:t>Criteria</a:t>
                      </a:r>
                      <a:endParaRPr b="1" sz="700"/>
                    </a:p>
                  </a:txBody>
                  <a:tcPr marT="91425" marB="91425" marR="91425" marL="91425"/>
                </a:tc>
                <a:tc>
                  <a:txBody>
                    <a:bodyPr/>
                    <a:lstStyle/>
                    <a:p>
                      <a:pPr indent="0" lvl="0" marL="0" rtl="0" algn="l">
                        <a:spcBef>
                          <a:spcPts val="0"/>
                        </a:spcBef>
                        <a:spcAft>
                          <a:spcPts val="0"/>
                        </a:spcAft>
                        <a:buNone/>
                      </a:pPr>
                      <a:r>
                        <a:rPr b="1" lang="en" sz="700">
                          <a:solidFill>
                            <a:srgbClr val="3F5597"/>
                          </a:solidFill>
                          <a:highlight>
                            <a:srgbClr val="FFFFFF"/>
                          </a:highlight>
                          <a:latin typeface="Inter"/>
                          <a:ea typeface="Inter"/>
                          <a:cs typeface="Inter"/>
                          <a:sym typeface="Inter"/>
                        </a:rPr>
                        <a:t>AI evaluation</a:t>
                      </a:r>
                      <a:endParaRPr b="1" sz="700">
                        <a:solidFill>
                          <a:srgbClr val="3F5597"/>
                        </a:solidFill>
                        <a:highlight>
                          <a:srgbClr val="FFFFFF"/>
                        </a:highlight>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700">
                          <a:solidFill>
                            <a:srgbClr val="3F5597"/>
                          </a:solidFill>
                          <a:highlight>
                            <a:srgbClr val="FFFFFF"/>
                          </a:highlight>
                          <a:latin typeface="Inter"/>
                          <a:ea typeface="Inter"/>
                          <a:cs typeface="Inter"/>
                          <a:sym typeface="Inter"/>
                        </a:rPr>
                        <a:t>Human Evaluation</a:t>
                      </a:r>
                      <a:endParaRPr b="1" sz="700">
                        <a:solidFill>
                          <a:srgbClr val="3F5597"/>
                        </a:solidFill>
                        <a:highlight>
                          <a:srgbClr val="FFFFFF"/>
                        </a:highlight>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700">
                          <a:solidFill>
                            <a:srgbClr val="3F5597"/>
                          </a:solidFill>
                          <a:highlight>
                            <a:srgbClr val="FFFFFF"/>
                          </a:highlight>
                          <a:latin typeface="Inter"/>
                          <a:ea typeface="Inter"/>
                          <a:cs typeface="Inter"/>
                          <a:sym typeface="Inter"/>
                        </a:rPr>
                        <a:t>Result</a:t>
                      </a:r>
                      <a:endParaRPr b="1" sz="700">
                        <a:solidFill>
                          <a:srgbClr val="3F5597"/>
                        </a:solidFill>
                        <a:highlight>
                          <a:srgbClr val="FFFFFF"/>
                        </a:highlight>
                        <a:latin typeface="Inter"/>
                        <a:ea typeface="Inter"/>
                        <a:cs typeface="Inter"/>
                        <a:sym typeface="Inter"/>
                      </a:endParaRPr>
                    </a:p>
                  </a:txBody>
                  <a:tcPr marT="91425" marB="91425" marR="91425" marL="91425"/>
                </a:tc>
              </a:tr>
              <a:tr h="351875">
                <a:tc>
                  <a:txBody>
                    <a:bodyPr/>
                    <a:lstStyle/>
                    <a:p>
                      <a:pPr indent="0" lvl="0" marL="0" rtl="0" algn="l">
                        <a:spcBef>
                          <a:spcPts val="0"/>
                        </a:spcBef>
                        <a:spcAft>
                          <a:spcPts val="0"/>
                        </a:spcAft>
                        <a:buNone/>
                      </a:pPr>
                      <a:r>
                        <a:rPr lang="en" sz="700"/>
                        <a:t>resolved</a:t>
                      </a:r>
                      <a:endParaRPr sz="700"/>
                    </a:p>
                  </a:txBody>
                  <a:tcPr marT="91425" marB="91425" marR="91425" marL="91425"/>
                </a:tc>
                <a:tc>
                  <a:txBody>
                    <a:bodyPr/>
                    <a:lstStyle/>
                    <a:p>
                      <a:pPr indent="0" lvl="0" marL="0" rtl="0" algn="l">
                        <a:spcBef>
                          <a:spcPts val="0"/>
                        </a:spcBef>
                        <a:spcAft>
                          <a:spcPts val="0"/>
                        </a:spcAft>
                        <a:buNone/>
                      </a:pPr>
                      <a:r>
                        <a:rPr lang="en" sz="700">
                          <a:solidFill>
                            <a:srgbClr val="3F5597"/>
                          </a:solidFill>
                          <a:highlight>
                            <a:srgbClr val="FFFFFF"/>
                          </a:highlight>
                          <a:latin typeface="Inter"/>
                          <a:ea typeface="Inter"/>
                          <a:cs typeface="Inter"/>
                          <a:sym typeface="Inter"/>
                        </a:rPr>
                        <a:t>No</a:t>
                      </a:r>
                      <a:endParaRPr sz="700">
                        <a:solidFill>
                          <a:schemeClr val="dk1"/>
                        </a:solidFill>
                      </a:endParaRPr>
                    </a:p>
                  </a:txBody>
                  <a:tcPr marT="91425" marB="91425" marR="91425" marL="91425"/>
                </a:tc>
                <a:tc>
                  <a:txBody>
                    <a:bodyPr/>
                    <a:lstStyle/>
                    <a:p>
                      <a:pPr indent="0" lvl="0" marL="0" rtl="0" algn="l">
                        <a:spcBef>
                          <a:spcPts val="0"/>
                        </a:spcBef>
                        <a:spcAft>
                          <a:spcPts val="0"/>
                        </a:spcAft>
                        <a:buNone/>
                      </a:pPr>
                      <a:r>
                        <a:rPr lang="en" sz="700">
                          <a:solidFill>
                            <a:srgbClr val="3F5597"/>
                          </a:solidFill>
                          <a:highlight>
                            <a:srgbClr val="FFFFFF"/>
                          </a:highlight>
                          <a:latin typeface="Inter"/>
                          <a:ea typeface="Inter"/>
                          <a:cs typeface="Inter"/>
                          <a:sym typeface="Inter"/>
                        </a:rPr>
                        <a:t>Yes?</a:t>
                      </a:r>
                      <a:endParaRPr sz="700">
                        <a:solidFill>
                          <a:srgbClr val="3F5597"/>
                        </a:solidFill>
                        <a:highlight>
                          <a:srgbClr val="FFFFFF"/>
                        </a:highlight>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rgbClr val="3F5597"/>
                          </a:solidFill>
                          <a:highlight>
                            <a:srgbClr val="FFFFFF"/>
                          </a:highlight>
                          <a:latin typeface="Inter"/>
                          <a:ea typeface="Inter"/>
                          <a:cs typeface="Inter"/>
                          <a:sym typeface="Inter"/>
                        </a:rPr>
                        <a:t>?</a:t>
                      </a:r>
                      <a:endParaRPr sz="700">
                        <a:solidFill>
                          <a:srgbClr val="3F5597"/>
                        </a:solidFill>
                        <a:highlight>
                          <a:srgbClr val="FFFFFF"/>
                        </a:highlight>
                        <a:latin typeface="Inter"/>
                        <a:ea typeface="Inter"/>
                        <a:cs typeface="Inter"/>
                        <a:sym typeface="Inter"/>
                      </a:endParaRPr>
                    </a:p>
                  </a:txBody>
                  <a:tcPr marT="91425" marB="91425" marR="91425" marL="91425"/>
                </a:tc>
              </a:tr>
              <a:tr h="523875">
                <a:tc>
                  <a:txBody>
                    <a:bodyPr/>
                    <a:lstStyle/>
                    <a:p>
                      <a:pPr indent="0" lvl="0" marL="0" rtl="0" algn="l">
                        <a:spcBef>
                          <a:spcPts val="0"/>
                        </a:spcBef>
                        <a:spcAft>
                          <a:spcPts val="0"/>
                        </a:spcAft>
                        <a:buNone/>
                      </a:pPr>
                      <a:r>
                        <a:rPr lang="en" sz="700"/>
                        <a:t>remaining_issue</a:t>
                      </a:r>
                      <a:endParaRPr sz="700"/>
                    </a:p>
                  </a:txBody>
                  <a:tcPr marT="91425" marB="91425" marR="91425" marL="91425"/>
                </a:tc>
                <a:tc>
                  <a:txBody>
                    <a:bodyPr/>
                    <a:lstStyle/>
                    <a:p>
                      <a:pPr indent="0" lvl="0" marL="0" rtl="0" algn="l">
                        <a:spcBef>
                          <a:spcPts val="0"/>
                        </a:spcBef>
                        <a:spcAft>
                          <a:spcPts val="0"/>
                        </a:spcAft>
                        <a:buNone/>
                      </a:pPr>
                      <a:r>
                        <a:rPr lang="en" sz="700">
                          <a:solidFill>
                            <a:srgbClr val="3F5597"/>
                          </a:solidFill>
                          <a:highlight>
                            <a:srgbClr val="FFFFFF"/>
                          </a:highlight>
                          <a:latin typeface="Inter"/>
                          <a:ea typeface="Inter"/>
                          <a:cs typeface="Inter"/>
                          <a:sym typeface="Inter"/>
                        </a:rPr>
                        <a:t>User wants to add an item to their existing refund and confirm the total refund amount, which the agent couldn't address.</a:t>
                      </a:r>
                      <a:br>
                        <a:rPr lang="en" sz="700">
                          <a:solidFill>
                            <a:srgbClr val="3F5597"/>
                          </a:solidFill>
                          <a:highlight>
                            <a:srgbClr val="FFFFFF"/>
                          </a:highlight>
                          <a:latin typeface="Inter"/>
                          <a:ea typeface="Inter"/>
                          <a:cs typeface="Inter"/>
                          <a:sym typeface="Inter"/>
                        </a:rPr>
                      </a:br>
                      <a:br>
                        <a:rPr lang="en" sz="700">
                          <a:solidFill>
                            <a:srgbClr val="3F5597"/>
                          </a:solidFill>
                          <a:highlight>
                            <a:srgbClr val="FFFFFF"/>
                          </a:highlight>
                          <a:latin typeface="Inter"/>
                          <a:ea typeface="Inter"/>
                          <a:cs typeface="Inter"/>
                          <a:sym typeface="Inter"/>
                        </a:rPr>
                      </a:br>
                      <a:r>
                        <a:rPr lang="en" sz="700">
                          <a:solidFill>
                            <a:srgbClr val="3F5597"/>
                          </a:solidFill>
                          <a:highlight>
                            <a:srgbClr val="FFFFFF"/>
                          </a:highlight>
                          <a:latin typeface="Inter"/>
                          <a:ea typeface="Inter"/>
                          <a:cs typeface="Inter"/>
                          <a:sym typeface="Inter"/>
                        </a:rPr>
                        <a:t>= Refunds / Add Item</a:t>
                      </a:r>
                      <a:endParaRPr sz="700">
                        <a:solidFill>
                          <a:schemeClr val="dk1"/>
                        </a:solidFill>
                      </a:endParaRPr>
                    </a:p>
                  </a:txBody>
                  <a:tcPr marT="91425" marB="91425" marR="91425" marL="91425"/>
                </a:tc>
                <a:tc>
                  <a:txBody>
                    <a:bodyPr/>
                    <a:lstStyle/>
                    <a:p>
                      <a:pPr indent="0" lvl="0" marL="0" rtl="0" algn="l">
                        <a:spcBef>
                          <a:spcPts val="0"/>
                        </a:spcBef>
                        <a:spcAft>
                          <a:spcPts val="0"/>
                        </a:spcAft>
                        <a:buNone/>
                      </a:pPr>
                      <a:r>
                        <a:t/>
                      </a:r>
                      <a:endParaRPr sz="700">
                        <a:solidFill>
                          <a:srgbClr val="3F5597"/>
                        </a:solidFill>
                        <a:highlight>
                          <a:srgbClr val="FFFFFF"/>
                        </a:highlight>
                        <a:latin typeface="Inter"/>
                        <a:ea typeface="Inter"/>
                        <a:cs typeface="Inter"/>
                        <a:sym typeface="Inter"/>
                      </a:endParaRPr>
                    </a:p>
                    <a:p>
                      <a:pPr indent="0" lvl="0" marL="0" rtl="0" algn="l">
                        <a:spcBef>
                          <a:spcPts val="0"/>
                        </a:spcBef>
                        <a:spcAft>
                          <a:spcPts val="0"/>
                        </a:spcAft>
                        <a:buNone/>
                      </a:pPr>
                      <a:r>
                        <a:t/>
                      </a:r>
                      <a:endParaRPr sz="700">
                        <a:solidFill>
                          <a:srgbClr val="3F5597"/>
                        </a:solidFill>
                        <a:highlight>
                          <a:srgbClr val="FFFFFF"/>
                        </a:highlight>
                        <a:latin typeface="Inter"/>
                        <a:ea typeface="Inter"/>
                        <a:cs typeface="Inter"/>
                        <a:sym typeface="Inter"/>
                      </a:endParaRPr>
                    </a:p>
                    <a:p>
                      <a:pPr indent="0" lvl="0" marL="0" rtl="0" algn="l">
                        <a:spcBef>
                          <a:spcPts val="0"/>
                        </a:spcBef>
                        <a:spcAft>
                          <a:spcPts val="0"/>
                        </a:spcAft>
                        <a:buNone/>
                      </a:pPr>
                      <a:r>
                        <a:t/>
                      </a:r>
                      <a:endParaRPr sz="700">
                        <a:solidFill>
                          <a:srgbClr val="3F5597"/>
                        </a:solidFill>
                        <a:highlight>
                          <a:srgbClr val="FFFFFF"/>
                        </a:highlight>
                        <a:latin typeface="Inter"/>
                        <a:ea typeface="Inter"/>
                        <a:cs typeface="Inter"/>
                        <a:sym typeface="Inter"/>
                      </a:endParaRPr>
                    </a:p>
                    <a:p>
                      <a:pPr indent="0" lvl="0" marL="0" rtl="0" algn="l">
                        <a:spcBef>
                          <a:spcPts val="0"/>
                        </a:spcBef>
                        <a:spcAft>
                          <a:spcPts val="0"/>
                        </a:spcAft>
                        <a:buNone/>
                      </a:pPr>
                      <a:r>
                        <a:t/>
                      </a:r>
                      <a:endParaRPr sz="700">
                        <a:solidFill>
                          <a:srgbClr val="3F5597"/>
                        </a:solidFill>
                        <a:highlight>
                          <a:srgbClr val="FFFFFF"/>
                        </a:highlight>
                        <a:latin typeface="Inter"/>
                        <a:ea typeface="Inter"/>
                        <a:cs typeface="Inter"/>
                        <a:sym typeface="Inter"/>
                      </a:endParaRPr>
                    </a:p>
                    <a:p>
                      <a:pPr indent="0" lvl="0" marL="0" rtl="0" algn="l">
                        <a:spcBef>
                          <a:spcPts val="0"/>
                        </a:spcBef>
                        <a:spcAft>
                          <a:spcPts val="0"/>
                        </a:spcAft>
                        <a:buNone/>
                      </a:pPr>
                      <a:r>
                        <a:t/>
                      </a:r>
                      <a:endParaRPr sz="700">
                        <a:solidFill>
                          <a:srgbClr val="3F5597"/>
                        </a:solidFill>
                        <a:highlight>
                          <a:srgbClr val="FFFFFF"/>
                        </a:highlight>
                        <a:latin typeface="Inter"/>
                        <a:ea typeface="Inter"/>
                        <a:cs typeface="Inter"/>
                        <a:sym typeface="Inter"/>
                      </a:endParaRPr>
                    </a:p>
                    <a:p>
                      <a:pPr indent="0" lvl="0" marL="0" rtl="0" algn="l">
                        <a:spcBef>
                          <a:spcPts val="0"/>
                        </a:spcBef>
                        <a:spcAft>
                          <a:spcPts val="0"/>
                        </a:spcAft>
                        <a:buNone/>
                      </a:pPr>
                      <a:r>
                        <a:t/>
                      </a:r>
                      <a:endParaRPr sz="700">
                        <a:solidFill>
                          <a:srgbClr val="3F5597"/>
                        </a:solidFill>
                        <a:highlight>
                          <a:srgbClr val="FFFFFF"/>
                        </a:highlight>
                        <a:latin typeface="Inter"/>
                        <a:ea typeface="Inter"/>
                        <a:cs typeface="Inter"/>
                        <a:sym typeface="Inter"/>
                      </a:endParaRPr>
                    </a:p>
                    <a:p>
                      <a:pPr indent="0" lvl="0" marL="0" rtl="0" algn="l">
                        <a:spcBef>
                          <a:spcPts val="0"/>
                        </a:spcBef>
                        <a:spcAft>
                          <a:spcPts val="0"/>
                        </a:spcAft>
                        <a:buNone/>
                      </a:pPr>
                      <a:r>
                        <a:rPr lang="en" sz="700">
                          <a:solidFill>
                            <a:srgbClr val="3F5597"/>
                          </a:solidFill>
                          <a:highlight>
                            <a:srgbClr val="FFFFFF"/>
                          </a:highlight>
                          <a:latin typeface="Inter"/>
                          <a:ea typeface="Inter"/>
                          <a:cs typeface="Inter"/>
                          <a:sym typeface="Inter"/>
                        </a:rPr>
                        <a:t>= Refunds Add Item</a:t>
                      </a:r>
                      <a:endParaRPr sz="700">
                        <a:solidFill>
                          <a:srgbClr val="3F5597"/>
                        </a:solidFill>
                        <a:highlight>
                          <a:srgbClr val="FFFFFF"/>
                        </a:highlight>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t/>
                      </a:r>
                      <a:endParaRPr sz="700">
                        <a:solidFill>
                          <a:srgbClr val="3F5597"/>
                        </a:solidFill>
                        <a:highlight>
                          <a:srgbClr val="FFFFFF"/>
                        </a:highlight>
                        <a:latin typeface="Inter"/>
                        <a:ea typeface="Inter"/>
                        <a:cs typeface="Inter"/>
                        <a:sym typeface="Inter"/>
                      </a:endParaRPr>
                    </a:p>
                  </a:txBody>
                  <a:tcPr marT="91425" marB="91425" marR="91425" marL="91425"/>
                </a:tc>
              </a:tr>
              <a:tr h="1021900">
                <a:tc>
                  <a:txBody>
                    <a:bodyPr/>
                    <a:lstStyle/>
                    <a:p>
                      <a:pPr indent="0" lvl="0" marL="0" rtl="0" algn="l">
                        <a:spcBef>
                          <a:spcPts val="0"/>
                        </a:spcBef>
                        <a:spcAft>
                          <a:spcPts val="0"/>
                        </a:spcAft>
                        <a:buNone/>
                      </a:pPr>
                      <a:r>
                        <a:rPr lang="en" sz="700"/>
                        <a:t>reasoning</a:t>
                      </a:r>
                      <a:endParaRPr sz="700"/>
                    </a:p>
                  </a:txBody>
                  <a:tcPr marT="91425" marB="91425" marR="91425" marL="91425"/>
                </a:tc>
                <a:tc>
                  <a:txBody>
                    <a:bodyPr/>
                    <a:lstStyle/>
                    <a:p>
                      <a:pPr indent="0" lvl="0" marL="0" rtl="0" algn="l">
                        <a:lnSpc>
                          <a:spcPct val="115000"/>
                        </a:lnSpc>
                        <a:spcBef>
                          <a:spcPts val="0"/>
                        </a:spcBef>
                        <a:spcAft>
                          <a:spcPts val="0"/>
                        </a:spcAft>
                        <a:buNone/>
                      </a:pPr>
                      <a:r>
                        <a:rPr lang="en" sz="700">
                          <a:solidFill>
                            <a:srgbClr val="3F5597"/>
                          </a:solidFill>
                          <a:highlight>
                            <a:srgbClr val="FFFFFF"/>
                          </a:highlight>
                          <a:latin typeface="Inter"/>
                          <a:ea typeface="Inter"/>
                          <a:cs typeface="Inter"/>
                          <a:sym typeface="Inter"/>
                        </a:rPr>
                        <a:t>The conversation was not fully resolved. The user's initial request was to know the status of their refund for a Guess jacket. The agent provided this information, stating the refund was in progress. However, the user then changed their request, wanting to add another item to the refund and inquiring about the total amount. The agent seemed confused by this change and didn't address the new request adequately. The user became frustrated and asked for a manager. The agent's off-the-record comment about not being able to see amounts further indicates they were unable to assist with the user's new request.</a:t>
                      </a:r>
                      <a:endParaRPr sz="700">
                        <a:solidFill>
                          <a:schemeClr val="dk1"/>
                        </a:solidFill>
                      </a:endParaRPr>
                    </a:p>
                  </a:txBody>
                  <a:tcPr marT="91425" marB="91425" marR="91425" marL="91425"/>
                </a:tc>
                <a:tc>
                  <a:txBody>
                    <a:bodyPr/>
                    <a:lstStyle/>
                    <a:p>
                      <a:pPr indent="0" lvl="0" marL="0" rtl="0" algn="l">
                        <a:spcBef>
                          <a:spcPts val="0"/>
                        </a:spcBef>
                        <a:spcAft>
                          <a:spcPts val="0"/>
                        </a:spcAft>
                        <a:buNone/>
                      </a:pPr>
                      <a:r>
                        <a:rPr lang="en" sz="700">
                          <a:solidFill>
                            <a:srgbClr val="3F5597"/>
                          </a:solidFill>
                          <a:highlight>
                            <a:schemeClr val="lt1"/>
                          </a:highlight>
                          <a:latin typeface="Inter"/>
                          <a:ea typeface="Inter"/>
                          <a:cs typeface="Inter"/>
                          <a:sym typeface="Inter"/>
                        </a:rPr>
                        <a:t>The client is being unreasonable</a:t>
                      </a:r>
                      <a:endParaRPr sz="700">
                        <a:solidFill>
                          <a:srgbClr val="3F5597"/>
                        </a:solidFill>
                        <a:highlight>
                          <a:srgbClr val="FFFFFF"/>
                        </a:highlight>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t/>
                      </a:r>
                      <a:endParaRPr sz="700">
                        <a:solidFill>
                          <a:srgbClr val="3F5597"/>
                        </a:solidFill>
                        <a:highlight>
                          <a:schemeClr val="lt1"/>
                        </a:highlight>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5"/>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p6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38" name="Google Shape;438;p6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Validate - how many should we do?</a:t>
            </a:r>
            <a:endParaRPr sz="3500"/>
          </a:p>
          <a:p>
            <a:pPr indent="0" lvl="0" marL="0" rtl="0" algn="l">
              <a:spcBef>
                <a:spcPts val="0"/>
              </a:spcBef>
              <a:spcAft>
                <a:spcPts val="0"/>
              </a:spcAft>
              <a:buNone/>
            </a:pPr>
            <a:r>
              <a:t/>
            </a:r>
            <a:endParaRPr sz="3500"/>
          </a:p>
        </p:txBody>
      </p:sp>
      <p:pic>
        <p:nvPicPr>
          <p:cNvPr id="439" name="Google Shape;439;p65"/>
          <p:cNvPicPr preferRelativeResize="0"/>
          <p:nvPr/>
        </p:nvPicPr>
        <p:blipFill>
          <a:blip r:embed="rId3">
            <a:alphaModFix/>
          </a:blip>
          <a:stretch>
            <a:fillRect/>
          </a:stretch>
        </p:blipFill>
        <p:spPr>
          <a:xfrm>
            <a:off x="512094" y="1610175"/>
            <a:ext cx="1190475" cy="1190475"/>
          </a:xfrm>
          <a:prstGeom prst="rect">
            <a:avLst/>
          </a:prstGeom>
          <a:noFill/>
          <a:ln>
            <a:noFill/>
          </a:ln>
        </p:spPr>
      </p:pic>
      <p:pic>
        <p:nvPicPr>
          <p:cNvPr id="440" name="Google Shape;440;p65"/>
          <p:cNvPicPr preferRelativeResize="0"/>
          <p:nvPr/>
        </p:nvPicPr>
        <p:blipFill>
          <a:blip r:embed="rId4">
            <a:alphaModFix/>
          </a:blip>
          <a:stretch>
            <a:fillRect/>
          </a:stretch>
        </p:blipFill>
        <p:spPr>
          <a:xfrm>
            <a:off x="2627766" y="1743925"/>
            <a:ext cx="922974" cy="922974"/>
          </a:xfrm>
          <a:prstGeom prst="rect">
            <a:avLst/>
          </a:prstGeom>
          <a:noFill/>
          <a:ln>
            <a:noFill/>
          </a:ln>
        </p:spPr>
      </p:pic>
      <p:sp>
        <p:nvSpPr>
          <p:cNvPr id="441" name="Google Shape;441;p65"/>
          <p:cNvSpPr txBox="1"/>
          <p:nvPr/>
        </p:nvSpPr>
        <p:spPr>
          <a:xfrm>
            <a:off x="1812525" y="1850513"/>
            <a:ext cx="705300" cy="7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200"/>
              <a:t>+</a:t>
            </a:r>
            <a:endParaRPr sz="6200"/>
          </a:p>
        </p:txBody>
      </p:sp>
      <p:sp>
        <p:nvSpPr>
          <p:cNvPr id="442" name="Google Shape;442;p65"/>
          <p:cNvSpPr txBox="1"/>
          <p:nvPr/>
        </p:nvSpPr>
        <p:spPr>
          <a:xfrm>
            <a:off x="386250" y="3067100"/>
            <a:ext cx="32970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Consider</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Number of classes or output variables</a:t>
            </a:r>
            <a:endParaRPr sz="1200"/>
          </a:p>
          <a:p>
            <a:pPr indent="0" lvl="0" marL="0" rtl="0" algn="ctr">
              <a:spcBef>
                <a:spcPts val="0"/>
              </a:spcBef>
              <a:spcAft>
                <a:spcPts val="0"/>
              </a:spcAft>
              <a:buNone/>
            </a:pPr>
            <a:r>
              <a:rPr lang="en" sz="1200"/>
              <a:t>Number of input key types</a:t>
            </a:r>
            <a:endParaRPr sz="1200"/>
          </a:p>
          <a:p>
            <a:pPr indent="0" lvl="0" marL="0" rtl="0" algn="ctr">
              <a:spcBef>
                <a:spcPts val="0"/>
              </a:spcBef>
              <a:spcAft>
                <a:spcPts val="0"/>
              </a:spcAft>
              <a:buNone/>
            </a:pPr>
            <a:r>
              <a:rPr lang="en" sz="1200"/>
              <a:t>Statistically </a:t>
            </a:r>
            <a:r>
              <a:rPr lang="en" sz="1200"/>
              <a:t>significant</a:t>
            </a:r>
            <a:r>
              <a:rPr lang="en" sz="1200"/>
              <a:t> confidence levels</a:t>
            </a:r>
            <a:endParaRPr sz="1200"/>
          </a:p>
        </p:txBody>
      </p:sp>
      <p:sp>
        <p:nvSpPr>
          <p:cNvPr id="443" name="Google Shape;443;p65"/>
          <p:cNvSpPr txBox="1"/>
          <p:nvPr/>
        </p:nvSpPr>
        <p:spPr>
          <a:xfrm>
            <a:off x="4967175" y="1476050"/>
            <a:ext cx="3022500" cy="228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7200"/>
              <a:t>91% </a:t>
            </a:r>
            <a:endParaRPr b="1" sz="7200"/>
          </a:p>
          <a:p>
            <a:pPr indent="0" lvl="0" marL="0" rtl="0" algn="ctr">
              <a:spcBef>
                <a:spcPts val="0"/>
              </a:spcBef>
              <a:spcAft>
                <a:spcPts val="0"/>
              </a:spcAft>
              <a:buNone/>
            </a:pPr>
            <a:r>
              <a:rPr lang="en"/>
              <a:t>A</a:t>
            </a:r>
            <a:r>
              <a:rPr lang="en"/>
              <a:t>greement</a:t>
            </a:r>
            <a:br>
              <a:rPr lang="en"/>
            </a:br>
            <a:br>
              <a:rPr lang="en"/>
            </a:br>
            <a:r>
              <a:rPr lang="en"/>
              <a:t>25 classes - modelled.</a:t>
            </a:r>
            <a:br>
              <a:rPr lang="en"/>
            </a:br>
            <a:r>
              <a:rPr lang="en"/>
              <a:t>Absolute minimum one test case per class to establish ground truth</a:t>
            </a:r>
            <a:br>
              <a:rPr lang="en"/>
            </a:br>
            <a:br>
              <a:rPr lang="en"/>
            </a:br>
            <a:r>
              <a:rPr lang="en" sz="1000"/>
              <a:t>What is </a:t>
            </a:r>
            <a:r>
              <a:rPr lang="en" sz="1000"/>
              <a:t>statistically</a:t>
            </a:r>
            <a:r>
              <a:rPr lang="en" sz="1000"/>
              <a:t> </a:t>
            </a:r>
            <a:r>
              <a:rPr lang="en" sz="1000"/>
              <a:t>significant</a:t>
            </a:r>
            <a:r>
              <a:rPr lang="en" sz="1000"/>
              <a:t> at what confidence for 5000 conversations? (bigger than you think)</a:t>
            </a:r>
            <a:br>
              <a:rPr lang="en"/>
            </a:br>
            <a:br>
              <a:rPr lang="en"/>
            </a:br>
            <a:br>
              <a:rPr lang="en"/>
            </a:b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6"/>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6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50" name="Google Shape;450;p6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Explore</a:t>
            </a:r>
            <a:endParaRPr sz="3500"/>
          </a:p>
          <a:p>
            <a:pPr indent="0" lvl="0" marL="0" rtl="0" algn="l">
              <a:spcBef>
                <a:spcPts val="0"/>
              </a:spcBef>
              <a:spcAft>
                <a:spcPts val="0"/>
              </a:spcAft>
              <a:buNone/>
            </a:pPr>
            <a:r>
              <a:t/>
            </a:r>
            <a:endParaRPr sz="3500"/>
          </a:p>
        </p:txBody>
      </p:sp>
      <p:sp>
        <p:nvSpPr>
          <p:cNvPr id="451" name="Google Shape;451;p66"/>
          <p:cNvSpPr txBox="1"/>
          <p:nvPr/>
        </p:nvSpPr>
        <p:spPr>
          <a:xfrm>
            <a:off x="212400" y="3067100"/>
            <a:ext cx="32970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Cluster</a:t>
            </a:r>
            <a:endParaRPr sz="1200"/>
          </a:p>
          <a:p>
            <a:pPr indent="0" lvl="0" marL="0" rtl="0" algn="ctr">
              <a:spcBef>
                <a:spcPts val="0"/>
              </a:spcBef>
              <a:spcAft>
                <a:spcPts val="0"/>
              </a:spcAft>
              <a:buNone/>
            </a:pPr>
            <a:r>
              <a:rPr lang="en" sz="1200"/>
              <a:t>Filter</a:t>
            </a:r>
            <a:endParaRPr sz="1200"/>
          </a:p>
          <a:p>
            <a:pPr indent="0" lvl="0" marL="0" rtl="0" algn="ctr">
              <a:spcBef>
                <a:spcPts val="0"/>
              </a:spcBef>
              <a:spcAft>
                <a:spcPts val="0"/>
              </a:spcAft>
              <a:buNone/>
            </a:pPr>
            <a:r>
              <a:rPr lang="en" sz="1200"/>
              <a:t>Explore</a:t>
            </a:r>
            <a:endParaRPr sz="1200"/>
          </a:p>
          <a:p>
            <a:pPr indent="0" lvl="0" marL="0" rtl="0" algn="ctr">
              <a:spcBef>
                <a:spcPts val="0"/>
              </a:spcBef>
              <a:spcAft>
                <a:spcPts val="0"/>
              </a:spcAft>
              <a:buNone/>
            </a:pPr>
            <a:r>
              <a:rPr lang="en" sz="1200"/>
              <a:t>Export</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Create new models</a:t>
            </a:r>
            <a:endParaRPr sz="1200"/>
          </a:p>
          <a:p>
            <a:pPr indent="0" lvl="0" marL="0" rtl="0" algn="ctr">
              <a:spcBef>
                <a:spcPts val="0"/>
              </a:spcBef>
              <a:spcAft>
                <a:spcPts val="0"/>
              </a:spcAft>
              <a:buNone/>
            </a:pPr>
            <a:r>
              <a:rPr lang="en" sz="1200"/>
              <a:t>Answer new questions!</a:t>
            </a:r>
            <a:endParaRPr sz="1200"/>
          </a:p>
        </p:txBody>
      </p:sp>
      <p:pic>
        <p:nvPicPr>
          <p:cNvPr id="452" name="Google Shape;452;p66"/>
          <p:cNvPicPr preferRelativeResize="0"/>
          <p:nvPr/>
        </p:nvPicPr>
        <p:blipFill>
          <a:blip r:embed="rId3">
            <a:alphaModFix/>
          </a:blip>
          <a:stretch>
            <a:fillRect/>
          </a:stretch>
        </p:blipFill>
        <p:spPr>
          <a:xfrm>
            <a:off x="1579038" y="1835974"/>
            <a:ext cx="738900" cy="738900"/>
          </a:xfrm>
          <a:prstGeom prst="rect">
            <a:avLst/>
          </a:prstGeom>
          <a:noFill/>
          <a:ln>
            <a:noFill/>
          </a:ln>
        </p:spPr>
      </p:pic>
      <p:pic>
        <p:nvPicPr>
          <p:cNvPr id="453" name="Google Shape;453;p66"/>
          <p:cNvPicPr preferRelativeResize="0"/>
          <p:nvPr/>
        </p:nvPicPr>
        <p:blipFill rotWithShape="1">
          <a:blip r:embed="rId4">
            <a:alphaModFix/>
          </a:blip>
          <a:srcRect b="4764" l="0" r="0" t="7655"/>
          <a:stretch/>
        </p:blipFill>
        <p:spPr>
          <a:xfrm>
            <a:off x="3031450" y="1374175"/>
            <a:ext cx="5698075" cy="28071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7"/>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6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60" name="Google Shape;460;p6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Export</a:t>
            </a:r>
            <a:endParaRPr sz="3500"/>
          </a:p>
          <a:p>
            <a:pPr indent="0" lvl="0" marL="0" rtl="0" algn="l">
              <a:spcBef>
                <a:spcPts val="0"/>
              </a:spcBef>
              <a:spcAft>
                <a:spcPts val="0"/>
              </a:spcAft>
              <a:buNone/>
            </a:pPr>
            <a:r>
              <a:t/>
            </a:r>
            <a:endParaRPr sz="3500"/>
          </a:p>
          <a:p>
            <a:pPr indent="0" lvl="0" marL="0" rtl="0" algn="l">
              <a:spcBef>
                <a:spcPts val="0"/>
              </a:spcBef>
              <a:spcAft>
                <a:spcPts val="0"/>
              </a:spcAft>
              <a:buNone/>
            </a:pPr>
            <a:r>
              <a:t/>
            </a:r>
            <a:endParaRPr sz="3500"/>
          </a:p>
        </p:txBody>
      </p:sp>
      <p:pic>
        <p:nvPicPr>
          <p:cNvPr id="461" name="Google Shape;461;p67"/>
          <p:cNvPicPr preferRelativeResize="0"/>
          <p:nvPr/>
        </p:nvPicPr>
        <p:blipFill>
          <a:blip r:embed="rId3">
            <a:alphaModFix/>
          </a:blip>
          <a:stretch>
            <a:fillRect/>
          </a:stretch>
        </p:blipFill>
        <p:spPr>
          <a:xfrm>
            <a:off x="3801100" y="714250"/>
            <a:ext cx="5013300" cy="3795850"/>
          </a:xfrm>
          <a:prstGeom prst="rect">
            <a:avLst/>
          </a:prstGeom>
          <a:noFill/>
          <a:ln>
            <a:noFill/>
          </a:ln>
        </p:spPr>
      </p:pic>
      <p:pic>
        <p:nvPicPr>
          <p:cNvPr id="462" name="Google Shape;462;p67"/>
          <p:cNvPicPr preferRelativeResize="0"/>
          <p:nvPr/>
        </p:nvPicPr>
        <p:blipFill>
          <a:blip r:embed="rId4">
            <a:alphaModFix/>
          </a:blip>
          <a:stretch>
            <a:fillRect/>
          </a:stretch>
        </p:blipFill>
        <p:spPr>
          <a:xfrm>
            <a:off x="1579038" y="1835974"/>
            <a:ext cx="738900" cy="738900"/>
          </a:xfrm>
          <a:prstGeom prst="rect">
            <a:avLst/>
          </a:prstGeom>
          <a:noFill/>
          <a:ln>
            <a:noFill/>
          </a:ln>
        </p:spPr>
      </p:pic>
      <p:sp>
        <p:nvSpPr>
          <p:cNvPr id="463" name="Google Shape;463;p67"/>
          <p:cNvSpPr txBox="1"/>
          <p:nvPr/>
        </p:nvSpPr>
        <p:spPr>
          <a:xfrm>
            <a:off x="549325" y="3067100"/>
            <a:ext cx="25956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Use APIs to download Pipeline data and analyse in your visualization tool of choice</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467" name="Shape 467"/>
        <p:cNvGrpSpPr/>
        <p:nvPr/>
      </p:nvGrpSpPr>
      <p:grpSpPr>
        <a:xfrm>
          <a:off x="0" y="0"/>
          <a:ext cx="0" cy="0"/>
          <a:chOff x="0" y="0"/>
          <a:chExt cx="0" cy="0"/>
        </a:xfrm>
      </p:grpSpPr>
      <p:pic>
        <p:nvPicPr>
          <p:cNvPr id="468" name="Google Shape;468;p68"/>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469" name="Google Shape;469;p68"/>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Thank you</a:t>
            </a:r>
            <a:endParaRPr sz="3600">
              <a:solidFill>
                <a:schemeClr val="lt1"/>
              </a:solidFill>
              <a:latin typeface="Manrope SemiBold"/>
              <a:ea typeface="Manrope SemiBold"/>
              <a:cs typeface="Manrope SemiBold"/>
              <a:sym typeface="Manrope SemiBold"/>
            </a:endParaRPr>
          </a:p>
        </p:txBody>
      </p:sp>
      <p:pic>
        <p:nvPicPr>
          <p:cNvPr id="470" name="Google Shape;470;p68"/>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471" name="Google Shape;471;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