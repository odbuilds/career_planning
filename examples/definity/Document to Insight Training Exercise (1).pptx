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nter Light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anrope SemiBold"/>
      <p:regular r:id="rId29"/>
      <p:bold r:id="rId30"/>
    </p:embeddedFont>
    <p:embeddedFont>
      <p:font typeface="Manrope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anrope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-regular.fntdata"/><Relationship Id="rId30" Type="http://schemas.openxmlformats.org/officeDocument/2006/relationships/font" Target="fonts/Manrope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anrop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99bd2dc4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99bd2dc4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bc21d04b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bc21d04b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662bfe6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662bfe6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f68a05e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f68a05e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f68a05ee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f68a05ee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f68a05ee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f68a05ee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f68a05e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f68a05e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68a05ee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f68a05e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f68a05ee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f68a05ee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f68a05ee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f68a05ee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f68a05ee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f68a05ee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f68a05ee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1f68a05ee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f68a05ee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1f68a05ee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f68a05ee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1f68a05ee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" type="title">
  <p:cSld name="TITLE">
    <p:bg>
      <p:bgPr>
        <a:solidFill>
          <a:srgbClr val="29448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">
    <p:bg>
      <p:bgPr>
        <a:solidFill>
          <a:srgbClr val="29448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2">
    <p:bg>
      <p:bgPr>
        <a:solidFill>
          <a:srgbClr val="29448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_1">
    <p:bg>
      <p:bgPr>
        <a:solidFill>
          <a:srgbClr val="12184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7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1_1">
    <p:bg>
      <p:bgPr>
        <a:solidFill>
          <a:srgbClr val="12184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">
  <p:cSld name="TITLE_1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 1">
  <p:cSld name="TITLE_1_1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3600"/>
              <a:buFont typeface="Manrope"/>
              <a:buNone/>
              <a:defRPr b="1" sz="3600">
                <a:solidFill>
                  <a:srgbClr val="294489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668100" y="1421325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2" type="subTitle"/>
          </p:nvPr>
        </p:nvSpPr>
        <p:spPr>
          <a:xfrm>
            <a:off x="539250" y="984850"/>
            <a:ext cx="646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 1">
  <p:cSld name="SECTION_HEADER_5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">
  <p:cSld name="SECTION_HEADER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/>
          <p:nvPr/>
        </p:nvSpPr>
        <p:spPr>
          <a:xfrm rot="-5400000">
            <a:off x="4255050" y="271725"/>
            <a:ext cx="51687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Blue 2">
  <p:cSld name="SECTION_HEADER_4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 rot="-5400000">
            <a:off x="4261975" y="265575"/>
            <a:ext cx="51795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2944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 1">
  <p:cSld name="SECTION_HEADER_4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5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lue">
  <p:cSld name="SECTION_HEADER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6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BF2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">
  <p:cSld name="SECTION_HEADER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7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8C5D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">
  <p:cSld name="SECTION_HEADER_4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8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 1">
  <p:cSld name="SECTION_HEADER_4_1_1_1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9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ransparency Pattern">
  <p:cSld name="SECTION_HEADER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3971" y="-1231413"/>
            <a:ext cx="8587677" cy="85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Light">
  <p:cSld name="SECTION_HEADER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1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">
  <p:cSld name="SECTION_HEADER_1">
    <p:bg>
      <p:bgPr>
        <a:solidFill>
          <a:srgbClr val="29448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 1">
  <p:cSld name="SECTION_HEADER_1_1">
    <p:bg>
      <p:bgPr>
        <a:solidFill>
          <a:srgbClr val="29448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3600"/>
              <a:buFont typeface="Manrope"/>
              <a:buChar char="●"/>
              <a:defRPr b="1" sz="3600"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6"/>
          <p:cNvSpPr txBox="1"/>
          <p:nvPr/>
        </p:nvSpPr>
        <p:spPr>
          <a:xfrm>
            <a:off x="333650" y="1925250"/>
            <a:ext cx="746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Document to Insight</a:t>
            </a:r>
            <a:b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lang="en" sz="1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Training Exercise</a:t>
            </a:r>
            <a:endParaRPr sz="18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6" name="Google Shape;1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/>
          <p:nvPr>
            <p:ph idx="12" type="sldNum"/>
          </p:nvPr>
        </p:nvSpPr>
        <p:spPr>
          <a:xfrm>
            <a:off x="7501672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37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4" name="Google Shape;144;p3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Conceptual Flow in HF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pic>
        <p:nvPicPr>
          <p:cNvPr id="145" name="Google Shape;1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63" y="1615137"/>
            <a:ext cx="1119825" cy="111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7"/>
          <p:cNvSpPr txBox="1"/>
          <p:nvPr/>
        </p:nvSpPr>
        <p:spPr>
          <a:xfrm>
            <a:off x="71047" y="2921125"/>
            <a:ext cx="17307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Documents are</a:t>
            </a:r>
            <a:r>
              <a:rPr lang="en" sz="1200"/>
              <a:t> regularly loaded into HF forming a dataset</a:t>
            </a:r>
            <a:endParaRPr sz="1200"/>
          </a:p>
        </p:txBody>
      </p:sp>
      <p:pic>
        <p:nvPicPr>
          <p:cNvPr id="147" name="Google Shape;1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510" y="1842350"/>
            <a:ext cx="665400" cy="6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7"/>
          <p:cNvSpPr txBox="1"/>
          <p:nvPr/>
        </p:nvSpPr>
        <p:spPr>
          <a:xfrm>
            <a:off x="1803699" y="2921125"/>
            <a:ext cx="1887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prompt guides the AI in reading the transcript and following business rules to extract </a:t>
            </a:r>
            <a:r>
              <a:rPr lang="en" sz="1200"/>
              <a:t>structured</a:t>
            </a:r>
            <a:r>
              <a:rPr lang="en" sz="1200"/>
              <a:t> data along with evidence for that decision</a:t>
            </a:r>
            <a:br>
              <a:rPr lang="en" sz="1200"/>
            </a:br>
            <a:endParaRPr sz="1200"/>
          </a:p>
        </p:txBody>
      </p:sp>
      <p:pic>
        <p:nvPicPr>
          <p:cNvPr id="149" name="Google Shape;1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6041" y="1743925"/>
            <a:ext cx="922974" cy="92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7"/>
          <p:cNvSpPr txBox="1"/>
          <p:nvPr/>
        </p:nvSpPr>
        <p:spPr>
          <a:xfrm>
            <a:off x="3875124" y="2921125"/>
            <a:ext cx="1804800" cy="18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Pipeline provides caching and automation to maintain a view of that per-document insight across the whole dataset</a:t>
            </a:r>
            <a:endParaRPr sz="1200"/>
          </a:p>
        </p:txBody>
      </p:sp>
      <p:pic>
        <p:nvPicPr>
          <p:cNvPr id="151" name="Google Shape;15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5332" y="1610175"/>
            <a:ext cx="1190475" cy="11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/>
          <p:nvPr/>
        </p:nvSpPr>
        <p:spPr>
          <a:xfrm>
            <a:off x="5724004" y="2921125"/>
            <a:ext cx="20331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Classification maps the outputs into a hierarchical </a:t>
            </a:r>
            <a:r>
              <a:rPr lang="en" sz="1200"/>
              <a:t>taxonomy</a:t>
            </a:r>
            <a:r>
              <a:rPr lang="en" sz="1200"/>
              <a:t> depending on the intended data use</a:t>
            </a:r>
            <a:endParaRPr sz="1200"/>
          </a:p>
        </p:txBody>
      </p:sp>
      <p:pic>
        <p:nvPicPr>
          <p:cNvPr id="153" name="Google Shape;15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8025" y="1835962"/>
            <a:ext cx="738900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7"/>
          <p:cNvSpPr txBox="1"/>
          <p:nvPr/>
        </p:nvSpPr>
        <p:spPr>
          <a:xfrm>
            <a:off x="7508975" y="2921125"/>
            <a:ext cx="16170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Cluster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Filter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Explore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Export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38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1" name="Google Shape;161;p38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Scenario</a:t>
            </a:r>
            <a:endParaRPr sz="3500"/>
          </a:p>
        </p:txBody>
      </p:sp>
      <p:sp>
        <p:nvSpPr>
          <p:cNvPr id="162" name="Google Shape;162;p38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63" name="Google Shape;163;p38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ABCD is an online fashion retailer with </a:t>
            </a:r>
            <a:r>
              <a:rPr lang="en"/>
              <a:t>physical</a:t>
            </a:r>
            <a:r>
              <a:rPr lang="en"/>
              <a:t> stores 10 US cities selling things like Jeans, Shirts and Boots from major designer fashion brands.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Their </a:t>
            </a:r>
            <a:r>
              <a:rPr lang="en"/>
              <a:t>senior executives have objectives to increase their NPS rating as measured by a post call survey.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also need to improve efficiency of their call centre operations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Increasing first call (or chat) resolution has been identified as key to this.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have been given 10,000 calls taken from the chat system to do an initial analysis.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calls are split over May and June 2022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must answer two questions: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percentage of calls are fully resolved?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key issues could the business work on to resolve more calls?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Your boss is distrustful of AI and needs to understand how you have verified your results.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0" name="Google Shape;170;p39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High level process</a:t>
            </a:r>
            <a:endParaRPr sz="3500"/>
          </a:p>
        </p:txBody>
      </p:sp>
      <p:sp>
        <p:nvSpPr>
          <p:cNvPr id="171" name="Google Shape;171;p39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>
            <a:off x="541575" y="1119900"/>
            <a:ext cx="7879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Connect your model of choice.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Create a workspace in the test namespace and import the calls for May (We will use this as a training set, and June as a validation set.)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We are going to </a:t>
            </a:r>
            <a:r>
              <a:rPr lang="en" sz="1300"/>
              <a:t>develop a</a:t>
            </a:r>
            <a:r>
              <a:rPr lang="en" sz="1300"/>
              <a:t> prompt and pipeline to calls and determine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Whether it is resolved or not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If not an indication of what is still outstanding at the end of the call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Provide it’s reasoning to help us validate what it is doing.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Once satisfied we will then use a pipeline to process every call.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 batch actions to apply the generated data as metadata to the original call meaning they are now searchable and filterable by the generated insight.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Out outstanding action information is probably too granular to produce clear actions, we are going to then create a classifier to place them into a hierarchical taxonomy.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Export the outstanding reason information to a new workspace.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Using divide and conquer build an NLU model and tune it using F1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 the Treemaps to produce </a:t>
            </a:r>
            <a:r>
              <a:rPr lang="en" sz="1300"/>
              <a:t>visualization</a:t>
            </a:r>
            <a:r>
              <a:rPr lang="en" sz="1300"/>
              <a:t> for the action plan report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Import that model into the pipeline </a:t>
            </a:r>
            <a:r>
              <a:rPr lang="en" sz="1300"/>
              <a:t>workspace to get a classification for each call in real time.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0"/>
          <p:cNvSpPr txBox="1"/>
          <p:nvPr/>
        </p:nvSpPr>
        <p:spPr>
          <a:xfrm>
            <a:off x="333650" y="1925250"/>
            <a:ext cx="746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Document to Insight</a:t>
            </a:r>
            <a:b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lang="en" sz="1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Individual steps</a:t>
            </a:r>
            <a:endParaRPr sz="18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79" name="Google Shape;17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41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7" name="Google Shape;187;p4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Connect LLM</a:t>
            </a:r>
            <a:endParaRPr sz="3500"/>
          </a:p>
        </p:txBody>
      </p:sp>
      <p:sp>
        <p:nvSpPr>
          <p:cNvPr id="188" name="Google Shape;188;p41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89" name="Google Shape;189;p41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Navigate to your test namespace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 integrations on left hand side (LHS)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integration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Choose your integration provider of choice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Provide the model string and key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42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96" name="Google Shape;196;p42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Create workspace </a:t>
            </a:r>
            <a:endParaRPr sz="3500"/>
          </a:p>
        </p:txBody>
      </p:sp>
      <p:sp>
        <p:nvSpPr>
          <p:cNvPr id="197" name="Google Shape;197;p42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98" name="Google Shape;198;p42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a blank workspace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 to PxD tab and Select Data pane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 Data &gt; Use one of our public datasets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43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05" name="Google Shape;205;p43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Build an initial prompt</a:t>
            </a:r>
            <a:endParaRPr sz="3500"/>
          </a:p>
        </p:txBody>
      </p:sp>
      <p:sp>
        <p:nvSpPr>
          <p:cNvPr id="206" name="Google Shape;206;p43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07" name="Google Shape;207;p43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Thinking about the scenario try to write a very short prompt to get some initial results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it on some test calls and explore the results.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Think about how many pieces of information we need to produce.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will we separate them out in the results?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44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14" name="Google Shape;214;p44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Update your prompt</a:t>
            </a:r>
            <a:endParaRPr sz="3500"/>
          </a:p>
        </p:txBody>
      </p:sp>
      <p:sp>
        <p:nvSpPr>
          <p:cNvPr id="215" name="Google Shape;215;p44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16" name="Google Shape;216;p44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are going to need to use a post processing step - key value.  This about updating your prompt to generate the necessary outputs.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Consider the following structure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Instructions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Delimiters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 (maybe not necessary yet)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Response format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a pipeline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 your prompt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Ensure you are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selecting from the Data pane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sorting by Data ascending so the results appear on the first utterance of the conversation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Test run your pipeline for 5 or 10 results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 the outputs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your pipeline for the full volume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45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24" name="Google Shape;224;p45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Create a pipeline </a:t>
            </a:r>
            <a:endParaRPr sz="3500"/>
          </a:p>
        </p:txBody>
      </p:sp>
      <p:sp>
        <p:nvSpPr>
          <p:cNvPr id="225" name="Google Shape;225;p45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46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32" name="Google Shape;232;p46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Batch Actions</a:t>
            </a:r>
            <a:r>
              <a:rPr lang="en" sz="3500"/>
              <a:t> </a:t>
            </a:r>
            <a:endParaRPr sz="3500"/>
          </a:p>
        </p:txBody>
      </p:sp>
      <p:sp>
        <p:nvSpPr>
          <p:cNvPr id="233" name="Google Shape;233;p46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Filter for the key value you are interested in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Start a batch action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 move </a:t>
            </a:r>
            <a:r>
              <a:rPr lang="en"/>
              <a:t>metadata to original source conversation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want to move “text” to “&lt;a metadata field of your naming&gt;”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will need to repeat this for each key value output your prompt produced.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47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41" name="Google Shape;241;p4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Export and Import </a:t>
            </a:r>
            <a:endParaRPr sz="3500"/>
          </a:p>
        </p:txBody>
      </p:sp>
      <p:sp>
        <p:nvSpPr>
          <p:cNvPr id="242" name="Google Shape;242;p47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43" name="Google Shape;243;p47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Filter for your outstanding action field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Using Data Actions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Export the output of your pipeline to CSV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a new blank workspace to contain your new model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 Data selecting upload your own data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 the text field with the rest as metadata.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48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50" name="Google Shape;250;p48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Divide and Conquer</a:t>
            </a:r>
            <a:endParaRPr sz="3500"/>
          </a:p>
        </p:txBody>
      </p:sp>
      <p:sp>
        <p:nvSpPr>
          <p:cNvPr id="251" name="Google Shape;251;p48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52" name="Google Shape;252;p48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will use clustering to help us navigate the results quickly and find the key issues.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will create large high level areas, and then subdivide them into more granular groups using “divide and conquer” method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Navigate to Labels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Navigate to Data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Group by cluster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Start building groups using the stash and creating intents (or classed from them)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coverage and the Treemap to view your progress.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4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59" name="Google Shape;259;p49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Export and import built model</a:t>
            </a:r>
            <a:endParaRPr sz="3500"/>
          </a:p>
        </p:txBody>
      </p:sp>
      <p:sp>
        <p:nvSpPr>
          <p:cNvPr id="260" name="Google Shape;260;p49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61" name="Google Shape;261;p49"/>
          <p:cNvSpPr txBox="1"/>
          <p:nvPr>
            <p:ph idx="1" type="body"/>
          </p:nvPr>
        </p:nvSpPr>
        <p:spPr>
          <a:xfrm>
            <a:off x="668100" y="1119900"/>
            <a:ext cx="75462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Export your model using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Export &gt; model &gt; HF JSON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 to your workspace with the pipeline in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 your model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Eval and Train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Download your final results.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uman First">
  <a:themeElements>
    <a:clrScheme name="Simple Light">
      <a:dk1>
        <a:srgbClr val="12184A"/>
      </a:dk1>
      <a:lt1>
        <a:srgbClr val="FFFFFF"/>
      </a:lt1>
      <a:dk2>
        <a:srgbClr val="F4F6FB"/>
      </a:dk2>
      <a:lt2>
        <a:srgbClr val="76CCED"/>
      </a:lt2>
      <a:accent1>
        <a:srgbClr val="294489"/>
      </a:accent1>
      <a:accent2>
        <a:srgbClr val="650C4C"/>
      </a:accent2>
      <a:accent3>
        <a:srgbClr val="D0D4DD"/>
      </a:accent3>
      <a:accent4>
        <a:srgbClr val="98A0B3"/>
      </a:accent4>
      <a:accent5>
        <a:srgbClr val="666F85"/>
      </a:accent5>
      <a:accent6>
        <a:srgbClr val="475067"/>
      </a:accent6>
      <a:hlink>
        <a:srgbClr val="2944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