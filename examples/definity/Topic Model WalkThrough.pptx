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y="5143500" cx="9144000"/>
  <p:notesSz cx="6858000" cy="9144000"/>
  <p:embeddedFontLst>
    <p:embeddedFont>
      <p:font typeface="Inter Light"/>
      <p:regular r:id="rId50"/>
      <p:bold r:id="rId51"/>
      <p:italic r:id="rId52"/>
      <p:boldItalic r:id="rId53"/>
    </p:embeddedFont>
    <p:embeddedFont>
      <p:font typeface="Inter"/>
      <p:regular r:id="rId54"/>
      <p:bold r:id="rId55"/>
      <p:italic r:id="rId56"/>
      <p:boldItalic r:id="rId57"/>
    </p:embeddedFont>
    <p:embeddedFont>
      <p:font typeface="Manrope SemiBold"/>
      <p:regular r:id="rId58"/>
      <p:bold r:id="rId59"/>
    </p:embeddedFont>
    <p:embeddedFont>
      <p:font typeface="Manrope"/>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6A3AC6-4B61-4ED9-BA4E-F39A1D7B4E19}">
  <a:tblStyle styleId="{6A6A3AC6-4B61-4ED9-BA4E-F39A1D7B4E1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B4CF811-B5B6-4DF7-8232-109205DF78C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Manrope-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Manrope-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InterLight-bold.fntdata"/><Relationship Id="rId50" Type="http://schemas.openxmlformats.org/officeDocument/2006/relationships/font" Target="fonts/InterLight-regular.fntdata"/><Relationship Id="rId53" Type="http://schemas.openxmlformats.org/officeDocument/2006/relationships/font" Target="fonts/InterLight-boldItalic.fntdata"/><Relationship Id="rId52" Type="http://schemas.openxmlformats.org/officeDocument/2006/relationships/font" Target="fonts/InterLight-italic.fntdata"/><Relationship Id="rId11" Type="http://schemas.openxmlformats.org/officeDocument/2006/relationships/slide" Target="slides/slide4.xml"/><Relationship Id="rId55" Type="http://schemas.openxmlformats.org/officeDocument/2006/relationships/font" Target="fonts/Inter-bold.fntdata"/><Relationship Id="rId10" Type="http://schemas.openxmlformats.org/officeDocument/2006/relationships/slide" Target="slides/slide3.xml"/><Relationship Id="rId54" Type="http://schemas.openxmlformats.org/officeDocument/2006/relationships/font" Target="fonts/Inter-regular.fntdata"/><Relationship Id="rId13" Type="http://schemas.openxmlformats.org/officeDocument/2006/relationships/slide" Target="slides/slide6.xml"/><Relationship Id="rId57" Type="http://schemas.openxmlformats.org/officeDocument/2006/relationships/font" Target="fonts/Inter-boldItalic.fntdata"/><Relationship Id="rId12" Type="http://schemas.openxmlformats.org/officeDocument/2006/relationships/slide" Target="slides/slide5.xml"/><Relationship Id="rId56" Type="http://schemas.openxmlformats.org/officeDocument/2006/relationships/font" Target="fonts/Inter-italic.fntdata"/><Relationship Id="rId15" Type="http://schemas.openxmlformats.org/officeDocument/2006/relationships/slide" Target="slides/slide8.xml"/><Relationship Id="rId59" Type="http://schemas.openxmlformats.org/officeDocument/2006/relationships/font" Target="fonts/ManropeSemiBold-bold.fntdata"/><Relationship Id="rId14" Type="http://schemas.openxmlformats.org/officeDocument/2006/relationships/slide" Target="slides/slide7.xml"/><Relationship Id="rId58" Type="http://schemas.openxmlformats.org/officeDocument/2006/relationships/font" Target="fonts/ManropeSemiBold-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9d7439ab6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9d7439ab6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9d7439ab6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19d7439ab6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Assumed objectives are reports live asap.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9b67d93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19b67d93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9b67d93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9b67d93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a2fa7cb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a2fa7cb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99561d3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99561d3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99561d3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199561d3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99561d3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199561d39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99561d39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99561d39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b5a794de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b5a794de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99561d39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199561d39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a6d87c5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1a6d87c5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1b5a794d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1b5a794d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19b67d9328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19b67d9328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19b67d932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19b67d932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9b67d9328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19b67d9328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19b67d9328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19b67d9328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1b5a794de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1b5a794de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b5a794de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b5a794de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1b5a794de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1b5a794de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1b5a794de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1b5a794de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9d7439ab6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19d7439ab6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19b67d932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19b67d932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1b4c9275b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1b4c9275b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1b5a794de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1b5a794de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b4c9275b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1b4c9275b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Long complex</a:t>
            </a:r>
            <a:br>
              <a:rPr lang="en"/>
            </a:br>
            <a:r>
              <a:rPr lang="en"/>
              <a:t>Mixes two dimensions</a:t>
            </a:r>
            <a:br>
              <a:rPr lang="en"/>
            </a:br>
            <a:r>
              <a:rPr lang="en"/>
              <a:t>Hard to know what is going on.</a:t>
            </a:r>
            <a:br>
              <a:rPr lang="en"/>
            </a:br>
            <a:r>
              <a:rPr lang="en"/>
              <a:t>Provides examples</a:t>
            </a:r>
            <a:br>
              <a:rPr lang="en"/>
            </a:br>
            <a:r>
              <a:rPr lang="en"/>
              <a:t>Uses out of date ### ``` prompting style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1b4c9275b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1b4c9275b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1b4c9275b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1b4c9275b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b4c9275b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1b4c9275b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1b4c9275b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1b4c9275b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Very long document with complicated subject.</a:t>
            </a:r>
            <a:br>
              <a:rPr lang="en"/>
            </a:br>
            <a:r>
              <a:rPr lang="en"/>
              <a:t>Summary must be tailored at the dimensions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1b4c9275b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1b4c9275b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600">
                <a:solidFill>
                  <a:srgbClr val="294489"/>
                </a:solidFill>
                <a:latin typeface="Manrope"/>
                <a:ea typeface="Manrope"/>
                <a:cs typeface="Manrope"/>
                <a:sym typeface="Manrope"/>
              </a:rPr>
              <a:t>600000007353307</a:t>
            </a:r>
            <a:endParaRPr b="1" sz="3600">
              <a:solidFill>
                <a:srgbClr val="294489"/>
              </a:solidFill>
              <a:latin typeface="Manrope"/>
              <a:ea typeface="Manrope"/>
              <a:cs typeface="Manrope"/>
              <a:sym typeface="Manrope"/>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1b4c9275b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1b4c9275b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600">
                <a:solidFill>
                  <a:srgbClr val="294489"/>
                </a:solidFill>
                <a:latin typeface="Manrope"/>
                <a:ea typeface="Manrope"/>
                <a:cs typeface="Manrope"/>
                <a:sym typeface="Manrope"/>
              </a:rPr>
              <a:t>600000007353307</a:t>
            </a:r>
            <a:endParaRPr b="1" sz="3600">
              <a:solidFill>
                <a:srgbClr val="294489"/>
              </a:solidFill>
              <a:latin typeface="Manrope"/>
              <a:ea typeface="Manrope"/>
              <a:cs typeface="Manrope"/>
              <a:sym typeface="Manrope"/>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1b4c9275b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1b4c9275b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1b4c9275b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1b4c9275b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b4c9275b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1b4c9275b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1b4c9275b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1b4c9275b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1b4c9275b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1b4c9275b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1b4c9275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1b4c9275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1b4c9275b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1b4c9275b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turns average for Definity data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1b4c9275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1b4c9275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turns average for Definity data</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1b4c9275b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1b4c9275b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turns average for Definity data</a:t>
            </a:r>
            <a:br>
              <a:rPr lang="en"/>
            </a:br>
            <a:r>
              <a:rPr lang="en"/>
              <a:t>10,000 ~ 4 days can work up.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5.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5.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31.png"/><Relationship Id="rId6" Type="http://schemas.openxmlformats.org/officeDocument/2006/relationships/image" Target="../media/image29.png"/><Relationship Id="rId7"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hyperlink" Target="https://app.getbeamer.com/hfstudio/"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image" Target="../media/image32.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 Topic Model</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Improvements</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3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44" name="Google Shape;144;p37"/>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145" name="Google Shape;145;p37"/>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solidFill>
                <a:srgbClr val="FF0000"/>
              </a:solidFill>
            </a:endParaRPr>
          </a:p>
        </p:txBody>
      </p:sp>
      <p:sp>
        <p:nvSpPr>
          <p:cNvPr id="146" name="Google Shape;146;p37"/>
          <p:cNvSpPr txBox="1"/>
          <p:nvPr/>
        </p:nvSpPr>
        <p:spPr>
          <a:xfrm>
            <a:off x="668100" y="1288800"/>
            <a:ext cx="7546200" cy="2016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a:solidFill>
                  <a:srgbClr val="475067"/>
                </a:solidFill>
                <a:latin typeface="Inter"/>
                <a:ea typeface="Inter"/>
                <a:cs typeface="Inter"/>
                <a:sym typeface="Inter"/>
              </a:rPr>
              <a:t>High level</a:t>
            </a:r>
            <a:r>
              <a:rPr lang="en">
                <a:solidFill>
                  <a:srgbClr val="475067"/>
                </a:solidFill>
                <a:latin typeface="Inter"/>
                <a:ea typeface="Inter"/>
                <a:cs typeface="Inter"/>
                <a:sym typeface="Inter"/>
              </a:rPr>
              <a:t> overview of changes </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rgbClr val="475067"/>
                </a:solidFill>
                <a:latin typeface="Inter"/>
                <a:ea typeface="Inter"/>
                <a:cs typeface="Inter"/>
                <a:sym typeface="Inter"/>
              </a:rPr>
              <a:t>Sonnet Topic Model Changes</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1000"/>
              </a:spcAft>
              <a:buClr>
                <a:srgbClr val="475067"/>
              </a:buClr>
              <a:buSzPts val="1200"/>
              <a:buFont typeface="Inter"/>
              <a:buChar char="■"/>
            </a:pPr>
            <a:r>
              <a:rPr lang="en">
                <a:solidFill>
                  <a:srgbClr val="475067"/>
                </a:solidFill>
                <a:latin typeface="Inter"/>
                <a:ea typeface="Inter"/>
                <a:cs typeface="Inter"/>
                <a:sym typeface="Inter"/>
              </a:rPr>
              <a:t>NBS Topic Model Changes</a:t>
            </a:r>
            <a:endParaRPr>
              <a:solidFill>
                <a:srgbClr val="475067"/>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50" name="Shape 150"/>
        <p:cNvGrpSpPr/>
        <p:nvPr/>
      </p:nvGrpSpPr>
      <p:grpSpPr>
        <a:xfrm>
          <a:off x="0" y="0"/>
          <a:ext cx="0" cy="0"/>
          <a:chOff x="0" y="0"/>
          <a:chExt cx="0" cy="0"/>
        </a:xfrm>
      </p:grpSpPr>
      <p:pic>
        <p:nvPicPr>
          <p:cNvPr id="151" name="Google Shape;151;p38"/>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52" name="Google Shape;152;p38"/>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Overview</a:t>
            </a:r>
            <a:endParaRPr sz="3600">
              <a:solidFill>
                <a:schemeClr val="lt2"/>
              </a:solidFill>
              <a:latin typeface="Manrope SemiBold"/>
              <a:ea typeface="Manrope SemiBold"/>
              <a:cs typeface="Manrope SemiBold"/>
              <a:sym typeface="Manrope SemiBold"/>
            </a:endParaRPr>
          </a:p>
        </p:txBody>
      </p:sp>
      <p:pic>
        <p:nvPicPr>
          <p:cNvPr id="153" name="Google Shape;153;p38"/>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54" name="Google Shape;15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3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61" name="Google Shape;161;p39"/>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162" name="Google Shape;162;p3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Topic Report Overview - </a:t>
            </a:r>
            <a:r>
              <a:rPr lang="en" sz="3500">
                <a:solidFill>
                  <a:schemeClr val="accent1"/>
                </a:solidFill>
              </a:rPr>
              <a:t>Estimate</a:t>
            </a:r>
            <a:endParaRPr sz="3500"/>
          </a:p>
        </p:txBody>
      </p:sp>
      <p:graphicFrame>
        <p:nvGraphicFramePr>
          <p:cNvPr id="163" name="Google Shape;163;p39"/>
          <p:cNvGraphicFramePr/>
          <p:nvPr/>
        </p:nvGraphicFramePr>
        <p:xfrm>
          <a:off x="625625" y="1207075"/>
          <a:ext cx="3000000" cy="3000000"/>
        </p:xfrm>
        <a:graphic>
          <a:graphicData uri="http://schemas.openxmlformats.org/drawingml/2006/table">
            <a:tbl>
              <a:tblPr>
                <a:noFill/>
                <a:tableStyleId>{6A6A3AC6-4B61-4ED9-BA4E-F39A1D7B4E19}</a:tableStyleId>
              </a:tblPr>
              <a:tblGrid>
                <a:gridCol w="1948725"/>
                <a:gridCol w="1948725"/>
                <a:gridCol w="1948725"/>
              </a:tblGrid>
              <a:tr h="317775">
                <a:tc>
                  <a:txBody>
                    <a:bodyPr/>
                    <a:lstStyle/>
                    <a:p>
                      <a:pPr indent="0" lvl="0" marL="0" rtl="0" algn="l">
                        <a:spcBef>
                          <a:spcPts val="0"/>
                        </a:spcBef>
                        <a:spcAft>
                          <a:spcPts val="0"/>
                        </a:spcAft>
                        <a:buNone/>
                      </a:pPr>
                      <a:r>
                        <a:t/>
                      </a:r>
                      <a:endParaRPr b="1"/>
                    </a:p>
                  </a:txBody>
                  <a:tcPr marT="91425" marB="91425" marR="91425" marL="91425">
                    <a:solidFill>
                      <a:srgbClr val="DBF2FA"/>
                    </a:solidFill>
                  </a:tcPr>
                </a:tc>
                <a:tc>
                  <a:txBody>
                    <a:bodyPr/>
                    <a:lstStyle/>
                    <a:p>
                      <a:pPr indent="0" lvl="0" marL="0" rtl="0" algn="ctr">
                        <a:spcBef>
                          <a:spcPts val="0"/>
                        </a:spcBef>
                        <a:spcAft>
                          <a:spcPts val="0"/>
                        </a:spcAft>
                        <a:buNone/>
                      </a:pPr>
                      <a:r>
                        <a:rPr b="1" lang="en"/>
                        <a:t>Sonnet</a:t>
                      </a:r>
                      <a:endParaRPr b="1"/>
                    </a:p>
                  </a:txBody>
                  <a:tcPr marT="91425" marB="91425" marR="91425" marL="91425">
                    <a:solidFill>
                      <a:srgbClr val="DBF2FA"/>
                    </a:solidFill>
                  </a:tcPr>
                </a:tc>
                <a:tc>
                  <a:txBody>
                    <a:bodyPr/>
                    <a:lstStyle/>
                    <a:p>
                      <a:pPr indent="0" lvl="0" marL="0" rtl="0" algn="ctr">
                        <a:spcBef>
                          <a:spcPts val="0"/>
                        </a:spcBef>
                        <a:spcAft>
                          <a:spcPts val="0"/>
                        </a:spcAft>
                        <a:buNone/>
                      </a:pPr>
                      <a:r>
                        <a:rPr b="1" lang="en"/>
                        <a:t>NBS</a:t>
                      </a:r>
                      <a:endParaRPr b="1"/>
                    </a:p>
                  </a:txBody>
                  <a:tcPr marT="91425" marB="91425" marR="91425" marL="91425">
                    <a:solidFill>
                      <a:srgbClr val="DBF2FA"/>
                    </a:solidFill>
                  </a:tcPr>
                </a:tc>
              </a:tr>
              <a:tr h="440000">
                <a:tc>
                  <a:txBody>
                    <a:bodyPr/>
                    <a:lstStyle/>
                    <a:p>
                      <a:pPr indent="0" lvl="0" marL="0" rtl="0" algn="l">
                        <a:spcBef>
                          <a:spcPts val="0"/>
                        </a:spcBef>
                        <a:spcAft>
                          <a:spcPts val="0"/>
                        </a:spcAft>
                        <a:buNone/>
                      </a:pPr>
                      <a:r>
                        <a:rPr lang="en" sz="1200"/>
                        <a:t>Scoring in provided baseline</a:t>
                      </a:r>
                      <a:endParaRPr sz="1200"/>
                    </a:p>
                  </a:txBody>
                  <a:tcPr marT="91425" marB="91425" marR="91425" marL="91425"/>
                </a:tc>
                <a:tc>
                  <a:txBody>
                    <a:bodyPr/>
                    <a:lstStyle/>
                    <a:p>
                      <a:pPr indent="0" lvl="0" marL="0" rtl="0" algn="ctr">
                        <a:spcBef>
                          <a:spcPts val="0"/>
                        </a:spcBef>
                        <a:spcAft>
                          <a:spcPts val="0"/>
                        </a:spcAft>
                        <a:buNone/>
                      </a:pPr>
                      <a:r>
                        <a:rPr lang="en"/>
                        <a:t>75%</a:t>
                      </a:r>
                      <a:endParaRPr/>
                    </a:p>
                  </a:txBody>
                  <a:tcPr marT="91425" marB="91425" marR="91425" marL="91425"/>
                </a:tc>
                <a:tc>
                  <a:txBody>
                    <a:bodyPr/>
                    <a:lstStyle/>
                    <a:p>
                      <a:pPr indent="0" lvl="0" marL="0" rtl="0" algn="ctr">
                        <a:spcBef>
                          <a:spcPts val="0"/>
                        </a:spcBef>
                        <a:spcAft>
                          <a:spcPts val="0"/>
                        </a:spcAft>
                        <a:buNone/>
                      </a:pPr>
                      <a:r>
                        <a:rPr lang="en"/>
                        <a:t>59%*</a:t>
                      </a:r>
                      <a:endParaRPr/>
                    </a:p>
                  </a:txBody>
                  <a:tcPr marT="91425" marB="91425" marR="91425" marL="91425"/>
                </a:tc>
              </a:tr>
              <a:tr h="578775">
                <a:tc>
                  <a:txBody>
                    <a:bodyPr/>
                    <a:lstStyle/>
                    <a:p>
                      <a:pPr indent="0" lvl="0" marL="0" rtl="0" algn="l">
                        <a:spcBef>
                          <a:spcPts val="0"/>
                        </a:spcBef>
                        <a:spcAft>
                          <a:spcPts val="0"/>
                        </a:spcAft>
                        <a:buNone/>
                      </a:pPr>
                      <a:r>
                        <a:rPr lang="en" sz="1200"/>
                        <a:t>Scoring provided in baseline including missed data**</a:t>
                      </a:r>
                      <a:endParaRPr sz="1200"/>
                    </a:p>
                  </a:txBody>
                  <a:tcPr marT="91425" marB="91425" marR="91425" marL="91425"/>
                </a:tc>
                <a:tc>
                  <a:txBody>
                    <a:bodyPr/>
                    <a:lstStyle/>
                    <a:p>
                      <a:pPr indent="0" lvl="0" marL="0" rtl="0" algn="ctr">
                        <a:spcBef>
                          <a:spcPts val="0"/>
                        </a:spcBef>
                        <a:spcAft>
                          <a:spcPts val="0"/>
                        </a:spcAft>
                        <a:buNone/>
                      </a:pPr>
                      <a:r>
                        <a:rPr lang="en"/>
                        <a:t>72%</a:t>
                      </a:r>
                      <a:endParaRPr/>
                    </a:p>
                  </a:txBody>
                  <a:tcPr marT="91425" marB="91425" marR="91425" marL="91425"/>
                </a:tc>
                <a:tc>
                  <a:txBody>
                    <a:bodyPr/>
                    <a:lstStyle/>
                    <a:p>
                      <a:pPr indent="0" lvl="0" marL="0" rtl="0" algn="ctr">
                        <a:spcBef>
                          <a:spcPts val="0"/>
                        </a:spcBef>
                        <a:spcAft>
                          <a:spcPts val="0"/>
                        </a:spcAft>
                        <a:buNone/>
                      </a:pPr>
                      <a:r>
                        <a:rPr lang="en"/>
                        <a:t>61%</a:t>
                      </a:r>
                      <a:endParaRPr/>
                    </a:p>
                  </a:txBody>
                  <a:tcPr marT="91425" marB="91425" marR="91425" marL="91425"/>
                </a:tc>
              </a:tr>
              <a:tr h="578775">
                <a:tc>
                  <a:txBody>
                    <a:bodyPr/>
                    <a:lstStyle/>
                    <a:p>
                      <a:pPr indent="0" lvl="0" marL="0" rtl="0" algn="l">
                        <a:spcBef>
                          <a:spcPts val="0"/>
                        </a:spcBef>
                        <a:spcAft>
                          <a:spcPts val="0"/>
                        </a:spcAft>
                        <a:buNone/>
                      </a:pPr>
                      <a:r>
                        <a:rPr lang="en" sz="1200"/>
                        <a:t>Scoring re-baselined to Nov 11th model</a:t>
                      </a:r>
                      <a:endParaRPr sz="1200"/>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64%</a:t>
                      </a:r>
                      <a:endParaRPr/>
                    </a:p>
                  </a:txBody>
                  <a:tcPr marT="91425" marB="91425" marR="91425" marL="91425"/>
                </a:tc>
              </a:tr>
              <a:tr h="586675">
                <a:tc>
                  <a:txBody>
                    <a:bodyPr/>
                    <a:lstStyle/>
                    <a:p>
                      <a:pPr indent="0" lvl="0" marL="0" rtl="0" algn="l">
                        <a:spcBef>
                          <a:spcPts val="0"/>
                        </a:spcBef>
                        <a:spcAft>
                          <a:spcPts val="0"/>
                        </a:spcAft>
                        <a:buNone/>
                      </a:pPr>
                      <a:r>
                        <a:rPr lang="en" sz="1200"/>
                        <a:t>Anticipated range possible without prompt changes to requested baseline</a:t>
                      </a:r>
                      <a:endParaRPr sz="1200"/>
                    </a:p>
                  </a:txBody>
                  <a:tcPr marT="91425" marB="91425" marR="91425" marL="91425"/>
                </a:tc>
                <a:tc>
                  <a:txBody>
                    <a:bodyPr/>
                    <a:lstStyle/>
                    <a:p>
                      <a:pPr indent="0" lvl="0" marL="0" rtl="0" algn="ctr">
                        <a:spcBef>
                          <a:spcPts val="0"/>
                        </a:spcBef>
                        <a:spcAft>
                          <a:spcPts val="0"/>
                        </a:spcAft>
                        <a:buNone/>
                      </a:pPr>
                      <a:r>
                        <a:rPr lang="en"/>
                        <a:t>85-90%</a:t>
                      </a:r>
                      <a:endParaRPr/>
                    </a:p>
                  </a:txBody>
                  <a:tcPr marT="91425" marB="91425" marR="91425" marL="91425"/>
                </a:tc>
                <a:tc>
                  <a:txBody>
                    <a:bodyPr/>
                    <a:lstStyle/>
                    <a:p>
                      <a:pPr indent="0" lvl="0" marL="0" rtl="0" algn="ctr">
                        <a:spcBef>
                          <a:spcPts val="0"/>
                        </a:spcBef>
                        <a:spcAft>
                          <a:spcPts val="0"/>
                        </a:spcAft>
                        <a:buNone/>
                      </a:pPr>
                      <a:r>
                        <a:rPr lang="en"/>
                        <a:t>70-75%</a:t>
                      </a:r>
                      <a:endParaRPr/>
                    </a:p>
                  </a:txBody>
                  <a:tcPr marT="91425" marB="91425" marR="91425" marL="91425"/>
                </a:tc>
              </a:tr>
            </a:tbl>
          </a:graphicData>
        </a:graphic>
      </p:graphicFrame>
      <p:sp>
        <p:nvSpPr>
          <p:cNvPr id="164" name="Google Shape;164;p39"/>
          <p:cNvSpPr txBox="1"/>
          <p:nvPr/>
        </p:nvSpPr>
        <p:spPr>
          <a:xfrm>
            <a:off x="625625" y="4380700"/>
            <a:ext cx="6187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 one call in sheet couldn’t be located in tool, this work was done on the model as of Oct 1st</a:t>
            </a:r>
            <a:endParaRPr sz="1000"/>
          </a:p>
          <a:p>
            <a:pPr indent="0" lvl="0" marL="0" rtl="0" algn="l">
              <a:spcBef>
                <a:spcPts val="0"/>
              </a:spcBef>
              <a:spcAft>
                <a:spcPts val="0"/>
              </a:spcAft>
              <a:buNone/>
            </a:pPr>
            <a:r>
              <a:rPr lang="en" sz="1000"/>
              <a:t>** where prompt produces say 5 INTENT classes, but only 2 were reviewed by the Agents. (up to agent 3)</a:t>
            </a:r>
            <a:endParaRPr sz="1000"/>
          </a:p>
          <a:p>
            <a:pPr indent="0" lvl="0" marL="0" rtl="0" algn="l">
              <a:spcBef>
                <a:spcPts val="0"/>
              </a:spcBef>
              <a:spcAft>
                <a:spcPts val="0"/>
              </a:spcAft>
              <a:buNone/>
            </a:pPr>
            <a:r>
              <a:t/>
            </a:r>
            <a:endParaRPr sz="1000"/>
          </a:p>
          <a:p>
            <a:pPr indent="0" lvl="0" marL="0" rtl="0" algn="l">
              <a:spcBef>
                <a:spcPts val="0"/>
              </a:spcBef>
              <a:spcAft>
                <a:spcPts val="0"/>
              </a:spcAft>
              <a:buNone/>
            </a:pPr>
            <a:br>
              <a:rPr lang="en" sz="1000"/>
            </a:br>
            <a:endParaRPr sz="1000"/>
          </a:p>
        </p:txBody>
      </p:sp>
      <p:sp>
        <p:nvSpPr>
          <p:cNvPr id="165" name="Google Shape;165;p39"/>
          <p:cNvSpPr txBox="1"/>
          <p:nvPr/>
        </p:nvSpPr>
        <p:spPr>
          <a:xfrm>
            <a:off x="6597425" y="1102675"/>
            <a:ext cx="2230200" cy="3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Aim to deliver these model updates to Dev by end of week ending 29th Nov.</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2" name="Google Shape;172;p40"/>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173" name="Google Shape;173;p4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Topic Report Overview - </a:t>
            </a:r>
            <a:r>
              <a:rPr lang="en" sz="3500">
                <a:solidFill>
                  <a:schemeClr val="accent1"/>
                </a:solidFill>
              </a:rPr>
              <a:t>Final</a:t>
            </a:r>
            <a:endParaRPr sz="3500"/>
          </a:p>
        </p:txBody>
      </p:sp>
      <p:graphicFrame>
        <p:nvGraphicFramePr>
          <p:cNvPr id="174" name="Google Shape;174;p40"/>
          <p:cNvGraphicFramePr/>
          <p:nvPr/>
        </p:nvGraphicFramePr>
        <p:xfrm>
          <a:off x="625625" y="1207075"/>
          <a:ext cx="3000000" cy="3000000"/>
        </p:xfrm>
        <a:graphic>
          <a:graphicData uri="http://schemas.openxmlformats.org/drawingml/2006/table">
            <a:tbl>
              <a:tblPr>
                <a:noFill/>
                <a:tableStyleId>{6A6A3AC6-4B61-4ED9-BA4E-F39A1D7B4E19}</a:tableStyleId>
              </a:tblPr>
              <a:tblGrid>
                <a:gridCol w="1948725"/>
                <a:gridCol w="1948725"/>
                <a:gridCol w="1948725"/>
              </a:tblGrid>
              <a:tr h="317775">
                <a:tc>
                  <a:txBody>
                    <a:bodyPr/>
                    <a:lstStyle/>
                    <a:p>
                      <a:pPr indent="0" lvl="0" marL="0" rtl="0" algn="l">
                        <a:spcBef>
                          <a:spcPts val="0"/>
                        </a:spcBef>
                        <a:spcAft>
                          <a:spcPts val="0"/>
                        </a:spcAft>
                        <a:buNone/>
                      </a:pPr>
                      <a:r>
                        <a:t/>
                      </a:r>
                      <a:endParaRPr b="1"/>
                    </a:p>
                  </a:txBody>
                  <a:tcPr marT="91425" marB="91425" marR="91425" marL="91425">
                    <a:solidFill>
                      <a:srgbClr val="DBF2FA"/>
                    </a:solidFill>
                  </a:tcPr>
                </a:tc>
                <a:tc>
                  <a:txBody>
                    <a:bodyPr/>
                    <a:lstStyle/>
                    <a:p>
                      <a:pPr indent="0" lvl="0" marL="0" rtl="0" algn="ctr">
                        <a:spcBef>
                          <a:spcPts val="0"/>
                        </a:spcBef>
                        <a:spcAft>
                          <a:spcPts val="0"/>
                        </a:spcAft>
                        <a:buNone/>
                      </a:pPr>
                      <a:r>
                        <a:rPr b="1" lang="en"/>
                        <a:t>Sonnet</a:t>
                      </a:r>
                      <a:endParaRPr b="1"/>
                    </a:p>
                  </a:txBody>
                  <a:tcPr marT="91425" marB="91425" marR="91425" marL="91425">
                    <a:solidFill>
                      <a:srgbClr val="DBF2FA"/>
                    </a:solidFill>
                  </a:tcPr>
                </a:tc>
                <a:tc>
                  <a:txBody>
                    <a:bodyPr/>
                    <a:lstStyle/>
                    <a:p>
                      <a:pPr indent="0" lvl="0" marL="0" rtl="0" algn="ctr">
                        <a:spcBef>
                          <a:spcPts val="0"/>
                        </a:spcBef>
                        <a:spcAft>
                          <a:spcPts val="0"/>
                        </a:spcAft>
                        <a:buNone/>
                      </a:pPr>
                      <a:r>
                        <a:rPr b="1" lang="en"/>
                        <a:t>NBS</a:t>
                      </a:r>
                      <a:endParaRPr b="1"/>
                    </a:p>
                  </a:txBody>
                  <a:tcPr marT="91425" marB="91425" marR="91425" marL="91425">
                    <a:solidFill>
                      <a:srgbClr val="DBF2FA"/>
                    </a:solidFill>
                  </a:tcPr>
                </a:tc>
              </a:tr>
              <a:tr h="440000">
                <a:tc>
                  <a:txBody>
                    <a:bodyPr/>
                    <a:lstStyle/>
                    <a:p>
                      <a:pPr indent="0" lvl="0" marL="0" rtl="0" algn="l">
                        <a:spcBef>
                          <a:spcPts val="0"/>
                        </a:spcBef>
                        <a:spcAft>
                          <a:spcPts val="0"/>
                        </a:spcAft>
                        <a:buNone/>
                      </a:pPr>
                      <a:r>
                        <a:rPr lang="en" sz="1200"/>
                        <a:t>Scoring in provided baseline</a:t>
                      </a:r>
                      <a:endParaRPr sz="1200"/>
                    </a:p>
                  </a:txBody>
                  <a:tcPr marT="91425" marB="91425" marR="91425" marL="91425"/>
                </a:tc>
                <a:tc>
                  <a:txBody>
                    <a:bodyPr/>
                    <a:lstStyle/>
                    <a:p>
                      <a:pPr indent="0" lvl="0" marL="0" rtl="0" algn="ctr">
                        <a:spcBef>
                          <a:spcPts val="0"/>
                        </a:spcBef>
                        <a:spcAft>
                          <a:spcPts val="0"/>
                        </a:spcAft>
                        <a:buNone/>
                      </a:pPr>
                      <a:r>
                        <a:rPr lang="en"/>
                        <a:t>75%</a:t>
                      </a:r>
                      <a:endParaRPr/>
                    </a:p>
                  </a:txBody>
                  <a:tcPr marT="91425" marB="91425" marR="91425" marL="91425"/>
                </a:tc>
                <a:tc>
                  <a:txBody>
                    <a:bodyPr/>
                    <a:lstStyle/>
                    <a:p>
                      <a:pPr indent="0" lvl="0" marL="0" rtl="0" algn="ctr">
                        <a:spcBef>
                          <a:spcPts val="0"/>
                        </a:spcBef>
                        <a:spcAft>
                          <a:spcPts val="0"/>
                        </a:spcAft>
                        <a:buNone/>
                      </a:pPr>
                      <a:r>
                        <a:rPr lang="en"/>
                        <a:t>59%*</a:t>
                      </a:r>
                      <a:endParaRPr/>
                    </a:p>
                  </a:txBody>
                  <a:tcPr marT="91425" marB="91425" marR="91425" marL="91425"/>
                </a:tc>
              </a:tr>
              <a:tr h="578775">
                <a:tc>
                  <a:txBody>
                    <a:bodyPr/>
                    <a:lstStyle/>
                    <a:p>
                      <a:pPr indent="0" lvl="0" marL="0" rtl="0" algn="l">
                        <a:spcBef>
                          <a:spcPts val="0"/>
                        </a:spcBef>
                        <a:spcAft>
                          <a:spcPts val="0"/>
                        </a:spcAft>
                        <a:buNone/>
                      </a:pPr>
                      <a:r>
                        <a:rPr lang="en" sz="1200"/>
                        <a:t>Scoring provided in baseline including missed data**</a:t>
                      </a:r>
                      <a:endParaRPr sz="1200"/>
                    </a:p>
                  </a:txBody>
                  <a:tcPr marT="91425" marB="91425" marR="91425" marL="91425"/>
                </a:tc>
                <a:tc>
                  <a:txBody>
                    <a:bodyPr/>
                    <a:lstStyle/>
                    <a:p>
                      <a:pPr indent="0" lvl="0" marL="0" rtl="0" algn="ctr">
                        <a:spcBef>
                          <a:spcPts val="0"/>
                        </a:spcBef>
                        <a:spcAft>
                          <a:spcPts val="0"/>
                        </a:spcAft>
                        <a:buNone/>
                      </a:pPr>
                      <a:r>
                        <a:rPr lang="en"/>
                        <a:t>72%</a:t>
                      </a:r>
                      <a:endParaRPr/>
                    </a:p>
                  </a:txBody>
                  <a:tcPr marT="91425" marB="91425" marR="91425" marL="91425"/>
                </a:tc>
                <a:tc>
                  <a:txBody>
                    <a:bodyPr/>
                    <a:lstStyle/>
                    <a:p>
                      <a:pPr indent="0" lvl="0" marL="0" rtl="0" algn="ctr">
                        <a:spcBef>
                          <a:spcPts val="0"/>
                        </a:spcBef>
                        <a:spcAft>
                          <a:spcPts val="0"/>
                        </a:spcAft>
                        <a:buNone/>
                      </a:pPr>
                      <a:r>
                        <a:rPr lang="en"/>
                        <a:t>61%</a:t>
                      </a:r>
                      <a:endParaRPr/>
                    </a:p>
                  </a:txBody>
                  <a:tcPr marT="91425" marB="91425" marR="91425" marL="91425"/>
                </a:tc>
              </a:tr>
              <a:tr h="578775">
                <a:tc>
                  <a:txBody>
                    <a:bodyPr/>
                    <a:lstStyle/>
                    <a:p>
                      <a:pPr indent="0" lvl="0" marL="0" rtl="0" algn="l">
                        <a:spcBef>
                          <a:spcPts val="0"/>
                        </a:spcBef>
                        <a:spcAft>
                          <a:spcPts val="0"/>
                        </a:spcAft>
                        <a:buNone/>
                      </a:pPr>
                      <a:r>
                        <a:rPr lang="en" sz="1200"/>
                        <a:t>Scoring re-baselined to Nov 11th model</a:t>
                      </a:r>
                      <a:endParaRPr sz="1200"/>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64%</a:t>
                      </a:r>
                      <a:endParaRPr/>
                    </a:p>
                  </a:txBody>
                  <a:tcPr marT="91425" marB="91425" marR="91425" marL="91425"/>
                </a:tc>
              </a:tr>
              <a:tr h="586675">
                <a:tc>
                  <a:txBody>
                    <a:bodyPr/>
                    <a:lstStyle/>
                    <a:p>
                      <a:pPr indent="0" lvl="0" marL="0" rtl="0" algn="l">
                        <a:spcBef>
                          <a:spcPts val="0"/>
                        </a:spcBef>
                        <a:spcAft>
                          <a:spcPts val="0"/>
                        </a:spcAft>
                        <a:buNone/>
                      </a:pPr>
                      <a:r>
                        <a:rPr lang="en" sz="1200"/>
                        <a:t>Anticipated range possible without prompt changes to requested baseline</a:t>
                      </a:r>
                      <a:endParaRPr sz="1200"/>
                    </a:p>
                  </a:txBody>
                  <a:tcPr marT="91425" marB="91425" marR="91425" marL="91425"/>
                </a:tc>
                <a:tc>
                  <a:txBody>
                    <a:bodyPr/>
                    <a:lstStyle/>
                    <a:p>
                      <a:pPr indent="0" lvl="0" marL="0" rtl="0" algn="ctr">
                        <a:spcBef>
                          <a:spcPts val="0"/>
                        </a:spcBef>
                        <a:spcAft>
                          <a:spcPts val="0"/>
                        </a:spcAft>
                        <a:buNone/>
                      </a:pPr>
                      <a:r>
                        <a:rPr lang="en"/>
                        <a:t>90%</a:t>
                      </a:r>
                      <a:endParaRPr/>
                    </a:p>
                  </a:txBody>
                  <a:tcPr marT="91425" marB="91425" marR="91425" marL="91425"/>
                </a:tc>
                <a:tc>
                  <a:txBody>
                    <a:bodyPr/>
                    <a:lstStyle/>
                    <a:p>
                      <a:pPr indent="0" lvl="0" marL="0" rtl="0" algn="ctr">
                        <a:spcBef>
                          <a:spcPts val="0"/>
                        </a:spcBef>
                        <a:spcAft>
                          <a:spcPts val="0"/>
                        </a:spcAft>
                        <a:buNone/>
                      </a:pPr>
                      <a:r>
                        <a:rPr lang="en"/>
                        <a:t>81%</a:t>
                      </a:r>
                      <a:endParaRPr/>
                    </a:p>
                  </a:txBody>
                  <a:tcPr marT="91425" marB="91425" marR="91425" marL="91425"/>
                </a:tc>
              </a:tr>
            </a:tbl>
          </a:graphicData>
        </a:graphic>
      </p:graphicFrame>
      <p:sp>
        <p:nvSpPr>
          <p:cNvPr id="175" name="Google Shape;175;p40"/>
          <p:cNvSpPr txBox="1"/>
          <p:nvPr/>
        </p:nvSpPr>
        <p:spPr>
          <a:xfrm>
            <a:off x="625625" y="4380700"/>
            <a:ext cx="6341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 one call in sheet couldn’t be located in tool, this work was done on the model as of Oct 1st</a:t>
            </a:r>
            <a:endParaRPr sz="1000"/>
          </a:p>
          <a:p>
            <a:pPr indent="0" lvl="0" marL="0" rtl="0" algn="l">
              <a:spcBef>
                <a:spcPts val="0"/>
              </a:spcBef>
              <a:spcAft>
                <a:spcPts val="0"/>
              </a:spcAft>
              <a:buNone/>
            </a:pPr>
            <a:r>
              <a:rPr lang="en" sz="1000"/>
              <a:t>** where prompt produces say 5 INTENT classes, but only 2 were reviewed by the Agents. (up to agent 3)</a:t>
            </a:r>
            <a:endParaRPr sz="1000"/>
          </a:p>
          <a:p>
            <a:pPr indent="0" lvl="0" marL="0" rtl="0" algn="l">
              <a:spcBef>
                <a:spcPts val="0"/>
              </a:spcBef>
              <a:spcAft>
                <a:spcPts val="0"/>
              </a:spcAft>
              <a:buNone/>
            </a:pPr>
            <a:br>
              <a:rPr lang="en" sz="1000"/>
            </a:br>
            <a:endParaRPr sz="1000"/>
          </a:p>
        </p:txBody>
      </p:sp>
      <p:sp>
        <p:nvSpPr>
          <p:cNvPr id="176" name="Google Shape;176;p40"/>
          <p:cNvSpPr txBox="1"/>
          <p:nvPr/>
        </p:nvSpPr>
        <p:spPr>
          <a:xfrm>
            <a:off x="6597425" y="1102675"/>
            <a:ext cx="2230200" cy="3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 delivery made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80" name="Shape 180"/>
        <p:cNvGrpSpPr/>
        <p:nvPr/>
      </p:nvGrpSpPr>
      <p:grpSpPr>
        <a:xfrm>
          <a:off x="0" y="0"/>
          <a:ext cx="0" cy="0"/>
          <a:chOff x="0" y="0"/>
          <a:chExt cx="0" cy="0"/>
        </a:xfrm>
      </p:grpSpPr>
      <p:pic>
        <p:nvPicPr>
          <p:cNvPr id="181" name="Google Shape;181;p41"/>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82" name="Google Shape;182;p41"/>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Sonnet - </a:t>
            </a:r>
            <a:r>
              <a:rPr lang="en" sz="3600">
                <a:solidFill>
                  <a:schemeClr val="lt1"/>
                </a:solidFill>
                <a:latin typeface="Manrope SemiBold"/>
                <a:ea typeface="Manrope SemiBold"/>
                <a:cs typeface="Manrope SemiBold"/>
                <a:sym typeface="Manrope SemiBold"/>
              </a:rPr>
              <a:t>Topic Model</a:t>
            </a:r>
            <a:endParaRPr sz="3600">
              <a:solidFill>
                <a:schemeClr val="lt2"/>
              </a:solidFill>
              <a:latin typeface="Manrope SemiBold"/>
              <a:ea typeface="Manrope SemiBold"/>
              <a:cs typeface="Manrope SemiBold"/>
              <a:sym typeface="Manrope SemiBold"/>
            </a:endParaRPr>
          </a:p>
        </p:txBody>
      </p:sp>
      <p:pic>
        <p:nvPicPr>
          <p:cNvPr id="183" name="Google Shape;183;p41"/>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84" name="Google Shape;18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91" name="Google Shape;191;p42"/>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192" name="Google Shape;192;p4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Observations</a:t>
            </a:r>
            <a:endParaRPr sz="3500"/>
          </a:p>
        </p:txBody>
      </p:sp>
      <p:sp>
        <p:nvSpPr>
          <p:cNvPr id="193" name="Google Shape;193;p42"/>
          <p:cNvSpPr txBox="1"/>
          <p:nvPr/>
        </p:nvSpPr>
        <p:spPr>
          <a:xfrm>
            <a:off x="668100" y="1288800"/>
            <a:ext cx="75462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sz="1200">
                <a:solidFill>
                  <a:srgbClr val="475067"/>
                </a:solidFill>
                <a:latin typeface="Inter"/>
                <a:ea typeface="Inter"/>
                <a:cs typeface="Inter"/>
                <a:sym typeface="Inter"/>
              </a:rPr>
              <a:t>The prompt on average generates around 4 Intents per call </a:t>
            </a:r>
            <a:r>
              <a:rPr lang="en" sz="1200">
                <a:solidFill>
                  <a:schemeClr val="accent6"/>
                </a:solidFill>
                <a:latin typeface="Inter"/>
                <a:ea typeface="Inter"/>
                <a:cs typeface="Inter"/>
                <a:sym typeface="Inter"/>
              </a:rPr>
              <a:t>(sometimes up to 7)</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A large portion (~30-40%) of intents generated were “missing” from the testing set </a:t>
            </a:r>
            <a:r>
              <a:rPr i="1" lang="en" sz="1200">
                <a:solidFill>
                  <a:schemeClr val="accent6"/>
                </a:solidFill>
                <a:latin typeface="Inter"/>
                <a:ea typeface="Inter"/>
                <a:cs typeface="Inter"/>
                <a:sym typeface="Inter"/>
              </a:rPr>
              <a:t>(possibly due to confidence clip threshold of 0.3)</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chemeClr val="accent6"/>
                </a:solidFill>
                <a:latin typeface="Inter"/>
                <a:ea typeface="Inter"/>
                <a:cs typeface="Inter"/>
                <a:sym typeface="Inter"/>
              </a:rPr>
              <a:t>The baseline used six annotators (agents) we've consolidated them into a single sheet and noted the annotator.  </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chemeClr val="accent6"/>
                </a:solidFill>
                <a:latin typeface="Inter"/>
                <a:ea typeface="Inter"/>
                <a:cs typeface="Inter"/>
                <a:sym typeface="Inter"/>
              </a:rPr>
              <a:t>The annotators didn't overlap on any calls so have not tried to investigate alignment but have carried their comments forward verbatim.</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86 predictions up to annotator 3 (“Agent 3”) have been manually verified as CORRECT / INCORRECT / AMBIGUOUS</a:t>
            </a:r>
            <a:endParaRPr sz="1200">
              <a:solidFill>
                <a:schemeClr val="accent6"/>
              </a:solidFill>
              <a:latin typeface="Inter"/>
              <a:ea typeface="Inter"/>
              <a:cs typeface="Inter"/>
              <a:sym typeface="Inter"/>
            </a:endParaRPr>
          </a:p>
          <a:p>
            <a:pPr indent="0" lvl="0" marL="457200" rtl="0" algn="l">
              <a:lnSpc>
                <a:spcPct val="115000"/>
              </a:lnSpc>
              <a:spcBef>
                <a:spcPts val="1000"/>
              </a:spcBef>
              <a:spcAft>
                <a:spcPts val="1000"/>
              </a:spcAft>
              <a:buNone/>
            </a:pPr>
            <a:r>
              <a:t/>
            </a:r>
            <a:endParaRPr sz="1200">
              <a:solidFill>
                <a:schemeClr val="accent6"/>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4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4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00" name="Google Shape;200;p4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Scoring - Before </a:t>
            </a:r>
            <a:r>
              <a:rPr lang="en" sz="1400"/>
              <a:t>(intent)</a:t>
            </a:r>
            <a:r>
              <a:rPr lang="en" sz="3500"/>
              <a:t> </a:t>
            </a:r>
            <a:endParaRPr sz="1200"/>
          </a:p>
        </p:txBody>
      </p:sp>
      <p:sp>
        <p:nvSpPr>
          <p:cNvPr id="201" name="Google Shape;201;p43"/>
          <p:cNvSpPr txBox="1"/>
          <p:nvPr/>
        </p:nvSpPr>
        <p:spPr>
          <a:xfrm>
            <a:off x="668100" y="1288800"/>
            <a:ext cx="44484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sz="1200">
                <a:solidFill>
                  <a:srgbClr val="475067"/>
                </a:solidFill>
                <a:latin typeface="Inter"/>
                <a:ea typeface="Inter"/>
                <a:cs typeface="Inter"/>
                <a:sym typeface="Inter"/>
              </a:rPr>
              <a:t>The scoring results </a:t>
            </a:r>
            <a:r>
              <a:rPr lang="en" sz="1200">
                <a:solidFill>
                  <a:srgbClr val="475067"/>
                </a:solidFill>
                <a:latin typeface="Inter"/>
                <a:ea typeface="Inter"/>
                <a:cs typeface="Inter"/>
                <a:sym typeface="Inter"/>
              </a:rPr>
              <a:t>rebaseline</a:t>
            </a:r>
            <a:r>
              <a:rPr lang="en" sz="1200">
                <a:solidFill>
                  <a:srgbClr val="475067"/>
                </a:solidFill>
                <a:latin typeface="Inter"/>
                <a:ea typeface="Inter"/>
                <a:cs typeface="Inter"/>
                <a:sym typeface="Inter"/>
              </a:rPr>
              <a:t> to the early model changes in DEV</a:t>
            </a:r>
            <a:endParaRPr i="1" sz="10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Including PRESENT and MISSING Intents:</a:t>
            </a:r>
            <a:endParaRPr sz="1200">
              <a:solidFill>
                <a:srgbClr val="475067"/>
              </a:solidFill>
              <a:latin typeface="Inter"/>
              <a:ea typeface="Inter"/>
              <a:cs typeface="Inter"/>
              <a:sym typeface="Inter"/>
            </a:endParaRPr>
          </a:p>
          <a:p>
            <a:pPr indent="-292100" lvl="1" marL="914400" rtl="0" algn="l">
              <a:lnSpc>
                <a:spcPct val="115000"/>
              </a:lnSpc>
              <a:spcBef>
                <a:spcPts val="1000"/>
              </a:spcBef>
              <a:spcAft>
                <a:spcPts val="0"/>
              </a:spcAft>
              <a:buClr>
                <a:srgbClr val="475067"/>
              </a:buClr>
              <a:buSzPts val="1000"/>
              <a:buFont typeface="Inter"/>
              <a:buChar char="○"/>
            </a:pPr>
            <a:r>
              <a:rPr b="1" lang="en" sz="1000">
                <a:solidFill>
                  <a:srgbClr val="475067"/>
                </a:solidFill>
                <a:latin typeface="Inter"/>
                <a:ea typeface="Inter"/>
                <a:cs typeface="Inter"/>
                <a:sym typeface="Inter"/>
              </a:rPr>
              <a:t>72% correct / 28% incorrect (86 predictions up to agent 3)</a:t>
            </a:r>
            <a:endParaRPr sz="1000">
              <a:solidFill>
                <a:srgbClr val="475067"/>
              </a:solidFill>
              <a:latin typeface="Inter"/>
              <a:ea typeface="Inter"/>
              <a:cs typeface="Inter"/>
              <a:sym typeface="Inter"/>
            </a:endParaRPr>
          </a:p>
          <a:p>
            <a:pPr indent="-292100" lvl="1" marL="914400" rtl="0" algn="l">
              <a:lnSpc>
                <a:spcPct val="115000"/>
              </a:lnSpc>
              <a:spcBef>
                <a:spcPts val="1000"/>
              </a:spcBef>
              <a:spcAft>
                <a:spcPts val="0"/>
              </a:spcAft>
              <a:buClr>
                <a:srgbClr val="475067"/>
              </a:buClr>
              <a:buSzPts val="1000"/>
              <a:buFont typeface="Inter"/>
              <a:buChar char="○"/>
            </a:pPr>
            <a:r>
              <a:rPr lang="en" sz="1000">
                <a:solidFill>
                  <a:srgbClr val="475067"/>
                </a:solidFill>
                <a:latin typeface="Inter"/>
                <a:ea typeface="Inter"/>
                <a:cs typeface="Inter"/>
                <a:sym typeface="Inter"/>
              </a:rPr>
              <a:t>Rakesh’s original results were around 75% / 25% </a:t>
            </a:r>
            <a:endParaRPr sz="1000">
              <a:solidFill>
                <a:srgbClr val="475067"/>
              </a:solidFill>
              <a:latin typeface="Inter"/>
              <a:ea typeface="Inter"/>
              <a:cs typeface="Inter"/>
              <a:sym typeface="Inter"/>
            </a:endParaRPr>
          </a:p>
          <a:p>
            <a:pPr indent="-292100" lvl="1" marL="914400" rtl="0" algn="l">
              <a:lnSpc>
                <a:spcPct val="115000"/>
              </a:lnSpc>
              <a:spcBef>
                <a:spcPts val="1000"/>
              </a:spcBef>
              <a:spcAft>
                <a:spcPts val="1000"/>
              </a:spcAft>
              <a:buClr>
                <a:srgbClr val="475067"/>
              </a:buClr>
              <a:buSzPts val="1000"/>
              <a:buFont typeface="Inter"/>
              <a:buChar char="○"/>
            </a:pPr>
            <a:r>
              <a:rPr lang="en" sz="1000">
                <a:solidFill>
                  <a:srgbClr val="475067"/>
                </a:solidFill>
                <a:latin typeface="Inter"/>
                <a:ea typeface="Inter"/>
                <a:cs typeface="Inter"/>
                <a:sym typeface="Inter"/>
              </a:rPr>
              <a:t>The score likely decreases as the “missing” predictions are likely due to the 0.3 confidence filter on the reports hiding predictions that weren’t well covered</a:t>
            </a:r>
            <a:endParaRPr sz="1000">
              <a:solidFill>
                <a:srgbClr val="475067"/>
              </a:solidFill>
              <a:latin typeface="Inter"/>
              <a:ea typeface="Inter"/>
              <a:cs typeface="Inter"/>
              <a:sym typeface="Inter"/>
            </a:endParaRPr>
          </a:p>
        </p:txBody>
      </p:sp>
      <p:pic>
        <p:nvPicPr>
          <p:cNvPr id="202" name="Google Shape;202;p43"/>
          <p:cNvPicPr preferRelativeResize="0"/>
          <p:nvPr/>
        </p:nvPicPr>
        <p:blipFill>
          <a:blip r:embed="rId3">
            <a:alphaModFix/>
          </a:blip>
          <a:stretch>
            <a:fillRect/>
          </a:stretch>
        </p:blipFill>
        <p:spPr>
          <a:xfrm>
            <a:off x="5494575" y="1701413"/>
            <a:ext cx="3519201" cy="1380850"/>
          </a:xfrm>
          <a:prstGeom prst="rect">
            <a:avLst/>
          </a:prstGeom>
          <a:noFill/>
          <a:ln cap="flat" cmpd="sng" w="9525">
            <a:solidFill>
              <a:schemeClr val="dk1"/>
            </a:solidFill>
            <a:prstDash val="solid"/>
            <a:round/>
            <a:headEnd len="sm" w="sm" type="none"/>
            <a:tailEnd len="sm" w="sm" type="none"/>
          </a:ln>
        </p:spPr>
      </p:pic>
      <p:sp>
        <p:nvSpPr>
          <p:cNvPr id="203" name="Google Shape;203;p43"/>
          <p:cNvSpPr txBox="1"/>
          <p:nvPr/>
        </p:nvSpPr>
        <p:spPr>
          <a:xfrm>
            <a:off x="5813825" y="3035038"/>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Including all generated predictions (up to agent 3)</a:t>
            </a:r>
            <a:endParaRPr i="1"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0" name="Google Shape;210;p44"/>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211" name="Google Shape;211;p4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Model Changes</a:t>
            </a:r>
            <a:endParaRPr sz="3500"/>
          </a:p>
        </p:txBody>
      </p:sp>
      <p:sp>
        <p:nvSpPr>
          <p:cNvPr id="212" name="Google Shape;212;p44"/>
          <p:cNvSpPr txBox="1"/>
          <p:nvPr/>
        </p:nvSpPr>
        <p:spPr>
          <a:xfrm>
            <a:off x="666900" y="1245675"/>
            <a:ext cx="58569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b="1" lang="en" sz="1200">
                <a:solidFill>
                  <a:srgbClr val="475067"/>
                </a:solidFill>
                <a:latin typeface="Inter"/>
                <a:ea typeface="Inter"/>
                <a:cs typeface="Inter"/>
                <a:sym typeface="Inter"/>
              </a:rPr>
              <a:t>58</a:t>
            </a:r>
            <a:r>
              <a:rPr lang="en" sz="1200">
                <a:solidFill>
                  <a:srgbClr val="475067"/>
                </a:solidFill>
                <a:latin typeface="Inter"/>
                <a:ea typeface="Inter"/>
                <a:cs typeface="Inter"/>
                <a:sym typeface="Inter"/>
              </a:rPr>
              <a:t> intents → </a:t>
            </a:r>
            <a:r>
              <a:rPr b="1" lang="en" sz="1200">
                <a:solidFill>
                  <a:srgbClr val="475067"/>
                </a:solidFill>
                <a:latin typeface="Inter"/>
                <a:ea typeface="Inter"/>
                <a:cs typeface="Inter"/>
                <a:sym typeface="Inter"/>
              </a:rPr>
              <a:t>95</a:t>
            </a:r>
            <a:r>
              <a:rPr lang="en" sz="1200">
                <a:solidFill>
                  <a:srgbClr val="475067"/>
                </a:solidFill>
                <a:latin typeface="Inter"/>
                <a:ea typeface="Inter"/>
                <a:cs typeface="Inter"/>
                <a:sym typeface="Inter"/>
              </a:rPr>
              <a:t> intents</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b="1" lang="en" sz="1200">
                <a:solidFill>
                  <a:srgbClr val="475067"/>
                </a:solidFill>
                <a:latin typeface="Inter"/>
                <a:ea typeface="Inter"/>
                <a:cs typeface="Inter"/>
                <a:sym typeface="Inter"/>
              </a:rPr>
              <a:t>2021</a:t>
            </a:r>
            <a:r>
              <a:rPr lang="en" sz="1200">
                <a:solidFill>
                  <a:srgbClr val="475067"/>
                </a:solidFill>
                <a:latin typeface="Inter"/>
                <a:ea typeface="Inter"/>
                <a:cs typeface="Inter"/>
                <a:sym typeface="Inter"/>
              </a:rPr>
              <a:t> labelled phrases → </a:t>
            </a:r>
            <a:r>
              <a:rPr b="1" lang="en" sz="1200">
                <a:solidFill>
                  <a:srgbClr val="475067"/>
                </a:solidFill>
                <a:latin typeface="Inter"/>
                <a:ea typeface="Inter"/>
                <a:cs typeface="Inter"/>
                <a:sym typeface="Inter"/>
              </a:rPr>
              <a:t>4385</a:t>
            </a:r>
            <a:r>
              <a:rPr lang="en" sz="1200">
                <a:solidFill>
                  <a:srgbClr val="475067"/>
                </a:solidFill>
                <a:latin typeface="Inter"/>
                <a:ea typeface="Inter"/>
                <a:cs typeface="Inter"/>
                <a:sym typeface="Inter"/>
              </a:rPr>
              <a:t> labelled phrases</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b="1" lang="en" sz="1200">
                <a:solidFill>
                  <a:srgbClr val="475067"/>
                </a:solidFill>
                <a:latin typeface="Inter"/>
                <a:ea typeface="Inter"/>
                <a:cs typeface="Inter"/>
                <a:sym typeface="Inter"/>
              </a:rPr>
              <a:t>88</a:t>
            </a:r>
            <a:r>
              <a:rPr lang="en" sz="1200">
                <a:solidFill>
                  <a:srgbClr val="475067"/>
                </a:solidFill>
                <a:latin typeface="Inter"/>
                <a:ea typeface="Inter"/>
                <a:cs typeface="Inter"/>
                <a:sym typeface="Inter"/>
              </a:rPr>
              <a:t> F1 score → </a:t>
            </a:r>
            <a:r>
              <a:rPr b="1" lang="en" sz="1200">
                <a:solidFill>
                  <a:srgbClr val="475067"/>
                </a:solidFill>
                <a:latin typeface="Inter"/>
                <a:ea typeface="Inter"/>
                <a:cs typeface="Inter"/>
                <a:sym typeface="Inter"/>
              </a:rPr>
              <a:t>89</a:t>
            </a:r>
            <a:r>
              <a:rPr lang="en" sz="1200">
                <a:solidFill>
                  <a:srgbClr val="475067"/>
                </a:solidFill>
                <a:latin typeface="Inter"/>
                <a:ea typeface="Inter"/>
                <a:cs typeface="Inter"/>
                <a:sym typeface="Inter"/>
              </a:rPr>
              <a:t> F1 score</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1000"/>
              </a:spcAft>
              <a:buClr>
                <a:srgbClr val="475067"/>
              </a:buClr>
              <a:buSzPts val="1200"/>
              <a:buFont typeface="Inter"/>
              <a:buChar char="■"/>
            </a:pPr>
            <a:r>
              <a:rPr lang="en" sz="1200">
                <a:solidFill>
                  <a:srgbClr val="475067"/>
                </a:solidFill>
                <a:latin typeface="Inter"/>
                <a:ea typeface="Inter"/>
                <a:cs typeface="Inter"/>
                <a:sym typeface="Inter"/>
              </a:rPr>
              <a:t>Strengthened multiple intents, removed confusion, and increased coverage on generated intents</a:t>
            </a:r>
            <a:endParaRPr sz="1200">
              <a:solidFill>
                <a:srgbClr val="475067"/>
              </a:solidFill>
              <a:latin typeface="Inter"/>
              <a:ea typeface="Inter"/>
              <a:cs typeface="Inter"/>
              <a:sym typeface="Inter"/>
            </a:endParaRPr>
          </a:p>
        </p:txBody>
      </p:sp>
      <p:sp>
        <p:nvSpPr>
          <p:cNvPr id="213" name="Google Shape;213;p44"/>
          <p:cNvSpPr txBox="1"/>
          <p:nvPr/>
        </p:nvSpPr>
        <p:spPr>
          <a:xfrm>
            <a:off x="6175938" y="11199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Coverage @0.3 confidence (latest)</a:t>
            </a:r>
            <a:endParaRPr i="1" sz="900"/>
          </a:p>
        </p:txBody>
      </p:sp>
      <p:sp>
        <p:nvSpPr>
          <p:cNvPr id="214" name="Google Shape;214;p44"/>
          <p:cNvSpPr txBox="1"/>
          <p:nvPr/>
        </p:nvSpPr>
        <p:spPr>
          <a:xfrm>
            <a:off x="6220513" y="25286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Coverage @0.7 confidence (latest)</a:t>
            </a:r>
            <a:endParaRPr i="1" sz="900"/>
          </a:p>
        </p:txBody>
      </p:sp>
      <p:pic>
        <p:nvPicPr>
          <p:cNvPr id="215" name="Google Shape;215;p44"/>
          <p:cNvPicPr preferRelativeResize="0"/>
          <p:nvPr/>
        </p:nvPicPr>
        <p:blipFill>
          <a:blip r:embed="rId3">
            <a:alphaModFix/>
          </a:blip>
          <a:stretch>
            <a:fillRect/>
          </a:stretch>
        </p:blipFill>
        <p:spPr>
          <a:xfrm>
            <a:off x="6640249" y="1443000"/>
            <a:ext cx="2233775" cy="1100425"/>
          </a:xfrm>
          <a:prstGeom prst="rect">
            <a:avLst/>
          </a:prstGeom>
          <a:noFill/>
          <a:ln>
            <a:noFill/>
          </a:ln>
        </p:spPr>
      </p:pic>
      <p:pic>
        <p:nvPicPr>
          <p:cNvPr id="216" name="Google Shape;216;p44"/>
          <p:cNvPicPr preferRelativeResize="0"/>
          <p:nvPr/>
        </p:nvPicPr>
        <p:blipFill>
          <a:blip r:embed="rId4">
            <a:alphaModFix/>
          </a:blip>
          <a:stretch>
            <a:fillRect/>
          </a:stretch>
        </p:blipFill>
        <p:spPr>
          <a:xfrm>
            <a:off x="7010692" y="2870375"/>
            <a:ext cx="1611032" cy="1373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4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3" name="Google Shape;223;p4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Scoring - After </a:t>
            </a:r>
            <a:r>
              <a:rPr lang="en" sz="1400">
                <a:solidFill>
                  <a:schemeClr val="accent1"/>
                </a:solidFill>
              </a:rPr>
              <a:t>(intent)</a:t>
            </a:r>
            <a:endParaRPr sz="3500"/>
          </a:p>
        </p:txBody>
      </p:sp>
      <p:sp>
        <p:nvSpPr>
          <p:cNvPr id="224" name="Google Shape;224;p45"/>
          <p:cNvSpPr txBox="1"/>
          <p:nvPr/>
        </p:nvSpPr>
        <p:spPr>
          <a:xfrm>
            <a:off x="668100" y="1288800"/>
            <a:ext cx="48309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1"/>
              </a:buClr>
              <a:buSzPts val="1200"/>
              <a:buFont typeface="Inter"/>
              <a:buChar char="■"/>
            </a:pPr>
            <a:r>
              <a:rPr lang="en" sz="1200">
                <a:solidFill>
                  <a:schemeClr val="accent6"/>
                </a:solidFill>
                <a:latin typeface="Inter"/>
                <a:ea typeface="Inter"/>
                <a:cs typeface="Inter"/>
                <a:sym typeface="Inter"/>
              </a:rPr>
              <a:t>The latest scoring results post changes:</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Including only 86 generated intents:</a:t>
            </a:r>
            <a:endParaRPr sz="12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b="1" lang="en" sz="1000">
                <a:solidFill>
                  <a:schemeClr val="accent6"/>
                </a:solidFill>
                <a:latin typeface="Inter"/>
                <a:ea typeface="Inter"/>
                <a:cs typeface="Inter"/>
                <a:sym typeface="Inter"/>
              </a:rPr>
              <a:t>88% correct / 5% ambiguous / 7% incorrect (86 intents)</a:t>
            </a:r>
            <a:endParaRPr i="1" sz="10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Including all generated intents for full set of call ids:</a:t>
            </a:r>
            <a:endParaRPr sz="12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b="1" lang="en" sz="1000">
                <a:solidFill>
                  <a:schemeClr val="accent6"/>
                </a:solidFill>
                <a:latin typeface="Inter"/>
                <a:ea typeface="Inter"/>
                <a:cs typeface="Inter"/>
                <a:sym typeface="Inter"/>
              </a:rPr>
              <a:t>90% correct / 4% ambiguous / 6% incorrect (206 intents) </a:t>
            </a:r>
            <a:endParaRPr b="1" sz="1000">
              <a:solidFill>
                <a:schemeClr val="accent6"/>
              </a:solidFill>
              <a:latin typeface="Inter"/>
              <a:ea typeface="Inter"/>
              <a:cs typeface="Inter"/>
              <a:sym typeface="Inter"/>
            </a:endParaRPr>
          </a:p>
          <a:p>
            <a:pPr indent="-292100" lvl="0" marL="457200" rtl="0" algn="l">
              <a:lnSpc>
                <a:spcPct val="115000"/>
              </a:lnSpc>
              <a:spcBef>
                <a:spcPts val="1000"/>
              </a:spcBef>
              <a:spcAft>
                <a:spcPts val="1000"/>
              </a:spcAft>
              <a:buClr>
                <a:schemeClr val="accent6"/>
              </a:buClr>
              <a:buSzPts val="1000"/>
              <a:buFont typeface="Inter"/>
              <a:buChar char="■"/>
            </a:pPr>
            <a:r>
              <a:rPr lang="en" sz="1000">
                <a:solidFill>
                  <a:schemeClr val="accent6"/>
                </a:solidFill>
                <a:latin typeface="Inter"/>
                <a:ea typeface="Inter"/>
                <a:cs typeface="Inter"/>
                <a:sym typeface="Inter"/>
              </a:rPr>
              <a:t>Note: A lot of the improvements made were around the failure cases of this test set and thus these numbers are somewhat over-fit towards the baselined results. However there was a significant amount of labelling and granularity added to the model.</a:t>
            </a:r>
            <a:endParaRPr>
              <a:solidFill>
                <a:srgbClr val="475067"/>
              </a:solidFill>
              <a:latin typeface="Inter"/>
              <a:ea typeface="Inter"/>
              <a:cs typeface="Inter"/>
              <a:sym typeface="Inter"/>
            </a:endParaRPr>
          </a:p>
        </p:txBody>
      </p:sp>
      <p:sp>
        <p:nvSpPr>
          <p:cNvPr id="225" name="Google Shape;225;p45"/>
          <p:cNvSpPr txBox="1"/>
          <p:nvPr/>
        </p:nvSpPr>
        <p:spPr>
          <a:xfrm>
            <a:off x="6020513" y="22486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Including ONLY same predictions (up to agent 3)</a:t>
            </a:r>
            <a:endParaRPr i="1" sz="900"/>
          </a:p>
        </p:txBody>
      </p:sp>
      <p:sp>
        <p:nvSpPr>
          <p:cNvPr id="226" name="Google Shape;226;p45"/>
          <p:cNvSpPr txBox="1"/>
          <p:nvPr/>
        </p:nvSpPr>
        <p:spPr>
          <a:xfrm>
            <a:off x="6020538" y="42204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Including entire full set (all agents)</a:t>
            </a:r>
            <a:endParaRPr i="1" sz="900"/>
          </a:p>
        </p:txBody>
      </p:sp>
      <p:pic>
        <p:nvPicPr>
          <p:cNvPr id="227" name="Google Shape;227;p45"/>
          <p:cNvPicPr preferRelativeResize="0"/>
          <p:nvPr/>
        </p:nvPicPr>
        <p:blipFill>
          <a:blip r:embed="rId3">
            <a:alphaModFix/>
          </a:blip>
          <a:stretch>
            <a:fillRect/>
          </a:stretch>
        </p:blipFill>
        <p:spPr>
          <a:xfrm>
            <a:off x="6152675" y="3042603"/>
            <a:ext cx="2808938" cy="1177787"/>
          </a:xfrm>
          <a:prstGeom prst="rect">
            <a:avLst/>
          </a:prstGeom>
          <a:noFill/>
          <a:ln cap="flat" cmpd="sng" w="9525">
            <a:solidFill>
              <a:schemeClr val="dk1"/>
            </a:solidFill>
            <a:prstDash val="solid"/>
            <a:round/>
            <a:headEnd len="sm" w="sm" type="none"/>
            <a:tailEnd len="sm" w="sm" type="none"/>
          </a:ln>
        </p:spPr>
      </p:pic>
      <p:pic>
        <p:nvPicPr>
          <p:cNvPr id="228" name="Google Shape;228;p45"/>
          <p:cNvPicPr preferRelativeResize="0"/>
          <p:nvPr/>
        </p:nvPicPr>
        <p:blipFill>
          <a:blip r:embed="rId4">
            <a:alphaModFix/>
          </a:blip>
          <a:stretch>
            <a:fillRect/>
          </a:stretch>
        </p:blipFill>
        <p:spPr>
          <a:xfrm>
            <a:off x="6231605" y="1027843"/>
            <a:ext cx="2651090" cy="11778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pic>
        <p:nvPicPr>
          <p:cNvPr id="235" name="Google Shape;235;p46"/>
          <p:cNvPicPr preferRelativeResize="0"/>
          <p:nvPr/>
        </p:nvPicPr>
        <p:blipFill>
          <a:blip r:embed="rId3">
            <a:alphaModFix/>
          </a:blip>
          <a:stretch>
            <a:fillRect/>
          </a:stretch>
        </p:blipFill>
        <p:spPr>
          <a:xfrm>
            <a:off x="512250" y="253000"/>
            <a:ext cx="7916950" cy="45097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pic>
        <p:nvPicPr>
          <p:cNvPr id="242" name="Google Shape;242;p47"/>
          <p:cNvPicPr preferRelativeResize="0"/>
          <p:nvPr/>
        </p:nvPicPr>
        <p:blipFill rotWithShape="1">
          <a:blip r:embed="rId3">
            <a:alphaModFix/>
          </a:blip>
          <a:srcRect b="0" l="0" r="0" t="547"/>
          <a:stretch/>
        </p:blipFill>
        <p:spPr>
          <a:xfrm>
            <a:off x="41275" y="699875"/>
            <a:ext cx="2789472" cy="3743750"/>
          </a:xfrm>
          <a:prstGeom prst="rect">
            <a:avLst/>
          </a:prstGeom>
          <a:noFill/>
          <a:ln cap="flat" cmpd="sng" w="9525">
            <a:solidFill>
              <a:schemeClr val="dk1"/>
            </a:solidFill>
            <a:prstDash val="solid"/>
            <a:round/>
            <a:headEnd len="sm" w="sm" type="none"/>
            <a:tailEnd len="sm" w="sm" type="none"/>
          </a:ln>
        </p:spPr>
      </p:pic>
      <p:pic>
        <p:nvPicPr>
          <p:cNvPr id="243" name="Google Shape;243;p47"/>
          <p:cNvPicPr preferRelativeResize="0"/>
          <p:nvPr/>
        </p:nvPicPr>
        <p:blipFill>
          <a:blip r:embed="rId4">
            <a:alphaModFix/>
          </a:blip>
          <a:stretch>
            <a:fillRect/>
          </a:stretch>
        </p:blipFill>
        <p:spPr>
          <a:xfrm>
            <a:off x="6149700" y="699875"/>
            <a:ext cx="2881226" cy="913900"/>
          </a:xfrm>
          <a:prstGeom prst="rect">
            <a:avLst/>
          </a:prstGeom>
          <a:noFill/>
          <a:ln cap="flat" cmpd="sng" w="9525">
            <a:solidFill>
              <a:schemeClr val="dk1"/>
            </a:solidFill>
            <a:prstDash val="solid"/>
            <a:round/>
            <a:headEnd len="sm" w="sm" type="none"/>
            <a:tailEnd len="sm" w="sm" type="none"/>
          </a:ln>
        </p:spPr>
      </p:pic>
      <p:pic>
        <p:nvPicPr>
          <p:cNvPr id="244" name="Google Shape;244;p47"/>
          <p:cNvPicPr preferRelativeResize="0"/>
          <p:nvPr/>
        </p:nvPicPr>
        <p:blipFill>
          <a:blip r:embed="rId5">
            <a:alphaModFix/>
          </a:blip>
          <a:stretch>
            <a:fillRect/>
          </a:stretch>
        </p:blipFill>
        <p:spPr>
          <a:xfrm>
            <a:off x="6149700" y="2079300"/>
            <a:ext cx="2881224" cy="1836676"/>
          </a:xfrm>
          <a:prstGeom prst="rect">
            <a:avLst/>
          </a:prstGeom>
          <a:noFill/>
          <a:ln cap="flat" cmpd="sng" w="9525">
            <a:solidFill>
              <a:schemeClr val="dk1"/>
            </a:solidFill>
            <a:prstDash val="solid"/>
            <a:round/>
            <a:headEnd len="sm" w="sm" type="none"/>
            <a:tailEnd len="sm" w="sm" type="none"/>
          </a:ln>
        </p:spPr>
      </p:pic>
      <p:pic>
        <p:nvPicPr>
          <p:cNvPr id="245" name="Google Shape;245;p47"/>
          <p:cNvPicPr preferRelativeResize="0"/>
          <p:nvPr/>
        </p:nvPicPr>
        <p:blipFill>
          <a:blip r:embed="rId6">
            <a:alphaModFix/>
          </a:blip>
          <a:stretch>
            <a:fillRect/>
          </a:stretch>
        </p:blipFill>
        <p:spPr>
          <a:xfrm>
            <a:off x="2905975" y="699875"/>
            <a:ext cx="3168502" cy="3743750"/>
          </a:xfrm>
          <a:prstGeom prst="rect">
            <a:avLst/>
          </a:prstGeom>
          <a:noFill/>
          <a:ln cap="flat" cmpd="sng" w="9525">
            <a:solidFill>
              <a:schemeClr val="dk1"/>
            </a:solidFill>
            <a:prstDash val="solid"/>
            <a:round/>
            <a:headEnd len="sm" w="sm" type="none"/>
            <a:tailEnd len="sm" w="sm" type="none"/>
          </a:ln>
        </p:spPr>
      </p:pic>
      <p:sp>
        <p:nvSpPr>
          <p:cNvPr id="246" name="Google Shape;246;p47"/>
          <p:cNvSpPr txBox="1"/>
          <p:nvPr/>
        </p:nvSpPr>
        <p:spPr>
          <a:xfrm>
            <a:off x="41263" y="3810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Net New Classes (37 classes)</a:t>
            </a:r>
            <a:endParaRPr i="1" sz="900"/>
          </a:p>
        </p:txBody>
      </p:sp>
      <p:sp>
        <p:nvSpPr>
          <p:cNvPr id="247" name="Google Shape;247;p47"/>
          <p:cNvSpPr txBox="1"/>
          <p:nvPr/>
        </p:nvSpPr>
        <p:spPr>
          <a:xfrm>
            <a:off x="3042113" y="3810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Strengthened Classes </a:t>
            </a:r>
            <a:r>
              <a:rPr i="1" lang="en" sz="900"/>
              <a:t>(34 </a:t>
            </a:r>
            <a:r>
              <a:rPr i="1" lang="en" sz="900"/>
              <a:t>classes</a:t>
            </a:r>
            <a:r>
              <a:rPr i="1" lang="en" sz="900"/>
              <a:t>)</a:t>
            </a:r>
            <a:endParaRPr i="1" sz="900"/>
          </a:p>
        </p:txBody>
      </p:sp>
      <p:sp>
        <p:nvSpPr>
          <p:cNvPr id="248" name="Google Shape;248;p47"/>
          <p:cNvSpPr txBox="1"/>
          <p:nvPr/>
        </p:nvSpPr>
        <p:spPr>
          <a:xfrm>
            <a:off x="6074475" y="3810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Rename/Moved Classes </a:t>
            </a:r>
            <a:r>
              <a:rPr i="1" lang="en" sz="900"/>
              <a:t>(7 </a:t>
            </a:r>
            <a:r>
              <a:rPr i="1" lang="en" sz="900"/>
              <a:t>classes</a:t>
            </a:r>
            <a:r>
              <a:rPr i="1" lang="en" sz="900"/>
              <a:t>)</a:t>
            </a:r>
            <a:endParaRPr i="1" sz="900"/>
          </a:p>
        </p:txBody>
      </p:sp>
      <p:sp>
        <p:nvSpPr>
          <p:cNvPr id="249" name="Google Shape;249;p47"/>
          <p:cNvSpPr txBox="1"/>
          <p:nvPr/>
        </p:nvSpPr>
        <p:spPr>
          <a:xfrm>
            <a:off x="6115325" y="17872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No Change Classes </a:t>
            </a:r>
            <a:r>
              <a:rPr i="1" lang="en" sz="900"/>
              <a:t>(17 </a:t>
            </a:r>
            <a:r>
              <a:rPr i="1" lang="en" sz="900"/>
              <a:t>classes</a:t>
            </a:r>
            <a:r>
              <a:rPr i="1" lang="en" sz="900"/>
              <a:t>)</a:t>
            </a:r>
            <a:endParaRPr i="1" sz="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6" name="Google Shape;256;p48"/>
          <p:cNvSpPr txBox="1"/>
          <p:nvPr/>
        </p:nvSpPr>
        <p:spPr>
          <a:xfrm>
            <a:off x="209150" y="132000"/>
            <a:ext cx="3009300" cy="46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Billing//Alternative payment methods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Billing//Change payment date or frequency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Billing//Check payment status, schedule or options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Billing//Delay or reschedule payments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Billing//Double payments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Billing//Make payment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Billing//Missed payment or surcharge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Billing//Refund or reimbursement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Billing//Update payment info or method</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Cancellation//Cancellation documents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Cancellation//Confirm cancellation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Cancellation//Dispute or waive fees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Cancellation//Drivers license issues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Cancellation//New policy request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Cancellation//Options after cancellation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Cancellation//Outstanding payments or balance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Cancellation//Policy cancelled by insurer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Cancellation//Questions about cancellation process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Cancellation//Reinstate policy or prevent cancellation/renewal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Cancellation//Request to cancel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Cancellation//Sonnet exit from Alberta</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Cancellation//Switch to competitor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Cancellation//Understand cancellation or warning</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Cancellation//Understand fees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Cancellation//Understand or clarify process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Claims//Claims update or inquiry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Claims//Determine claim or ticket impact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Claims//File claim or report accident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Claims//Get adjuster update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support//Assistance making changes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support//Assistance with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support//Confirm personal or policy information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support//Escalation, complaint or misc. assistance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support//Request callback, email or contact info</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support//Request provincial agent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support//Request specific language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support//Retrieve policy num.</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Customer support//Understand Sonnet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p:txBody>
      </p:sp>
      <p:sp>
        <p:nvSpPr>
          <p:cNvPr id="257" name="Google Shape;257;p48"/>
          <p:cNvSpPr txBox="1"/>
          <p:nvPr/>
        </p:nvSpPr>
        <p:spPr>
          <a:xfrm>
            <a:off x="3289225" y="132000"/>
            <a:ext cx="3000000" cy="422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inquiry//Access policy documents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inquiry//Add person to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inquiry//Authorize person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inquiry//Clarify returned or undelivered mail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inquiry//Combine, split, transfer policy or move province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inquiry//Confirm, clarify or update coverage options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inquiry//Confirm, clarify, or update ownership</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inquiry//Deceased policyholder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inquiry//Home coverage clarification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inquiry//Increase liability coverage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inquiry//Letter of experience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inquiry//Modify deductibles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inquiry//Modify general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inquiry//Pet insurance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inquiry//Premium increase or clarification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inquiry//Property vacancy, move or sale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inquiry//Reduce premium</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inquiry//Remove person from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inquiry//Rental property or sublets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inquiry//Rental vehicle coverage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inquiry//Request document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inquiry//Request or obtain proof of insurance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inquiry//Sonnet shift &amp; virage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inquiry//Temporary insurance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inquiry//Third party request documents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inquiry//Understand impacts on premium</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driver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email, phone or address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lender info</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name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or transfer vehicle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add or transfer home insurance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inquiry//Update, submit or resolve drivers license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Policy inquiry//Vehicle usage, mileage, vacation or seasonal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p:txBody>
      </p:sp>
      <p:sp>
        <p:nvSpPr>
          <p:cNvPr id="258" name="Google Shape;258;p48"/>
          <p:cNvSpPr txBox="1"/>
          <p:nvPr/>
        </p:nvSpPr>
        <p:spPr>
          <a:xfrm>
            <a:off x="6360000" y="197050"/>
            <a:ext cx="3000000" cy="28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Quotes//Ask why quote unavailable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Quotes//Assistance with quote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Quotes//Bundle auto &amp; home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Quotes//Complete insurance purchase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Quotes//Discounts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Quotes//Purchase offers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Quotes//Quote price comparison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Quotes//Quote validity period</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Quotes//Reluctance to purchase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Quotes//Request new quote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Quotes//Verify quote details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Renewal//Confirm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Renewal//General renewal inquiry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Renewal//Maintain current coverage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Renewal//Premium increase at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Renewal//Renew expired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Renewal//Renewal date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Renewal//Renewal documents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Technical support//Access policy or account online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Technical support//Add, resolve, or find address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Technical support//Login and access issues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Technical support//Website issues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Technical support//Website quote issues</a:t>
            </a:r>
            <a:endParaRPr sz="750">
              <a:solidFill>
                <a:schemeClr val="accent1"/>
              </a:solidFill>
              <a:latin typeface="Inter Light"/>
              <a:ea typeface="Inter Light"/>
              <a:cs typeface="Inter Light"/>
              <a:sym typeface="Inter Light"/>
            </a:endParaRPr>
          </a:p>
        </p:txBody>
      </p:sp>
      <p:sp>
        <p:nvSpPr>
          <p:cNvPr id="259" name="Google Shape;259;p48"/>
          <p:cNvSpPr txBox="1"/>
          <p:nvPr/>
        </p:nvSpPr>
        <p:spPr>
          <a:xfrm>
            <a:off x="3042125" y="47110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Full Taxonomy (95 classes)</a:t>
            </a:r>
            <a:endParaRPr i="1"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6" name="Google Shape;266;p4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Reason Model</a:t>
            </a:r>
            <a:endParaRPr sz="3500"/>
          </a:p>
        </p:txBody>
      </p:sp>
      <p:sp>
        <p:nvSpPr>
          <p:cNvPr id="267" name="Google Shape;267;p49"/>
          <p:cNvSpPr txBox="1"/>
          <p:nvPr/>
        </p:nvSpPr>
        <p:spPr>
          <a:xfrm>
            <a:off x="668100" y="1288800"/>
            <a:ext cx="59436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Rebaseline</a:t>
            </a:r>
            <a:r>
              <a:rPr lang="en" sz="1200">
                <a:solidFill>
                  <a:schemeClr val="accent6"/>
                </a:solidFill>
                <a:latin typeface="Inter"/>
                <a:ea typeface="Inter"/>
                <a:cs typeface="Inter"/>
                <a:sym typeface="Inter"/>
              </a:rPr>
              <a:t> </a:t>
            </a:r>
            <a:r>
              <a:rPr lang="en" sz="1200">
                <a:solidFill>
                  <a:schemeClr val="accent6"/>
                </a:solidFill>
                <a:latin typeface="Inter"/>
                <a:ea typeface="Inter"/>
                <a:cs typeface="Inter"/>
                <a:sym typeface="Inter"/>
              </a:rPr>
              <a:t>72 individual reasons generated </a:t>
            </a:r>
            <a:r>
              <a:rPr lang="en" sz="1200">
                <a:solidFill>
                  <a:schemeClr val="accent6"/>
                </a:solidFill>
                <a:latin typeface="Inter"/>
                <a:ea typeface="Inter"/>
                <a:cs typeface="Inter"/>
                <a:sym typeface="Inter"/>
              </a:rPr>
              <a:t>using manual verification:</a:t>
            </a:r>
            <a:endParaRPr sz="12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b="1" lang="en" sz="1000">
                <a:solidFill>
                  <a:schemeClr val="accent6"/>
                </a:solidFill>
                <a:latin typeface="Inter"/>
                <a:ea typeface="Inter"/>
                <a:cs typeface="Inter"/>
                <a:sym typeface="Inter"/>
              </a:rPr>
              <a:t>~89% correct / 7% </a:t>
            </a:r>
            <a:r>
              <a:rPr b="1" lang="en" sz="1000">
                <a:solidFill>
                  <a:schemeClr val="accent6"/>
                </a:solidFill>
                <a:latin typeface="Inter"/>
                <a:ea typeface="Inter"/>
                <a:cs typeface="Inter"/>
                <a:sym typeface="Inter"/>
              </a:rPr>
              <a:t>ambiguous</a:t>
            </a:r>
            <a:r>
              <a:rPr b="1" lang="en" sz="1000">
                <a:solidFill>
                  <a:schemeClr val="accent6"/>
                </a:solidFill>
                <a:latin typeface="Inter"/>
                <a:ea typeface="Inter"/>
                <a:cs typeface="Inter"/>
                <a:sym typeface="Inter"/>
              </a:rPr>
              <a:t> / 4% incorrect</a:t>
            </a:r>
            <a:endParaRPr b="1" sz="10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Given the high scoring there were no changes made to the reason model</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The “Blank” prediction </a:t>
            </a:r>
            <a:r>
              <a:rPr lang="en" sz="1200">
                <a:solidFill>
                  <a:schemeClr val="accent6"/>
                </a:solidFill>
                <a:latin typeface="Inter"/>
                <a:ea typeface="Inter"/>
                <a:cs typeface="Inter"/>
                <a:sym typeface="Inter"/>
              </a:rPr>
              <a:t>class </a:t>
            </a:r>
            <a:r>
              <a:rPr lang="en" sz="1000">
                <a:solidFill>
                  <a:schemeClr val="accent6"/>
                </a:solidFill>
                <a:latin typeface="Inter"/>
                <a:ea typeface="Inter"/>
                <a:cs typeface="Inter"/>
                <a:sym typeface="Inter"/>
              </a:rPr>
              <a:t>(33%)</a:t>
            </a:r>
            <a:r>
              <a:rPr lang="en" sz="1200">
                <a:solidFill>
                  <a:schemeClr val="accent6"/>
                </a:solidFill>
                <a:latin typeface="Inter"/>
                <a:ea typeface="Inter"/>
                <a:cs typeface="Inter"/>
                <a:sym typeface="Inter"/>
              </a:rPr>
              <a:t> is expected as:</a:t>
            </a:r>
            <a:endParaRPr sz="12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lang="en" sz="1000">
                <a:solidFill>
                  <a:schemeClr val="accent6"/>
                </a:solidFill>
                <a:latin typeface="Inter"/>
                <a:ea typeface="Inter"/>
                <a:cs typeface="Inter"/>
                <a:sym typeface="Inter"/>
              </a:rPr>
              <a:t>Prompt is setup to generate a “reason” for each intent</a:t>
            </a:r>
            <a:endParaRPr sz="10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i="1" lang="en" sz="1000">
                <a:solidFill>
                  <a:schemeClr val="accent6"/>
                </a:solidFill>
                <a:latin typeface="Inter"/>
                <a:ea typeface="Inter"/>
                <a:cs typeface="Inter"/>
                <a:sym typeface="Inter"/>
              </a:rPr>
              <a:t>“Why the customer reached out to an agent rather than solving their issue through self-serve options.”</a:t>
            </a:r>
            <a:endParaRPr i="1" sz="10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lang="en" sz="1000">
                <a:solidFill>
                  <a:schemeClr val="accent6"/>
                </a:solidFill>
                <a:latin typeface="Inter"/>
                <a:ea typeface="Inter"/>
                <a:cs typeface="Inter"/>
                <a:sym typeface="Inter"/>
              </a:rPr>
              <a:t>This is expected behaviour as the LLM is not making up a reason if it doesn’t exist for that intent within the context of the above line</a:t>
            </a:r>
            <a:endParaRPr sz="1200">
              <a:solidFill>
                <a:schemeClr val="accent6"/>
              </a:solidFill>
              <a:latin typeface="Inter"/>
              <a:ea typeface="Inter"/>
              <a:cs typeface="Inter"/>
              <a:sym typeface="Inter"/>
            </a:endParaRPr>
          </a:p>
          <a:p>
            <a:pPr indent="-292100" lvl="1" marL="914400" rtl="0" algn="l">
              <a:lnSpc>
                <a:spcPct val="115000"/>
              </a:lnSpc>
              <a:spcBef>
                <a:spcPts val="1000"/>
              </a:spcBef>
              <a:spcAft>
                <a:spcPts val="0"/>
              </a:spcAft>
              <a:buClr>
                <a:schemeClr val="accent6"/>
              </a:buClr>
              <a:buSzPts val="1000"/>
              <a:buFont typeface="Inter"/>
              <a:buChar char="○"/>
            </a:pPr>
            <a:r>
              <a:rPr i="1" lang="en" sz="1000">
                <a:solidFill>
                  <a:schemeClr val="accent6"/>
                </a:solidFill>
                <a:latin typeface="Inter"/>
                <a:ea typeface="Inter"/>
                <a:cs typeface="Inter"/>
                <a:sym typeface="Inter"/>
              </a:rPr>
              <a:t>INTENT: Discuss bundling home and auto insurance in the future. REASON: Blank</a:t>
            </a:r>
            <a:endParaRPr i="1" sz="1000">
              <a:solidFill>
                <a:schemeClr val="accent6"/>
              </a:solidFill>
              <a:latin typeface="Inter"/>
              <a:ea typeface="Inter"/>
              <a:cs typeface="Inter"/>
              <a:sym typeface="Inter"/>
            </a:endParaRPr>
          </a:p>
          <a:p>
            <a:pPr indent="0" lvl="0" marL="457200" rtl="0" algn="l">
              <a:lnSpc>
                <a:spcPct val="115000"/>
              </a:lnSpc>
              <a:spcBef>
                <a:spcPts val="1000"/>
              </a:spcBef>
              <a:spcAft>
                <a:spcPts val="1000"/>
              </a:spcAft>
              <a:buNone/>
            </a:pPr>
            <a:r>
              <a:t/>
            </a:r>
            <a:endParaRPr sz="1000">
              <a:solidFill>
                <a:schemeClr val="accent6"/>
              </a:solidFill>
              <a:latin typeface="Inter"/>
              <a:ea typeface="Inter"/>
              <a:cs typeface="Inter"/>
              <a:sym typeface="Inter"/>
            </a:endParaRPr>
          </a:p>
        </p:txBody>
      </p:sp>
      <p:pic>
        <p:nvPicPr>
          <p:cNvPr id="268" name="Google Shape;268;p49"/>
          <p:cNvPicPr preferRelativeResize="0"/>
          <p:nvPr/>
        </p:nvPicPr>
        <p:blipFill>
          <a:blip r:embed="rId3">
            <a:alphaModFix/>
          </a:blip>
          <a:stretch>
            <a:fillRect/>
          </a:stretch>
        </p:blipFill>
        <p:spPr>
          <a:xfrm>
            <a:off x="6688242" y="2694354"/>
            <a:ext cx="2295675" cy="1295550"/>
          </a:xfrm>
          <a:prstGeom prst="rect">
            <a:avLst/>
          </a:prstGeom>
          <a:noFill/>
          <a:ln cap="flat" cmpd="sng" w="9525">
            <a:solidFill>
              <a:schemeClr val="dk1"/>
            </a:solidFill>
            <a:prstDash val="solid"/>
            <a:round/>
            <a:headEnd len="sm" w="sm" type="none"/>
            <a:tailEnd len="sm" w="sm" type="none"/>
          </a:ln>
        </p:spPr>
      </p:pic>
      <p:pic>
        <p:nvPicPr>
          <p:cNvPr id="269" name="Google Shape;269;p49"/>
          <p:cNvPicPr preferRelativeResize="0"/>
          <p:nvPr/>
        </p:nvPicPr>
        <p:blipFill rotWithShape="1">
          <a:blip r:embed="rId4">
            <a:alphaModFix/>
          </a:blip>
          <a:srcRect b="0" l="0" r="970" t="0"/>
          <a:stretch/>
        </p:blipFill>
        <p:spPr>
          <a:xfrm>
            <a:off x="6688250" y="1458399"/>
            <a:ext cx="2295675" cy="826339"/>
          </a:xfrm>
          <a:prstGeom prst="rect">
            <a:avLst/>
          </a:prstGeom>
          <a:noFill/>
          <a:ln cap="flat" cmpd="sng" w="9525">
            <a:solidFill>
              <a:schemeClr val="dk1"/>
            </a:solidFill>
            <a:prstDash val="solid"/>
            <a:round/>
            <a:headEnd len="sm" w="sm" type="none"/>
            <a:tailEnd len="sm" w="sm" type="none"/>
          </a:ln>
        </p:spPr>
      </p:pic>
      <p:sp>
        <p:nvSpPr>
          <p:cNvPr id="270" name="Google Shape;270;p49"/>
          <p:cNvSpPr txBox="1"/>
          <p:nvPr/>
        </p:nvSpPr>
        <p:spPr>
          <a:xfrm>
            <a:off x="6299475" y="22486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Manual verification of prompt</a:t>
            </a:r>
            <a:r>
              <a:rPr i="1" lang="en" sz="900"/>
              <a:t> (up to agent 3)</a:t>
            </a:r>
            <a:endParaRPr i="1" sz="900"/>
          </a:p>
        </p:txBody>
      </p:sp>
      <p:sp>
        <p:nvSpPr>
          <p:cNvPr id="271" name="Google Shape;271;p49"/>
          <p:cNvSpPr txBox="1"/>
          <p:nvPr/>
        </p:nvSpPr>
        <p:spPr>
          <a:xfrm>
            <a:off x="6299475" y="39899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Distribution over the 72 predictions</a:t>
            </a:r>
            <a:endParaRPr i="1"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275" name="Shape 275"/>
        <p:cNvGrpSpPr/>
        <p:nvPr/>
      </p:nvGrpSpPr>
      <p:grpSpPr>
        <a:xfrm>
          <a:off x="0" y="0"/>
          <a:ext cx="0" cy="0"/>
          <a:chOff x="0" y="0"/>
          <a:chExt cx="0" cy="0"/>
        </a:xfrm>
      </p:grpSpPr>
      <p:pic>
        <p:nvPicPr>
          <p:cNvPr id="276" name="Google Shape;276;p50"/>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277" name="Google Shape;277;p50"/>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NBS </a:t>
            </a:r>
            <a:r>
              <a:rPr lang="en" sz="3600">
                <a:solidFill>
                  <a:schemeClr val="lt1"/>
                </a:solidFill>
                <a:latin typeface="Manrope SemiBold"/>
                <a:ea typeface="Manrope SemiBold"/>
                <a:cs typeface="Manrope SemiBold"/>
                <a:sym typeface="Manrope SemiBold"/>
              </a:rPr>
              <a:t>- Topic Model</a:t>
            </a:r>
            <a:endParaRPr sz="3600">
              <a:solidFill>
                <a:schemeClr val="lt2"/>
              </a:solidFill>
              <a:latin typeface="Manrope SemiBold"/>
              <a:ea typeface="Manrope SemiBold"/>
              <a:cs typeface="Manrope SemiBold"/>
              <a:sym typeface="Manrope SemiBold"/>
            </a:endParaRPr>
          </a:p>
        </p:txBody>
      </p:sp>
      <p:pic>
        <p:nvPicPr>
          <p:cNvPr id="278" name="Google Shape;278;p50"/>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279" name="Google Shape;27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5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86" name="Google Shape;286;p51"/>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287" name="Google Shape;287;p5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Observations</a:t>
            </a:r>
            <a:endParaRPr sz="3500"/>
          </a:p>
        </p:txBody>
      </p:sp>
      <p:sp>
        <p:nvSpPr>
          <p:cNvPr id="288" name="Google Shape;288;p51"/>
          <p:cNvSpPr txBox="1"/>
          <p:nvPr/>
        </p:nvSpPr>
        <p:spPr>
          <a:xfrm>
            <a:off x="668100" y="1288800"/>
            <a:ext cx="75462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a:solidFill>
                  <a:srgbClr val="475067"/>
                </a:solidFill>
                <a:latin typeface="Inter"/>
                <a:ea typeface="Inter"/>
                <a:cs typeface="Inter"/>
                <a:sym typeface="Inter"/>
              </a:rPr>
              <a:t>The prompt on average generates around 2 Intents (sometimes up to 9) per call</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chemeClr val="accent6"/>
                </a:solidFill>
                <a:latin typeface="Inter"/>
                <a:ea typeface="Inter"/>
                <a:cs typeface="Inter"/>
                <a:sym typeface="Inter"/>
              </a:rPr>
              <a:t>The baseline used two annotators (agents) we've consolidated into a single tab and noted the annotator. </a:t>
            </a:r>
            <a:endParaRPr>
              <a:solidFill>
                <a:schemeClr val="accent6"/>
              </a:solidFill>
              <a:latin typeface="Inter"/>
              <a:ea typeface="Inter"/>
              <a:cs typeface="Inter"/>
              <a:sym typeface="Inter"/>
            </a:endParaRPr>
          </a:p>
          <a:p>
            <a:pPr indent="-304800" lvl="0" marL="457200" rtl="0" algn="l">
              <a:lnSpc>
                <a:spcPct val="115000"/>
              </a:lnSpc>
              <a:spcBef>
                <a:spcPts val="1000"/>
              </a:spcBef>
              <a:spcAft>
                <a:spcPts val="1000"/>
              </a:spcAft>
              <a:buClr>
                <a:srgbClr val="475067"/>
              </a:buClr>
              <a:buSzPts val="1200"/>
              <a:buFont typeface="Inter"/>
              <a:buChar char="■"/>
            </a:pPr>
            <a:r>
              <a:rPr lang="en">
                <a:solidFill>
                  <a:schemeClr val="accent6"/>
                </a:solidFill>
                <a:latin typeface="Inter"/>
                <a:ea typeface="Inter"/>
                <a:cs typeface="Inter"/>
                <a:sym typeface="Inter"/>
              </a:rPr>
              <a:t>The annotators didn't overlap on any calls so have not tried to investigate alignment but have carried their comments forward verbatim.</a:t>
            </a:r>
            <a:endParaRPr>
              <a:solidFill>
                <a:srgbClr val="475067"/>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5" name="Google Shape;295;p52"/>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296" name="Google Shape;296;p5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Baseline</a:t>
            </a:r>
            <a:endParaRPr sz="3500"/>
          </a:p>
        </p:txBody>
      </p:sp>
      <p:sp>
        <p:nvSpPr>
          <p:cNvPr id="297" name="Google Shape;297;p52"/>
          <p:cNvSpPr txBox="1"/>
          <p:nvPr/>
        </p:nvSpPr>
        <p:spPr>
          <a:xfrm>
            <a:off x="668100" y="1288800"/>
            <a:ext cx="75462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a:solidFill>
                  <a:srgbClr val="475067"/>
                </a:solidFill>
                <a:latin typeface="Inter"/>
                <a:ea typeface="Inter"/>
                <a:cs typeface="Inter"/>
                <a:sym typeface="Inter"/>
              </a:rPr>
              <a:t>NBS Baseline had 42 calls in it, one of which we couldn't locate in the provided datasets on HF to examine</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294489"/>
              </a:buClr>
              <a:buSzPts val="1200"/>
              <a:buFont typeface="Inter"/>
              <a:buChar char="■"/>
            </a:pPr>
            <a:r>
              <a:rPr lang="en">
                <a:solidFill>
                  <a:srgbClr val="475067"/>
                </a:solidFill>
                <a:latin typeface="Inter"/>
                <a:ea typeface="Inter"/>
                <a:cs typeface="Inter"/>
                <a:sym typeface="Inter"/>
              </a:rPr>
              <a:t>The baseline as provided was </a:t>
            </a:r>
            <a:r>
              <a:rPr b="1" lang="en">
                <a:solidFill>
                  <a:srgbClr val="475067"/>
                </a:solidFill>
                <a:latin typeface="Inter"/>
                <a:ea typeface="Inter"/>
                <a:cs typeface="Inter"/>
                <a:sym typeface="Inter"/>
              </a:rPr>
              <a:t>25/41 (61%)</a:t>
            </a:r>
            <a:endParaRPr b="1">
              <a:solidFill>
                <a:srgbClr val="475067"/>
              </a:solidFill>
              <a:latin typeface="Inter"/>
              <a:ea typeface="Inter"/>
              <a:cs typeface="Inter"/>
              <a:sym typeface="Inter"/>
            </a:endParaRPr>
          </a:p>
          <a:p>
            <a:pPr indent="0" lvl="0" marL="457200" rtl="0" algn="l">
              <a:lnSpc>
                <a:spcPct val="115000"/>
              </a:lnSpc>
              <a:spcBef>
                <a:spcPts val="1000"/>
              </a:spcBef>
              <a:spcAft>
                <a:spcPts val="1000"/>
              </a:spcAft>
              <a:buNone/>
            </a:pPr>
            <a:r>
              <a:t/>
            </a:r>
            <a:endParaRPr>
              <a:solidFill>
                <a:srgbClr val="475067"/>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5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04" name="Google Shape;304;p53"/>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305" name="Google Shape;305;p5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Missing Data and Update model</a:t>
            </a:r>
            <a:endParaRPr sz="3500"/>
          </a:p>
        </p:txBody>
      </p:sp>
      <p:sp>
        <p:nvSpPr>
          <p:cNvPr id="306" name="Google Shape;306;p53"/>
          <p:cNvSpPr txBox="1"/>
          <p:nvPr/>
        </p:nvSpPr>
        <p:spPr>
          <a:xfrm>
            <a:off x="668100" y="1288800"/>
            <a:ext cx="80187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a:solidFill>
                  <a:srgbClr val="475067"/>
                </a:solidFill>
                <a:latin typeface="Inter"/>
                <a:ea typeface="Inter"/>
                <a:cs typeface="Inter"/>
                <a:sym typeface="Inter"/>
              </a:rPr>
              <a:t>Examining it, it was clear it was missing a lot of data that is present in HF for instance where multiple classes had been predicted not all of those were on the Baseline. Sometimes those extra categories already satisfied the Agents comment. </a:t>
            </a:r>
            <a:endParaRPr>
              <a:solidFill>
                <a:srgbClr val="475067"/>
              </a:solidFill>
              <a:latin typeface="Inter"/>
              <a:ea typeface="Inter"/>
              <a:cs typeface="Inter"/>
              <a:sym typeface="Inter"/>
            </a:endParaRPr>
          </a:p>
          <a:p>
            <a:pPr indent="-304800" lvl="1" marL="9144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Adding that data in brought the result to </a:t>
            </a:r>
            <a:r>
              <a:rPr b="1" lang="en" sz="1200">
                <a:solidFill>
                  <a:srgbClr val="475067"/>
                </a:solidFill>
                <a:latin typeface="Inter"/>
                <a:ea typeface="Inter"/>
                <a:cs typeface="Inter"/>
                <a:sym typeface="Inter"/>
              </a:rPr>
              <a:t>41/66 (62%)</a:t>
            </a:r>
            <a:endParaRPr b="1"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294489"/>
              </a:buClr>
              <a:buSzPts val="1200"/>
              <a:buFont typeface="Inter"/>
              <a:buChar char="■"/>
            </a:pPr>
            <a:r>
              <a:rPr lang="en">
                <a:solidFill>
                  <a:srgbClr val="475067"/>
                </a:solidFill>
                <a:latin typeface="Inter"/>
                <a:ea typeface="Inter"/>
                <a:cs typeface="Inter"/>
                <a:sym typeface="Inter"/>
              </a:rPr>
              <a:t>The baseline was run on QA with October 1st model without the updates that were made on Dev. </a:t>
            </a:r>
            <a:endParaRPr>
              <a:solidFill>
                <a:srgbClr val="475067"/>
              </a:solidFill>
              <a:latin typeface="Inter"/>
              <a:ea typeface="Inter"/>
              <a:cs typeface="Inter"/>
              <a:sym typeface="Inter"/>
            </a:endParaRPr>
          </a:p>
          <a:p>
            <a:pPr indent="-317500" lvl="1" marL="914400" rtl="0" algn="l">
              <a:lnSpc>
                <a:spcPct val="115000"/>
              </a:lnSpc>
              <a:spcBef>
                <a:spcPts val="1000"/>
              </a:spcBef>
              <a:spcAft>
                <a:spcPts val="0"/>
              </a:spcAft>
              <a:buClr>
                <a:srgbClr val="475067"/>
              </a:buClr>
              <a:buSzPts val="1400"/>
              <a:buFont typeface="Inter"/>
              <a:buChar char="○"/>
            </a:pPr>
            <a:r>
              <a:rPr lang="en" sz="1200">
                <a:solidFill>
                  <a:srgbClr val="475067"/>
                </a:solidFill>
                <a:latin typeface="Inter"/>
                <a:ea typeface="Inter"/>
                <a:cs typeface="Inter"/>
                <a:sym typeface="Inter"/>
              </a:rPr>
              <a:t>Re-running the test call set in DEV and aligning the original agent comments against the current model gives </a:t>
            </a:r>
            <a:r>
              <a:rPr b="1" lang="en" sz="1200">
                <a:solidFill>
                  <a:srgbClr val="475067"/>
                </a:solidFill>
                <a:latin typeface="Inter"/>
                <a:ea typeface="Inter"/>
                <a:cs typeface="Inter"/>
                <a:sym typeface="Inter"/>
              </a:rPr>
              <a:t>46/67 (69%)</a:t>
            </a:r>
            <a:endParaRPr b="1"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rgbClr val="475067"/>
                </a:solidFill>
                <a:latin typeface="Inter"/>
                <a:ea typeface="Inter"/>
                <a:cs typeface="Inter"/>
                <a:sym typeface="Inter"/>
              </a:rPr>
              <a:t>Final number after all model changes was </a:t>
            </a:r>
            <a:r>
              <a:rPr b="1" lang="en">
                <a:solidFill>
                  <a:srgbClr val="475067"/>
                </a:solidFill>
                <a:latin typeface="Inter"/>
                <a:ea typeface="Inter"/>
                <a:cs typeface="Inter"/>
                <a:sym typeface="Inter"/>
              </a:rPr>
              <a:t>54/67 (81%)</a:t>
            </a:r>
            <a:endParaRPr b="1">
              <a:solidFill>
                <a:srgbClr val="475067"/>
              </a:solidFill>
              <a:latin typeface="Inter"/>
              <a:ea typeface="Inter"/>
              <a:cs typeface="Inter"/>
              <a:sym typeface="Inter"/>
            </a:endParaRPr>
          </a:p>
          <a:p>
            <a:pPr indent="0" lvl="0" marL="457200" rtl="0" algn="l">
              <a:lnSpc>
                <a:spcPct val="115000"/>
              </a:lnSpc>
              <a:spcBef>
                <a:spcPts val="1000"/>
              </a:spcBef>
              <a:spcAft>
                <a:spcPts val="1000"/>
              </a:spcAft>
              <a:buNone/>
            </a:pPr>
            <a:r>
              <a:t/>
            </a:r>
            <a:endParaRPr>
              <a:solidFill>
                <a:srgbClr val="475067"/>
              </a:solidFill>
              <a:latin typeface="Inter"/>
              <a:ea typeface="Inter"/>
              <a:cs typeface="Inter"/>
              <a:sym typeface="Inter"/>
            </a:endParaRPr>
          </a:p>
        </p:txBody>
      </p:sp>
      <p:pic>
        <p:nvPicPr>
          <p:cNvPr id="307" name="Google Shape;307;p53"/>
          <p:cNvPicPr preferRelativeResize="0"/>
          <p:nvPr/>
        </p:nvPicPr>
        <p:blipFill>
          <a:blip r:embed="rId3">
            <a:alphaModFix/>
          </a:blip>
          <a:stretch>
            <a:fillRect/>
          </a:stretch>
        </p:blipFill>
        <p:spPr>
          <a:xfrm>
            <a:off x="2188400" y="4183250"/>
            <a:ext cx="4889025" cy="7809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5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14" name="Google Shape;314;p54"/>
          <p:cNvSpPr txBox="1"/>
          <p:nvPr/>
        </p:nvSpPr>
        <p:spPr>
          <a:xfrm>
            <a:off x="700125" y="1325550"/>
            <a:ext cx="60177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315" name="Google Shape;315;p5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Model Changes</a:t>
            </a:r>
            <a:endParaRPr sz="3500"/>
          </a:p>
        </p:txBody>
      </p:sp>
      <p:sp>
        <p:nvSpPr>
          <p:cNvPr id="316" name="Google Shape;316;p54"/>
          <p:cNvSpPr txBox="1"/>
          <p:nvPr/>
        </p:nvSpPr>
        <p:spPr>
          <a:xfrm>
            <a:off x="666900" y="1245675"/>
            <a:ext cx="58569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b="1" lang="en" sz="1200">
                <a:solidFill>
                  <a:srgbClr val="475067"/>
                </a:solidFill>
                <a:latin typeface="Inter"/>
                <a:ea typeface="Inter"/>
                <a:cs typeface="Inter"/>
                <a:sym typeface="Inter"/>
              </a:rPr>
              <a:t>84</a:t>
            </a:r>
            <a:r>
              <a:rPr lang="en" sz="1200">
                <a:solidFill>
                  <a:srgbClr val="475067"/>
                </a:solidFill>
                <a:latin typeface="Inter"/>
                <a:ea typeface="Inter"/>
                <a:cs typeface="Inter"/>
                <a:sym typeface="Inter"/>
              </a:rPr>
              <a:t> intents → </a:t>
            </a:r>
            <a:r>
              <a:rPr b="1" lang="en" sz="1200">
                <a:solidFill>
                  <a:srgbClr val="475067"/>
                </a:solidFill>
                <a:latin typeface="Inter"/>
                <a:ea typeface="Inter"/>
                <a:cs typeface="Inter"/>
                <a:sym typeface="Inter"/>
              </a:rPr>
              <a:t>89</a:t>
            </a:r>
            <a:r>
              <a:rPr lang="en" sz="1200">
                <a:solidFill>
                  <a:srgbClr val="475067"/>
                </a:solidFill>
                <a:latin typeface="Inter"/>
                <a:ea typeface="Inter"/>
                <a:cs typeface="Inter"/>
                <a:sym typeface="Inter"/>
              </a:rPr>
              <a:t> intents</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b="1" lang="en" sz="1200">
                <a:solidFill>
                  <a:srgbClr val="475067"/>
                </a:solidFill>
                <a:latin typeface="Inter"/>
                <a:ea typeface="Inter"/>
                <a:cs typeface="Inter"/>
                <a:sym typeface="Inter"/>
              </a:rPr>
              <a:t>2464</a:t>
            </a:r>
            <a:r>
              <a:rPr lang="en" sz="1200">
                <a:solidFill>
                  <a:srgbClr val="475067"/>
                </a:solidFill>
                <a:latin typeface="Inter"/>
                <a:ea typeface="Inter"/>
                <a:cs typeface="Inter"/>
                <a:sym typeface="Inter"/>
              </a:rPr>
              <a:t> labelled phrases → </a:t>
            </a:r>
            <a:r>
              <a:rPr b="1" lang="en" sz="1200">
                <a:solidFill>
                  <a:srgbClr val="475067"/>
                </a:solidFill>
                <a:latin typeface="Inter"/>
                <a:ea typeface="Inter"/>
                <a:cs typeface="Inter"/>
                <a:sym typeface="Inter"/>
              </a:rPr>
              <a:t>2560</a:t>
            </a:r>
            <a:r>
              <a:rPr lang="en" sz="1200">
                <a:solidFill>
                  <a:srgbClr val="475067"/>
                </a:solidFill>
                <a:latin typeface="Inter"/>
                <a:ea typeface="Inter"/>
                <a:cs typeface="Inter"/>
                <a:sym typeface="Inter"/>
              </a:rPr>
              <a:t> labelled phrases</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b="1" lang="en" sz="1200">
                <a:solidFill>
                  <a:srgbClr val="475067"/>
                </a:solidFill>
                <a:latin typeface="Inter"/>
                <a:ea typeface="Inter"/>
                <a:cs typeface="Inter"/>
                <a:sym typeface="Inter"/>
              </a:rPr>
              <a:t>87</a:t>
            </a:r>
            <a:r>
              <a:rPr lang="en" sz="1200">
                <a:solidFill>
                  <a:srgbClr val="475067"/>
                </a:solidFill>
                <a:latin typeface="Inter"/>
                <a:ea typeface="Inter"/>
                <a:cs typeface="Inter"/>
                <a:sym typeface="Inter"/>
              </a:rPr>
              <a:t> F1 score → </a:t>
            </a:r>
            <a:r>
              <a:rPr b="1" lang="en" sz="1200">
                <a:solidFill>
                  <a:srgbClr val="475067"/>
                </a:solidFill>
                <a:latin typeface="Inter"/>
                <a:ea typeface="Inter"/>
                <a:cs typeface="Inter"/>
                <a:sym typeface="Inter"/>
              </a:rPr>
              <a:t>87</a:t>
            </a:r>
            <a:r>
              <a:rPr lang="en" sz="1200">
                <a:solidFill>
                  <a:srgbClr val="475067"/>
                </a:solidFill>
                <a:latin typeface="Inter"/>
                <a:ea typeface="Inter"/>
                <a:cs typeface="Inter"/>
                <a:sym typeface="Inter"/>
              </a:rPr>
              <a:t> F1 score</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Fixed a large </a:t>
            </a:r>
            <a:r>
              <a:rPr lang="en" sz="1200">
                <a:solidFill>
                  <a:srgbClr val="475067"/>
                </a:solidFill>
                <a:latin typeface="Inter"/>
                <a:ea typeface="Inter"/>
                <a:cs typeface="Inter"/>
                <a:sym typeface="Inter"/>
              </a:rPr>
              <a:t>amount</a:t>
            </a:r>
            <a:r>
              <a:rPr lang="en" sz="1200">
                <a:solidFill>
                  <a:srgbClr val="475067"/>
                </a:solidFill>
                <a:latin typeface="Inter"/>
                <a:ea typeface="Inter"/>
                <a:cs typeface="Inter"/>
                <a:sym typeface="Inter"/>
              </a:rPr>
              <a:t> of confusion between the existing intents and </a:t>
            </a:r>
            <a:r>
              <a:rPr lang="en" sz="1200">
                <a:solidFill>
                  <a:srgbClr val="475067"/>
                </a:solidFill>
                <a:latin typeface="Inter"/>
                <a:ea typeface="Inter"/>
                <a:cs typeface="Inter"/>
                <a:sym typeface="Inter"/>
              </a:rPr>
              <a:t>separated</a:t>
            </a:r>
            <a:r>
              <a:rPr lang="en" sz="1200">
                <a:solidFill>
                  <a:srgbClr val="475067"/>
                </a:solidFill>
                <a:latin typeface="Inter"/>
                <a:ea typeface="Inter"/>
                <a:cs typeface="Inter"/>
                <a:sym typeface="Inter"/>
              </a:rPr>
              <a:t> out a few new intents</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1000"/>
              </a:spcAft>
              <a:buClr>
                <a:srgbClr val="475067"/>
              </a:buClr>
              <a:buSzPts val="1200"/>
              <a:buFont typeface="Inter"/>
              <a:buChar char="■"/>
            </a:pPr>
            <a:r>
              <a:rPr lang="en" sz="1200">
                <a:solidFill>
                  <a:srgbClr val="475067"/>
                </a:solidFill>
                <a:latin typeface="Inter"/>
                <a:ea typeface="Inter"/>
                <a:cs typeface="Inter"/>
                <a:sym typeface="Inter"/>
              </a:rPr>
              <a:t>These were the changes possible given the current prompt and avoiding a complete model re-work</a:t>
            </a:r>
            <a:endParaRPr sz="1200">
              <a:solidFill>
                <a:srgbClr val="475067"/>
              </a:solidFill>
              <a:latin typeface="Inter"/>
              <a:ea typeface="Inter"/>
              <a:cs typeface="Inter"/>
              <a:sym typeface="Inter"/>
            </a:endParaRPr>
          </a:p>
        </p:txBody>
      </p:sp>
      <p:sp>
        <p:nvSpPr>
          <p:cNvPr id="317" name="Google Shape;317;p54"/>
          <p:cNvSpPr txBox="1"/>
          <p:nvPr/>
        </p:nvSpPr>
        <p:spPr>
          <a:xfrm>
            <a:off x="6175938" y="11199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Coverage @0.3 confidence (latest)</a:t>
            </a:r>
            <a:endParaRPr i="1" sz="900"/>
          </a:p>
        </p:txBody>
      </p:sp>
      <p:sp>
        <p:nvSpPr>
          <p:cNvPr id="318" name="Google Shape;318;p54"/>
          <p:cNvSpPr txBox="1"/>
          <p:nvPr/>
        </p:nvSpPr>
        <p:spPr>
          <a:xfrm>
            <a:off x="6220513" y="25286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Coverage @0.7 confidence (latest)</a:t>
            </a:r>
            <a:endParaRPr i="1" sz="900"/>
          </a:p>
        </p:txBody>
      </p:sp>
      <p:pic>
        <p:nvPicPr>
          <p:cNvPr id="319" name="Google Shape;319;p54"/>
          <p:cNvPicPr preferRelativeResize="0"/>
          <p:nvPr/>
        </p:nvPicPr>
        <p:blipFill>
          <a:blip r:embed="rId3">
            <a:alphaModFix/>
          </a:blip>
          <a:stretch>
            <a:fillRect/>
          </a:stretch>
        </p:blipFill>
        <p:spPr>
          <a:xfrm>
            <a:off x="6858626" y="2816125"/>
            <a:ext cx="1946075" cy="1618800"/>
          </a:xfrm>
          <a:prstGeom prst="rect">
            <a:avLst/>
          </a:prstGeom>
          <a:noFill/>
          <a:ln>
            <a:noFill/>
          </a:ln>
        </p:spPr>
      </p:pic>
      <p:pic>
        <p:nvPicPr>
          <p:cNvPr id="320" name="Google Shape;320;p54"/>
          <p:cNvPicPr preferRelativeResize="0"/>
          <p:nvPr/>
        </p:nvPicPr>
        <p:blipFill>
          <a:blip r:embed="rId4">
            <a:alphaModFix/>
          </a:blip>
          <a:stretch>
            <a:fillRect/>
          </a:stretch>
        </p:blipFill>
        <p:spPr>
          <a:xfrm>
            <a:off x="6590850" y="1407149"/>
            <a:ext cx="2332550" cy="1121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26" name="Google Shape;326;p55"/>
          <p:cNvPicPr preferRelativeResize="0"/>
          <p:nvPr/>
        </p:nvPicPr>
        <p:blipFill>
          <a:blip r:embed="rId3">
            <a:alphaModFix/>
          </a:blip>
          <a:stretch>
            <a:fillRect/>
          </a:stretch>
        </p:blipFill>
        <p:spPr>
          <a:xfrm>
            <a:off x="152400" y="849825"/>
            <a:ext cx="8839204" cy="36038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5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33" name="Google Shape;333;p56"/>
          <p:cNvSpPr txBox="1"/>
          <p:nvPr/>
        </p:nvSpPr>
        <p:spPr>
          <a:xfrm>
            <a:off x="58675" y="4048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New/Rename/Moved</a:t>
            </a:r>
            <a:r>
              <a:rPr i="1" lang="en" sz="900"/>
              <a:t> Classes(</a:t>
            </a:r>
            <a:r>
              <a:rPr i="1" lang="en" sz="900"/>
              <a:t>9</a:t>
            </a:r>
            <a:r>
              <a:rPr i="1" lang="en" sz="900"/>
              <a:t> classes)</a:t>
            </a:r>
            <a:endParaRPr i="1" sz="900"/>
          </a:p>
        </p:txBody>
      </p:sp>
      <p:sp>
        <p:nvSpPr>
          <p:cNvPr id="334" name="Google Shape;334;p56"/>
          <p:cNvSpPr txBox="1"/>
          <p:nvPr/>
        </p:nvSpPr>
        <p:spPr>
          <a:xfrm>
            <a:off x="3225713" y="4048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Strengthened Classes (28 classes)</a:t>
            </a:r>
            <a:endParaRPr i="1" sz="900"/>
          </a:p>
        </p:txBody>
      </p:sp>
      <p:sp>
        <p:nvSpPr>
          <p:cNvPr id="335" name="Google Shape;335;p56"/>
          <p:cNvSpPr txBox="1"/>
          <p:nvPr/>
        </p:nvSpPr>
        <p:spPr>
          <a:xfrm>
            <a:off x="5992175" y="38100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No Change Classes (52 classes)</a:t>
            </a:r>
            <a:endParaRPr i="1" sz="900"/>
          </a:p>
        </p:txBody>
      </p:sp>
      <p:pic>
        <p:nvPicPr>
          <p:cNvPr id="336" name="Google Shape;336;p56"/>
          <p:cNvPicPr preferRelativeResize="0"/>
          <p:nvPr/>
        </p:nvPicPr>
        <p:blipFill>
          <a:blip r:embed="rId3">
            <a:alphaModFix/>
          </a:blip>
          <a:stretch>
            <a:fillRect/>
          </a:stretch>
        </p:blipFill>
        <p:spPr>
          <a:xfrm>
            <a:off x="6463224" y="699875"/>
            <a:ext cx="2334225" cy="4100633"/>
          </a:xfrm>
          <a:prstGeom prst="rect">
            <a:avLst/>
          </a:prstGeom>
          <a:noFill/>
          <a:ln cap="flat" cmpd="sng" w="9525">
            <a:solidFill>
              <a:schemeClr val="dk1"/>
            </a:solidFill>
            <a:prstDash val="solid"/>
            <a:round/>
            <a:headEnd len="sm" w="sm" type="none"/>
            <a:tailEnd len="sm" w="sm" type="none"/>
          </a:ln>
        </p:spPr>
      </p:pic>
      <p:pic>
        <p:nvPicPr>
          <p:cNvPr id="337" name="Google Shape;337;p56"/>
          <p:cNvPicPr preferRelativeResize="0"/>
          <p:nvPr/>
        </p:nvPicPr>
        <p:blipFill>
          <a:blip r:embed="rId4">
            <a:alphaModFix/>
          </a:blip>
          <a:stretch>
            <a:fillRect/>
          </a:stretch>
        </p:blipFill>
        <p:spPr>
          <a:xfrm>
            <a:off x="3276762" y="723725"/>
            <a:ext cx="3073200" cy="3012302"/>
          </a:xfrm>
          <a:prstGeom prst="rect">
            <a:avLst/>
          </a:prstGeom>
          <a:noFill/>
          <a:ln cap="flat" cmpd="sng" w="9525">
            <a:solidFill>
              <a:schemeClr val="dk1"/>
            </a:solidFill>
            <a:prstDash val="solid"/>
            <a:round/>
            <a:headEnd len="sm" w="sm" type="none"/>
            <a:tailEnd len="sm" w="sm" type="none"/>
          </a:ln>
        </p:spPr>
      </p:pic>
      <p:pic>
        <p:nvPicPr>
          <p:cNvPr id="338" name="Google Shape;338;p56"/>
          <p:cNvPicPr preferRelativeResize="0"/>
          <p:nvPr/>
        </p:nvPicPr>
        <p:blipFill>
          <a:blip r:embed="rId5">
            <a:alphaModFix/>
          </a:blip>
          <a:stretch>
            <a:fillRect/>
          </a:stretch>
        </p:blipFill>
        <p:spPr>
          <a:xfrm>
            <a:off x="124713" y="727950"/>
            <a:ext cx="3073225" cy="11705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45" name="Google Shape;345;p57"/>
          <p:cNvSpPr txBox="1"/>
          <p:nvPr/>
        </p:nvSpPr>
        <p:spPr>
          <a:xfrm>
            <a:off x="209150" y="132000"/>
            <a:ext cx="3009300" cy="46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Billing//Billing Delinquency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Billing//Billing or payment discrepancy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Billing//Change payment plan or date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Billing//Make a payment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Billing//Missed payments, NSF &amp; special withdrawals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Billing//Payment failure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Billing//Payment or balance status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Billing//Payment Schedule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Billing//Refunds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Billing//Registered letter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Billing//Update/verify payment or banking info</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Cancellation//Cancel a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Cancellation//Cancellation fees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Cancellation//Confirm cancellation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Cancellation//Get correct email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Cancellation//How to cancel policy after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Cancellation//Refunds for cancelled policies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Cancellation//Reinstate cancelled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Cancellation//Reinstate policy or rescind cancellation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Cancellation//Update cancellation date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clarification//Add, remove or update person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clarification//Clarify or verify misc. coverages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clarification//Commercial insurance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clarification//Convictions &amp; criminal records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clarification//Deceased policyholder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clarification//Document request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clarification//Driving history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clarification//Locate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clarification//Multi-policy bundling &amp; discounts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clarification//Package type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clarification//Pets, livestock &amp; animals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clarification//Transfer, combine or split policy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clarification//Update or verify address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clarification//Verify name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support//Broker codes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support//Find broker for purchasing</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p:txBody>
      </p:sp>
      <p:sp>
        <p:nvSpPr>
          <p:cNvPr id="346" name="Google Shape;346;p57"/>
          <p:cNvSpPr txBox="1"/>
          <p:nvPr/>
        </p:nvSpPr>
        <p:spPr>
          <a:xfrm>
            <a:off x="3289225" y="132000"/>
            <a:ext cx="30000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support//Misc. case follow-up</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support//Misc. complaint or suggestion</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support//Misc. transfer or callback</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support//Portal troubleshooting</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General support//Transfer to broker or share broker info</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clarification//Boats &amp; docks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clarification//Creditor or mortgage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clarification//Fire and earthquakes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clarification//Heating systems &amp; boilers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clarification//Home-based business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clarification//Jewelry, art &amp; collectibles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clarification//Land usage, protection, ownership or occupancy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clarification//Oil tank</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clarification//Older homes : wiring, plumbing, foundations or roof</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clarification//Renovations, construction, outbuildings &amp; property type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clarification//Rental or airbnb</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clarification//Sauna, pool or hot tub</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clarification//Solar panels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clarification//Vacancy, seasonal, temporary &amp; moves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clarification//Water damage, hail or sewer backup</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Home clarification//Wood stove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Quote//Get a quote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Quote//Quoting process queries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Quote//Work around online or Guidewire issue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Renewal//Check renewal documents sent or available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Renewal//Confirm cancellation and stop auto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Renewal//Confirm renewal status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Renewal//Payment schedule for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Renewal//Premium inquiry and discrepancy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Renewal//Renewal details, status and process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Renewal//Update policy prior or during policy renewal</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t/>
            </a:r>
            <a:endParaRPr sz="750">
              <a:solidFill>
                <a:schemeClr val="accent1"/>
              </a:solidFill>
              <a:latin typeface="Inter Light"/>
              <a:ea typeface="Inter Light"/>
              <a:cs typeface="Inter Light"/>
              <a:sym typeface="Inter Light"/>
            </a:endParaRPr>
          </a:p>
        </p:txBody>
      </p:sp>
      <p:sp>
        <p:nvSpPr>
          <p:cNvPr id="347" name="Google Shape;347;p57"/>
          <p:cNvSpPr txBox="1"/>
          <p:nvPr/>
        </p:nvSpPr>
        <p:spPr>
          <a:xfrm>
            <a:off x="6360000" y="197050"/>
            <a:ext cx="26889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System Support//Locate document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System Support//Log in assistance  and password reset</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clarification//Add, remove, update or exclude driver</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clarification//Anti-theft tags &amp; surcharges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clarification//ATVs &amp; VTTs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clarification//Bicycles, scooters &amp; ebikes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clarification//Business use, Uber &amp; rideshares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clarification//Central file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clarification//Collision, comprehensive &amp; liability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clarification//Depreciation coverage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clarification//Driving license or license plate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clarification//Golf carts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clarification//Mobile homes, trailers, RVs &amp; minihomes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clarification//Motorcycles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clarification//Pre existing damage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clarification//Rental or replacement vehicle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clarification//Roadside assitance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clarification//Suspension of coverage, gap &amp; storage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clarification//Update vehicle</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clarification//Vehicle financing &amp; status</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clarification//Vehicle premium or deductible inquiry</a:t>
            </a:r>
            <a:endParaRPr sz="750">
              <a:solidFill>
                <a:schemeClr val="accent1"/>
              </a:solidFill>
              <a:latin typeface="Inter Light"/>
              <a:ea typeface="Inter Light"/>
              <a:cs typeface="Inter Light"/>
              <a:sym typeface="Inter Light"/>
            </a:endParaRPr>
          </a:p>
          <a:p>
            <a:pPr indent="0" lvl="0" marL="0" rtl="0" algn="l">
              <a:spcBef>
                <a:spcPts val="0"/>
              </a:spcBef>
              <a:spcAft>
                <a:spcPts val="0"/>
              </a:spcAft>
              <a:buNone/>
            </a:pPr>
            <a:r>
              <a:rPr lang="en" sz="750">
                <a:solidFill>
                  <a:schemeClr val="accent1"/>
                </a:solidFill>
                <a:latin typeface="Inter Light"/>
                <a:ea typeface="Inter Light"/>
                <a:cs typeface="Inter Light"/>
                <a:sym typeface="Inter Light"/>
              </a:rPr>
              <a:t>Vehicle clarification//Windshield or glass damage</a:t>
            </a:r>
            <a:endParaRPr sz="750">
              <a:solidFill>
                <a:schemeClr val="accent1"/>
              </a:solidFill>
              <a:latin typeface="Inter Light"/>
              <a:ea typeface="Inter Light"/>
              <a:cs typeface="Inter Light"/>
              <a:sym typeface="Inter Light"/>
            </a:endParaRPr>
          </a:p>
        </p:txBody>
      </p:sp>
      <p:sp>
        <p:nvSpPr>
          <p:cNvPr id="348" name="Google Shape;348;p57"/>
          <p:cNvSpPr txBox="1"/>
          <p:nvPr/>
        </p:nvSpPr>
        <p:spPr>
          <a:xfrm>
            <a:off x="3042125" y="4711050"/>
            <a:ext cx="3073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t>Full Taxonomy (89 classes)</a:t>
            </a:r>
            <a:endParaRPr i="1" sz="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52" name="Shape 352"/>
        <p:cNvGrpSpPr/>
        <p:nvPr/>
      </p:nvGrpSpPr>
      <p:grpSpPr>
        <a:xfrm>
          <a:off x="0" y="0"/>
          <a:ext cx="0" cy="0"/>
          <a:chOff x="0" y="0"/>
          <a:chExt cx="0" cy="0"/>
        </a:xfrm>
      </p:grpSpPr>
      <p:pic>
        <p:nvPicPr>
          <p:cNvPr id="353" name="Google Shape;353;p58"/>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54" name="Google Shape;354;p58"/>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Next steps</a:t>
            </a:r>
            <a:endParaRPr sz="3600">
              <a:solidFill>
                <a:schemeClr val="lt1"/>
              </a:solidFill>
              <a:latin typeface="Manrope SemiBold"/>
              <a:ea typeface="Manrope SemiBold"/>
              <a:cs typeface="Manrope SemiBold"/>
              <a:sym typeface="Manrope SemiBold"/>
            </a:endParaRPr>
          </a:p>
        </p:txBody>
      </p:sp>
      <p:pic>
        <p:nvPicPr>
          <p:cNvPr id="355" name="Google Shape;355;p58"/>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56" name="Google Shape;35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5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63" name="Google Shape;363;p59"/>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364" name="Google Shape;364;p59"/>
          <p:cNvSpPr txBox="1"/>
          <p:nvPr/>
        </p:nvSpPr>
        <p:spPr>
          <a:xfrm>
            <a:off x="668100" y="1288800"/>
            <a:ext cx="7546200" cy="3480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sz="1200">
                <a:solidFill>
                  <a:srgbClr val="475067"/>
                </a:solidFill>
                <a:latin typeface="Inter"/>
                <a:ea typeface="Inter"/>
                <a:cs typeface="Inter"/>
                <a:sym typeface="Inter"/>
              </a:rPr>
              <a:t>Topic model updates in Dev week ending 29/11 and present 03/12 (</a:t>
            </a:r>
            <a:r>
              <a:rPr b="1" lang="en" sz="1200">
                <a:solidFill>
                  <a:srgbClr val="475067"/>
                </a:solidFill>
                <a:latin typeface="Inter"/>
                <a:ea typeface="Inter"/>
                <a:cs typeface="Inter"/>
                <a:sym typeface="Inter"/>
              </a:rPr>
              <a:t>Complete</a:t>
            </a:r>
            <a:r>
              <a:rPr lang="en" sz="1200">
                <a:solidFill>
                  <a:srgbClr val="475067"/>
                </a:solidFill>
                <a:latin typeface="Inter"/>
                <a:ea typeface="Inter"/>
                <a:cs typeface="Inter"/>
                <a:sym typeface="Inter"/>
              </a:rPr>
              <a:t>)</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Deliver a staggered set of </a:t>
            </a:r>
            <a:r>
              <a:rPr lang="en" sz="1200">
                <a:solidFill>
                  <a:srgbClr val="475067"/>
                </a:solidFill>
                <a:latin typeface="Inter"/>
                <a:ea typeface="Inter"/>
                <a:cs typeface="Inter"/>
                <a:sym typeface="Inter"/>
              </a:rPr>
              <a:t>performance</a:t>
            </a:r>
            <a:r>
              <a:rPr lang="en" sz="1200">
                <a:solidFill>
                  <a:srgbClr val="475067"/>
                </a:solidFill>
                <a:latin typeface="Inter"/>
                <a:ea typeface="Inter"/>
                <a:cs typeface="Inter"/>
                <a:sym typeface="Inter"/>
              </a:rPr>
              <a:t> improvements to enable multi-dimensional running on frequent files updates</a:t>
            </a:r>
            <a:endParaRPr sz="1200">
              <a:solidFill>
                <a:srgbClr val="475067"/>
              </a:solidFill>
              <a:latin typeface="Inter"/>
              <a:ea typeface="Inter"/>
              <a:cs typeface="Inter"/>
              <a:sym typeface="Inter"/>
            </a:endParaRPr>
          </a:p>
          <a:p>
            <a:pPr indent="-304800" lvl="1" marL="9144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1.65 - Index download just in time rather than auto (</a:t>
            </a:r>
            <a:r>
              <a:rPr b="1" lang="en" sz="1200">
                <a:solidFill>
                  <a:srgbClr val="475067"/>
                </a:solidFill>
                <a:latin typeface="Inter"/>
                <a:ea typeface="Inter"/>
                <a:cs typeface="Inter"/>
                <a:sym typeface="Inter"/>
              </a:rPr>
              <a:t>Complete 21/11)</a:t>
            </a:r>
            <a:endParaRPr b="1" sz="1200">
              <a:solidFill>
                <a:srgbClr val="475067"/>
              </a:solidFill>
              <a:latin typeface="Inter"/>
              <a:ea typeface="Inter"/>
              <a:cs typeface="Inter"/>
              <a:sym typeface="Inter"/>
            </a:endParaRPr>
          </a:p>
          <a:p>
            <a:pPr indent="-304800" lvl="1" marL="9144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1.65.1 - Disable density </a:t>
            </a:r>
            <a:r>
              <a:rPr lang="en" sz="1200">
                <a:solidFill>
                  <a:srgbClr val="475067"/>
                </a:solidFill>
                <a:latin typeface="Inter"/>
                <a:ea typeface="Inter"/>
                <a:cs typeface="Inter"/>
                <a:sym typeface="Inter"/>
              </a:rPr>
              <a:t>features, provide await on new indexes </a:t>
            </a:r>
            <a:r>
              <a:rPr lang="en" sz="1200">
                <a:solidFill>
                  <a:srgbClr val="475067"/>
                </a:solidFill>
                <a:latin typeface="Inter"/>
                <a:ea typeface="Inter"/>
                <a:cs typeface="Inter"/>
                <a:sym typeface="Inter"/>
              </a:rPr>
              <a:t>and provide ability to upload files without index triggers (</a:t>
            </a:r>
            <a:r>
              <a:rPr b="1" lang="en" sz="1200">
                <a:solidFill>
                  <a:srgbClr val="475067"/>
                </a:solidFill>
                <a:latin typeface="Inter"/>
                <a:ea typeface="Inter"/>
                <a:cs typeface="Inter"/>
                <a:sym typeface="Inter"/>
              </a:rPr>
              <a:t>Complete 28/11</a:t>
            </a:r>
            <a:r>
              <a:rPr lang="en" sz="1200">
                <a:solidFill>
                  <a:srgbClr val="475067"/>
                </a:solidFill>
                <a:latin typeface="Inter"/>
                <a:ea typeface="Inter"/>
                <a:cs typeface="Inter"/>
                <a:sym typeface="Inter"/>
              </a:rPr>
              <a:t>)</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rgbClr val="475067"/>
                </a:solidFill>
                <a:latin typeface="Inter"/>
                <a:ea typeface="Inter"/>
                <a:cs typeface="Inter"/>
                <a:sym typeface="Inter"/>
              </a:rPr>
              <a:t>Build representative test environment and test sequential and parallel scenarios at volume (</a:t>
            </a:r>
            <a:r>
              <a:rPr b="1" lang="en" sz="1200">
                <a:solidFill>
                  <a:srgbClr val="475067"/>
                </a:solidFill>
                <a:latin typeface="Inter"/>
                <a:ea typeface="Inter"/>
                <a:cs typeface="Inter"/>
                <a:sym typeface="Inter"/>
              </a:rPr>
              <a:t>Complete</a:t>
            </a:r>
            <a:r>
              <a:rPr lang="en" sz="1200">
                <a:solidFill>
                  <a:srgbClr val="475067"/>
                </a:solidFill>
                <a:latin typeface="Inter"/>
                <a:ea typeface="Inter"/>
                <a:cs typeface="Inter"/>
                <a:sym typeface="Inter"/>
              </a:rPr>
              <a:t>)</a:t>
            </a:r>
            <a:endParaRPr sz="12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200">
                <a:solidFill>
                  <a:schemeClr val="accent6"/>
                </a:solidFill>
                <a:latin typeface="Inter"/>
                <a:ea typeface="Inter"/>
                <a:cs typeface="Inter"/>
                <a:sym typeface="Inter"/>
              </a:rPr>
              <a:t>Continue supporting Advanced Analytics team and Deloitte with training or onboarding requirements.</a:t>
            </a:r>
            <a:endParaRPr sz="1200">
              <a:solidFill>
                <a:schemeClr val="accent6"/>
              </a:solidFill>
              <a:latin typeface="Inter"/>
              <a:ea typeface="Inter"/>
              <a:cs typeface="Inter"/>
              <a:sym typeface="Inter"/>
            </a:endParaRPr>
          </a:p>
          <a:p>
            <a:pPr indent="-304800" lvl="0" marL="457200" rtl="0" algn="l">
              <a:lnSpc>
                <a:spcPct val="115000"/>
              </a:lnSpc>
              <a:spcBef>
                <a:spcPts val="1000"/>
              </a:spcBef>
              <a:spcAft>
                <a:spcPts val="0"/>
              </a:spcAft>
              <a:buClr>
                <a:schemeClr val="accent6"/>
              </a:buClr>
              <a:buSzPts val="1200"/>
              <a:buFont typeface="Inter"/>
              <a:buChar char="■"/>
            </a:pPr>
            <a:r>
              <a:rPr lang="en" sz="1200">
                <a:solidFill>
                  <a:schemeClr val="accent6"/>
                </a:solidFill>
                <a:latin typeface="Inter"/>
                <a:ea typeface="Inter"/>
                <a:cs typeface="Inter"/>
                <a:sym typeface="Inter"/>
              </a:rPr>
              <a:t>Support any software defects found during your testing or production runs via the HF portal</a:t>
            </a:r>
            <a:endParaRPr sz="1200">
              <a:solidFill>
                <a:srgbClr val="475067"/>
              </a:solidFill>
              <a:latin typeface="Inter"/>
              <a:ea typeface="Inter"/>
              <a:cs typeface="Inter"/>
              <a:sym typeface="Inter"/>
            </a:endParaRPr>
          </a:p>
          <a:p>
            <a:pPr indent="0" lvl="0" marL="0" rtl="0" algn="l">
              <a:lnSpc>
                <a:spcPct val="115000"/>
              </a:lnSpc>
              <a:spcBef>
                <a:spcPts val="1000"/>
              </a:spcBef>
              <a:spcAft>
                <a:spcPts val="1000"/>
              </a:spcAft>
              <a:buNone/>
            </a:pPr>
            <a:r>
              <a:t/>
            </a:r>
            <a:endParaRPr sz="1200">
              <a:solidFill>
                <a:srgbClr val="475067"/>
              </a:solidFill>
              <a:latin typeface="Inter"/>
              <a:ea typeface="Inter"/>
              <a:cs typeface="Inter"/>
              <a:sym typeface="Inter"/>
            </a:endParaRPr>
          </a:p>
        </p:txBody>
      </p:sp>
      <p:sp>
        <p:nvSpPr>
          <p:cNvPr id="365" name="Google Shape;365;p5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Next steps</a:t>
            </a:r>
            <a:endParaRPr sz="3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69" name="Shape 369"/>
        <p:cNvGrpSpPr/>
        <p:nvPr/>
      </p:nvGrpSpPr>
      <p:grpSpPr>
        <a:xfrm>
          <a:off x="0" y="0"/>
          <a:ext cx="0" cy="0"/>
          <a:chOff x="0" y="0"/>
          <a:chExt cx="0" cy="0"/>
        </a:xfrm>
      </p:grpSpPr>
      <p:pic>
        <p:nvPicPr>
          <p:cNvPr id="370" name="Google Shape;370;p60"/>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71" name="Google Shape;371;p60"/>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Worked Example</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Granularity</a:t>
            </a:r>
            <a:endParaRPr sz="3600">
              <a:solidFill>
                <a:schemeClr val="lt1"/>
              </a:solidFill>
              <a:latin typeface="Manrope SemiBold"/>
              <a:ea typeface="Manrope SemiBold"/>
              <a:cs typeface="Manrope SemiBold"/>
              <a:sym typeface="Manrope SemiBold"/>
            </a:endParaRPr>
          </a:p>
        </p:txBody>
      </p:sp>
      <p:pic>
        <p:nvPicPr>
          <p:cNvPr id="372" name="Google Shape;372;p60"/>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73" name="Google Shape;373;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9" name="Google Shape;379;p61"/>
          <p:cNvPicPr preferRelativeResize="0"/>
          <p:nvPr/>
        </p:nvPicPr>
        <p:blipFill>
          <a:blip r:embed="rId3">
            <a:alphaModFix/>
          </a:blip>
          <a:stretch>
            <a:fillRect/>
          </a:stretch>
        </p:blipFill>
        <p:spPr>
          <a:xfrm>
            <a:off x="711025" y="792325"/>
            <a:ext cx="7721925" cy="1724375"/>
          </a:xfrm>
          <a:prstGeom prst="rect">
            <a:avLst/>
          </a:prstGeom>
          <a:noFill/>
          <a:ln cap="flat" cmpd="sng" w="9525">
            <a:solidFill>
              <a:schemeClr val="dk1"/>
            </a:solidFill>
            <a:prstDash val="solid"/>
            <a:round/>
            <a:headEnd len="sm" w="sm" type="none"/>
            <a:tailEnd len="sm" w="sm" type="none"/>
          </a:ln>
        </p:spPr>
      </p:pic>
      <p:pic>
        <p:nvPicPr>
          <p:cNvPr id="380" name="Google Shape;380;p61"/>
          <p:cNvPicPr preferRelativeResize="0"/>
          <p:nvPr/>
        </p:nvPicPr>
        <p:blipFill>
          <a:blip r:embed="rId4">
            <a:alphaModFix/>
          </a:blip>
          <a:stretch>
            <a:fillRect/>
          </a:stretch>
        </p:blipFill>
        <p:spPr>
          <a:xfrm>
            <a:off x="789537" y="2618875"/>
            <a:ext cx="2658838" cy="1810200"/>
          </a:xfrm>
          <a:prstGeom prst="rect">
            <a:avLst/>
          </a:prstGeom>
          <a:noFill/>
          <a:ln cap="flat" cmpd="sng" w="9525">
            <a:solidFill>
              <a:schemeClr val="dk1"/>
            </a:solidFill>
            <a:prstDash val="solid"/>
            <a:round/>
            <a:headEnd len="sm" w="sm" type="none"/>
            <a:tailEnd len="sm" w="sm" type="none"/>
          </a:ln>
        </p:spPr>
      </p:pic>
      <p:pic>
        <p:nvPicPr>
          <p:cNvPr id="381" name="Google Shape;381;p61"/>
          <p:cNvPicPr preferRelativeResize="0"/>
          <p:nvPr/>
        </p:nvPicPr>
        <p:blipFill rotWithShape="1">
          <a:blip r:embed="rId5">
            <a:alphaModFix/>
          </a:blip>
          <a:srcRect b="0" l="0" r="0" t="11135"/>
          <a:stretch/>
        </p:blipFill>
        <p:spPr>
          <a:xfrm>
            <a:off x="3552350" y="2630675"/>
            <a:ext cx="1926525" cy="1810199"/>
          </a:xfrm>
          <a:prstGeom prst="rect">
            <a:avLst/>
          </a:prstGeom>
          <a:noFill/>
          <a:ln cap="flat" cmpd="sng" w="9525">
            <a:solidFill>
              <a:schemeClr val="dk1"/>
            </a:solidFill>
            <a:prstDash val="solid"/>
            <a:round/>
            <a:headEnd len="sm" w="sm" type="none"/>
            <a:tailEnd len="sm" w="sm" type="none"/>
          </a:ln>
        </p:spPr>
      </p:pic>
      <p:pic>
        <p:nvPicPr>
          <p:cNvPr id="382" name="Google Shape;382;p61"/>
          <p:cNvPicPr preferRelativeResize="0"/>
          <p:nvPr/>
        </p:nvPicPr>
        <p:blipFill rotWithShape="1">
          <a:blip r:embed="rId6">
            <a:alphaModFix/>
          </a:blip>
          <a:srcRect b="1283" l="0" r="0" t="0"/>
          <a:stretch/>
        </p:blipFill>
        <p:spPr>
          <a:xfrm>
            <a:off x="5608425" y="2618875"/>
            <a:ext cx="2746025" cy="1810200"/>
          </a:xfrm>
          <a:prstGeom prst="rect">
            <a:avLst/>
          </a:prstGeom>
          <a:noFill/>
          <a:ln cap="flat" cmpd="sng" w="9525">
            <a:solidFill>
              <a:schemeClr val="dk1"/>
            </a:solidFill>
            <a:prstDash val="solid"/>
            <a:round/>
            <a:headEnd len="sm" w="sm" type="none"/>
            <a:tailEnd len="sm" w="sm" type="none"/>
          </a:ln>
        </p:spPr>
      </p:pic>
      <p:pic>
        <p:nvPicPr>
          <p:cNvPr id="383" name="Google Shape;383;p61"/>
          <p:cNvPicPr preferRelativeResize="0"/>
          <p:nvPr/>
        </p:nvPicPr>
        <p:blipFill rotWithShape="1">
          <a:blip r:embed="rId7">
            <a:alphaModFix/>
          </a:blip>
          <a:srcRect b="0" l="0" r="0" t="6033"/>
          <a:stretch/>
        </p:blipFill>
        <p:spPr>
          <a:xfrm>
            <a:off x="3914113" y="120775"/>
            <a:ext cx="1363475" cy="557575"/>
          </a:xfrm>
          <a:prstGeom prst="rect">
            <a:avLst/>
          </a:prstGeom>
          <a:noFill/>
          <a:ln cap="flat" cmpd="sng" w="9525">
            <a:solidFill>
              <a:schemeClr val="dk1"/>
            </a:solidFill>
            <a:prstDash val="solid"/>
            <a:round/>
            <a:headEnd len="sm" w="sm" type="none"/>
            <a:tailEnd len="sm" w="sm" type="none"/>
          </a:ln>
        </p:spPr>
      </p:pic>
      <p:sp>
        <p:nvSpPr>
          <p:cNvPr id="384" name="Google Shape;384;p61"/>
          <p:cNvSpPr txBox="1"/>
          <p:nvPr/>
        </p:nvSpPr>
        <p:spPr>
          <a:xfrm>
            <a:off x="1737500" y="4507150"/>
            <a:ext cx="7629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Inter"/>
                <a:ea typeface="Inter"/>
                <a:cs typeface="Inter"/>
                <a:sym typeface="Inter"/>
              </a:rPr>
              <a:t>0.68%</a:t>
            </a:r>
            <a:endParaRPr sz="800">
              <a:latin typeface="Inter"/>
              <a:ea typeface="Inter"/>
              <a:cs typeface="Inter"/>
              <a:sym typeface="Inter"/>
            </a:endParaRPr>
          </a:p>
          <a:p>
            <a:pPr indent="0" lvl="0" marL="0" rtl="0" algn="ctr">
              <a:spcBef>
                <a:spcPts val="0"/>
              </a:spcBef>
              <a:spcAft>
                <a:spcPts val="0"/>
              </a:spcAft>
              <a:buNone/>
            </a:pPr>
            <a:r>
              <a:rPr lang="en" sz="800">
                <a:latin typeface="Inter"/>
                <a:ea typeface="Inter"/>
                <a:cs typeface="Inter"/>
                <a:sym typeface="Inter"/>
              </a:rPr>
              <a:t>120 / 17,555</a:t>
            </a:r>
            <a:endParaRPr sz="800">
              <a:latin typeface="Inter"/>
              <a:ea typeface="Inter"/>
              <a:cs typeface="Inter"/>
              <a:sym typeface="Inter"/>
            </a:endParaRPr>
          </a:p>
        </p:txBody>
      </p:sp>
      <p:sp>
        <p:nvSpPr>
          <p:cNvPr id="385" name="Google Shape;385;p61"/>
          <p:cNvSpPr txBox="1"/>
          <p:nvPr/>
        </p:nvSpPr>
        <p:spPr>
          <a:xfrm>
            <a:off x="4134163" y="4507150"/>
            <a:ext cx="7629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Inter"/>
                <a:ea typeface="Inter"/>
                <a:cs typeface="Inter"/>
                <a:sym typeface="Inter"/>
              </a:rPr>
              <a:t>0.13%</a:t>
            </a:r>
            <a:endParaRPr sz="800">
              <a:latin typeface="Inter"/>
              <a:ea typeface="Inter"/>
              <a:cs typeface="Inter"/>
              <a:sym typeface="Inter"/>
            </a:endParaRPr>
          </a:p>
          <a:p>
            <a:pPr indent="0" lvl="0" marL="0" rtl="0" algn="ctr">
              <a:spcBef>
                <a:spcPts val="0"/>
              </a:spcBef>
              <a:spcAft>
                <a:spcPts val="0"/>
              </a:spcAft>
              <a:buNone/>
            </a:pPr>
            <a:r>
              <a:rPr lang="en" sz="800">
                <a:latin typeface="Inter"/>
                <a:ea typeface="Inter"/>
                <a:cs typeface="Inter"/>
                <a:sym typeface="Inter"/>
              </a:rPr>
              <a:t>24 / 17,555</a:t>
            </a:r>
            <a:endParaRPr sz="800">
              <a:latin typeface="Inter"/>
              <a:ea typeface="Inter"/>
              <a:cs typeface="Inter"/>
              <a:sym typeface="Inter"/>
            </a:endParaRPr>
          </a:p>
        </p:txBody>
      </p:sp>
      <p:sp>
        <p:nvSpPr>
          <p:cNvPr id="386" name="Google Shape;386;p61"/>
          <p:cNvSpPr txBox="1"/>
          <p:nvPr/>
        </p:nvSpPr>
        <p:spPr>
          <a:xfrm>
            <a:off x="6766288" y="4507150"/>
            <a:ext cx="7629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Inter"/>
                <a:ea typeface="Inter"/>
                <a:cs typeface="Inter"/>
                <a:sym typeface="Inter"/>
              </a:rPr>
              <a:t>0%</a:t>
            </a:r>
            <a:endParaRPr sz="800">
              <a:latin typeface="Inter"/>
              <a:ea typeface="Inter"/>
              <a:cs typeface="Inter"/>
              <a:sym typeface="Inter"/>
            </a:endParaRPr>
          </a:p>
          <a:p>
            <a:pPr indent="0" lvl="0" marL="0" rtl="0" algn="ctr">
              <a:spcBef>
                <a:spcPts val="0"/>
              </a:spcBef>
              <a:spcAft>
                <a:spcPts val="0"/>
              </a:spcAft>
              <a:buNone/>
            </a:pPr>
            <a:r>
              <a:rPr lang="en" sz="800">
                <a:latin typeface="Inter"/>
                <a:ea typeface="Inter"/>
                <a:cs typeface="Inter"/>
                <a:sym typeface="Inter"/>
              </a:rPr>
              <a:t>0 / 17,555</a:t>
            </a:r>
            <a:endParaRPr sz="800">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6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93" name="Google Shape;393;p62"/>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394" name="Google Shape;394;p6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Definity current prompt</a:t>
            </a:r>
            <a:endParaRPr sz="3500"/>
          </a:p>
        </p:txBody>
      </p:sp>
      <p:sp>
        <p:nvSpPr>
          <p:cNvPr id="395" name="Google Shape;395;p62"/>
          <p:cNvSpPr txBox="1"/>
          <p:nvPr/>
        </p:nvSpPr>
        <p:spPr>
          <a:xfrm>
            <a:off x="564700" y="1009600"/>
            <a:ext cx="7548300" cy="911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You are an insurance expert tasked with extracting intents from a conversation transcript. This conversation is related to Economical insurance or National Broker Services, which supports Canadian brokerages managing customer policies. Agents field calls from brokers enquiring about specific issues that affect their clients. One call may span different policy holders.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Below is the original conversation from {{ meta "timestamp" }}, delimited by three backticks.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rPr lang="en" sz="1000"/>
              <a:t>{{ conversation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rPr lang="en" sz="1000"/>
              <a:t>Rules:</a:t>
            </a:r>
            <a:endParaRPr sz="1000"/>
          </a:p>
          <a:p>
            <a:pPr indent="0" lvl="0" marL="0" rtl="0" algn="l">
              <a:spcBef>
                <a:spcPts val="0"/>
              </a:spcBef>
              <a:spcAft>
                <a:spcPts val="0"/>
              </a:spcAft>
              <a:buNone/>
            </a:pPr>
            <a:r>
              <a:rPr lang="en" sz="1000"/>
              <a:t>- Your task is to list the MAIN issues that the broker expressed to the agent. </a:t>
            </a:r>
            <a:endParaRPr sz="1000"/>
          </a:p>
          <a:p>
            <a:pPr indent="0" lvl="0" marL="0" rtl="0" algn="l">
              <a:spcBef>
                <a:spcPts val="0"/>
              </a:spcBef>
              <a:spcAft>
                <a:spcPts val="0"/>
              </a:spcAft>
              <a:buNone/>
            </a:pPr>
            <a:r>
              <a:rPr lang="en" sz="1000"/>
              <a:t>- Be concise. Avoid including personal names, company names, policy numbers, amounts or dates.</a:t>
            </a:r>
            <a:endParaRPr sz="1000"/>
          </a:p>
          <a:p>
            <a:pPr indent="0" lvl="0" marL="0" rtl="0" algn="l">
              <a:spcBef>
                <a:spcPts val="0"/>
              </a:spcBef>
              <a:spcAft>
                <a:spcPts val="0"/>
              </a:spcAft>
              <a:buNone/>
            </a:pPr>
            <a:r>
              <a:rPr lang="en" sz="1000"/>
              <a:t>- Intents stemming from the same initial issue should appear together.</a:t>
            </a:r>
            <a:endParaRPr sz="1000"/>
          </a:p>
          <a:p>
            <a:pPr indent="0" lvl="0" marL="0" rtl="0" algn="l">
              <a:spcBef>
                <a:spcPts val="0"/>
              </a:spcBef>
              <a:spcAft>
                <a:spcPts val="0"/>
              </a:spcAft>
              <a:buNone/>
            </a:pPr>
            <a:r>
              <a:rPr lang="en" sz="1000"/>
              <a:t>- Completely different intents can be returned in different objects.</a:t>
            </a:r>
            <a:endParaRPr sz="1000"/>
          </a:p>
          <a:p>
            <a:pPr indent="0" lvl="0" marL="0" rtl="0" algn="l">
              <a:spcBef>
                <a:spcPts val="0"/>
              </a:spcBef>
              <a:spcAft>
                <a:spcPts val="0"/>
              </a:spcAft>
              <a:buNone/>
            </a:pPr>
            <a:r>
              <a:rPr lang="en" sz="1000"/>
              <a:t>- Note that personal and identifiable information has been masked, so names and addresses might not be consistent.</a:t>
            </a:r>
            <a:endParaRPr sz="1000"/>
          </a:p>
          <a:p>
            <a:pPr indent="0" lvl="0" marL="0" rtl="0" algn="l">
              <a:spcBef>
                <a:spcPts val="0"/>
              </a:spcBef>
              <a:spcAft>
                <a:spcPts val="0"/>
              </a:spcAft>
              <a:buNone/>
            </a:pPr>
            <a:r>
              <a:rPr lang="en" sz="1000"/>
              <a:t>- Return ONLY English text without headings, markdown or special characters.</a:t>
            </a:r>
            <a:endParaRPr sz="1000"/>
          </a:p>
          <a:p>
            <a:pPr indent="0" lvl="0" marL="0" rtl="0" algn="l">
              <a:spcBef>
                <a:spcPts val="0"/>
              </a:spcBef>
              <a:spcAft>
                <a:spcPts val="0"/>
              </a:spcAft>
              <a:buNone/>
            </a:pPr>
            <a:r>
              <a:rPr lang="en" sz="1000"/>
              <a:t>- Note that some transcript roles may be incorrect.</a:t>
            </a:r>
            <a:endParaRPr sz="1000"/>
          </a:p>
          <a:p>
            <a:pPr indent="0" lvl="0" marL="0" rtl="0" algn="l">
              <a:spcBef>
                <a:spcPts val="0"/>
              </a:spcBef>
              <a:spcAft>
                <a:spcPts val="0"/>
              </a:spcAft>
              <a:buNone/>
            </a:pPr>
            <a:r>
              <a:rPr lang="en" sz="1000"/>
              <a:t>- If the agent is not speaking to a broker, you must clarify that person' role : "customer", "bank representative", "police officer", etc.</a:t>
            </a:r>
            <a:endParaRPr sz="1000"/>
          </a:p>
          <a:p>
            <a:pPr indent="0" lvl="0" marL="0" rtl="0" algn="l">
              <a:spcBef>
                <a:spcPts val="0"/>
              </a:spcBef>
              <a:spcAft>
                <a:spcPts val="0"/>
              </a:spcAft>
              <a:buNone/>
            </a:pPr>
            <a:r>
              <a:rPr lang="en" sz="1000"/>
              <a:t>- You must also extract the reason why the broker contacted an agent. This reason can be one of the 5 following options: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1. Training gap. </a:t>
            </a:r>
            <a:endParaRPr sz="1000"/>
          </a:p>
          <a:p>
            <a:pPr indent="0" lvl="0" marL="0" rtl="0" algn="l">
              <a:spcBef>
                <a:spcPts val="0"/>
              </a:spcBef>
              <a:spcAft>
                <a:spcPts val="0"/>
              </a:spcAft>
              <a:buNone/>
            </a:pPr>
            <a:r>
              <a:rPr lang="en" sz="1000"/>
              <a:t>The broker could perform the task through their system, but they don’t know how to do it. The agent will coach the broker on accomplishing the task autonomously, for example in Guidewire or through a screen share.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2. System issue. </a:t>
            </a:r>
            <a:endParaRPr sz="1000"/>
          </a:p>
          <a:p>
            <a:pPr indent="0" lvl="0" marL="0" rtl="0" algn="l">
              <a:spcBef>
                <a:spcPts val="0"/>
              </a:spcBef>
              <a:spcAft>
                <a:spcPts val="0"/>
              </a:spcAft>
              <a:buNone/>
            </a:pPr>
            <a:r>
              <a:rPr lang="en" sz="1000"/>
              <a:t>Brokers should have access to a self-serve system, but they will mention that it is not working as expected or that they don't have access.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3. Efficiency. </a:t>
            </a:r>
            <a:endParaRPr sz="1000"/>
          </a:p>
          <a:p>
            <a:pPr indent="0" lvl="0" marL="0" rtl="0" algn="l">
              <a:spcBef>
                <a:spcPts val="0"/>
              </a:spcBef>
              <a:spcAft>
                <a:spcPts val="0"/>
              </a:spcAft>
              <a:buNone/>
            </a:pPr>
            <a:r>
              <a:rPr lang="en" sz="1000"/>
              <a:t>Brokers find it faster to call an agent than to search through their resources and manuals, which can include Broker Extranet, Definity Learning, Guidewire, or more broadly, the "portal". The agent will likely guide the broker to resources during an interaction of this type.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4. Legitimate. </a:t>
            </a:r>
            <a:endParaRPr sz="1000"/>
          </a:p>
          <a:p>
            <a:pPr indent="0" lvl="0" marL="0" rtl="0" algn="l">
              <a:spcBef>
                <a:spcPts val="0"/>
              </a:spcBef>
              <a:spcAft>
                <a:spcPts val="0"/>
              </a:spcAft>
              <a:buNone/>
            </a:pPr>
            <a:r>
              <a:rPr lang="en" sz="1000"/>
              <a:t>The broker's request is complex and the agent interpreted the situation by relying on their specific expertise or internal knowledge base. For example, this could be a question related to multiple underwriting rules, or a billing issue that requires an agent's intervention.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5. BLANK. </a:t>
            </a:r>
            <a:endParaRPr sz="1000"/>
          </a:p>
          <a:p>
            <a:pPr indent="0" lvl="0" marL="0" rtl="0" algn="l">
              <a:spcBef>
                <a:spcPts val="0"/>
              </a:spcBef>
              <a:spcAft>
                <a:spcPts val="0"/>
              </a:spcAft>
              <a:buNone/>
            </a:pPr>
            <a:r>
              <a:rPr lang="en" sz="1000"/>
              <a:t>If you cannot match an explicit part of the transcript to one of the four previous reasons, return this value.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Return key-value pairs in the following format:</a:t>
            </a:r>
            <a:endParaRPr sz="1000"/>
          </a:p>
          <a:p>
            <a:pPr indent="0" lvl="0" marL="0" rtl="0" algn="l">
              <a:spcBef>
                <a:spcPts val="0"/>
              </a:spcBef>
              <a:spcAft>
                <a:spcPts val="0"/>
              </a:spcAft>
              <a:buNone/>
            </a:pPr>
            <a:r>
              <a:rPr lang="en" sz="1000"/>
              <a:t>INTENT: &lt;This is a single sentence with a concise summary of the broker request.&gt;</a:t>
            </a:r>
            <a:endParaRPr sz="1000"/>
          </a:p>
          <a:p>
            <a:pPr indent="0" lvl="0" marL="0" rtl="0" algn="l">
              <a:spcBef>
                <a:spcPts val="0"/>
              </a:spcBef>
              <a:spcAft>
                <a:spcPts val="0"/>
              </a:spcAft>
              <a:buNone/>
            </a:pPr>
            <a:r>
              <a:rPr lang="en" sz="1000"/>
              <a:t>REASON: &lt;one of the five options listed above that explains why the broker was not able to accomplish the action or resolve the issue on their own through digital channels&gt;</a:t>
            </a:r>
            <a:endParaRPr sz="1000"/>
          </a:p>
          <a:p>
            <a:pPr indent="0" lvl="0" marL="0" rtl="0" algn="l">
              <a:spcBef>
                <a:spcPts val="0"/>
              </a:spcBef>
              <a:spcAft>
                <a:spcPts val="0"/>
              </a:spcAft>
              <a:buNone/>
            </a:pPr>
            <a:r>
              <a:rPr lang="en" sz="1000"/>
              <a:t>JUSTIFICATION: &lt;why you chose the reason, based on the information contained within the transcript&gt;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Contained between hashtags is an example of key-value pairs.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rPr lang="en" sz="1000"/>
              <a:t>INTENT: Check next payment date on a customer policy.</a:t>
            </a:r>
            <a:endParaRPr sz="1000"/>
          </a:p>
          <a:p>
            <a:pPr indent="0" lvl="0" marL="0" rtl="0" algn="l">
              <a:spcBef>
                <a:spcPts val="0"/>
              </a:spcBef>
              <a:spcAft>
                <a:spcPts val="0"/>
              </a:spcAft>
              <a:buNone/>
            </a:pPr>
            <a:r>
              <a:rPr lang="en" sz="1000"/>
              <a:t>REASON : System issue</a:t>
            </a:r>
            <a:endParaRPr sz="1000"/>
          </a:p>
          <a:p>
            <a:pPr indent="0" lvl="0" marL="0" rtl="0" algn="l">
              <a:spcBef>
                <a:spcPts val="0"/>
              </a:spcBef>
              <a:spcAft>
                <a:spcPts val="0"/>
              </a:spcAft>
              <a:buNone/>
            </a:pPr>
            <a:r>
              <a:rPr lang="en" sz="1000"/>
              <a:t>JUSTIFICATION : the broker mentioned that the system is freezing up and not working as intended</a:t>
            </a:r>
            <a:endParaRPr sz="1000"/>
          </a:p>
          <a:p>
            <a:pPr indent="0" lvl="0" marL="0" rtl="0" algn="l">
              <a:spcBef>
                <a:spcPts val="0"/>
              </a:spcBef>
              <a:spcAft>
                <a:spcPts val="0"/>
              </a:spcAft>
              <a:buNone/>
            </a:pPr>
            <a:r>
              <a:rPr lang="en" sz="1000"/>
              <a:t>INTENT: Check customer eligibility for new policy according to their accident record and history of non-payment.</a:t>
            </a:r>
            <a:endParaRPr sz="1000"/>
          </a:p>
          <a:p>
            <a:pPr indent="0" lvl="0" marL="0" rtl="0" algn="l">
              <a:spcBef>
                <a:spcPts val="0"/>
              </a:spcBef>
              <a:spcAft>
                <a:spcPts val="0"/>
              </a:spcAft>
              <a:buNone/>
            </a:pPr>
            <a:r>
              <a:rPr lang="en" sz="1000"/>
              <a:t>REASON: Legitimate</a:t>
            </a:r>
            <a:endParaRPr sz="1000"/>
          </a:p>
          <a:p>
            <a:pPr indent="0" lvl="0" marL="0" rtl="0" algn="l">
              <a:spcBef>
                <a:spcPts val="0"/>
              </a:spcBef>
              <a:spcAft>
                <a:spcPts val="0"/>
              </a:spcAft>
              <a:buNone/>
            </a:pPr>
            <a:r>
              <a:rPr lang="en" sz="1000"/>
              <a:t>JUSTIFICATION : the request concerned a combination of two underwriting rules, which the agent was able to interpret jointly.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t/>
            </a:r>
            <a:endParaRPr sz="1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6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02" name="Google Shape;402;p63"/>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403" name="Google Shape;403;p6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 NBS INTENT prompt</a:t>
            </a:r>
            <a:endParaRPr sz="3500"/>
          </a:p>
        </p:txBody>
      </p:sp>
      <p:sp>
        <p:nvSpPr>
          <p:cNvPr id="404" name="Google Shape;404;p63"/>
          <p:cNvSpPr txBox="1"/>
          <p:nvPr/>
        </p:nvSpPr>
        <p:spPr>
          <a:xfrm>
            <a:off x="645975" y="1119900"/>
            <a:ext cx="75483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You are an insurance expert tasked with extracting intents from a conversation transcript.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This conversation is related to Economical insurance or National Broker Services, which supports Canadian brokerages managing customer policies. Agents marked as "Agent:" answer calls from Brokers marked as "User:" enquiring about specific issues that affect their clients. One call may span different policy holders.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Your task is to analyze this transcript and extract the broker's main issues as INTENT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rPr lang="en" sz="1000"/>
              <a:t>{{ conversation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rPr lang="en" sz="1000"/>
              <a:t>- There may be more than one main issue within each transcript, extract them all</a:t>
            </a:r>
            <a:endParaRPr sz="1000"/>
          </a:p>
          <a:p>
            <a:pPr indent="0" lvl="0" marL="0" rtl="0" algn="l">
              <a:spcBef>
                <a:spcPts val="0"/>
              </a:spcBef>
              <a:spcAft>
                <a:spcPts val="0"/>
              </a:spcAft>
              <a:buNone/>
            </a:pPr>
            <a:r>
              <a:rPr lang="en" sz="1000"/>
              <a:t>- Be concise, your response should be a single sentence for each intent</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Please answer in English, with plain text, with no markdown, as key-value pairs in the following format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INTENT: [A single concise sentence summarizing the first main issue]</a:t>
            </a:r>
            <a:endParaRPr sz="1000"/>
          </a:p>
          <a:p>
            <a:pPr indent="0" lvl="0" marL="0" rtl="0" algn="l">
              <a:spcBef>
                <a:spcPts val="0"/>
              </a:spcBef>
              <a:spcAft>
                <a:spcPts val="0"/>
              </a:spcAft>
              <a:buNone/>
            </a:pPr>
            <a:r>
              <a:rPr lang="en" sz="1000"/>
              <a:t>INTENT: [A single concise sentence summarizing the second main issue]</a:t>
            </a:r>
            <a:endParaRPr sz="1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6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11" name="Google Shape;411;p64"/>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412" name="Google Shape;412;p6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Add one line</a:t>
            </a:r>
            <a:endParaRPr sz="3500"/>
          </a:p>
        </p:txBody>
      </p:sp>
      <p:sp>
        <p:nvSpPr>
          <p:cNvPr id="413" name="Google Shape;413;p64"/>
          <p:cNvSpPr txBox="1"/>
          <p:nvPr/>
        </p:nvSpPr>
        <p:spPr>
          <a:xfrm>
            <a:off x="645975" y="1119900"/>
            <a:ext cx="75483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You are an insurance expert tasked with extracting intents from a conversation transcript.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This conversation is related to Economical insurance or National Broker Services, which supports Canadian brokerages managing customer policies. Agents marked as "Agent:" answer calls from Brokers marked as "User:" enquiring about specific issues that affect their clients. One call may span different policy holders.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Your task is to analyze this transcript and extract the broker's main issues as INTENT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rPr lang="en" sz="1000"/>
              <a:t>{{ conversation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rPr lang="en" sz="1000"/>
              <a:t>- There may be more than one main issue within each transcript, extract them all</a:t>
            </a:r>
            <a:endParaRPr sz="1000"/>
          </a:p>
          <a:p>
            <a:pPr indent="0" lvl="0" marL="0" rtl="0" algn="l">
              <a:spcBef>
                <a:spcPts val="0"/>
              </a:spcBef>
              <a:spcAft>
                <a:spcPts val="0"/>
              </a:spcAft>
              <a:buNone/>
            </a:pPr>
            <a:r>
              <a:rPr lang="en" sz="1000"/>
              <a:t>- Be concise, your response should be a single sentence for each intent</a:t>
            </a:r>
            <a:br>
              <a:rPr lang="en" sz="1000"/>
            </a:br>
            <a:r>
              <a:rPr lang="en" sz="1000">
                <a:solidFill>
                  <a:srgbClr val="9900FF"/>
                </a:solidFill>
              </a:rPr>
              <a:t>- Include relevant document names, systems and states/provinces</a:t>
            </a:r>
            <a:endParaRPr sz="1000">
              <a:solidFill>
                <a:srgbClr val="9900FF"/>
              </a:solidFill>
            </a:endParaRPr>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Please answer in English, with plain text, with no markdown, as key-value pairs in the following format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INTENT: [A single concise sentence summarizing the first main issue]</a:t>
            </a:r>
            <a:endParaRPr sz="1000"/>
          </a:p>
          <a:p>
            <a:pPr indent="0" lvl="0" marL="0" rtl="0" algn="l">
              <a:spcBef>
                <a:spcPts val="0"/>
              </a:spcBef>
              <a:spcAft>
                <a:spcPts val="0"/>
              </a:spcAft>
              <a:buNone/>
            </a:pPr>
            <a:r>
              <a:rPr lang="en" sz="1000"/>
              <a:t>INTENT: [A single concise sentence summarizing the second main issue]</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6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20" name="Google Shape;420;p65"/>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421" name="Google Shape;421;p6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Add justification/explanation</a:t>
            </a:r>
            <a:endParaRPr sz="3500"/>
          </a:p>
        </p:txBody>
      </p:sp>
      <p:sp>
        <p:nvSpPr>
          <p:cNvPr id="422" name="Google Shape;422;p65"/>
          <p:cNvSpPr txBox="1"/>
          <p:nvPr/>
        </p:nvSpPr>
        <p:spPr>
          <a:xfrm>
            <a:off x="645975" y="1119900"/>
            <a:ext cx="75483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You are an insurance expert tasked with extracting intents from a conversation transcript.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This conversation is related to Economical insurance or National Broker Services, which supports Canadian brokerages managing customer policies. Agents marked as "Agent:" answer calls from Brokers marked as "User:" enquiring about specific issues that affect their clients. One call may span different policy holders.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Your task is to analyze this transcript and extract the broker's main issues as INTENT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rPr lang="en" sz="1000"/>
              <a:t>{{ conversation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rPr lang="en" sz="1000"/>
              <a:t>- There may be more than one main issue within each transcript, extract them all</a:t>
            </a:r>
            <a:endParaRPr sz="1000"/>
          </a:p>
          <a:p>
            <a:pPr indent="0" lvl="0" marL="0" rtl="0" algn="l">
              <a:spcBef>
                <a:spcPts val="0"/>
              </a:spcBef>
              <a:spcAft>
                <a:spcPts val="0"/>
              </a:spcAft>
              <a:buNone/>
            </a:pPr>
            <a:r>
              <a:rPr lang="en" sz="1000"/>
              <a:t>- Be concise, your response should be a single sentence for each intent</a:t>
            </a:r>
            <a:br>
              <a:rPr lang="en" sz="1000"/>
            </a:br>
            <a:r>
              <a:rPr lang="en" sz="1000">
                <a:solidFill>
                  <a:srgbClr val="9900FF"/>
                </a:solidFill>
              </a:rPr>
              <a:t>- Include relevant document names, systems and states/provinces</a:t>
            </a:r>
            <a:endParaRPr sz="1000">
              <a:solidFill>
                <a:srgbClr val="9900FF"/>
              </a:solidFill>
            </a:endParaRPr>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Please answer in English, with plain text, with no markdown, as key-value pairs in the following format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INTENT: [A single concise sentence summarizing the first main issue]</a:t>
            </a:r>
            <a:endParaRPr sz="1000"/>
          </a:p>
          <a:p>
            <a:pPr indent="0" lvl="0" marL="0" rtl="0" algn="l">
              <a:spcBef>
                <a:spcPts val="0"/>
              </a:spcBef>
              <a:spcAft>
                <a:spcPts val="0"/>
              </a:spcAft>
              <a:buNone/>
            </a:pPr>
            <a:r>
              <a:rPr lang="en" sz="1000">
                <a:solidFill>
                  <a:srgbClr val="9900FF"/>
                </a:solidFill>
              </a:rPr>
              <a:t>EXPLANATION: [Your reasoning for the above statement]</a:t>
            </a:r>
            <a:endParaRPr sz="1000">
              <a:solidFill>
                <a:srgbClr val="9900FF"/>
              </a:solidFill>
            </a:endParaRPr>
          </a:p>
          <a:p>
            <a:pPr indent="0" lvl="0" marL="0" rtl="0" algn="l">
              <a:spcBef>
                <a:spcPts val="0"/>
              </a:spcBef>
              <a:spcAft>
                <a:spcPts val="0"/>
              </a:spcAft>
              <a:buNone/>
            </a:pPr>
            <a:r>
              <a:rPr lang="en" sz="1000"/>
              <a:t>INTENT: [A single concise sentence summarizing the second main issue]</a:t>
            </a:r>
            <a:endParaRPr sz="1000"/>
          </a:p>
          <a:p>
            <a:pPr indent="0" lvl="0" marL="0" rtl="0" algn="l">
              <a:spcBef>
                <a:spcPts val="0"/>
              </a:spcBef>
              <a:spcAft>
                <a:spcPts val="0"/>
              </a:spcAft>
              <a:buNone/>
            </a:pPr>
            <a:r>
              <a:rPr lang="en" sz="1000">
                <a:solidFill>
                  <a:srgbClr val="9900FF"/>
                </a:solidFill>
              </a:rPr>
              <a:t>EXPLANATION: [Your reasoning for the above statement]</a:t>
            </a:r>
            <a:endParaRPr sz="1000">
              <a:solidFill>
                <a:srgbClr val="9900FF"/>
              </a:solidFill>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call - 600000007353307</a:t>
            </a:r>
            <a:endParaRPr/>
          </a:p>
        </p:txBody>
      </p:sp>
      <p:sp>
        <p:nvSpPr>
          <p:cNvPr id="428" name="Google Shape;428;p66"/>
          <p:cNvSpPr txBox="1"/>
          <p:nvPr>
            <p:ph idx="1" type="body"/>
          </p:nvPr>
        </p:nvSpPr>
        <p:spPr>
          <a:xfrm>
            <a:off x="624475" y="1072325"/>
            <a:ext cx="75462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
              <a:t>Thanks for calling Economical, Madeline Yu speaking.</a:t>
            </a:r>
            <a:endParaRPr sz="600"/>
          </a:p>
          <a:p>
            <a:pPr indent="0" lvl="0" marL="0" rtl="0" algn="l">
              <a:spcBef>
                <a:spcPts val="0"/>
              </a:spcBef>
              <a:spcAft>
                <a:spcPts val="0"/>
              </a:spcAft>
              <a:buNone/>
            </a:pPr>
            <a:r>
              <a:rPr lang="en" sz="600"/>
              <a:t>How may I help? Hi, Madeline Yu, how are you? It's Michael Aguilar calling from NFP Insurance.  Hi, Melanie Cook, I'm calling on property policy for which the payment going up almost doubles. Just want to check it out, any reason. Can I give you the policy number?</a:t>
            </a:r>
            <a:endParaRPr sz="600"/>
          </a:p>
          <a:p>
            <a:pPr indent="0" lvl="0" marL="0" rtl="0" algn="l">
              <a:spcBef>
                <a:spcPts val="0"/>
              </a:spcBef>
              <a:spcAft>
                <a:spcPts val="0"/>
              </a:spcAft>
              <a:buNone/>
            </a:pPr>
            <a:r>
              <a:rPr lang="en" sz="600"/>
              <a:t>Yeah, sure, but before we proceed, the number ending in 4106, is that a good callback number in case we get disconnected?</a:t>
            </a:r>
            <a:endParaRPr sz="600"/>
          </a:p>
          <a:p>
            <a:pPr indent="0" lvl="0" marL="0" rtl="0" algn="l">
              <a:spcBef>
                <a:spcPts val="0"/>
              </a:spcBef>
              <a:spcAft>
                <a:spcPts val="0"/>
              </a:spcAft>
              <a:buNone/>
            </a:pPr>
            <a:r>
              <a:rPr lang="en" sz="600"/>
              <a:t>Yeah, yeah, that is a good one.</a:t>
            </a:r>
            <a:endParaRPr sz="600"/>
          </a:p>
          <a:p>
            <a:pPr indent="0" lvl="0" marL="0" rtl="0" algn="l">
              <a:spcBef>
                <a:spcPts val="0"/>
              </a:spcBef>
              <a:spcAft>
                <a:spcPts val="0"/>
              </a:spcAft>
              <a:buNone/>
            </a:pPr>
            <a:r>
              <a:rPr lang="en" sz="600"/>
              <a:t>Okay, and go ahead with the policy number, please.</a:t>
            </a:r>
            <a:endParaRPr sz="600"/>
          </a:p>
          <a:p>
            <a:pPr indent="0" lvl="0" marL="0" rtl="0" algn="l">
              <a:spcBef>
                <a:spcPts val="0"/>
              </a:spcBef>
              <a:spcAft>
                <a:spcPts val="0"/>
              </a:spcAft>
              <a:buNone/>
            </a:pPr>
            <a:r>
              <a:rPr lang="en" sz="600"/>
              <a:t>Yeah, that is a 419982615, sorry, different one. It should be 30207280. Sorry, 3020? 7280.</a:t>
            </a:r>
            <a:endParaRPr sz="600"/>
          </a:p>
          <a:p>
            <a:pPr indent="0" lvl="0" marL="0" rtl="0" algn="l">
              <a:spcBef>
                <a:spcPts val="0"/>
              </a:spcBef>
              <a:spcAft>
                <a:spcPts val="0"/>
              </a:spcAft>
              <a:buNone/>
            </a:pPr>
            <a:r>
              <a:rPr lang="en" sz="600"/>
              <a:t>Perfect, thank you so much. And one minute there while I bring up the policy. Can you confirm the full name of the insured, please?</a:t>
            </a:r>
            <a:endParaRPr sz="600"/>
          </a:p>
          <a:p>
            <a:pPr indent="0" lvl="0" marL="0" rtl="0" algn="l">
              <a:spcBef>
                <a:spcPts val="0"/>
              </a:spcBef>
              <a:spcAft>
                <a:spcPts val="0"/>
              </a:spcAft>
              <a:buNone/>
            </a:pPr>
            <a:r>
              <a:rPr lang="en" sz="600"/>
              <a:t>That is for Kristen Herrera. Okay. Or Erika Garcia Kristen Herrera. Perfect, thank you so much.</a:t>
            </a:r>
            <a:endParaRPr sz="600"/>
          </a:p>
          <a:p>
            <a:pPr indent="0" lvl="0" marL="0" rtl="0" algn="l">
              <a:spcBef>
                <a:spcPts val="0"/>
              </a:spcBef>
              <a:spcAft>
                <a:spcPts val="0"/>
              </a:spcAft>
              <a:buNone/>
            </a:pPr>
            <a:r>
              <a:rPr lang="en" sz="600"/>
              <a:t>One minute there. So you're saying that the price went up since last year to this year?</a:t>
            </a:r>
            <a:endParaRPr sz="600"/>
          </a:p>
          <a:p>
            <a:pPr indent="0" lvl="0" marL="0" rtl="0" algn="l">
              <a:spcBef>
                <a:spcPts val="0"/>
              </a:spcBef>
              <a:spcAft>
                <a:spcPts val="0"/>
              </a:spcAft>
              <a:buNone/>
            </a:pPr>
            <a:r>
              <a:rPr lang="en" sz="600"/>
              <a:t>Last year. Yeah, last year, you know, like a 1042, and this year it's 1771, like 60% up, is it? 80% or 60%? 1771 minus 1042 divided by 1042, nice, 70% up.</a:t>
            </a:r>
            <a:endParaRPr sz="600"/>
          </a:p>
          <a:p>
            <a:pPr indent="0" lvl="0" marL="0" rtl="0" algn="l">
              <a:spcBef>
                <a:spcPts val="0"/>
              </a:spcBef>
              <a:spcAft>
                <a:spcPts val="0"/>
              </a:spcAft>
              <a:buNone/>
            </a:pPr>
            <a:r>
              <a:rPr lang="en" sz="600"/>
              <a:t>One minute there, I'm just reviewing, okay?</a:t>
            </a:r>
            <a:endParaRPr sz="600"/>
          </a:p>
          <a:p>
            <a:pPr indent="0" lvl="0" marL="0" rtl="0" algn="l">
              <a:spcBef>
                <a:spcPts val="0"/>
              </a:spcBef>
              <a:spcAft>
                <a:spcPts val="0"/>
              </a:spcAft>
              <a:buNone/>
            </a:pPr>
            <a:r>
              <a:rPr lang="en" sz="600"/>
              <a:t>Okay, thank you so much, Eric Navarro. One second.</a:t>
            </a:r>
            <a:endParaRPr sz="600"/>
          </a:p>
          <a:p>
            <a:pPr indent="0" lvl="0" marL="0" rtl="0" algn="l">
              <a:spcBef>
                <a:spcPts val="0"/>
              </a:spcBef>
              <a:spcAft>
                <a:spcPts val="0"/>
              </a:spcAft>
              <a:buNone/>
            </a:pPr>
            <a:r>
              <a:rPr lang="en" sz="600"/>
              <a:t>All right, so what I'm seeing, the major difference that I'm seeing,  I noticed that you are in an unprotected area with this location, and the rates for this unprotected zone, the rates have gone up significantly, and that's what's impacting the premium.</a:t>
            </a:r>
            <a:endParaRPr sz="600"/>
          </a:p>
          <a:p>
            <a:pPr indent="0" lvl="0" marL="0" rtl="0" algn="l">
              <a:spcBef>
                <a:spcPts val="0"/>
              </a:spcBef>
              <a:spcAft>
                <a:spcPts val="0"/>
              </a:spcAft>
              <a:buNone/>
            </a:pPr>
            <a:r>
              <a:rPr lang="en" sz="600"/>
              <a:t>So you mean like this one before, it is unprotected?</a:t>
            </a:r>
            <a:endParaRPr sz="600"/>
          </a:p>
          <a:p>
            <a:pPr indent="0" lvl="0" marL="0" rtl="0" algn="l">
              <a:spcBef>
                <a:spcPts val="0"/>
              </a:spcBef>
              <a:spcAft>
                <a:spcPts val="0"/>
              </a:spcAft>
              <a:buNone/>
            </a:pPr>
            <a:r>
              <a:rPr lang="en" sz="600"/>
              <a:t>Correct.</a:t>
            </a:r>
            <a:endParaRPr sz="600"/>
          </a:p>
          <a:p>
            <a:pPr indent="0" lvl="0" marL="0" rtl="0" algn="l">
              <a:spcBef>
                <a:spcPts val="0"/>
              </a:spcBef>
              <a:spcAft>
                <a:spcPts val="0"/>
              </a:spcAft>
              <a:buNone/>
            </a:pPr>
            <a:r>
              <a:rPr lang="en" sz="600"/>
              <a:t>It's a hydrogen protected, hydrogen protected before it's hydrogen protected,  but now it's a semi-protected, is that correct?</a:t>
            </a:r>
            <a:endParaRPr sz="600"/>
          </a:p>
          <a:p>
            <a:pPr indent="0" lvl="0" marL="0" rtl="0" algn="l">
              <a:spcBef>
                <a:spcPts val="0"/>
              </a:spcBef>
              <a:spcAft>
                <a:spcPts val="0"/>
              </a:spcAft>
              <a:buNone/>
            </a:pPr>
            <a:r>
              <a:rPr lang="en" sz="600"/>
              <a:t>It was not hydrogen protected before. Is this location?</a:t>
            </a:r>
            <a:endParaRPr sz="600"/>
          </a:p>
          <a:p>
            <a:pPr indent="0" lvl="0" marL="0" rtl="0" algn="l">
              <a:spcBef>
                <a:spcPts val="0"/>
              </a:spcBef>
              <a:spcAft>
                <a:spcPts val="0"/>
              </a:spcAft>
              <a:buNone/>
            </a:pPr>
            <a:r>
              <a:rPr lang="en" sz="600"/>
              <a:t>Yeah, location, what is it before, last year?</a:t>
            </a:r>
            <a:endParaRPr sz="600"/>
          </a:p>
          <a:p>
            <a:pPr indent="0" lvl="0" marL="0" rtl="0" algn="l">
              <a:spcBef>
                <a:spcPts val="0"/>
              </a:spcBef>
              <a:spcAft>
                <a:spcPts val="0"/>
              </a:spcAft>
              <a:buNone/>
            </a:pPr>
            <a:r>
              <a:rPr lang="en" sz="600"/>
              <a:t>It's the same protection as last year, but our ratings have gone up for unprotected areas, because it's a first grade four, and last year it was a first grade four, but our rates have gone up for unprotected areas.</a:t>
            </a:r>
            <a:endParaRPr sz="600"/>
          </a:p>
          <a:p>
            <a:pPr indent="0" lvl="0" marL="0" rtl="0" algn="l">
              <a:spcBef>
                <a:spcPts val="0"/>
              </a:spcBef>
              <a:spcAft>
                <a:spcPts val="0"/>
              </a:spcAft>
              <a:buNone/>
            </a:pPr>
            <a:r>
              <a:rPr lang="en" sz="600"/>
              <a:t>Wow, that's a big difference.</a:t>
            </a:r>
            <a:endParaRPr sz="600"/>
          </a:p>
          <a:p>
            <a:pPr indent="0" lvl="0" marL="0" rtl="0" algn="l">
              <a:spcBef>
                <a:spcPts val="0"/>
              </a:spcBef>
              <a:spcAft>
                <a:spcPts val="0"/>
              </a:spcAft>
              <a:buNone/>
            </a:pPr>
            <a:r>
              <a:rPr lang="en" sz="600"/>
              <a:t>Yeah.</a:t>
            </a:r>
            <a:endParaRPr sz="600"/>
          </a:p>
          <a:p>
            <a:pPr indent="0" lvl="0" marL="0" rtl="0" algn="l">
              <a:spcBef>
                <a:spcPts val="0"/>
              </a:spcBef>
              <a:spcAft>
                <a:spcPts val="0"/>
              </a:spcAft>
              <a:buNone/>
            </a:pPr>
            <a:r>
              <a:rPr lang="en" sz="600"/>
              <a:t>How can I see that it's unprotected area? Can you click on the dwelling tab? Yep, yeah, yes, I'm there.</a:t>
            </a:r>
            <a:endParaRPr sz="600"/>
          </a:p>
          <a:p>
            <a:pPr indent="0" lvl="0" marL="0" rtl="0" algn="l">
              <a:spcBef>
                <a:spcPts val="0"/>
              </a:spcBef>
              <a:spcAft>
                <a:spcPts val="0"/>
              </a:spcAft>
              <a:buNone/>
            </a:pPr>
            <a:r>
              <a:rPr lang="en" sz="600"/>
              <a:t>And where you see first grade, and it has the four there, that means it's unprotected, it's neither fire hall or fire hydrant protected.</a:t>
            </a:r>
            <a:endParaRPr sz="600"/>
          </a:p>
          <a:p>
            <a:pPr indent="0" lvl="0" marL="0" rtl="0" algn="l">
              <a:spcBef>
                <a:spcPts val="0"/>
              </a:spcBef>
              <a:spcAft>
                <a:spcPts val="0"/>
              </a:spcAft>
              <a:buNone/>
            </a:pPr>
            <a:r>
              <a:rPr lang="en" sz="600"/>
              <a:t>Okay, I'm on the drawing, okay? So, you know, like we have a resident type, okay, construction type.</a:t>
            </a:r>
            <a:endParaRPr sz="600"/>
          </a:p>
          <a:p>
            <a:pPr indent="0" lvl="0" marL="0" rtl="0" algn="l">
              <a:spcBef>
                <a:spcPts val="0"/>
              </a:spcBef>
              <a:spcAft>
                <a:spcPts val="0"/>
              </a:spcAft>
              <a:buNone/>
            </a:pPr>
            <a:r>
              <a:rPr lang="en" sz="600"/>
              <a:t>Resident type, yes.</a:t>
            </a:r>
            <a:endParaRPr sz="600"/>
          </a:p>
          <a:p>
            <a:pPr indent="0" lvl="0" marL="0" rtl="0" algn="l">
              <a:spcBef>
                <a:spcPts val="0"/>
              </a:spcBef>
              <a:spcAft>
                <a:spcPts val="0"/>
              </a:spcAft>
              <a:buNone/>
            </a:pPr>
            <a:r>
              <a:rPr lang="en" sz="600"/>
              <a:t>And then it will be, you know, like on the left side or on the right side, saying that-</a:t>
            </a:r>
            <a:endParaRPr sz="600"/>
          </a:p>
          <a:p>
            <a:pPr indent="0" lvl="0" marL="0" rtl="0" algn="l">
              <a:spcBef>
                <a:spcPts val="0"/>
              </a:spcBef>
              <a:spcAft>
                <a:spcPts val="0"/>
              </a:spcAft>
              <a:buNone/>
            </a:pPr>
            <a:r>
              <a:rPr lang="en" sz="600"/>
              <a:t>So, up at the top, above that, where you see first grade, so you see the location name, and then underneath it, it shows first grade four, on the left-hand side.</a:t>
            </a:r>
            <a:endParaRPr sz="600"/>
          </a:p>
          <a:p>
            <a:pPr indent="0" lvl="0" marL="0" rtl="0" algn="l">
              <a:spcBef>
                <a:spcPts val="0"/>
              </a:spcBef>
              <a:spcAft>
                <a:spcPts val="0"/>
              </a:spcAft>
              <a:buNone/>
            </a:pPr>
            <a:r>
              <a:rPr lang="en" sz="600"/>
              <a:t>Yeah.</a:t>
            </a:r>
            <a:endParaRPr sz="600"/>
          </a:p>
          <a:p>
            <a:pPr indent="0" lvl="0" marL="0" rtl="0" algn="l">
              <a:spcBef>
                <a:spcPts val="0"/>
              </a:spcBef>
              <a:spcAft>
                <a:spcPts val="0"/>
              </a:spcAft>
              <a:buNone/>
            </a:pPr>
            <a:r>
              <a:rPr lang="en" sz="600"/>
              <a:t>Yeah, it shows first grade four, so you see the construction type, then if you go up, you see resident type, up at the top, you see first grade four.</a:t>
            </a:r>
            <a:endParaRPr sz="600"/>
          </a:p>
          <a:p>
            <a:pPr indent="0" lvl="0" marL="0" rtl="0" algn="l">
              <a:spcBef>
                <a:spcPts val="0"/>
              </a:spcBef>
              <a:spcAft>
                <a:spcPts val="0"/>
              </a:spcAft>
              <a:buNone/>
            </a:pPr>
            <a:r>
              <a:rPr lang="en" sz="600"/>
              <a:t>I still not seeing it.</a:t>
            </a:r>
            <a:endParaRPr sz="600"/>
          </a:p>
          <a:p>
            <a:pPr indent="0" lvl="0" marL="0" rtl="0" algn="l">
              <a:spcBef>
                <a:spcPts val="0"/>
              </a:spcBef>
              <a:spcAft>
                <a:spcPts val="0"/>
              </a:spcAft>
              <a:buNone/>
            </a:pPr>
            <a:r>
              <a:rPr lang="en" sz="600"/>
              <a:t>Okay, up at the top of your screen,  by any chance, are you seeing this option called co-browsing beside desktop, account, policy number, policy contact, do you see an option? If you click on it and provide me with the four-digit code, I can actually view your screen, so I can point it out to you. Is it possible for you to do that for me, please? Yeah, sure. Go ahead with the four-digit number, when you click on that. Where, under the where? Up at the top, where it has desktop, account, policy. Oh, co-browse, is it co-browse? Yeah, co-browse. Okay.  Can you click on that and give me the four-digit number, please?</a:t>
            </a:r>
            <a:endParaRPr sz="600"/>
          </a:p>
          <a:p>
            <a:pPr indent="0" lvl="0" marL="0" rtl="0" algn="l">
              <a:spcBef>
                <a:spcPts val="0"/>
              </a:spcBef>
              <a:spcAft>
                <a:spcPts val="0"/>
              </a:spcAft>
              <a:buNone/>
            </a:pPr>
            <a:r>
              <a:rPr lang="en" sz="600"/>
              <a:t>Okay, so it's 1988. Thank you so much.</a:t>
            </a:r>
            <a:endParaRPr sz="600"/>
          </a:p>
          <a:p>
            <a:pPr indent="0" lvl="0" marL="0" rtl="0" algn="l">
              <a:spcBef>
                <a:spcPts val="0"/>
              </a:spcBef>
              <a:spcAft>
                <a:spcPts val="0"/>
              </a:spcAft>
              <a:buNone/>
            </a:pPr>
            <a:r>
              <a:rPr lang="en" sz="600"/>
              <a:t>Thank you. So, I'm coming into your screen right now for the system. So, can you click here for me, please? And why is it not showing it on yours? All right. Can you click here, please? Summary. Yes, please. And can you click here, please? And dwelling. It does not show it on yours. Okay, it doesn't show the first grade on yours. I understand now what you're saying. So, basically, we have this location as an unprotected location.</a:t>
            </a:r>
            <a:endParaRPr sz="600"/>
          </a:p>
          <a:p>
            <a:pPr indent="0" lvl="0" marL="0" rtl="0" algn="l">
              <a:spcBef>
                <a:spcPts val="0"/>
              </a:spcBef>
              <a:spcAft>
                <a:spcPts val="0"/>
              </a:spcAft>
              <a:buNone/>
            </a:pPr>
            <a:r>
              <a:rPr lang="en" sz="600"/>
              <a:t>Unprotected location?</a:t>
            </a:r>
            <a:endParaRPr sz="600"/>
          </a:p>
          <a:p>
            <a:pPr indent="0" lvl="0" marL="0" rtl="0" algn="l">
              <a:spcBef>
                <a:spcPts val="0"/>
              </a:spcBef>
              <a:spcAft>
                <a:spcPts val="0"/>
              </a:spcAft>
              <a:buNone/>
            </a:pPr>
            <a:r>
              <a:rPr lang="en" sz="600"/>
              <a:t>Yeah.</a:t>
            </a:r>
            <a:endParaRPr sz="600"/>
          </a:p>
          <a:p>
            <a:pPr indent="0" lvl="0" marL="0" rtl="0" algn="l">
              <a:spcBef>
                <a:spcPts val="0"/>
              </a:spcBef>
              <a:spcAft>
                <a:spcPts val="0"/>
              </a:spcAft>
              <a:buNone/>
            </a:pPr>
            <a:r>
              <a:rPr lang="en" sz="600"/>
              <a:t>There is no fire hall within 13 kilometers? Correct.</a:t>
            </a:r>
            <a:endParaRPr sz="600"/>
          </a:p>
          <a:p>
            <a:pPr indent="0" lvl="0" marL="0" rtl="0" algn="l">
              <a:spcBef>
                <a:spcPts val="0"/>
              </a:spcBef>
              <a:spcAft>
                <a:spcPts val="0"/>
              </a:spcAft>
              <a:buNone/>
            </a:pPr>
            <a:r>
              <a:rPr lang="en" sz="600"/>
              <a:t>And no fire hydrants within three kilometers.</a:t>
            </a:r>
            <a:endParaRPr sz="600"/>
          </a:p>
          <a:p>
            <a:pPr indent="0" lvl="0" marL="0" rtl="0" algn="l">
              <a:spcBef>
                <a:spcPts val="0"/>
              </a:spcBef>
              <a:spcAft>
                <a:spcPts val="0"/>
              </a:spcAft>
              <a:buNone/>
            </a:pPr>
            <a:r>
              <a:rPr lang="en" sz="600"/>
              <a:t>Okay, how can you know that it's unprotected? The system- Is it like, you know- Our system is- The system will provide the address?</a:t>
            </a:r>
            <a:endParaRPr sz="600"/>
          </a:p>
          <a:p>
            <a:pPr indent="0" lvl="0" marL="0" rtl="0" algn="l">
              <a:spcBef>
                <a:spcPts val="0"/>
              </a:spcBef>
              <a:spcAft>
                <a:spcPts val="0"/>
              </a:spcAft>
              <a:buNone/>
            </a:pPr>
            <a:r>
              <a:rPr lang="en" sz="600"/>
              <a:t>Yes, it pulls by the address and it basically, the fire hall and the fire hydrants, it picks up all of that information and uploads in the system.</a:t>
            </a:r>
            <a:endParaRPr sz="600"/>
          </a:p>
          <a:p>
            <a:pPr indent="0" lvl="0" marL="0" rtl="0" algn="l">
              <a:spcBef>
                <a:spcPts val="0"/>
              </a:spcBef>
              <a:spcAft>
                <a:spcPts val="0"/>
              </a:spcAft>
              <a:buNone/>
            </a:pPr>
            <a:r>
              <a:rPr lang="en" sz="600"/>
              <a:t>It is unprotected area? Automatically, the information, definitely, it's correct, right?</a:t>
            </a:r>
            <a:endParaRPr sz="600"/>
          </a:p>
          <a:p>
            <a:pPr indent="0" lvl="0" marL="0" rtl="0" algn="l">
              <a:spcBef>
                <a:spcPts val="0"/>
              </a:spcBef>
              <a:spcAft>
                <a:spcPts val="0"/>
              </a:spcAft>
              <a:buNone/>
            </a:pPr>
            <a:r>
              <a:rPr lang="en" sz="600"/>
              <a:t>Yes.</a:t>
            </a:r>
            <a:endParaRPr sz="600"/>
          </a:p>
          <a:p>
            <a:pPr indent="0" lvl="0" marL="0" rtl="0" algn="l">
              <a:spcBef>
                <a:spcPts val="0"/>
              </a:spcBef>
              <a:spcAft>
                <a:spcPts val="0"/>
              </a:spcAft>
              <a:buNone/>
            </a:pPr>
            <a:r>
              <a:rPr lang="en" sz="600"/>
              <a:t>Because it's a code? Yeah. Okay, okay, okay. So, it's unprotected area, that is a reason for the premium going up? Correct. Unprotected. Give me one second. Not this con, no. But how comes, you know, like, you can see, however, I cannot see. Let me just pull that up, you know, pull up that decoration, will be see unprotected. Okay. Because you can't be able to see, but if I can't, so when I have to review the coverage with the client, so I have some problem. Okay, so, you know, like, unlimited. Even though for the policy declaration, it doesn't show, it is like a semi-protected or unprotected.</a:t>
            </a:r>
            <a:endParaRPr sz="600"/>
          </a:p>
          <a:p>
            <a:pPr indent="0" lvl="0" marL="0" rtl="0" algn="l">
              <a:spcBef>
                <a:spcPts val="0"/>
              </a:spcBef>
              <a:spcAft>
                <a:spcPts val="0"/>
              </a:spcAft>
              <a:buNone/>
            </a:pPr>
            <a:r>
              <a:rPr lang="en" sz="600"/>
              <a:t>Let me look on the declaration page to see how it's reflected.  One minute, please. I'm just waiting for the declaration page to open on my screen.</a:t>
            </a:r>
            <a:endParaRPr sz="600"/>
          </a:p>
          <a:p>
            <a:pPr indent="0" lvl="0" marL="0" rtl="0" algn="l">
              <a:spcBef>
                <a:spcPts val="0"/>
              </a:spcBef>
              <a:spcAft>
                <a:spcPts val="0"/>
              </a:spcAft>
              <a:buNone/>
            </a:pPr>
            <a:r>
              <a:rPr lang="en" sz="600"/>
              <a:t>Sure, sure.</a:t>
            </a:r>
            <a:endParaRPr sz="600"/>
          </a:p>
          <a:p>
            <a:pPr indent="0" lvl="0" marL="0" rtl="0" algn="l">
              <a:spcBef>
                <a:spcPts val="0"/>
              </a:spcBef>
              <a:spcAft>
                <a:spcPts val="0"/>
              </a:spcAft>
              <a:buNone/>
            </a:pPr>
            <a:r>
              <a:rPr lang="en" sz="600"/>
              <a:t>Sure, take your time. All right, can you hold three to five minutes for me, please?</a:t>
            </a:r>
            <a:endParaRPr sz="600"/>
          </a:p>
          <a:p>
            <a:pPr indent="0" lvl="0" marL="0" rtl="0" algn="l">
              <a:spcBef>
                <a:spcPts val="0"/>
              </a:spcBef>
              <a:spcAft>
                <a:spcPts val="0"/>
              </a:spcAft>
              <a:buNone/>
            </a:pPr>
            <a:r>
              <a:rPr lang="en" sz="600"/>
              <a:t>Thank you. Okay.</a:t>
            </a:r>
            <a:endParaRPr sz="600"/>
          </a:p>
          <a:p>
            <a:pPr indent="0" lvl="0" marL="0" rtl="0" algn="l">
              <a:spcBef>
                <a:spcPts val="0"/>
              </a:spcBef>
              <a:spcAft>
                <a:spcPts val="0"/>
              </a:spcAft>
              <a:buNone/>
            </a:pPr>
            <a:r>
              <a:rPr lang="en" sz="600"/>
              <a:t>System support Lidia speaking, how can I help you?</a:t>
            </a:r>
            <a:endParaRPr sz="600"/>
          </a:p>
          <a:p>
            <a:pPr indent="0" lvl="0" marL="0" rtl="0" algn="l">
              <a:spcBef>
                <a:spcPts val="0"/>
              </a:spcBef>
              <a:spcAft>
                <a:spcPts val="0"/>
              </a:spcAft>
              <a:buNone/>
            </a:pPr>
            <a:r>
              <a:rPr lang="en" sz="600"/>
              <a:t>Hi Karen Mcconnell again, how are you? Hi Steven Flowers, I'm good. Are we only two people who work today? Yes.</a:t>
            </a:r>
            <a:endParaRPr sz="600"/>
          </a:p>
          <a:p>
            <a:pPr indent="0" lvl="0" marL="0" rtl="0" algn="l">
              <a:spcBef>
                <a:spcPts val="0"/>
              </a:spcBef>
              <a:spcAft>
                <a:spcPts val="0"/>
              </a:spcAft>
              <a:buNone/>
            </a:pPr>
            <a:r>
              <a:rPr lang="en" sz="600"/>
              <a:t>How can I help you? Yeah, policy number 30207280, Erika Garcia Kristen Herrera.</a:t>
            </a:r>
            <a:endParaRPr sz="600"/>
          </a:p>
          <a:p>
            <a:pPr indent="0" lvl="0" marL="0" rtl="0" algn="l">
              <a:spcBef>
                <a:spcPts val="0"/>
              </a:spcBef>
              <a:spcAft>
                <a:spcPts val="0"/>
              </a:spcAft>
              <a:buNone/>
            </a:pPr>
            <a:r>
              <a:rPr lang="en" sz="600"/>
              <a:t>Thank you. Give me just a moment, please, to open the policy. Sure. OK, have it over here. How can I help?</a:t>
            </a:r>
            <a:endParaRPr sz="600"/>
          </a:p>
          <a:p>
            <a:pPr indent="0" lvl="0" marL="0" rtl="0" algn="l">
              <a:spcBef>
                <a:spcPts val="0"/>
              </a:spcBef>
              <a:spcAft>
                <a:spcPts val="0"/>
              </a:spcAft>
              <a:buNone/>
            </a:pPr>
            <a:r>
              <a:rPr lang="en" sz="600"/>
              <a:t>On the dwelling tab, I was just wondering,  in regards to the broker, is the broker supposed to be able to see what the FOSGRADE is on the system?</a:t>
            </a:r>
            <a:endParaRPr sz="600"/>
          </a:p>
          <a:p>
            <a:pPr indent="0" lvl="0" marL="0" rtl="0" algn="l">
              <a:spcBef>
                <a:spcPts val="0"/>
              </a:spcBef>
              <a:spcAft>
                <a:spcPts val="0"/>
              </a:spcAft>
              <a:buNone/>
            </a:pPr>
            <a:r>
              <a:rPr lang="en" sz="600"/>
              <a:t>I don't think so. I don't think so. Yes, they are able to see. We can see, but not them. So yes. What is happening?</a:t>
            </a:r>
            <a:endParaRPr sz="600"/>
          </a:p>
          <a:p>
            <a:pPr indent="0" lvl="0" marL="0" rtl="0" algn="l">
              <a:spcBef>
                <a:spcPts val="0"/>
              </a:spcBef>
              <a:spcAft>
                <a:spcPts val="0"/>
              </a:spcAft>
              <a:buNone/>
            </a:pPr>
            <a:r>
              <a:rPr lang="en" sz="600"/>
              <a:t>So I thought they could have seen. I was not aware. So I was actually telling her, showing her where to go and find the FOSGRADE.  When I went and did the agent, the co-browsing, I realized that she couldn't see. And she wanted to know where in the system or where can they find out that locations are unprotected or how we're rating it.  And I was looking on the declaration page. I wasn't seeing it.  So I was wondering, how in the system does the broker know that we're rating it as an unprotected location?</a:t>
            </a:r>
            <a:endParaRPr sz="600"/>
          </a:p>
          <a:p>
            <a:pPr indent="0" lvl="0" marL="0" rtl="0" algn="l">
              <a:spcBef>
                <a:spcPts val="0"/>
              </a:spcBef>
              <a:spcAft>
                <a:spcPts val="0"/>
              </a:spcAft>
              <a:buNone/>
            </a:pPr>
            <a:r>
              <a:rPr lang="en" sz="600"/>
              <a:t>That's a good question. I have checked that as well, Madeline Yu. I didn't have that question before. So honestly, I don't know. So yeah, what is the broker's name?</a:t>
            </a:r>
            <a:endParaRPr sz="600"/>
          </a:p>
          <a:p>
            <a:pPr indent="0" lvl="0" marL="0" rtl="0" algn="l">
              <a:spcBef>
                <a:spcPts val="0"/>
              </a:spcBef>
              <a:spcAft>
                <a:spcPts val="0"/>
              </a:spcAft>
              <a:buNone/>
            </a:pPr>
            <a:r>
              <a:rPr lang="en" sz="600"/>
              <a:t>Her name is Michael Aguilar.</a:t>
            </a:r>
            <a:endParaRPr sz="600"/>
          </a:p>
          <a:p>
            <a:pPr indent="0" lvl="0" marL="0" rtl="0" algn="l">
              <a:spcBef>
                <a:spcPts val="0"/>
              </a:spcBef>
              <a:spcAft>
                <a:spcPts val="0"/>
              </a:spcAft>
              <a:buNone/>
            </a:pPr>
            <a:r>
              <a:rPr lang="en" sz="600"/>
              <a:t>Michael Aguilar? OK. OK. You can transfer call and I'll see. So you said you already checked our declaration sheet and it's nothing there?</a:t>
            </a:r>
            <a:endParaRPr sz="600"/>
          </a:p>
          <a:p>
            <a:pPr indent="0" lvl="0" marL="0" rtl="0" algn="l">
              <a:spcBef>
                <a:spcPts val="0"/>
              </a:spcBef>
              <a:spcAft>
                <a:spcPts val="0"/>
              </a:spcAft>
              <a:buNone/>
            </a:pPr>
            <a:r>
              <a:rPr lang="en" sz="600"/>
              <a:t>Nothing is on it showing that the location is unprotected and they're not able to see the FOSGRADE.  So it's almost like how, because that's something that I thought they should be able to see how we're rating the policy.  Right.</a:t>
            </a:r>
            <a:endParaRPr sz="600"/>
          </a:p>
          <a:p>
            <a:pPr indent="0" lvl="0" marL="0" rtl="0" algn="l">
              <a:spcBef>
                <a:spcPts val="0"/>
              </a:spcBef>
              <a:spcAft>
                <a:spcPts val="0"/>
              </a:spcAft>
              <a:buNone/>
            </a:pPr>
            <a:r>
              <a:rPr lang="en" sz="600"/>
              <a:t>OK. Yeah. I can open inquiry and address that to IT and see how they can see.  But yeah, honestly, no idea how they can see. That's a good question. Yeah, you can transfer call to me and I'll check into that. All right. Thank you so much. You are welcome. Oh, please. System support, Lydia speaking. How can I help you?</a:t>
            </a:r>
            <a:endParaRPr sz="600"/>
          </a:p>
          <a:p>
            <a:pPr indent="0" lvl="0" marL="0" rtl="0" algn="l">
              <a:spcBef>
                <a:spcPts val="0"/>
              </a:spcBef>
              <a:spcAft>
                <a:spcPts val="0"/>
              </a:spcAft>
              <a:buNone/>
            </a:pPr>
            <a:r>
              <a:rPr lang="en" sz="600"/>
              <a:t>Hi, Hannah Little. Madeline Yu again. How are you? Cynthia Parker. I'm good. Are we only two people who work today?</a:t>
            </a:r>
            <a:endParaRPr sz="600"/>
          </a:p>
          <a:p>
            <a:pPr indent="0" lvl="0" marL="0" rtl="0" algn="l">
              <a:spcBef>
                <a:spcPts val="0"/>
              </a:spcBef>
              <a:spcAft>
                <a:spcPts val="0"/>
              </a:spcAft>
              <a:buNone/>
            </a:pPr>
            <a:r>
              <a:rPr lang="en" sz="600"/>
              <a:t>Yeah. How can I help you? Yeah. Policy number 30207280, Erika Garcia Kristen Herrera.</a:t>
            </a:r>
            <a:endParaRPr sz="600"/>
          </a:p>
          <a:p>
            <a:pPr indent="0" lvl="0" marL="0" rtl="0" algn="l">
              <a:spcBef>
                <a:spcPts val="0"/>
              </a:spcBef>
              <a:spcAft>
                <a:spcPts val="0"/>
              </a:spcAft>
              <a:buNone/>
            </a:pPr>
            <a:r>
              <a:rPr lang="en" sz="600"/>
              <a:t>Thank you. Give me just a moment, please, to open the policy. Sure. OK, have it over here. How can I help?</a:t>
            </a:r>
            <a:endParaRPr sz="600"/>
          </a:p>
          <a:p>
            <a:pPr indent="0" lvl="0" marL="0" rtl="0" algn="l">
              <a:spcBef>
                <a:spcPts val="0"/>
              </a:spcBef>
              <a:spcAft>
                <a:spcPts val="0"/>
              </a:spcAft>
              <a:buNone/>
            </a:pPr>
            <a:r>
              <a:rPr lang="en" sz="600"/>
              <a:t>On the dwelling tab, I was just wondering in regards to the broker, is the broker  supposed to be able to see what the FOSGRADE is on the system?</a:t>
            </a:r>
            <a:endParaRPr sz="600"/>
          </a:p>
          <a:p>
            <a:pPr indent="0" lvl="0" marL="0" rtl="0" algn="l">
              <a:spcBef>
                <a:spcPts val="0"/>
              </a:spcBef>
              <a:spcAft>
                <a:spcPts val="0"/>
              </a:spcAft>
              <a:buNone/>
            </a:pPr>
            <a:r>
              <a:rPr lang="en" sz="600"/>
              <a:t>I don't think so. I don't think so. They are, yes, they are able to see. We can see, but not them. So, yes. What is happening?</a:t>
            </a:r>
            <a:endParaRPr sz="600"/>
          </a:p>
          <a:p>
            <a:pPr indent="0" lvl="0" marL="0" rtl="0" algn="l">
              <a:spcBef>
                <a:spcPts val="0"/>
              </a:spcBef>
              <a:spcAft>
                <a:spcPts val="0"/>
              </a:spcAft>
              <a:buNone/>
            </a:pPr>
            <a:r>
              <a:rPr lang="en" sz="600"/>
              <a:t>So I thought they could have seen. I was not aware. So I was actually telling her, showing her where to go and find the FOSGRADE.  When I went and did the agent, the co-browsing, I realized that she couldn't see. And she wanted to know where in the system or where can they find out that locations are unprotected or how we're rating it.  And I was looking on the declaration page. I wasn't seeing it.  So I was wondering, how in the system does the broker know that we're rating it as an unprotected location?</a:t>
            </a:r>
            <a:endParaRPr sz="600"/>
          </a:p>
          <a:p>
            <a:pPr indent="0" lvl="0" marL="0" rtl="0" algn="l">
              <a:spcBef>
                <a:spcPts val="0"/>
              </a:spcBef>
              <a:spcAft>
                <a:spcPts val="0"/>
              </a:spcAft>
              <a:buNone/>
            </a:pPr>
            <a:r>
              <a:rPr lang="en" sz="600"/>
              <a:t>That's a good question. Yeah, I have checked that as well, Madeline Yu. I didn't have that question. Yeah, before. So honestly, I don't know. So, yeah. What is the broker's name?</a:t>
            </a:r>
            <a:endParaRPr sz="600"/>
          </a:p>
          <a:p>
            <a:pPr indent="0" lvl="0" marL="0" rtl="0" algn="l">
              <a:spcBef>
                <a:spcPts val="0"/>
              </a:spcBef>
              <a:spcAft>
                <a:spcPts val="0"/>
              </a:spcAft>
              <a:buNone/>
            </a:pPr>
            <a:r>
              <a:rPr lang="en" sz="600"/>
              <a:t>Her name is Michael Aguilar.</a:t>
            </a:r>
            <a:endParaRPr sz="600"/>
          </a:p>
          <a:p>
            <a:pPr indent="0" lvl="0" marL="0" rtl="0" algn="l">
              <a:spcBef>
                <a:spcPts val="0"/>
              </a:spcBef>
              <a:spcAft>
                <a:spcPts val="0"/>
              </a:spcAft>
              <a:buNone/>
            </a:pPr>
            <a:r>
              <a:rPr lang="en" sz="600"/>
              <a:t>Michael Aguilar, OK. OK. You can transfer call and I'll see. So you said you already checked our declaration sheet and it's nothing there?</a:t>
            </a:r>
            <a:endParaRPr sz="600"/>
          </a:p>
          <a:p>
            <a:pPr indent="0" lvl="0" marL="0" rtl="0" algn="l">
              <a:spcBef>
                <a:spcPts val="0"/>
              </a:spcBef>
              <a:spcAft>
                <a:spcPts val="0"/>
              </a:spcAft>
              <a:buNone/>
            </a:pPr>
            <a:r>
              <a:rPr lang="en" sz="600"/>
              <a:t>Nothing is on it showing that the location is unprotected. And they're not able to see the FOSGRADE. So it's almost like how, because that's something that I thought they should be able to see how we're rating the policy.</a:t>
            </a:r>
            <a:endParaRPr sz="600"/>
          </a:p>
          <a:p>
            <a:pPr indent="0" lvl="0" marL="0" rtl="0" algn="l">
              <a:spcBef>
                <a:spcPts val="0"/>
              </a:spcBef>
              <a:spcAft>
                <a:spcPts val="0"/>
              </a:spcAft>
              <a:buNone/>
            </a:pPr>
            <a:r>
              <a:rPr lang="en" sz="600"/>
              <a:t>Right, OK. Yeah, I can open inquiry and address that to IT and see how they can see.  But yeah, honestly, no idea how they can see. That's a good question. Yeah, you can transfer call to me and I'll check into that. All right, thank you so much. You are welcome. Cool, please. Hello, Michael Aguilar. Hi. Yes. Hi, it's Hannah Little from Broker Support. Good, thank you. How are you this morning? I'm doing good. Thanks for asking. You know, like I'm going on, you know, which person about, you know, like, have you bring it up, the policy number yet? Yes, Madeline Yu told me about David Garcia and he's a broker.  And you would like to know how you can see and where you can see about information for dwelling protection, right?  Mm-hmm. OK, so yeah, I checked declaration sheet and there is nothing there.  When you are on the Guidewire Policy Center on the dwelling tab, what you can see?  OK, did Madeline Yu follow you on Glens on the co-browser and saw your page?  Uh-huh. And... She did. OK. Nothing can... Nothing. OK, so nothing there as well, right? OK, so I have to open a case and I have to ask our leadership where actually you can  and how you can see that information as like you don't see based on the history tab on dwelling in the Guidewire.  History type? I'm sorry. History type? No, no. I want to say when you go on our Guidewire Policy Center and even when you click on the history,   there is not any information on prior documents as of renewal as well about protection of the location. Correct.</a:t>
            </a:r>
            <a:endParaRPr sz="600"/>
          </a:p>
          <a:p>
            <a:pPr indent="0" lvl="0" marL="0" rtl="0" algn="l">
              <a:spcBef>
                <a:spcPts val="0"/>
              </a:spcBef>
              <a:spcAft>
                <a:spcPts val="0"/>
              </a:spcAft>
              <a:buNone/>
            </a:pPr>
            <a:r>
              <a:rPr lang="en" sz="600"/>
              <a:t>Yes.</a:t>
            </a:r>
            <a:endParaRPr sz="600"/>
          </a:p>
          <a:p>
            <a:pPr indent="0" lvl="0" marL="0" rtl="0" algn="l">
              <a:spcBef>
                <a:spcPts val="0"/>
              </a:spcBef>
              <a:spcAft>
                <a:spcPts val="0"/>
              </a:spcAft>
              <a:buNone/>
            </a:pPr>
            <a:r>
              <a:rPr lang="en" sz="600"/>
              <a:t>Correct.  OK, so I open a case and I have to report that to my leadership team to ask them where you can find that. OK, case number is inquiry. What is the case number? 00176052. OK, the case number is 00176052. Yes, that's the one. Is there any number before 00? It's [spelled], like a technical case. OK, OK. [spelled] case, yes.  So as soon as I find out their response and how we can advise you where you can see it, I'll let you know. OK, you mean like where I can see it on the Guidewire or on the policy declaration?  Exactly, yes, because I also checked declaration sheet when I was waiting for your transfer.  I didn't see it anywhere as well. Yeah. Yeah.  Is it only for the particular for this one or, you know, like it's generally for all economic policy?  Yeah, this is what I have to find out because, honestly, I never had that question before, so I have to search more. OK, so now I'm... Can you give me one second, OK? So now I'm going to check it out the last year. It will be on the policy declaration. It will be so, you know, like the... I mean the location protection area. Give me one second, OK? OK. Yep. Let me search it all. Last year... Last year, same thing. It doesn't show if it's unprotected area or... Or unprotected or... Yeah, OK. So if, you know, insurer can be able to provide a letter from the fire hall saying that, you know,  like the responding fire hall is only within 10 kilometres, so the premium could be lower, right? That's correct. Because now it's rated unprotected. Right, yes, yes. But is it that it's the only thing... It's the only document you accept? But however, are you able to Google it, you know, like from the nearest fire halls?  So this is what I am not sure because I am broker support specialist. I just can help you in regards to issue in the system. This is more like an underwriting thing that they have to... Or underwriting specialists, they have to check with you, but we don't do that. So I can check for where you can see it or if anywhere possible to see for you as a broker  and as a client is home protected or semi-protected or unprotected. OK. Yeah. OK. Thank you so much. You are so very welcome, Michael Aguilar. Thank you for calling. Have a nice day. OK, take care. Bye-bye. Thanks. Bye now.</a:t>
            </a:r>
            <a:endParaRPr sz="600"/>
          </a:p>
          <a:p>
            <a:pPr indent="0" lvl="0" marL="0" rtl="0" algn="l">
              <a:spcBef>
                <a:spcPts val="0"/>
              </a:spcBef>
              <a:spcAft>
                <a:spcPts val="0"/>
              </a:spcAft>
              <a:buNone/>
            </a:pPr>
            <a:r>
              <a:t/>
            </a:r>
            <a:endParaRPr sz="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nvSpPr>
        <p:spPr>
          <a:xfrm>
            <a:off x="1359675" y="27793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inquiring about a significant premium increase for a property policy.</a:t>
            </a:r>
            <a:endParaRPr/>
          </a:p>
        </p:txBody>
      </p:sp>
      <p:sp>
        <p:nvSpPr>
          <p:cNvPr id="434" name="Google Shape;434;p67"/>
          <p:cNvSpPr txBox="1"/>
          <p:nvPr/>
        </p:nvSpPr>
        <p:spPr>
          <a:xfrm>
            <a:off x="1359675" y="1825025"/>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900">
                <a:solidFill>
                  <a:srgbClr val="344054"/>
                </a:solidFill>
                <a:latin typeface="Inter"/>
                <a:ea typeface="Inter"/>
                <a:cs typeface="Inter"/>
                <a:sym typeface="Inter"/>
              </a:rPr>
              <a:t>Broker seeking clarification on how to view or determine a property's protection status (unprotected/semi-protected) in the insurance system.</a:t>
            </a:r>
            <a:endParaRPr sz="900">
              <a:solidFill>
                <a:srgbClr val="344054"/>
              </a:solidFill>
              <a:latin typeface="Inter"/>
              <a:ea typeface="Inter"/>
              <a:cs typeface="Inter"/>
              <a:sym typeface="Inter"/>
            </a:endParaRPr>
          </a:p>
        </p:txBody>
      </p:sp>
      <p:sp>
        <p:nvSpPr>
          <p:cNvPr id="435" name="Google Shape;435;p67"/>
          <p:cNvSpPr txBox="1"/>
          <p:nvPr/>
        </p:nvSpPr>
        <p:spPr>
          <a:xfrm>
            <a:off x="5053325" y="2043150"/>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is seeking information on how to prove a property is protected to potentially lower the premium.</a:t>
            </a:r>
            <a:endParaRPr/>
          </a:p>
        </p:txBody>
      </p:sp>
      <p:sp>
        <p:nvSpPr>
          <p:cNvPr id="436" name="Google Shape;436;p67"/>
          <p:cNvSpPr txBox="1"/>
          <p:nvPr/>
        </p:nvSpPr>
        <p:spPr>
          <a:xfrm>
            <a:off x="5053325" y="2748425"/>
            <a:ext cx="3000000" cy="8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wants to understand why the premium for policy 30207280 increased by 70% due to the property being in an unprotected area.</a:t>
            </a:r>
            <a:endParaRPr sz="900">
              <a:solidFill>
                <a:srgbClr val="344054"/>
              </a:solidFill>
              <a:highlight>
                <a:srgbClr val="F9FAFB"/>
              </a:highlight>
              <a:latin typeface="Inter"/>
              <a:ea typeface="Inter"/>
              <a:cs typeface="Inter"/>
              <a:sym typeface="Inter"/>
            </a:endParaRPr>
          </a:p>
        </p:txBody>
      </p:sp>
      <p:sp>
        <p:nvSpPr>
          <p:cNvPr id="437" name="Google Shape;437;p67"/>
          <p:cNvSpPr txBox="1"/>
          <p:nvPr/>
        </p:nvSpPr>
        <p:spPr>
          <a:xfrm>
            <a:off x="5053325" y="3431900"/>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latin typeface="Inter"/>
                <a:ea typeface="Inter"/>
                <a:cs typeface="Inter"/>
                <a:sym typeface="Inter"/>
              </a:rPr>
              <a:t>Broker cannot see the FOSGRADE or protection status of a property in the Guidewire Policy Center system.</a:t>
            </a:r>
            <a:endParaRPr/>
          </a:p>
        </p:txBody>
      </p:sp>
      <p:sp>
        <p:nvSpPr>
          <p:cNvPr id="438" name="Google Shape;438;p67"/>
          <p:cNvSpPr txBox="1"/>
          <p:nvPr>
            <p:ph type="title"/>
          </p:nvPr>
        </p:nvSpPr>
        <p:spPr>
          <a:xfrm>
            <a:off x="1359675" y="1712075"/>
            <a:ext cx="18147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Example Prompt</a:t>
            </a:r>
            <a:endParaRPr sz="1600"/>
          </a:p>
        </p:txBody>
      </p:sp>
      <p:sp>
        <p:nvSpPr>
          <p:cNvPr id="439" name="Google Shape;439;p67"/>
          <p:cNvSpPr txBox="1"/>
          <p:nvPr>
            <p:ph type="title"/>
          </p:nvPr>
        </p:nvSpPr>
        <p:spPr>
          <a:xfrm>
            <a:off x="5053325" y="1421238"/>
            <a:ext cx="30975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With document/system guidance and explanation </a:t>
            </a:r>
            <a:endParaRPr sz="1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8"/>
          <p:cNvSpPr txBox="1"/>
          <p:nvPr/>
        </p:nvSpPr>
        <p:spPr>
          <a:xfrm>
            <a:off x="1359675" y="27793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inquiring about a significant premium increase for a property policy.</a:t>
            </a:r>
            <a:endParaRPr/>
          </a:p>
        </p:txBody>
      </p:sp>
      <p:sp>
        <p:nvSpPr>
          <p:cNvPr id="445" name="Google Shape;445;p68"/>
          <p:cNvSpPr txBox="1"/>
          <p:nvPr/>
        </p:nvSpPr>
        <p:spPr>
          <a:xfrm>
            <a:off x="1359675" y="1825025"/>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900">
                <a:solidFill>
                  <a:srgbClr val="344054"/>
                </a:solidFill>
                <a:latin typeface="Inter"/>
                <a:ea typeface="Inter"/>
                <a:cs typeface="Inter"/>
                <a:sym typeface="Inter"/>
              </a:rPr>
              <a:t>Broker seeking clarification on how to view or determine a property's protection status (unprotected/semi-protected) in the insurance system.</a:t>
            </a:r>
            <a:endParaRPr sz="900">
              <a:solidFill>
                <a:srgbClr val="344054"/>
              </a:solidFill>
              <a:latin typeface="Inter"/>
              <a:ea typeface="Inter"/>
              <a:cs typeface="Inter"/>
              <a:sym typeface="Inter"/>
            </a:endParaRPr>
          </a:p>
        </p:txBody>
      </p:sp>
      <p:sp>
        <p:nvSpPr>
          <p:cNvPr id="446" name="Google Shape;446;p68"/>
          <p:cNvSpPr txBox="1"/>
          <p:nvPr/>
        </p:nvSpPr>
        <p:spPr>
          <a:xfrm>
            <a:off x="5053325" y="2043150"/>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is seeking information on how to prove a property is protected to potentially lower the premium.</a:t>
            </a:r>
            <a:endParaRPr/>
          </a:p>
        </p:txBody>
      </p:sp>
      <p:sp>
        <p:nvSpPr>
          <p:cNvPr id="447" name="Google Shape;447;p68"/>
          <p:cNvSpPr txBox="1"/>
          <p:nvPr/>
        </p:nvSpPr>
        <p:spPr>
          <a:xfrm>
            <a:off x="5053325" y="2748425"/>
            <a:ext cx="3000000" cy="8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44054"/>
                </a:solidFill>
                <a:highlight>
                  <a:srgbClr val="F9FAFB"/>
                </a:highlight>
                <a:latin typeface="Inter"/>
                <a:ea typeface="Inter"/>
                <a:cs typeface="Inter"/>
                <a:sym typeface="Inter"/>
              </a:rPr>
              <a:t>Broker wants to understand why the premium for policy 30207280 increased by 70% due to the property being in an unprotected area.</a:t>
            </a:r>
            <a:endParaRPr sz="900">
              <a:solidFill>
                <a:srgbClr val="344054"/>
              </a:solidFill>
              <a:highlight>
                <a:srgbClr val="F9FAFB"/>
              </a:highlight>
              <a:latin typeface="Inter"/>
              <a:ea typeface="Inter"/>
              <a:cs typeface="Inter"/>
              <a:sym typeface="Inter"/>
            </a:endParaRPr>
          </a:p>
        </p:txBody>
      </p:sp>
      <p:sp>
        <p:nvSpPr>
          <p:cNvPr id="448" name="Google Shape;448;p68"/>
          <p:cNvSpPr txBox="1"/>
          <p:nvPr/>
        </p:nvSpPr>
        <p:spPr>
          <a:xfrm>
            <a:off x="5053325" y="3431900"/>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344054"/>
                </a:solidFill>
                <a:latin typeface="Inter"/>
                <a:ea typeface="Inter"/>
                <a:cs typeface="Inter"/>
                <a:sym typeface="Inter"/>
              </a:rPr>
              <a:t>Broker cannot see the FOSGRADE or protection status of a property in the Guidewire Policy Center system.</a:t>
            </a:r>
            <a:endParaRPr/>
          </a:p>
        </p:txBody>
      </p:sp>
      <p:sp>
        <p:nvSpPr>
          <p:cNvPr id="449" name="Google Shape;449;p68"/>
          <p:cNvSpPr txBox="1"/>
          <p:nvPr>
            <p:ph type="title"/>
          </p:nvPr>
        </p:nvSpPr>
        <p:spPr>
          <a:xfrm>
            <a:off x="1359675" y="1712075"/>
            <a:ext cx="18147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Example Prompt</a:t>
            </a:r>
            <a:endParaRPr sz="1600"/>
          </a:p>
        </p:txBody>
      </p:sp>
      <p:sp>
        <p:nvSpPr>
          <p:cNvPr id="450" name="Google Shape;450;p68"/>
          <p:cNvSpPr txBox="1"/>
          <p:nvPr>
            <p:ph type="title"/>
          </p:nvPr>
        </p:nvSpPr>
        <p:spPr>
          <a:xfrm>
            <a:off x="5053325" y="1421238"/>
            <a:ext cx="30975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With document/system guidance and explanation </a:t>
            </a:r>
            <a:endParaRPr sz="1600"/>
          </a:p>
        </p:txBody>
      </p:sp>
      <p:sp>
        <p:nvSpPr>
          <p:cNvPr id="451" name="Google Shape;451;p68"/>
          <p:cNvSpPr/>
          <p:nvPr/>
        </p:nvSpPr>
        <p:spPr>
          <a:xfrm>
            <a:off x="1536943" y="4191800"/>
            <a:ext cx="2342400" cy="665400"/>
          </a:xfrm>
          <a:prstGeom prst="wedgeRoundRectCallout">
            <a:avLst>
              <a:gd fmla="val 29225" name="adj1"/>
              <a:gd fmla="val -100222" name="adj2"/>
              <a:gd fmla="val 0" name="adj3"/>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 taxonomy built around these</a:t>
            </a:r>
            <a:endParaRPr/>
          </a:p>
        </p:txBody>
      </p:sp>
      <p:sp>
        <p:nvSpPr>
          <p:cNvPr id="452" name="Google Shape;452;p68"/>
          <p:cNvSpPr/>
          <p:nvPr/>
        </p:nvSpPr>
        <p:spPr>
          <a:xfrm>
            <a:off x="-799300" y="3459650"/>
            <a:ext cx="987900" cy="544800"/>
          </a:xfrm>
          <a:prstGeom prst="wedgeRoundRectCallout">
            <a:avLst>
              <a:gd fmla="val 36778" name="adj1"/>
              <a:gd fmla="val -100138" name="adj2"/>
              <a:gd fmla="val 0" name="adj3"/>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68"/>
          <p:cNvSpPr/>
          <p:nvPr/>
        </p:nvSpPr>
        <p:spPr>
          <a:xfrm>
            <a:off x="5292843" y="4191800"/>
            <a:ext cx="2342400" cy="665400"/>
          </a:xfrm>
          <a:prstGeom prst="wedgeRoundRectCallout">
            <a:avLst>
              <a:gd fmla="val -34665" name="adj1"/>
              <a:gd fmla="val -92580" name="adj2"/>
              <a:gd fmla="val 0" name="adj3"/>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Will be very different to one built around these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of results</a:t>
            </a:r>
            <a:endParaRPr/>
          </a:p>
        </p:txBody>
      </p:sp>
      <p:graphicFrame>
        <p:nvGraphicFramePr>
          <p:cNvPr id="459" name="Google Shape;459;p69"/>
          <p:cNvGraphicFramePr/>
          <p:nvPr/>
        </p:nvGraphicFramePr>
        <p:xfrm>
          <a:off x="512100" y="1075050"/>
          <a:ext cx="3000000" cy="3000000"/>
        </p:xfrm>
        <a:graphic>
          <a:graphicData uri="http://schemas.openxmlformats.org/drawingml/2006/table">
            <a:tbl>
              <a:tblPr>
                <a:noFill/>
                <a:tableStyleId>{3B4CF811-B5B6-4DF7-8232-109205DF78CE}</a:tableStyleId>
              </a:tblPr>
              <a:tblGrid>
                <a:gridCol w="1886750"/>
                <a:gridCol w="1699325"/>
                <a:gridCol w="1699325"/>
                <a:gridCol w="1699325"/>
                <a:gridCol w="1263425"/>
              </a:tblGrid>
              <a:tr h="700675">
                <a:tc>
                  <a:txBody>
                    <a:bodyPr/>
                    <a:lstStyle/>
                    <a:p>
                      <a:pPr indent="0" lvl="0" marL="0" rtl="0" algn="r">
                        <a:spcBef>
                          <a:spcPts val="0"/>
                        </a:spcBef>
                        <a:spcAft>
                          <a:spcPts val="0"/>
                        </a:spcAft>
                        <a:buNone/>
                      </a:pPr>
                      <a:r>
                        <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Example Prompt</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sz="800"/>
                    </a:p>
                    <a:p>
                      <a:pPr indent="0" lvl="0" marL="0" rtl="0" algn="ctr">
                        <a:lnSpc>
                          <a:spcPct val="115000"/>
                        </a:lnSpc>
                        <a:spcBef>
                          <a:spcPts val="0"/>
                        </a:spcBef>
                        <a:spcAft>
                          <a:spcPts val="0"/>
                        </a:spcAft>
                        <a:buNone/>
                      </a:pPr>
                      <a:r>
                        <a:rPr b="1" lang="en" sz="800"/>
                        <a:t>Prompt asks for intent including document names, systems, province/state</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Prompt asks for intent including document names, systems, province/state</a:t>
                      </a:r>
                      <a:endParaRPr b="1" sz="800"/>
                    </a:p>
                    <a:p>
                      <a:pPr indent="0" lvl="0" marL="0" rtl="0" algn="ctr">
                        <a:lnSpc>
                          <a:spcPct val="115000"/>
                        </a:lnSpc>
                        <a:spcBef>
                          <a:spcPts val="0"/>
                        </a:spcBef>
                        <a:spcAft>
                          <a:spcPts val="0"/>
                        </a:spcAft>
                        <a:buNone/>
                      </a:pPr>
                      <a:r>
                        <a:rPr b="1" lang="en" sz="800"/>
                        <a:t>Asks for explanation as well</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chemeClr val="lt1"/>
                          </a:solidFill>
                        </a:rPr>
                        <a:t>Example Prompt with Definity Examples added.</a:t>
                      </a:r>
                      <a:endParaRPr b="1" sz="8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Total PHONEs/CHATs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5000</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Total Results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10460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10648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12439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11247</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6350">
                <a:tc>
                  <a:txBody>
                    <a:bodyPr/>
                    <a:lstStyle/>
                    <a:p>
                      <a:pPr indent="0" lvl="0" marL="0" rtl="0" algn="r">
                        <a:lnSpc>
                          <a:spcPct val="115000"/>
                        </a:lnSpc>
                        <a:spcBef>
                          <a:spcPts val="0"/>
                        </a:spcBef>
                        <a:spcAft>
                          <a:spcPts val="0"/>
                        </a:spcAft>
                        <a:buNone/>
                      </a:pPr>
                      <a:r>
                        <a:rPr lang="en" sz="1000"/>
                        <a:t>Average INTENT per call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2.092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2.1296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2.4878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2.2494</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6350">
                <a:tc>
                  <a:txBody>
                    <a:bodyPr/>
                    <a:lstStyle/>
                    <a:p>
                      <a:pPr indent="0" lvl="0" marL="0" rtl="0" algn="r">
                        <a:lnSpc>
                          <a:spcPct val="115000"/>
                        </a:lnSpc>
                        <a:spcBef>
                          <a:spcPts val="0"/>
                        </a:spcBef>
                        <a:spcAft>
                          <a:spcPts val="0"/>
                        </a:spcAft>
                        <a:buNone/>
                      </a:pPr>
                      <a:r>
                        <a:rPr b="1" lang="en" sz="1000"/>
                        <a:t>Search term</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Guidewire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156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606</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594</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87</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Corelogic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0</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Pathway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3</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Extranet</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18</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Ontario</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278</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359</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37</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Alberta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40</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47</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20</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PEI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1</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DMTI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1</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ARS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2</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solidFill>
                            <a:srgbClr val="344054"/>
                          </a:solidFill>
                          <a:latin typeface="Inter"/>
                          <a:ea typeface="Inter"/>
                          <a:cs typeface="Inter"/>
                          <a:sym typeface="Inter"/>
                        </a:rPr>
                        <a:t>CompiQuote</a:t>
                      </a:r>
                      <a:endParaRPr sz="1000">
                        <a:solidFill>
                          <a:srgbClr val="344054"/>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9FAFB"/>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rPr>
                        <a:t>7</a:t>
                      </a:r>
                      <a:endParaRPr sz="1000">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7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66" name="Google Shape;466;p70"/>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467" name="Google Shape;467;p7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Add example from </a:t>
            </a:r>
            <a:endParaRPr sz="3500"/>
          </a:p>
          <a:p>
            <a:pPr indent="0" lvl="0" marL="0" rtl="0" algn="l">
              <a:spcBef>
                <a:spcPts val="0"/>
              </a:spcBef>
              <a:spcAft>
                <a:spcPts val="0"/>
              </a:spcAft>
              <a:buNone/>
            </a:pPr>
            <a:r>
              <a:rPr lang="en" sz="3500"/>
              <a:t>current dev prompt</a:t>
            </a:r>
            <a:endParaRPr sz="3500"/>
          </a:p>
        </p:txBody>
      </p:sp>
      <p:sp>
        <p:nvSpPr>
          <p:cNvPr id="468" name="Google Shape;468;p70"/>
          <p:cNvSpPr txBox="1"/>
          <p:nvPr/>
        </p:nvSpPr>
        <p:spPr>
          <a:xfrm>
            <a:off x="581175" y="1932450"/>
            <a:ext cx="65601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Contained between hashtags is an example of key-value pairs.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rPr lang="en" sz="1000"/>
              <a:t>INTENT: Check next payment date on a customer policy.</a:t>
            </a:r>
            <a:endParaRPr sz="1000"/>
          </a:p>
          <a:p>
            <a:pPr indent="0" lvl="0" marL="0" rtl="0" algn="l">
              <a:spcBef>
                <a:spcPts val="0"/>
              </a:spcBef>
              <a:spcAft>
                <a:spcPts val="0"/>
              </a:spcAft>
              <a:buNone/>
            </a:pPr>
            <a:r>
              <a:rPr lang="en" sz="1000"/>
              <a:t>REASON : System issue</a:t>
            </a:r>
            <a:endParaRPr sz="1000"/>
          </a:p>
          <a:p>
            <a:pPr indent="0" lvl="0" marL="0" rtl="0" algn="l">
              <a:spcBef>
                <a:spcPts val="0"/>
              </a:spcBef>
              <a:spcAft>
                <a:spcPts val="0"/>
              </a:spcAft>
              <a:buNone/>
            </a:pPr>
            <a:r>
              <a:rPr lang="en" sz="1000"/>
              <a:t>JUSTIFICATION : the broker mentioned that the system is freezing up and not working as intended</a:t>
            </a:r>
            <a:endParaRPr sz="1000"/>
          </a:p>
          <a:p>
            <a:pPr indent="0" lvl="0" marL="0" rtl="0" algn="l">
              <a:spcBef>
                <a:spcPts val="0"/>
              </a:spcBef>
              <a:spcAft>
                <a:spcPts val="0"/>
              </a:spcAft>
              <a:buNone/>
            </a:pPr>
            <a:r>
              <a:rPr lang="en" sz="1000"/>
              <a:t>INTENT: Check customer eligibility for new policy according to their accident record and history of non-payment.</a:t>
            </a:r>
            <a:endParaRPr sz="1000"/>
          </a:p>
          <a:p>
            <a:pPr indent="0" lvl="0" marL="0" rtl="0" algn="l">
              <a:spcBef>
                <a:spcPts val="0"/>
              </a:spcBef>
              <a:spcAft>
                <a:spcPts val="0"/>
              </a:spcAft>
              <a:buNone/>
            </a:pPr>
            <a:r>
              <a:rPr lang="en" sz="1000"/>
              <a:t>REASON: Legitimate</a:t>
            </a:r>
            <a:endParaRPr sz="1000"/>
          </a:p>
          <a:p>
            <a:pPr indent="0" lvl="0" marL="0" rtl="0" algn="l">
              <a:spcBef>
                <a:spcPts val="0"/>
              </a:spcBef>
              <a:spcAft>
                <a:spcPts val="0"/>
              </a:spcAft>
              <a:buNone/>
            </a:pPr>
            <a:r>
              <a:rPr lang="en" sz="1000"/>
              <a:t>JUSTIFICATION : the request concerned a combination of two underwriting rules, which the agent was able to interpret jointly. </a:t>
            </a:r>
            <a:endParaRPr sz="1000"/>
          </a:p>
          <a:p>
            <a:pPr indent="0" lvl="0" marL="0" rtl="0" algn="l">
              <a:spcBef>
                <a:spcPts val="0"/>
              </a:spcBef>
              <a:spcAft>
                <a:spcPts val="0"/>
              </a:spcAft>
              <a:buNone/>
            </a:pPr>
            <a:r>
              <a:rPr lang="en" sz="1000"/>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7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75" name="Google Shape;475;p71"/>
          <p:cNvSpPr txBox="1"/>
          <p:nvPr/>
        </p:nvSpPr>
        <p:spPr>
          <a:xfrm>
            <a:off x="700125" y="1325550"/>
            <a:ext cx="7440000" cy="32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Inter"/>
              <a:ea typeface="Inter"/>
              <a:cs typeface="Inter"/>
              <a:sym typeface="Inter"/>
            </a:endParaRPr>
          </a:p>
        </p:txBody>
      </p:sp>
      <p:sp>
        <p:nvSpPr>
          <p:cNvPr id="476" name="Google Shape;476;p7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Added here</a:t>
            </a:r>
            <a:endParaRPr sz="3500"/>
          </a:p>
        </p:txBody>
      </p:sp>
      <p:sp>
        <p:nvSpPr>
          <p:cNvPr id="477" name="Google Shape;477;p71"/>
          <p:cNvSpPr txBox="1"/>
          <p:nvPr/>
        </p:nvSpPr>
        <p:spPr>
          <a:xfrm>
            <a:off x="645975" y="984850"/>
            <a:ext cx="75483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You are an insurance expert tasked with extracting intents from a conversation transcript.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This conversation is related to Economical insurance or National Broker Services, which supports Canadian brokerages managing customer policies. Agents marked as "Agent:" answer calls from Brokers marked as "User:" enquiring about specific issues that affect their clients. One call may span different policy holders.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Your task is to analyze this transcript and extract the broker's main issues as INTENT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rPr lang="en" sz="1000"/>
              <a:t>{{ conversation }}</a:t>
            </a:r>
            <a:endParaRPr sz="1000"/>
          </a:p>
          <a:p>
            <a:pPr indent="0" lvl="0" marL="0" rtl="0" algn="l">
              <a:spcBef>
                <a:spcPts val="0"/>
              </a:spcBef>
              <a:spcAft>
                <a:spcPts val="0"/>
              </a:spcAft>
              <a:buNone/>
            </a:pPr>
            <a:r>
              <a:rPr lang="en" sz="1000"/>
              <a:t>&lt;\conversation_transcript&gt;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rPr lang="en" sz="1000"/>
              <a:t>- There may be more than one main issue within each transcript, extract them all</a:t>
            </a:r>
            <a:endParaRPr sz="1000"/>
          </a:p>
          <a:p>
            <a:pPr indent="0" lvl="0" marL="0" rtl="0" algn="l">
              <a:spcBef>
                <a:spcPts val="0"/>
              </a:spcBef>
              <a:spcAft>
                <a:spcPts val="0"/>
              </a:spcAft>
              <a:buNone/>
            </a:pPr>
            <a:r>
              <a:rPr lang="en" sz="1000"/>
              <a:t>- Be concise, your response should be a single sentence for each intent</a:t>
            </a:r>
            <a:endParaRPr sz="1000"/>
          </a:p>
          <a:p>
            <a:pPr indent="0" lvl="0" marL="0" rtl="0" algn="l">
              <a:spcBef>
                <a:spcPts val="0"/>
              </a:spcBef>
              <a:spcAft>
                <a:spcPts val="0"/>
              </a:spcAft>
              <a:buNone/>
            </a:pPr>
            <a:r>
              <a:rPr lang="en" sz="1000"/>
              <a:t>&lt;\rules&gt;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solidFill>
                  <a:srgbClr val="FF00FF"/>
                </a:solidFill>
              </a:rPr>
              <a:t>&lt;example_response&gt;</a:t>
            </a:r>
            <a:endParaRPr sz="1000">
              <a:solidFill>
                <a:srgbClr val="FF00FF"/>
              </a:solidFill>
            </a:endParaRPr>
          </a:p>
          <a:p>
            <a:pPr indent="0" lvl="0" marL="0" rtl="0" algn="l">
              <a:spcBef>
                <a:spcPts val="0"/>
              </a:spcBef>
              <a:spcAft>
                <a:spcPts val="0"/>
              </a:spcAft>
              <a:buNone/>
            </a:pPr>
            <a:r>
              <a:rPr lang="en" sz="1000">
                <a:solidFill>
                  <a:srgbClr val="FF00FF"/>
                </a:solidFill>
              </a:rPr>
              <a:t>INTENT: Check next payment date on a customer policy.</a:t>
            </a:r>
            <a:endParaRPr sz="1000">
              <a:solidFill>
                <a:srgbClr val="FF00FF"/>
              </a:solidFill>
            </a:endParaRPr>
          </a:p>
          <a:p>
            <a:pPr indent="0" lvl="0" marL="0" rtl="0" algn="l">
              <a:spcBef>
                <a:spcPts val="0"/>
              </a:spcBef>
              <a:spcAft>
                <a:spcPts val="0"/>
              </a:spcAft>
              <a:buNone/>
            </a:pPr>
            <a:r>
              <a:rPr lang="en" sz="1000">
                <a:solidFill>
                  <a:srgbClr val="FF00FF"/>
                </a:solidFill>
              </a:rPr>
              <a:t>INTENT: Check customer eligibility for new policy according to their accident record and history of non-payment.</a:t>
            </a:r>
            <a:endParaRPr sz="1000">
              <a:solidFill>
                <a:srgbClr val="FF00FF"/>
              </a:solidFill>
            </a:endParaRPr>
          </a:p>
          <a:p>
            <a:pPr indent="0" lvl="0" marL="0" rtl="0" algn="l">
              <a:spcBef>
                <a:spcPts val="0"/>
              </a:spcBef>
              <a:spcAft>
                <a:spcPts val="0"/>
              </a:spcAft>
              <a:buNone/>
            </a:pPr>
            <a:r>
              <a:rPr lang="en" sz="1000">
                <a:solidFill>
                  <a:srgbClr val="FF00FF"/>
                </a:solidFill>
              </a:rPr>
              <a:t>&lt;/example_response&gt;</a:t>
            </a:r>
            <a:endParaRPr sz="1000">
              <a:solidFill>
                <a:srgbClr val="FF00FF"/>
              </a:solidFill>
            </a:endParaRPr>
          </a:p>
          <a:p>
            <a:pPr indent="0" lvl="0" marL="0" rtl="0" algn="l">
              <a:spcBef>
                <a:spcPts val="0"/>
              </a:spcBef>
              <a:spcAft>
                <a:spcPts val="0"/>
              </a:spcAft>
              <a:buNone/>
            </a:pPr>
            <a:r>
              <a:t/>
            </a:r>
            <a:endParaRPr sz="1000"/>
          </a:p>
          <a:p>
            <a:pPr indent="0" lvl="0" marL="0" rtl="0" algn="l">
              <a:spcBef>
                <a:spcPts val="0"/>
              </a:spcBef>
              <a:spcAft>
                <a:spcPts val="0"/>
              </a:spcAft>
              <a:buNone/>
            </a:pPr>
            <a:r>
              <a:rPr lang="en" sz="1000"/>
              <a:t>Please answer in English, with plain text, with no markdown, as key-value pairs in the following format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INTENT: [A single concise sentence summarizing the first main issue]</a:t>
            </a:r>
            <a:endParaRPr sz="1000"/>
          </a:p>
          <a:p>
            <a:pPr indent="0" lvl="0" marL="0" rtl="0" algn="l">
              <a:spcBef>
                <a:spcPts val="0"/>
              </a:spcBef>
              <a:spcAft>
                <a:spcPts val="0"/>
              </a:spcAft>
              <a:buNone/>
            </a:pPr>
            <a:r>
              <a:rPr lang="en" sz="1000"/>
              <a:t>INTENT: [A single concise sentence summarizing the second main issue]</a:t>
            </a:r>
            <a:endParaRPr sz="1000"/>
          </a:p>
          <a:p>
            <a:pPr indent="0" lvl="0" marL="0" rtl="0" algn="l">
              <a:spcBef>
                <a:spcPts val="0"/>
              </a:spcBef>
              <a:spcAft>
                <a:spcPts val="0"/>
              </a:spcAft>
              <a:buNone/>
            </a:pPr>
            <a:r>
              <a:t/>
            </a:r>
            <a:endParaRPr sz="1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of results example</a:t>
            </a:r>
            <a:endParaRPr/>
          </a:p>
        </p:txBody>
      </p:sp>
      <p:graphicFrame>
        <p:nvGraphicFramePr>
          <p:cNvPr id="483" name="Google Shape;483;p72"/>
          <p:cNvGraphicFramePr/>
          <p:nvPr/>
        </p:nvGraphicFramePr>
        <p:xfrm>
          <a:off x="512100" y="1075050"/>
          <a:ext cx="3000000" cy="3000000"/>
        </p:xfrm>
        <a:graphic>
          <a:graphicData uri="http://schemas.openxmlformats.org/drawingml/2006/table">
            <a:tbl>
              <a:tblPr>
                <a:noFill/>
                <a:tableStyleId>{3B4CF811-B5B6-4DF7-8232-109205DF78CE}</a:tableStyleId>
              </a:tblPr>
              <a:tblGrid>
                <a:gridCol w="1886750"/>
                <a:gridCol w="1699325"/>
                <a:gridCol w="1699325"/>
                <a:gridCol w="1699325"/>
                <a:gridCol w="1263425"/>
              </a:tblGrid>
              <a:tr h="700675">
                <a:tc>
                  <a:txBody>
                    <a:bodyPr/>
                    <a:lstStyle/>
                    <a:p>
                      <a:pPr indent="0" lvl="0" marL="0" rtl="0" algn="r">
                        <a:spcBef>
                          <a:spcPts val="0"/>
                        </a:spcBef>
                        <a:spcAft>
                          <a:spcPts val="0"/>
                        </a:spcAft>
                        <a:buNone/>
                      </a:pPr>
                      <a:r>
                        <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Example Prompt</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sz="800"/>
                    </a:p>
                    <a:p>
                      <a:pPr indent="0" lvl="0" marL="0" rtl="0" algn="ctr">
                        <a:lnSpc>
                          <a:spcPct val="115000"/>
                        </a:lnSpc>
                        <a:spcBef>
                          <a:spcPts val="0"/>
                        </a:spcBef>
                        <a:spcAft>
                          <a:spcPts val="0"/>
                        </a:spcAft>
                        <a:buNone/>
                      </a:pPr>
                      <a:r>
                        <a:rPr b="1" lang="en" sz="800"/>
                        <a:t>Prompt asks for intent including document names, systems, province/state</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Prompt asks for intent including document names, systems, province/state</a:t>
                      </a:r>
                      <a:endParaRPr b="1" sz="800"/>
                    </a:p>
                    <a:p>
                      <a:pPr indent="0" lvl="0" marL="0" rtl="0" algn="ctr">
                        <a:lnSpc>
                          <a:spcPct val="115000"/>
                        </a:lnSpc>
                        <a:spcBef>
                          <a:spcPts val="0"/>
                        </a:spcBef>
                        <a:spcAft>
                          <a:spcPts val="0"/>
                        </a:spcAft>
                        <a:buNone/>
                      </a:pPr>
                      <a:r>
                        <a:rPr b="1" lang="en" sz="800"/>
                        <a:t>Asks for explanation as well</a:t>
                      </a:r>
                      <a:endParaRPr b="1"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chemeClr val="dk1"/>
                          </a:solidFill>
                        </a:rPr>
                        <a:t>Example Prompt with Definity Examples added.</a:t>
                      </a:r>
                      <a:endParaRPr b="1" sz="800">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Total PHONEs/CHATs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5000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rPr>
                        <a:t>5000</a:t>
                      </a:r>
                      <a:endParaRPr sz="1000">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Total Results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10460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10648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12439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rPr>
                        <a:t>11247</a:t>
                      </a:r>
                      <a:endParaRPr sz="1000">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6350">
                <a:tc>
                  <a:txBody>
                    <a:bodyPr/>
                    <a:lstStyle/>
                    <a:p>
                      <a:pPr indent="0" lvl="0" marL="0" rtl="0" algn="r">
                        <a:lnSpc>
                          <a:spcPct val="115000"/>
                        </a:lnSpc>
                        <a:spcBef>
                          <a:spcPts val="0"/>
                        </a:spcBef>
                        <a:spcAft>
                          <a:spcPts val="0"/>
                        </a:spcAft>
                        <a:buNone/>
                      </a:pPr>
                      <a:r>
                        <a:rPr lang="en" sz="1000"/>
                        <a:t>Average INTENT per call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2.092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2.1296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2.4878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rPr>
                        <a:t>2.2494</a:t>
                      </a:r>
                      <a:endParaRPr sz="1000">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6350">
                <a:tc>
                  <a:txBody>
                    <a:bodyPr/>
                    <a:lstStyle/>
                    <a:p>
                      <a:pPr indent="0" lvl="0" marL="0" rtl="0" algn="r">
                        <a:lnSpc>
                          <a:spcPct val="115000"/>
                        </a:lnSpc>
                        <a:spcBef>
                          <a:spcPts val="0"/>
                        </a:spcBef>
                        <a:spcAft>
                          <a:spcPts val="0"/>
                        </a:spcAft>
                        <a:buNone/>
                      </a:pPr>
                      <a:r>
                        <a:rPr b="1" lang="en" sz="1000"/>
                        <a:t>Search term</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sz="1000">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Guidewire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156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606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594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87</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Corelogic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0</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Pathway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3</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Extranet</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58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18</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Ontario</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278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359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37</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Alberta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20</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PEI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1</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DMTI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1</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t>ARS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2</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46950">
                <a:tc>
                  <a:txBody>
                    <a:bodyPr/>
                    <a:lstStyle/>
                    <a:p>
                      <a:pPr indent="0" lvl="0" marL="0" rtl="0" algn="r">
                        <a:lnSpc>
                          <a:spcPct val="115000"/>
                        </a:lnSpc>
                        <a:spcBef>
                          <a:spcPts val="0"/>
                        </a:spcBef>
                        <a:spcAft>
                          <a:spcPts val="0"/>
                        </a:spcAft>
                        <a:buNone/>
                      </a:pPr>
                      <a:r>
                        <a:rPr lang="en" sz="1000">
                          <a:solidFill>
                            <a:srgbClr val="344054"/>
                          </a:solidFill>
                          <a:latin typeface="Inter"/>
                          <a:ea typeface="Inter"/>
                          <a:cs typeface="Inter"/>
                          <a:sym typeface="Inter"/>
                        </a:rPr>
                        <a:t>CompiQuote</a:t>
                      </a:r>
                      <a:endParaRPr sz="1000">
                        <a:solidFill>
                          <a:srgbClr val="344054"/>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9FAFB"/>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rgbClr val="FF0000"/>
                          </a:solidFill>
                        </a:rPr>
                        <a:t>7</a:t>
                      </a:r>
                      <a:endParaRPr sz="1000">
                        <a:solidFill>
                          <a:srgbClr val="FF0000"/>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Gaining granularity recommendations </a:t>
            </a:r>
            <a:endParaRPr/>
          </a:p>
        </p:txBody>
      </p:sp>
      <p:sp>
        <p:nvSpPr>
          <p:cNvPr id="489" name="Google Shape;489;p73"/>
          <p:cNvSpPr txBox="1"/>
          <p:nvPr>
            <p:ph idx="1" type="body"/>
          </p:nvPr>
        </p:nvSpPr>
        <p:spPr>
          <a:xfrm>
            <a:off x="668100" y="1697625"/>
            <a:ext cx="7546200" cy="3552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a:t>Split INTENT and REASON into separate prompts/pipelines</a:t>
            </a:r>
            <a:endParaRPr/>
          </a:p>
          <a:p>
            <a:pPr indent="-317500" lvl="0" marL="457200" rtl="0" algn="l">
              <a:lnSpc>
                <a:spcPct val="150000"/>
              </a:lnSpc>
              <a:spcBef>
                <a:spcPts val="0"/>
              </a:spcBef>
              <a:spcAft>
                <a:spcPts val="0"/>
              </a:spcAft>
              <a:buSzPts val="1400"/>
              <a:buChar char="●"/>
            </a:pPr>
            <a:r>
              <a:rPr lang="en"/>
              <a:t>Include reasoning (EXPLANATION/JUSTIFICATION)</a:t>
            </a:r>
            <a:endParaRPr/>
          </a:p>
          <a:p>
            <a:pPr indent="-317500" lvl="0" marL="457200" rtl="0" algn="l">
              <a:lnSpc>
                <a:spcPct val="150000"/>
              </a:lnSpc>
              <a:spcBef>
                <a:spcPts val="0"/>
              </a:spcBef>
              <a:spcAft>
                <a:spcPts val="0"/>
              </a:spcAft>
              <a:buSzPts val="1400"/>
              <a:buChar char="●"/>
            </a:pPr>
            <a:r>
              <a:rPr lang="en"/>
              <a:t>Simplify each prompt to the core requirements and using the exact language that the business now want.</a:t>
            </a:r>
            <a:endParaRPr/>
          </a:p>
          <a:p>
            <a:pPr indent="-317500" lvl="0" marL="457200" rtl="0" algn="l">
              <a:lnSpc>
                <a:spcPct val="150000"/>
              </a:lnSpc>
              <a:spcBef>
                <a:spcPts val="0"/>
              </a:spcBef>
              <a:spcAft>
                <a:spcPts val="0"/>
              </a:spcAft>
              <a:buSzPts val="1400"/>
              <a:buChar char="●"/>
            </a:pPr>
            <a:r>
              <a:rPr lang="en"/>
              <a:t>Include specific human readable logic to guide to the granularity needed.</a:t>
            </a:r>
            <a:endParaRPr/>
          </a:p>
          <a:p>
            <a:pPr indent="-317500" lvl="0" marL="457200" rtl="0" algn="l">
              <a:lnSpc>
                <a:spcPct val="150000"/>
              </a:lnSpc>
              <a:spcBef>
                <a:spcPts val="0"/>
              </a:spcBef>
              <a:spcAft>
                <a:spcPts val="0"/>
              </a:spcAft>
              <a:buSzPts val="1400"/>
              <a:buChar char="●"/>
            </a:pPr>
            <a:r>
              <a:rPr lang="en"/>
              <a:t>Avoid simplistic examples.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493" name="Shape 493"/>
        <p:cNvGrpSpPr/>
        <p:nvPr/>
      </p:nvGrpSpPr>
      <p:grpSpPr>
        <a:xfrm>
          <a:off x="0" y="0"/>
          <a:ext cx="0" cy="0"/>
          <a:chOff x="0" y="0"/>
          <a:chExt cx="0" cy="0"/>
        </a:xfrm>
      </p:grpSpPr>
      <p:pic>
        <p:nvPicPr>
          <p:cNvPr id="494" name="Google Shape;494;p74"/>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495" name="Google Shape;495;p74"/>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Replica Environment Overview</a:t>
            </a:r>
            <a:endParaRPr sz="3600">
              <a:solidFill>
                <a:schemeClr val="lt1"/>
              </a:solidFill>
              <a:latin typeface="Manrope SemiBold"/>
              <a:ea typeface="Manrope SemiBold"/>
              <a:cs typeface="Manrope SemiBold"/>
              <a:sym typeface="Manrope SemiBold"/>
            </a:endParaRPr>
          </a:p>
        </p:txBody>
      </p:sp>
      <p:pic>
        <p:nvPicPr>
          <p:cNvPr id="496" name="Google Shape;496;p74"/>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497" name="Google Shape;497;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3" name="Google Shape;503;p7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04" name="Google Shape;504;p7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Releases 1.65, and 1.65.1</a:t>
            </a:r>
            <a:endParaRPr sz="3500"/>
          </a:p>
        </p:txBody>
      </p:sp>
      <p:pic>
        <p:nvPicPr>
          <p:cNvPr id="505" name="Google Shape;505;p75"/>
          <p:cNvPicPr preferRelativeResize="0"/>
          <p:nvPr/>
        </p:nvPicPr>
        <p:blipFill rotWithShape="1">
          <a:blip r:embed="rId3">
            <a:alphaModFix/>
          </a:blip>
          <a:srcRect b="5427" l="0" r="0" t="11461"/>
          <a:stretch/>
        </p:blipFill>
        <p:spPr>
          <a:xfrm>
            <a:off x="589775" y="1234050"/>
            <a:ext cx="6611198" cy="3090774"/>
          </a:xfrm>
          <a:prstGeom prst="rect">
            <a:avLst/>
          </a:prstGeom>
          <a:noFill/>
          <a:ln>
            <a:noFill/>
          </a:ln>
        </p:spPr>
      </p:pic>
      <p:sp>
        <p:nvSpPr>
          <p:cNvPr id="506" name="Google Shape;506;p75"/>
          <p:cNvSpPr txBox="1"/>
          <p:nvPr/>
        </p:nvSpPr>
        <p:spPr>
          <a:xfrm>
            <a:off x="478375" y="4438975"/>
            <a:ext cx="683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Check the notification in tool </a:t>
            </a:r>
            <a:r>
              <a:rPr lang="en" u="sng">
                <a:solidFill>
                  <a:schemeClr val="hlink"/>
                </a:solidFill>
                <a:hlinkClick r:id="rId4"/>
              </a:rPr>
              <a:t>https://app.getbeamer.com/hfstudio/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7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13" name="Google Shape;513;p76"/>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Representative environment</a:t>
            </a:r>
            <a:endParaRPr sz="3500"/>
          </a:p>
        </p:txBody>
      </p:sp>
      <p:pic>
        <p:nvPicPr>
          <p:cNvPr id="514" name="Google Shape;514;p76"/>
          <p:cNvPicPr preferRelativeResize="0"/>
          <p:nvPr/>
        </p:nvPicPr>
        <p:blipFill rotWithShape="1">
          <a:blip r:embed="rId3">
            <a:alphaModFix/>
          </a:blip>
          <a:srcRect b="0" l="0" r="0" t="0"/>
          <a:stretch/>
        </p:blipFill>
        <p:spPr>
          <a:xfrm>
            <a:off x="586475" y="1360350"/>
            <a:ext cx="8100451" cy="806125"/>
          </a:xfrm>
          <a:prstGeom prst="rect">
            <a:avLst/>
          </a:prstGeom>
          <a:noFill/>
          <a:ln>
            <a:noFill/>
          </a:ln>
        </p:spPr>
      </p:pic>
      <p:pic>
        <p:nvPicPr>
          <p:cNvPr id="515" name="Google Shape;515;p76"/>
          <p:cNvPicPr preferRelativeResize="0"/>
          <p:nvPr/>
        </p:nvPicPr>
        <p:blipFill rotWithShape="1">
          <a:blip r:embed="rId4">
            <a:alphaModFix/>
          </a:blip>
          <a:srcRect b="0" l="388" r="0" t="2591"/>
          <a:stretch/>
        </p:blipFill>
        <p:spPr>
          <a:xfrm>
            <a:off x="618025" y="2605025"/>
            <a:ext cx="8068899" cy="7728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7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22" name="Google Shape;522;p77"/>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Replica Environment Built</a:t>
            </a:r>
            <a:endParaRPr sz="3500"/>
          </a:p>
        </p:txBody>
      </p:sp>
      <p:pic>
        <p:nvPicPr>
          <p:cNvPr id="523" name="Google Shape;523;p77"/>
          <p:cNvPicPr preferRelativeResize="0"/>
          <p:nvPr/>
        </p:nvPicPr>
        <p:blipFill rotWithShape="1">
          <a:blip r:embed="rId3">
            <a:alphaModFix/>
          </a:blip>
          <a:srcRect b="0" l="0" r="0" t="2743"/>
          <a:stretch/>
        </p:blipFill>
        <p:spPr>
          <a:xfrm>
            <a:off x="631875" y="1271375"/>
            <a:ext cx="7998752" cy="1220275"/>
          </a:xfrm>
          <a:prstGeom prst="rect">
            <a:avLst/>
          </a:prstGeom>
          <a:noFill/>
          <a:ln>
            <a:noFill/>
          </a:ln>
        </p:spPr>
      </p:pic>
      <p:sp>
        <p:nvSpPr>
          <p:cNvPr id="524" name="Google Shape;524;p77"/>
          <p:cNvSpPr txBox="1"/>
          <p:nvPr/>
        </p:nvSpPr>
        <p:spPr>
          <a:xfrm>
            <a:off x="668100" y="2608775"/>
            <a:ext cx="7546200" cy="2016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94489"/>
              </a:buClr>
              <a:buSzPts val="1200"/>
              <a:buFont typeface="Inter"/>
              <a:buChar char="■"/>
            </a:pPr>
            <a:r>
              <a:rPr lang="en">
                <a:solidFill>
                  <a:srgbClr val="475067"/>
                </a:solidFill>
                <a:latin typeface="Inter"/>
                <a:ea typeface="Inter"/>
                <a:cs typeface="Inter"/>
                <a:sym typeface="Inter"/>
              </a:rPr>
              <a:t>ABCD Dataset (Action Based Conversation Dataset)</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294489"/>
              </a:buClr>
              <a:buSzPts val="1200"/>
              <a:buFont typeface="Inter"/>
              <a:buChar char="■"/>
            </a:pPr>
            <a:r>
              <a:rPr lang="en">
                <a:solidFill>
                  <a:srgbClr val="475067"/>
                </a:solidFill>
                <a:latin typeface="Inter"/>
                <a:ea typeface="Inter"/>
                <a:cs typeface="Inter"/>
                <a:sym typeface="Inter"/>
              </a:rPr>
              <a:t>7 dimensions of analysis on single 1 convoset - representative prompts</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rgbClr val="475067"/>
                </a:solidFill>
                <a:latin typeface="Inter"/>
                <a:ea typeface="Inter"/>
                <a:cs typeface="Inter"/>
                <a:sym typeface="Inter"/>
              </a:rPr>
              <a:t>Subdivided Small files ~ 167 each, 60 files in initial dataset, 10,000 calls</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chemeClr val="accent6"/>
                </a:solidFill>
                <a:latin typeface="Inter"/>
                <a:ea typeface="Inter"/>
                <a:cs typeface="Inter"/>
                <a:sym typeface="Inter"/>
              </a:rPr>
              <a:t>Average call length 20 turns</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rgbClr val="475067"/>
                </a:solidFill>
                <a:latin typeface="Inter"/>
                <a:ea typeface="Inter"/>
                <a:cs typeface="Inter"/>
                <a:sym typeface="Inter"/>
              </a:rPr>
              <a:t>Repeated frequent update</a:t>
            </a:r>
            <a:endParaRPr>
              <a:solidFill>
                <a:srgbClr val="475067"/>
              </a:solidFill>
              <a:latin typeface="Inter"/>
              <a:ea typeface="Inter"/>
              <a:cs typeface="Inter"/>
              <a:sym typeface="Inter"/>
            </a:endParaRPr>
          </a:p>
          <a:p>
            <a:pPr indent="-304800" lvl="0" marL="457200" rtl="0" algn="l">
              <a:lnSpc>
                <a:spcPct val="115000"/>
              </a:lnSpc>
              <a:spcBef>
                <a:spcPts val="1000"/>
              </a:spcBef>
              <a:spcAft>
                <a:spcPts val="1000"/>
              </a:spcAft>
              <a:buClr>
                <a:srgbClr val="475067"/>
              </a:buClr>
              <a:buSzPts val="1200"/>
              <a:buFont typeface="Inter"/>
              <a:buChar char="■"/>
            </a:pPr>
            <a:r>
              <a:rPr lang="en">
                <a:solidFill>
                  <a:srgbClr val="475067"/>
                </a:solidFill>
                <a:latin typeface="Inter"/>
                <a:ea typeface="Inter"/>
                <a:cs typeface="Inter"/>
                <a:sym typeface="Inter"/>
              </a:rPr>
              <a:t>Enables testing of updates to speed day to day running in this sort of situation</a:t>
            </a:r>
            <a:endParaRPr>
              <a:solidFill>
                <a:srgbClr val="475067"/>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