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y="5143500" cx="9144000"/>
  <p:notesSz cx="6858000" cy="9144000"/>
  <p:embeddedFontLst>
    <p:embeddedFont>
      <p:font typeface="Inter Light"/>
      <p:regular r:id="rId49"/>
      <p:bold r:id="rId50"/>
      <p:italic r:id="rId51"/>
      <p:boldItalic r:id="rId52"/>
    </p:embeddedFont>
    <p:embeddedFont>
      <p:font typeface="Inter"/>
      <p:regular r:id="rId53"/>
      <p:bold r:id="rId54"/>
      <p:italic r:id="rId55"/>
      <p:boldItalic r:id="rId56"/>
    </p:embeddedFont>
    <p:embeddedFont>
      <p:font typeface="Manrope SemiBold"/>
      <p:regular r:id="rId57"/>
      <p:bold r:id="rId58"/>
    </p:embeddedFont>
    <p:embeddedFont>
      <p:font typeface="Manrope"/>
      <p:regular r:id="rId59"/>
      <p:bold r:id="rId60"/>
    </p:embeddedFont>
    <p:embeddedFont>
      <p:font typeface="Inter Medium"/>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5587B3-5DCA-44F3-9A5B-219B7173146A}">
  <a:tblStyle styleId="{265587B3-5DCA-44F3-9A5B-219B7173146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font" Target="fonts/InterLight-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InterMedium-bold.fntdata"/><Relationship Id="rId61" Type="http://schemas.openxmlformats.org/officeDocument/2006/relationships/font" Target="fonts/InterMedium-regular.fntdata"/><Relationship Id="rId20" Type="http://schemas.openxmlformats.org/officeDocument/2006/relationships/slide" Target="slides/slide13.xml"/><Relationship Id="rId64" Type="http://schemas.openxmlformats.org/officeDocument/2006/relationships/font" Target="fonts/InterMedium-boldItalic.fntdata"/><Relationship Id="rId63" Type="http://schemas.openxmlformats.org/officeDocument/2006/relationships/font" Target="fonts/InterMedium-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Manrope-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InterLight-italic.fntdata"/><Relationship Id="rId50" Type="http://schemas.openxmlformats.org/officeDocument/2006/relationships/font" Target="fonts/InterLight-bold.fntdata"/><Relationship Id="rId53" Type="http://schemas.openxmlformats.org/officeDocument/2006/relationships/font" Target="fonts/Inter-regular.fntdata"/><Relationship Id="rId52" Type="http://schemas.openxmlformats.org/officeDocument/2006/relationships/font" Target="fonts/InterLight-boldItalic.fntdata"/><Relationship Id="rId11" Type="http://schemas.openxmlformats.org/officeDocument/2006/relationships/slide" Target="slides/slide4.xml"/><Relationship Id="rId55" Type="http://schemas.openxmlformats.org/officeDocument/2006/relationships/font" Target="fonts/Inter-italic.fntdata"/><Relationship Id="rId10" Type="http://schemas.openxmlformats.org/officeDocument/2006/relationships/slide" Target="slides/slide3.xml"/><Relationship Id="rId54" Type="http://schemas.openxmlformats.org/officeDocument/2006/relationships/font" Target="fonts/Inter-bold.fntdata"/><Relationship Id="rId13" Type="http://schemas.openxmlformats.org/officeDocument/2006/relationships/slide" Target="slides/slide6.xml"/><Relationship Id="rId57" Type="http://schemas.openxmlformats.org/officeDocument/2006/relationships/font" Target="fonts/ManropeSemiBold-regular.fntdata"/><Relationship Id="rId12" Type="http://schemas.openxmlformats.org/officeDocument/2006/relationships/slide" Target="slides/slide5.xml"/><Relationship Id="rId56" Type="http://schemas.openxmlformats.org/officeDocument/2006/relationships/font" Target="fonts/Inter-boldItalic.fntdata"/><Relationship Id="rId15" Type="http://schemas.openxmlformats.org/officeDocument/2006/relationships/slide" Target="slides/slide8.xml"/><Relationship Id="rId59" Type="http://schemas.openxmlformats.org/officeDocument/2006/relationships/font" Target="fonts/Manrope-regular.fntdata"/><Relationship Id="rId14" Type="http://schemas.openxmlformats.org/officeDocument/2006/relationships/slide" Target="slides/slide7.xml"/><Relationship Id="rId58" Type="http://schemas.openxmlformats.org/officeDocument/2006/relationships/font" Target="fonts/ManropeSemiBold-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0fda23068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0fda23068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699bd2dc47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699bd2dc47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0fda23068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0fda23068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0f788b543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0f788b543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f788b543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0f788b543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0f788b543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0f788b543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0fda23068a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0fda23068a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0fda23068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0fda23068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Call was regarding a system malfunction leading to extra refunds. Ticket needed to be created to stop.</a:t>
            </a:r>
            <a:endParaRPr sz="1200">
              <a:solidFill>
                <a:srgbClr val="E9713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junior agent (Anthony Little) called the senior agent (Phillip Harrington) for support on a policy issue.</a:t>
            </a:r>
            <a:endParaRPr sz="1200"/>
          </a:p>
          <a:p>
            <a:pPr indent="0" lvl="0" marL="0" rtl="0" algn="l">
              <a:lnSpc>
                <a:spcPct val="115000"/>
              </a:lnSpc>
              <a:spcBef>
                <a:spcPts val="0"/>
              </a:spcBef>
              <a:spcAft>
                <a:spcPts val="0"/>
              </a:spcAft>
              <a:buNone/>
            </a:pPr>
            <a:r>
              <a:rPr lang="en" sz="1200"/>
              <a:t>‚Ä¢ The policy in question belongs to Tiffany Zimmerman, policy number 206-739-05.</a:t>
            </a:r>
            <a:endParaRPr sz="1200"/>
          </a:p>
          <a:p>
            <a:pPr indent="0" lvl="0" marL="0" rtl="0" algn="l">
              <a:lnSpc>
                <a:spcPct val="115000"/>
              </a:lnSpc>
              <a:spcBef>
                <a:spcPts val="0"/>
              </a:spcBef>
              <a:spcAft>
                <a:spcPts val="0"/>
              </a:spcAft>
              <a:buNone/>
            </a:pPr>
            <a:r>
              <a:rPr lang="en" sz="1200"/>
              <a:t>‚Ä¢ The total premium for the term was $2733.</a:t>
            </a:r>
            <a:endParaRPr sz="1200"/>
          </a:p>
          <a:p>
            <a:pPr indent="0" lvl="0" marL="0" rtl="0" algn="l">
              <a:lnSpc>
                <a:spcPct val="115000"/>
              </a:lnSpc>
              <a:spcBef>
                <a:spcPts val="0"/>
              </a:spcBef>
              <a:spcAft>
                <a:spcPts val="0"/>
              </a:spcAft>
              <a:buNone/>
            </a:pPr>
            <a:r>
              <a:rPr lang="en" sz="1200"/>
              <a:t>‚Ä¢ Three payments were made: $1100, $1000, and $633, totaling $2733.</a:t>
            </a:r>
            <a:endParaRPr sz="1200"/>
          </a:p>
          <a:p>
            <a:pPr indent="0" lvl="0" marL="0" rtl="0" algn="l">
              <a:lnSpc>
                <a:spcPct val="115000"/>
              </a:lnSpc>
              <a:spcBef>
                <a:spcPts val="0"/>
              </a:spcBef>
              <a:spcAft>
                <a:spcPts val="0"/>
              </a:spcAft>
              <a:buNone/>
            </a:pPr>
            <a:r>
              <a:rPr lang="en" sz="1200"/>
              <a:t>‚Ä¢ Despite the balance being zero, there was a refund of $849 scheduled for November 9th.</a:t>
            </a:r>
            <a:endParaRPr sz="1200"/>
          </a:p>
          <a:p>
            <a:pPr indent="0" lvl="0" marL="0" rtl="0" algn="l">
              <a:lnSpc>
                <a:spcPct val="115000"/>
              </a:lnSpc>
              <a:spcBef>
                <a:spcPts val="0"/>
              </a:spcBef>
              <a:spcAft>
                <a:spcPts val="0"/>
              </a:spcAft>
              <a:buNone/>
            </a:pPr>
            <a:r>
              <a:rPr lang="en" sz="1200"/>
              <a:t>‚Ä¢ The policy was canceled for nonpayment on October 25th.</a:t>
            </a:r>
            <a:endParaRPr sz="1200"/>
          </a:p>
          <a:p>
            <a:pPr indent="0" lvl="0" marL="0" rtl="0" algn="l">
              <a:lnSpc>
                <a:spcPct val="115000"/>
              </a:lnSpc>
              <a:spcBef>
                <a:spcPts val="0"/>
              </a:spcBef>
              <a:spcAft>
                <a:spcPts val="0"/>
              </a:spcAft>
              <a:buNone/>
            </a:pPr>
            <a:r>
              <a:rPr lang="en" sz="1200"/>
              <a:t>‚Ä¢ A payment of $633 was received on October 30th to zero out the balance.</a:t>
            </a:r>
            <a:endParaRPr sz="1200"/>
          </a:p>
          <a:p>
            <a:pPr indent="0" lvl="0" marL="0" rtl="0" algn="l">
              <a:lnSpc>
                <a:spcPct val="115000"/>
              </a:lnSpc>
              <a:spcBef>
                <a:spcPts val="0"/>
              </a:spcBef>
              <a:spcAft>
                <a:spcPts val="0"/>
              </a:spcAft>
              <a:buNone/>
            </a:pPr>
            <a:r>
              <a:rPr lang="en" sz="1200"/>
              <a:t>‚Ä¢ The policy was reinstated the day before the call.</a:t>
            </a:r>
            <a:endParaRPr sz="1200"/>
          </a:p>
          <a:p>
            <a:pPr indent="0" lvl="0" marL="0" rtl="0" algn="l">
              <a:lnSpc>
                <a:spcPct val="115000"/>
              </a:lnSpc>
              <a:spcBef>
                <a:spcPts val="0"/>
              </a:spcBef>
              <a:spcAft>
                <a:spcPts val="0"/>
              </a:spcAft>
              <a:buNone/>
            </a:pPr>
            <a:r>
              <a:rPr lang="en" sz="1200"/>
              <a:t>‚Ä¢ A second credit disbursement was sent back and reapplied.</a:t>
            </a:r>
            <a:endParaRPr sz="1200"/>
          </a:p>
          <a:p>
            <a:pPr indent="0" lvl="0" marL="0" rtl="0" algn="l">
              <a:lnSpc>
                <a:spcPct val="115000"/>
              </a:lnSpc>
              <a:spcBef>
                <a:spcPts val="0"/>
              </a:spcBef>
              <a:spcAft>
                <a:spcPts val="0"/>
              </a:spcAft>
              <a:buNone/>
            </a:pPr>
            <a:r>
              <a:rPr lang="en" sz="1200"/>
              <a:t>‚Ä¢ The junior agent wanted to confirm if they should create a ticket to cancel the refund.</a:t>
            </a:r>
            <a:endParaRPr sz="1200"/>
          </a:p>
          <a:p>
            <a:pPr indent="0" lvl="0" marL="0" rtl="0" algn="l">
              <a:lnSpc>
                <a:spcPct val="115000"/>
              </a:lnSpc>
              <a:spcBef>
                <a:spcPts val="0"/>
              </a:spcBef>
              <a:spcAft>
                <a:spcPts val="0"/>
              </a:spcAft>
              <a:buNone/>
            </a:pPr>
            <a:r>
              <a:rPr lang="en" sz="1200"/>
              <a:t>‚Ä¢ The senior agent agreed that the refund should be stopped as the policy value and amount paid both show $2733 in the Billing Center.</a:t>
            </a:r>
            <a:endParaRPr sz="1200"/>
          </a:p>
          <a:p>
            <a:pPr indent="0" lvl="0" marL="0" rtl="0" algn="l">
              <a:lnSpc>
                <a:spcPct val="115000"/>
              </a:lnSpc>
              <a:spcBef>
                <a:spcPts val="0"/>
              </a:spcBef>
              <a:spcAft>
                <a:spcPts val="0"/>
              </a:spcAft>
              <a:buNone/>
            </a:pPr>
            <a:r>
              <a:rPr lang="en" sz="1200"/>
              <a:t>‚Ä¢ The junior agent will create a ticket to cancel the refund.</a:t>
            </a:r>
            <a:endParaRPr sz="1200"/>
          </a:p>
          <a:p>
            <a:pPr indent="0" lvl="0" marL="0" rtl="0" algn="l">
              <a:lnSpc>
                <a:spcPct val="115000"/>
              </a:lnSpc>
              <a:spcBef>
                <a:spcPts val="0"/>
              </a:spcBef>
              <a:spcAft>
                <a:spcPts val="0"/>
              </a:spcAft>
              <a:buNone/>
            </a:pPr>
            <a:r>
              <a:rPr lang="en" sz="1200"/>
              <a:t>‚Ä¢ The call ended with both agents exchanging pleasantries.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0fda23068a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0fda23068a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Call was regarding a system malfunction leading to extra refunds. Ticket needed to be created to stop.</a:t>
            </a:r>
            <a:endParaRPr sz="1200">
              <a:solidFill>
                <a:srgbClr val="E9713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junior agent (Anthony Little) called the senior agent (Phillip Harrington) for support on a policy issue.</a:t>
            </a:r>
            <a:endParaRPr sz="1200"/>
          </a:p>
          <a:p>
            <a:pPr indent="0" lvl="0" marL="0" rtl="0" algn="l">
              <a:lnSpc>
                <a:spcPct val="115000"/>
              </a:lnSpc>
              <a:spcBef>
                <a:spcPts val="0"/>
              </a:spcBef>
              <a:spcAft>
                <a:spcPts val="0"/>
              </a:spcAft>
              <a:buNone/>
            </a:pPr>
            <a:r>
              <a:rPr lang="en" sz="1200"/>
              <a:t>‚Ä¢ The policy in question belongs to Tiffany Zimmerman, policy number 206-739-05.</a:t>
            </a:r>
            <a:endParaRPr sz="1200"/>
          </a:p>
          <a:p>
            <a:pPr indent="0" lvl="0" marL="0" rtl="0" algn="l">
              <a:lnSpc>
                <a:spcPct val="115000"/>
              </a:lnSpc>
              <a:spcBef>
                <a:spcPts val="0"/>
              </a:spcBef>
              <a:spcAft>
                <a:spcPts val="0"/>
              </a:spcAft>
              <a:buNone/>
            </a:pPr>
            <a:r>
              <a:rPr lang="en" sz="1200"/>
              <a:t>‚Ä¢ The total premium for the term was $2733.</a:t>
            </a:r>
            <a:endParaRPr sz="1200"/>
          </a:p>
          <a:p>
            <a:pPr indent="0" lvl="0" marL="0" rtl="0" algn="l">
              <a:lnSpc>
                <a:spcPct val="115000"/>
              </a:lnSpc>
              <a:spcBef>
                <a:spcPts val="0"/>
              </a:spcBef>
              <a:spcAft>
                <a:spcPts val="0"/>
              </a:spcAft>
              <a:buNone/>
            </a:pPr>
            <a:r>
              <a:rPr lang="en" sz="1200"/>
              <a:t>‚Ä¢ Three payments were made: $1100, $1000, and $633, totaling $2733.</a:t>
            </a:r>
            <a:endParaRPr sz="1200"/>
          </a:p>
          <a:p>
            <a:pPr indent="0" lvl="0" marL="0" rtl="0" algn="l">
              <a:lnSpc>
                <a:spcPct val="115000"/>
              </a:lnSpc>
              <a:spcBef>
                <a:spcPts val="0"/>
              </a:spcBef>
              <a:spcAft>
                <a:spcPts val="0"/>
              </a:spcAft>
              <a:buNone/>
            </a:pPr>
            <a:r>
              <a:rPr lang="en" sz="1200"/>
              <a:t>‚Ä¢ Despite the balance being zero, there was a refund of $849 scheduled for November 9th.</a:t>
            </a:r>
            <a:endParaRPr sz="1200"/>
          </a:p>
          <a:p>
            <a:pPr indent="0" lvl="0" marL="0" rtl="0" algn="l">
              <a:lnSpc>
                <a:spcPct val="115000"/>
              </a:lnSpc>
              <a:spcBef>
                <a:spcPts val="0"/>
              </a:spcBef>
              <a:spcAft>
                <a:spcPts val="0"/>
              </a:spcAft>
              <a:buNone/>
            </a:pPr>
            <a:r>
              <a:rPr lang="en" sz="1200"/>
              <a:t>‚Ä¢ The policy was canceled for nonpayment on October 25th.</a:t>
            </a:r>
            <a:endParaRPr sz="1200"/>
          </a:p>
          <a:p>
            <a:pPr indent="0" lvl="0" marL="0" rtl="0" algn="l">
              <a:lnSpc>
                <a:spcPct val="115000"/>
              </a:lnSpc>
              <a:spcBef>
                <a:spcPts val="0"/>
              </a:spcBef>
              <a:spcAft>
                <a:spcPts val="0"/>
              </a:spcAft>
              <a:buNone/>
            </a:pPr>
            <a:r>
              <a:rPr lang="en" sz="1200"/>
              <a:t>‚Ä¢ A payment of $633 was received on October 30th to zero out the balance.</a:t>
            </a:r>
            <a:endParaRPr sz="1200"/>
          </a:p>
          <a:p>
            <a:pPr indent="0" lvl="0" marL="0" rtl="0" algn="l">
              <a:lnSpc>
                <a:spcPct val="115000"/>
              </a:lnSpc>
              <a:spcBef>
                <a:spcPts val="0"/>
              </a:spcBef>
              <a:spcAft>
                <a:spcPts val="0"/>
              </a:spcAft>
              <a:buNone/>
            </a:pPr>
            <a:r>
              <a:rPr lang="en" sz="1200"/>
              <a:t>‚Ä¢ The policy was reinstated the day before the call.</a:t>
            </a:r>
            <a:endParaRPr sz="1200"/>
          </a:p>
          <a:p>
            <a:pPr indent="0" lvl="0" marL="0" rtl="0" algn="l">
              <a:lnSpc>
                <a:spcPct val="115000"/>
              </a:lnSpc>
              <a:spcBef>
                <a:spcPts val="0"/>
              </a:spcBef>
              <a:spcAft>
                <a:spcPts val="0"/>
              </a:spcAft>
              <a:buNone/>
            </a:pPr>
            <a:r>
              <a:rPr lang="en" sz="1200"/>
              <a:t>‚Ä¢ A second credit disbursement was sent back and reapplied.</a:t>
            </a:r>
            <a:endParaRPr sz="1200"/>
          </a:p>
          <a:p>
            <a:pPr indent="0" lvl="0" marL="0" rtl="0" algn="l">
              <a:lnSpc>
                <a:spcPct val="115000"/>
              </a:lnSpc>
              <a:spcBef>
                <a:spcPts val="0"/>
              </a:spcBef>
              <a:spcAft>
                <a:spcPts val="0"/>
              </a:spcAft>
              <a:buNone/>
            </a:pPr>
            <a:r>
              <a:rPr lang="en" sz="1200"/>
              <a:t>‚Ä¢ The junior agent wanted to confirm if they should create a ticket to cancel the refund.</a:t>
            </a:r>
            <a:endParaRPr sz="1200"/>
          </a:p>
          <a:p>
            <a:pPr indent="0" lvl="0" marL="0" rtl="0" algn="l">
              <a:lnSpc>
                <a:spcPct val="115000"/>
              </a:lnSpc>
              <a:spcBef>
                <a:spcPts val="0"/>
              </a:spcBef>
              <a:spcAft>
                <a:spcPts val="0"/>
              </a:spcAft>
              <a:buNone/>
            </a:pPr>
            <a:r>
              <a:rPr lang="en" sz="1200"/>
              <a:t>‚Ä¢ The senior agent agreed that the refund should be stopped as the policy value and amount paid both show $2733 in the Billing Center.</a:t>
            </a:r>
            <a:endParaRPr sz="1200"/>
          </a:p>
          <a:p>
            <a:pPr indent="0" lvl="0" marL="0" rtl="0" algn="l">
              <a:lnSpc>
                <a:spcPct val="115000"/>
              </a:lnSpc>
              <a:spcBef>
                <a:spcPts val="0"/>
              </a:spcBef>
              <a:spcAft>
                <a:spcPts val="0"/>
              </a:spcAft>
              <a:buNone/>
            </a:pPr>
            <a:r>
              <a:rPr lang="en" sz="1200"/>
              <a:t>‚Ä¢ The junior agent will create a ticket to cancel the refund.</a:t>
            </a:r>
            <a:endParaRPr sz="1200"/>
          </a:p>
          <a:p>
            <a:pPr indent="0" lvl="0" marL="0" rtl="0" algn="l">
              <a:lnSpc>
                <a:spcPct val="115000"/>
              </a:lnSpc>
              <a:spcBef>
                <a:spcPts val="0"/>
              </a:spcBef>
              <a:spcAft>
                <a:spcPts val="0"/>
              </a:spcAft>
              <a:buNone/>
            </a:pPr>
            <a:r>
              <a:rPr lang="en" sz="1200"/>
              <a:t>‚Ä¢ The call ended with both agents exchanging pleasantries.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0fda23068a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0fda23068a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Call was regarding a system malfunction leading to extra refunds. Ticket needed to be created to stop.</a:t>
            </a:r>
            <a:endParaRPr sz="1200">
              <a:solidFill>
                <a:srgbClr val="E9713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junior agent (Anthony Little) called the senior agent (Phillip Harrington) for support on a policy issue.</a:t>
            </a:r>
            <a:endParaRPr sz="1200"/>
          </a:p>
          <a:p>
            <a:pPr indent="0" lvl="0" marL="0" rtl="0" algn="l">
              <a:lnSpc>
                <a:spcPct val="115000"/>
              </a:lnSpc>
              <a:spcBef>
                <a:spcPts val="0"/>
              </a:spcBef>
              <a:spcAft>
                <a:spcPts val="0"/>
              </a:spcAft>
              <a:buNone/>
            </a:pPr>
            <a:r>
              <a:rPr lang="en" sz="1200"/>
              <a:t>‚Ä¢ The policy in question belongs to Tiffany Zimmerman, policy number 206-739-05.</a:t>
            </a:r>
            <a:endParaRPr sz="1200"/>
          </a:p>
          <a:p>
            <a:pPr indent="0" lvl="0" marL="0" rtl="0" algn="l">
              <a:lnSpc>
                <a:spcPct val="115000"/>
              </a:lnSpc>
              <a:spcBef>
                <a:spcPts val="0"/>
              </a:spcBef>
              <a:spcAft>
                <a:spcPts val="0"/>
              </a:spcAft>
              <a:buNone/>
            </a:pPr>
            <a:r>
              <a:rPr lang="en" sz="1200"/>
              <a:t>‚Ä¢ The total premium for the term was $2733.</a:t>
            </a:r>
            <a:endParaRPr sz="1200"/>
          </a:p>
          <a:p>
            <a:pPr indent="0" lvl="0" marL="0" rtl="0" algn="l">
              <a:lnSpc>
                <a:spcPct val="115000"/>
              </a:lnSpc>
              <a:spcBef>
                <a:spcPts val="0"/>
              </a:spcBef>
              <a:spcAft>
                <a:spcPts val="0"/>
              </a:spcAft>
              <a:buNone/>
            </a:pPr>
            <a:r>
              <a:rPr lang="en" sz="1200"/>
              <a:t>‚Ä¢ Three payments were made: $1100, $1000, and $633, totaling $2733.</a:t>
            </a:r>
            <a:endParaRPr sz="1200"/>
          </a:p>
          <a:p>
            <a:pPr indent="0" lvl="0" marL="0" rtl="0" algn="l">
              <a:lnSpc>
                <a:spcPct val="115000"/>
              </a:lnSpc>
              <a:spcBef>
                <a:spcPts val="0"/>
              </a:spcBef>
              <a:spcAft>
                <a:spcPts val="0"/>
              </a:spcAft>
              <a:buNone/>
            </a:pPr>
            <a:r>
              <a:rPr lang="en" sz="1200"/>
              <a:t>‚Ä¢ Despite the balance being zero, there was a refund of $849 scheduled for November 9th.</a:t>
            </a:r>
            <a:endParaRPr sz="1200"/>
          </a:p>
          <a:p>
            <a:pPr indent="0" lvl="0" marL="0" rtl="0" algn="l">
              <a:lnSpc>
                <a:spcPct val="115000"/>
              </a:lnSpc>
              <a:spcBef>
                <a:spcPts val="0"/>
              </a:spcBef>
              <a:spcAft>
                <a:spcPts val="0"/>
              </a:spcAft>
              <a:buNone/>
            </a:pPr>
            <a:r>
              <a:rPr lang="en" sz="1200"/>
              <a:t>‚Ä¢ The policy was canceled for nonpayment on October 25th.</a:t>
            </a:r>
            <a:endParaRPr sz="1200"/>
          </a:p>
          <a:p>
            <a:pPr indent="0" lvl="0" marL="0" rtl="0" algn="l">
              <a:lnSpc>
                <a:spcPct val="115000"/>
              </a:lnSpc>
              <a:spcBef>
                <a:spcPts val="0"/>
              </a:spcBef>
              <a:spcAft>
                <a:spcPts val="0"/>
              </a:spcAft>
              <a:buNone/>
            </a:pPr>
            <a:r>
              <a:rPr lang="en" sz="1200"/>
              <a:t>‚Ä¢ A payment of $633 was received on October 30th to zero out the balance.</a:t>
            </a:r>
            <a:endParaRPr sz="1200"/>
          </a:p>
          <a:p>
            <a:pPr indent="0" lvl="0" marL="0" rtl="0" algn="l">
              <a:lnSpc>
                <a:spcPct val="115000"/>
              </a:lnSpc>
              <a:spcBef>
                <a:spcPts val="0"/>
              </a:spcBef>
              <a:spcAft>
                <a:spcPts val="0"/>
              </a:spcAft>
              <a:buNone/>
            </a:pPr>
            <a:r>
              <a:rPr lang="en" sz="1200"/>
              <a:t>‚Ä¢ The policy was reinstated the day before the call.</a:t>
            </a:r>
            <a:endParaRPr sz="1200"/>
          </a:p>
          <a:p>
            <a:pPr indent="0" lvl="0" marL="0" rtl="0" algn="l">
              <a:lnSpc>
                <a:spcPct val="115000"/>
              </a:lnSpc>
              <a:spcBef>
                <a:spcPts val="0"/>
              </a:spcBef>
              <a:spcAft>
                <a:spcPts val="0"/>
              </a:spcAft>
              <a:buNone/>
            </a:pPr>
            <a:r>
              <a:rPr lang="en" sz="1200"/>
              <a:t>‚Ä¢ A second credit disbursement was sent back and reapplied.</a:t>
            </a:r>
            <a:endParaRPr sz="1200"/>
          </a:p>
          <a:p>
            <a:pPr indent="0" lvl="0" marL="0" rtl="0" algn="l">
              <a:lnSpc>
                <a:spcPct val="115000"/>
              </a:lnSpc>
              <a:spcBef>
                <a:spcPts val="0"/>
              </a:spcBef>
              <a:spcAft>
                <a:spcPts val="0"/>
              </a:spcAft>
              <a:buNone/>
            </a:pPr>
            <a:r>
              <a:rPr lang="en" sz="1200"/>
              <a:t>‚Ä¢ The junior agent wanted to confirm if they should create a ticket to cancel the refund.</a:t>
            </a:r>
            <a:endParaRPr sz="1200"/>
          </a:p>
          <a:p>
            <a:pPr indent="0" lvl="0" marL="0" rtl="0" algn="l">
              <a:lnSpc>
                <a:spcPct val="115000"/>
              </a:lnSpc>
              <a:spcBef>
                <a:spcPts val="0"/>
              </a:spcBef>
              <a:spcAft>
                <a:spcPts val="0"/>
              </a:spcAft>
              <a:buNone/>
            </a:pPr>
            <a:r>
              <a:rPr lang="en" sz="1200"/>
              <a:t>‚Ä¢ The senior agent agreed that the refund should be stopped as the policy value and amount paid both show $2733 in the Billing Center.</a:t>
            </a:r>
            <a:endParaRPr sz="1200"/>
          </a:p>
          <a:p>
            <a:pPr indent="0" lvl="0" marL="0" rtl="0" algn="l">
              <a:lnSpc>
                <a:spcPct val="115000"/>
              </a:lnSpc>
              <a:spcBef>
                <a:spcPts val="0"/>
              </a:spcBef>
              <a:spcAft>
                <a:spcPts val="0"/>
              </a:spcAft>
              <a:buNone/>
            </a:pPr>
            <a:r>
              <a:rPr lang="en" sz="1200"/>
              <a:t>‚Ä¢ The junior agent will create a ticket to cancel the refund.</a:t>
            </a:r>
            <a:endParaRPr sz="1200"/>
          </a:p>
          <a:p>
            <a:pPr indent="0" lvl="0" marL="0" rtl="0" algn="l">
              <a:lnSpc>
                <a:spcPct val="115000"/>
              </a:lnSpc>
              <a:spcBef>
                <a:spcPts val="0"/>
              </a:spcBef>
              <a:spcAft>
                <a:spcPts val="0"/>
              </a:spcAft>
              <a:buNone/>
            </a:pPr>
            <a:r>
              <a:rPr lang="en" sz="1200"/>
              <a:t>‚Ä¢ The call ended with both agents exchanging pleasantries.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0fda23068a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0fda23068a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Call was regarding a system malfunction leading to extra refunds. Ticket needed to be created to stop.</a:t>
            </a:r>
            <a:endParaRPr sz="1200">
              <a:solidFill>
                <a:srgbClr val="E9713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junior agent (Anthony Little) called the senior agent (Phillip Harrington) for support on a policy issue.</a:t>
            </a:r>
            <a:endParaRPr sz="1200"/>
          </a:p>
          <a:p>
            <a:pPr indent="0" lvl="0" marL="0" rtl="0" algn="l">
              <a:lnSpc>
                <a:spcPct val="115000"/>
              </a:lnSpc>
              <a:spcBef>
                <a:spcPts val="0"/>
              </a:spcBef>
              <a:spcAft>
                <a:spcPts val="0"/>
              </a:spcAft>
              <a:buNone/>
            </a:pPr>
            <a:r>
              <a:rPr lang="en" sz="1200"/>
              <a:t>‚Ä¢ The policy in question belongs to Tiffany Zimmerman, policy number 206-739-05.</a:t>
            </a:r>
            <a:endParaRPr sz="1200"/>
          </a:p>
          <a:p>
            <a:pPr indent="0" lvl="0" marL="0" rtl="0" algn="l">
              <a:lnSpc>
                <a:spcPct val="115000"/>
              </a:lnSpc>
              <a:spcBef>
                <a:spcPts val="0"/>
              </a:spcBef>
              <a:spcAft>
                <a:spcPts val="0"/>
              </a:spcAft>
              <a:buNone/>
            </a:pPr>
            <a:r>
              <a:rPr lang="en" sz="1200"/>
              <a:t>‚Ä¢ The total premium for the term was $2733.</a:t>
            </a:r>
            <a:endParaRPr sz="1200"/>
          </a:p>
          <a:p>
            <a:pPr indent="0" lvl="0" marL="0" rtl="0" algn="l">
              <a:lnSpc>
                <a:spcPct val="115000"/>
              </a:lnSpc>
              <a:spcBef>
                <a:spcPts val="0"/>
              </a:spcBef>
              <a:spcAft>
                <a:spcPts val="0"/>
              </a:spcAft>
              <a:buNone/>
            </a:pPr>
            <a:r>
              <a:rPr lang="en" sz="1200"/>
              <a:t>‚Ä¢ Three payments were made: $1100, $1000, and $633, totaling $2733.</a:t>
            </a:r>
            <a:endParaRPr sz="1200"/>
          </a:p>
          <a:p>
            <a:pPr indent="0" lvl="0" marL="0" rtl="0" algn="l">
              <a:lnSpc>
                <a:spcPct val="115000"/>
              </a:lnSpc>
              <a:spcBef>
                <a:spcPts val="0"/>
              </a:spcBef>
              <a:spcAft>
                <a:spcPts val="0"/>
              </a:spcAft>
              <a:buNone/>
            </a:pPr>
            <a:r>
              <a:rPr lang="en" sz="1200"/>
              <a:t>‚Ä¢ Despite the balance being zero, there was a refund of $849 scheduled for November 9th.</a:t>
            </a:r>
            <a:endParaRPr sz="1200"/>
          </a:p>
          <a:p>
            <a:pPr indent="0" lvl="0" marL="0" rtl="0" algn="l">
              <a:lnSpc>
                <a:spcPct val="115000"/>
              </a:lnSpc>
              <a:spcBef>
                <a:spcPts val="0"/>
              </a:spcBef>
              <a:spcAft>
                <a:spcPts val="0"/>
              </a:spcAft>
              <a:buNone/>
            </a:pPr>
            <a:r>
              <a:rPr lang="en" sz="1200"/>
              <a:t>‚Ä¢ The policy was canceled for nonpayment on October 25th.</a:t>
            </a:r>
            <a:endParaRPr sz="1200"/>
          </a:p>
          <a:p>
            <a:pPr indent="0" lvl="0" marL="0" rtl="0" algn="l">
              <a:lnSpc>
                <a:spcPct val="115000"/>
              </a:lnSpc>
              <a:spcBef>
                <a:spcPts val="0"/>
              </a:spcBef>
              <a:spcAft>
                <a:spcPts val="0"/>
              </a:spcAft>
              <a:buNone/>
            </a:pPr>
            <a:r>
              <a:rPr lang="en" sz="1200"/>
              <a:t>‚Ä¢ A payment of $633 was received on October 30th to zero out the balance.</a:t>
            </a:r>
            <a:endParaRPr sz="1200"/>
          </a:p>
          <a:p>
            <a:pPr indent="0" lvl="0" marL="0" rtl="0" algn="l">
              <a:lnSpc>
                <a:spcPct val="115000"/>
              </a:lnSpc>
              <a:spcBef>
                <a:spcPts val="0"/>
              </a:spcBef>
              <a:spcAft>
                <a:spcPts val="0"/>
              </a:spcAft>
              <a:buNone/>
            </a:pPr>
            <a:r>
              <a:rPr lang="en" sz="1200"/>
              <a:t>‚Ä¢ The policy was reinstated the day before the call.</a:t>
            </a:r>
            <a:endParaRPr sz="1200"/>
          </a:p>
          <a:p>
            <a:pPr indent="0" lvl="0" marL="0" rtl="0" algn="l">
              <a:lnSpc>
                <a:spcPct val="115000"/>
              </a:lnSpc>
              <a:spcBef>
                <a:spcPts val="0"/>
              </a:spcBef>
              <a:spcAft>
                <a:spcPts val="0"/>
              </a:spcAft>
              <a:buNone/>
            </a:pPr>
            <a:r>
              <a:rPr lang="en" sz="1200"/>
              <a:t>‚Ä¢ A second credit disbursement was sent back and reapplied.</a:t>
            </a:r>
            <a:endParaRPr sz="1200"/>
          </a:p>
          <a:p>
            <a:pPr indent="0" lvl="0" marL="0" rtl="0" algn="l">
              <a:lnSpc>
                <a:spcPct val="115000"/>
              </a:lnSpc>
              <a:spcBef>
                <a:spcPts val="0"/>
              </a:spcBef>
              <a:spcAft>
                <a:spcPts val="0"/>
              </a:spcAft>
              <a:buNone/>
            </a:pPr>
            <a:r>
              <a:rPr lang="en" sz="1200"/>
              <a:t>‚Ä¢ The junior agent wanted to confirm if they should create a ticket to cancel the refund.</a:t>
            </a:r>
            <a:endParaRPr sz="1200"/>
          </a:p>
          <a:p>
            <a:pPr indent="0" lvl="0" marL="0" rtl="0" algn="l">
              <a:lnSpc>
                <a:spcPct val="115000"/>
              </a:lnSpc>
              <a:spcBef>
                <a:spcPts val="0"/>
              </a:spcBef>
              <a:spcAft>
                <a:spcPts val="0"/>
              </a:spcAft>
              <a:buNone/>
            </a:pPr>
            <a:r>
              <a:rPr lang="en" sz="1200"/>
              <a:t>‚Ä¢ The senior agent agreed that the refund should be stopped as the policy value and amount paid both show $2733 in the Billing Center.</a:t>
            </a:r>
            <a:endParaRPr sz="1200"/>
          </a:p>
          <a:p>
            <a:pPr indent="0" lvl="0" marL="0" rtl="0" algn="l">
              <a:lnSpc>
                <a:spcPct val="115000"/>
              </a:lnSpc>
              <a:spcBef>
                <a:spcPts val="0"/>
              </a:spcBef>
              <a:spcAft>
                <a:spcPts val="0"/>
              </a:spcAft>
              <a:buNone/>
            </a:pPr>
            <a:r>
              <a:rPr lang="en" sz="1200"/>
              <a:t>‚Ä¢ The junior agent will create a ticket to cancel the refund.</a:t>
            </a:r>
            <a:endParaRPr sz="1200"/>
          </a:p>
          <a:p>
            <a:pPr indent="0" lvl="0" marL="0" rtl="0" algn="l">
              <a:lnSpc>
                <a:spcPct val="115000"/>
              </a:lnSpc>
              <a:spcBef>
                <a:spcPts val="0"/>
              </a:spcBef>
              <a:spcAft>
                <a:spcPts val="0"/>
              </a:spcAft>
              <a:buNone/>
            </a:pPr>
            <a:r>
              <a:rPr lang="en" sz="1200"/>
              <a:t>‚Ä¢ The call ended with both agents exchanging pleasantries.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0fda23068a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0fda23068a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Call was regarding a system malfunction leading to extra refunds. Ticket needed to be created to stop.</a:t>
            </a:r>
            <a:endParaRPr sz="1200">
              <a:solidFill>
                <a:srgbClr val="E9713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junior agent (Anthony Little) called the senior agent (Phillip Harrington) for support on a policy issue.</a:t>
            </a:r>
            <a:endParaRPr sz="1200"/>
          </a:p>
          <a:p>
            <a:pPr indent="0" lvl="0" marL="0" rtl="0" algn="l">
              <a:lnSpc>
                <a:spcPct val="115000"/>
              </a:lnSpc>
              <a:spcBef>
                <a:spcPts val="0"/>
              </a:spcBef>
              <a:spcAft>
                <a:spcPts val="0"/>
              </a:spcAft>
              <a:buNone/>
            </a:pPr>
            <a:r>
              <a:rPr lang="en" sz="1200"/>
              <a:t>‚Ä¢ The policy in question belongs to Tiffany Zimmerman, policy number 206-739-05.</a:t>
            </a:r>
            <a:endParaRPr sz="1200"/>
          </a:p>
          <a:p>
            <a:pPr indent="0" lvl="0" marL="0" rtl="0" algn="l">
              <a:lnSpc>
                <a:spcPct val="115000"/>
              </a:lnSpc>
              <a:spcBef>
                <a:spcPts val="0"/>
              </a:spcBef>
              <a:spcAft>
                <a:spcPts val="0"/>
              </a:spcAft>
              <a:buNone/>
            </a:pPr>
            <a:r>
              <a:rPr lang="en" sz="1200"/>
              <a:t>‚Ä¢ The total premium for the term was $2733.</a:t>
            </a:r>
            <a:endParaRPr sz="1200"/>
          </a:p>
          <a:p>
            <a:pPr indent="0" lvl="0" marL="0" rtl="0" algn="l">
              <a:lnSpc>
                <a:spcPct val="115000"/>
              </a:lnSpc>
              <a:spcBef>
                <a:spcPts val="0"/>
              </a:spcBef>
              <a:spcAft>
                <a:spcPts val="0"/>
              </a:spcAft>
              <a:buNone/>
            </a:pPr>
            <a:r>
              <a:rPr lang="en" sz="1200"/>
              <a:t>‚Ä¢ Three payments were made: $1100, $1000, and $633, totaling $2733.</a:t>
            </a:r>
            <a:endParaRPr sz="1200"/>
          </a:p>
          <a:p>
            <a:pPr indent="0" lvl="0" marL="0" rtl="0" algn="l">
              <a:lnSpc>
                <a:spcPct val="115000"/>
              </a:lnSpc>
              <a:spcBef>
                <a:spcPts val="0"/>
              </a:spcBef>
              <a:spcAft>
                <a:spcPts val="0"/>
              </a:spcAft>
              <a:buNone/>
            </a:pPr>
            <a:r>
              <a:rPr lang="en" sz="1200"/>
              <a:t>‚Ä¢ Despite the balance being zero, there was a refund of $849 scheduled for November 9th.</a:t>
            </a:r>
            <a:endParaRPr sz="1200"/>
          </a:p>
          <a:p>
            <a:pPr indent="0" lvl="0" marL="0" rtl="0" algn="l">
              <a:lnSpc>
                <a:spcPct val="115000"/>
              </a:lnSpc>
              <a:spcBef>
                <a:spcPts val="0"/>
              </a:spcBef>
              <a:spcAft>
                <a:spcPts val="0"/>
              </a:spcAft>
              <a:buNone/>
            </a:pPr>
            <a:r>
              <a:rPr lang="en" sz="1200"/>
              <a:t>‚Ä¢ The policy was canceled for nonpayment on October 25th.</a:t>
            </a:r>
            <a:endParaRPr sz="1200"/>
          </a:p>
          <a:p>
            <a:pPr indent="0" lvl="0" marL="0" rtl="0" algn="l">
              <a:lnSpc>
                <a:spcPct val="115000"/>
              </a:lnSpc>
              <a:spcBef>
                <a:spcPts val="0"/>
              </a:spcBef>
              <a:spcAft>
                <a:spcPts val="0"/>
              </a:spcAft>
              <a:buNone/>
            </a:pPr>
            <a:r>
              <a:rPr lang="en" sz="1200"/>
              <a:t>‚Ä¢ A payment of $633 was received on October 30th to zero out the balance.</a:t>
            </a:r>
            <a:endParaRPr sz="1200"/>
          </a:p>
          <a:p>
            <a:pPr indent="0" lvl="0" marL="0" rtl="0" algn="l">
              <a:lnSpc>
                <a:spcPct val="115000"/>
              </a:lnSpc>
              <a:spcBef>
                <a:spcPts val="0"/>
              </a:spcBef>
              <a:spcAft>
                <a:spcPts val="0"/>
              </a:spcAft>
              <a:buNone/>
            </a:pPr>
            <a:r>
              <a:rPr lang="en" sz="1200"/>
              <a:t>‚Ä¢ The policy was reinstated the day before the call.</a:t>
            </a:r>
            <a:endParaRPr sz="1200"/>
          </a:p>
          <a:p>
            <a:pPr indent="0" lvl="0" marL="0" rtl="0" algn="l">
              <a:lnSpc>
                <a:spcPct val="115000"/>
              </a:lnSpc>
              <a:spcBef>
                <a:spcPts val="0"/>
              </a:spcBef>
              <a:spcAft>
                <a:spcPts val="0"/>
              </a:spcAft>
              <a:buNone/>
            </a:pPr>
            <a:r>
              <a:rPr lang="en" sz="1200"/>
              <a:t>‚Ä¢ A second credit disbursement was sent back and reapplied.</a:t>
            </a:r>
            <a:endParaRPr sz="1200"/>
          </a:p>
          <a:p>
            <a:pPr indent="0" lvl="0" marL="0" rtl="0" algn="l">
              <a:lnSpc>
                <a:spcPct val="115000"/>
              </a:lnSpc>
              <a:spcBef>
                <a:spcPts val="0"/>
              </a:spcBef>
              <a:spcAft>
                <a:spcPts val="0"/>
              </a:spcAft>
              <a:buNone/>
            </a:pPr>
            <a:r>
              <a:rPr lang="en" sz="1200"/>
              <a:t>‚Ä¢ The junior agent wanted to confirm if they should create a ticket to cancel the refund.</a:t>
            </a:r>
            <a:endParaRPr sz="1200"/>
          </a:p>
          <a:p>
            <a:pPr indent="0" lvl="0" marL="0" rtl="0" algn="l">
              <a:lnSpc>
                <a:spcPct val="115000"/>
              </a:lnSpc>
              <a:spcBef>
                <a:spcPts val="0"/>
              </a:spcBef>
              <a:spcAft>
                <a:spcPts val="0"/>
              </a:spcAft>
              <a:buNone/>
            </a:pPr>
            <a:r>
              <a:rPr lang="en" sz="1200"/>
              <a:t>‚Ä¢ The senior agent agreed that the refund should be stopped as the policy value and amount paid both show $2733 in the Billing Center.</a:t>
            </a:r>
            <a:endParaRPr sz="1200"/>
          </a:p>
          <a:p>
            <a:pPr indent="0" lvl="0" marL="0" rtl="0" algn="l">
              <a:lnSpc>
                <a:spcPct val="115000"/>
              </a:lnSpc>
              <a:spcBef>
                <a:spcPts val="0"/>
              </a:spcBef>
              <a:spcAft>
                <a:spcPts val="0"/>
              </a:spcAft>
              <a:buNone/>
            </a:pPr>
            <a:r>
              <a:rPr lang="en" sz="1200"/>
              <a:t>‚Ä¢ The junior agent will create a ticket to cancel the refund.</a:t>
            </a:r>
            <a:endParaRPr sz="1200"/>
          </a:p>
          <a:p>
            <a:pPr indent="0" lvl="0" marL="0" rtl="0" algn="l">
              <a:lnSpc>
                <a:spcPct val="115000"/>
              </a:lnSpc>
              <a:spcBef>
                <a:spcPts val="0"/>
              </a:spcBef>
              <a:spcAft>
                <a:spcPts val="0"/>
              </a:spcAft>
              <a:buNone/>
            </a:pPr>
            <a:r>
              <a:rPr lang="en" sz="1200"/>
              <a:t>‚Ä¢ The call ended with both agents exchanging pleasantries.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0fda23068a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0fda23068a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Call was regarding a system malfunction leading to extra refunds. Ticket needed to be created to stop.</a:t>
            </a:r>
            <a:endParaRPr sz="1200">
              <a:solidFill>
                <a:srgbClr val="E9713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junior agent (Anthony Little) called the senior agent (Phillip Harrington) for support on a policy issue.</a:t>
            </a:r>
            <a:endParaRPr sz="1200"/>
          </a:p>
          <a:p>
            <a:pPr indent="0" lvl="0" marL="0" rtl="0" algn="l">
              <a:lnSpc>
                <a:spcPct val="115000"/>
              </a:lnSpc>
              <a:spcBef>
                <a:spcPts val="0"/>
              </a:spcBef>
              <a:spcAft>
                <a:spcPts val="0"/>
              </a:spcAft>
              <a:buNone/>
            </a:pPr>
            <a:r>
              <a:rPr lang="en" sz="1200"/>
              <a:t>‚Ä¢ The policy in question belongs to Tiffany Zimmerman, policy number 206-739-05.</a:t>
            </a:r>
            <a:endParaRPr sz="1200"/>
          </a:p>
          <a:p>
            <a:pPr indent="0" lvl="0" marL="0" rtl="0" algn="l">
              <a:lnSpc>
                <a:spcPct val="115000"/>
              </a:lnSpc>
              <a:spcBef>
                <a:spcPts val="0"/>
              </a:spcBef>
              <a:spcAft>
                <a:spcPts val="0"/>
              </a:spcAft>
              <a:buNone/>
            </a:pPr>
            <a:r>
              <a:rPr lang="en" sz="1200"/>
              <a:t>‚Ä¢ The total premium for the term was $2733.</a:t>
            </a:r>
            <a:endParaRPr sz="1200"/>
          </a:p>
          <a:p>
            <a:pPr indent="0" lvl="0" marL="0" rtl="0" algn="l">
              <a:lnSpc>
                <a:spcPct val="115000"/>
              </a:lnSpc>
              <a:spcBef>
                <a:spcPts val="0"/>
              </a:spcBef>
              <a:spcAft>
                <a:spcPts val="0"/>
              </a:spcAft>
              <a:buNone/>
            </a:pPr>
            <a:r>
              <a:rPr lang="en" sz="1200"/>
              <a:t>‚Ä¢ Three payments were made: $1100, $1000, and $633, totaling $2733.</a:t>
            </a:r>
            <a:endParaRPr sz="1200"/>
          </a:p>
          <a:p>
            <a:pPr indent="0" lvl="0" marL="0" rtl="0" algn="l">
              <a:lnSpc>
                <a:spcPct val="115000"/>
              </a:lnSpc>
              <a:spcBef>
                <a:spcPts val="0"/>
              </a:spcBef>
              <a:spcAft>
                <a:spcPts val="0"/>
              </a:spcAft>
              <a:buNone/>
            </a:pPr>
            <a:r>
              <a:rPr lang="en" sz="1200"/>
              <a:t>‚Ä¢ Despite the balance being zero, there was a refund of $849 scheduled for November 9th.</a:t>
            </a:r>
            <a:endParaRPr sz="1200"/>
          </a:p>
          <a:p>
            <a:pPr indent="0" lvl="0" marL="0" rtl="0" algn="l">
              <a:lnSpc>
                <a:spcPct val="115000"/>
              </a:lnSpc>
              <a:spcBef>
                <a:spcPts val="0"/>
              </a:spcBef>
              <a:spcAft>
                <a:spcPts val="0"/>
              </a:spcAft>
              <a:buNone/>
            </a:pPr>
            <a:r>
              <a:rPr lang="en" sz="1200"/>
              <a:t>‚Ä¢ The policy was canceled for nonpayment on October 25th.</a:t>
            </a:r>
            <a:endParaRPr sz="1200"/>
          </a:p>
          <a:p>
            <a:pPr indent="0" lvl="0" marL="0" rtl="0" algn="l">
              <a:lnSpc>
                <a:spcPct val="115000"/>
              </a:lnSpc>
              <a:spcBef>
                <a:spcPts val="0"/>
              </a:spcBef>
              <a:spcAft>
                <a:spcPts val="0"/>
              </a:spcAft>
              <a:buNone/>
            </a:pPr>
            <a:r>
              <a:rPr lang="en" sz="1200"/>
              <a:t>‚Ä¢ A payment of $633 was received on October 30th to zero out the balance.</a:t>
            </a:r>
            <a:endParaRPr sz="1200"/>
          </a:p>
          <a:p>
            <a:pPr indent="0" lvl="0" marL="0" rtl="0" algn="l">
              <a:lnSpc>
                <a:spcPct val="115000"/>
              </a:lnSpc>
              <a:spcBef>
                <a:spcPts val="0"/>
              </a:spcBef>
              <a:spcAft>
                <a:spcPts val="0"/>
              </a:spcAft>
              <a:buNone/>
            </a:pPr>
            <a:r>
              <a:rPr lang="en" sz="1200"/>
              <a:t>‚Ä¢ The policy was reinstated the day before the call.</a:t>
            </a:r>
            <a:endParaRPr sz="1200"/>
          </a:p>
          <a:p>
            <a:pPr indent="0" lvl="0" marL="0" rtl="0" algn="l">
              <a:lnSpc>
                <a:spcPct val="115000"/>
              </a:lnSpc>
              <a:spcBef>
                <a:spcPts val="0"/>
              </a:spcBef>
              <a:spcAft>
                <a:spcPts val="0"/>
              </a:spcAft>
              <a:buNone/>
            </a:pPr>
            <a:r>
              <a:rPr lang="en" sz="1200"/>
              <a:t>‚Ä¢ A second credit disbursement was sent back and reapplied.</a:t>
            </a:r>
            <a:endParaRPr sz="1200"/>
          </a:p>
          <a:p>
            <a:pPr indent="0" lvl="0" marL="0" rtl="0" algn="l">
              <a:lnSpc>
                <a:spcPct val="115000"/>
              </a:lnSpc>
              <a:spcBef>
                <a:spcPts val="0"/>
              </a:spcBef>
              <a:spcAft>
                <a:spcPts val="0"/>
              </a:spcAft>
              <a:buNone/>
            </a:pPr>
            <a:r>
              <a:rPr lang="en" sz="1200"/>
              <a:t>‚Ä¢ The junior agent wanted to confirm if they should create a ticket to cancel the refund.</a:t>
            </a:r>
            <a:endParaRPr sz="1200"/>
          </a:p>
          <a:p>
            <a:pPr indent="0" lvl="0" marL="0" rtl="0" algn="l">
              <a:lnSpc>
                <a:spcPct val="115000"/>
              </a:lnSpc>
              <a:spcBef>
                <a:spcPts val="0"/>
              </a:spcBef>
              <a:spcAft>
                <a:spcPts val="0"/>
              </a:spcAft>
              <a:buNone/>
            </a:pPr>
            <a:r>
              <a:rPr lang="en" sz="1200"/>
              <a:t>‚Ä¢ The senior agent agreed that the refund should be stopped as the policy value and amount paid both show $2733 in the Billing Center.</a:t>
            </a:r>
            <a:endParaRPr sz="1200"/>
          </a:p>
          <a:p>
            <a:pPr indent="0" lvl="0" marL="0" rtl="0" algn="l">
              <a:lnSpc>
                <a:spcPct val="115000"/>
              </a:lnSpc>
              <a:spcBef>
                <a:spcPts val="0"/>
              </a:spcBef>
              <a:spcAft>
                <a:spcPts val="0"/>
              </a:spcAft>
              <a:buNone/>
            </a:pPr>
            <a:r>
              <a:rPr lang="en" sz="1200"/>
              <a:t>‚Ä¢ The junior agent will create a ticket to cancel the refund.</a:t>
            </a:r>
            <a:endParaRPr sz="1200"/>
          </a:p>
          <a:p>
            <a:pPr indent="0" lvl="0" marL="0" rtl="0" algn="l">
              <a:lnSpc>
                <a:spcPct val="115000"/>
              </a:lnSpc>
              <a:spcBef>
                <a:spcPts val="0"/>
              </a:spcBef>
              <a:spcAft>
                <a:spcPts val="0"/>
              </a:spcAft>
              <a:buNone/>
            </a:pPr>
            <a:r>
              <a:rPr lang="en" sz="1200"/>
              <a:t>‚Ä¢ The call ended with both agents exchanging pleasantries.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0fda23068a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0fda23068a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E97132"/>
                </a:solidFill>
              </a:rPr>
              <a:t>Call was regarding a system malfunction leading to extra refunds. Ticket needed to be created to stop.</a:t>
            </a:r>
            <a:endParaRPr sz="1200">
              <a:solidFill>
                <a:srgbClr val="E9713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t>‚Ä¢ The junior agent (Anthony Little) called the senior agent (Phillip Harrington) for support on a policy issue.</a:t>
            </a:r>
            <a:endParaRPr sz="1200"/>
          </a:p>
          <a:p>
            <a:pPr indent="0" lvl="0" marL="0" rtl="0" algn="l">
              <a:lnSpc>
                <a:spcPct val="115000"/>
              </a:lnSpc>
              <a:spcBef>
                <a:spcPts val="0"/>
              </a:spcBef>
              <a:spcAft>
                <a:spcPts val="0"/>
              </a:spcAft>
              <a:buNone/>
            </a:pPr>
            <a:r>
              <a:rPr lang="en" sz="1200"/>
              <a:t>‚Ä¢ The policy in question belongs to Tiffany Zimmerman, policy number 206-739-05.</a:t>
            </a:r>
            <a:endParaRPr sz="1200"/>
          </a:p>
          <a:p>
            <a:pPr indent="0" lvl="0" marL="0" rtl="0" algn="l">
              <a:lnSpc>
                <a:spcPct val="115000"/>
              </a:lnSpc>
              <a:spcBef>
                <a:spcPts val="0"/>
              </a:spcBef>
              <a:spcAft>
                <a:spcPts val="0"/>
              </a:spcAft>
              <a:buNone/>
            </a:pPr>
            <a:r>
              <a:rPr lang="en" sz="1200"/>
              <a:t>‚Ä¢ The total premium for the term was $2733.</a:t>
            </a:r>
            <a:endParaRPr sz="1200"/>
          </a:p>
          <a:p>
            <a:pPr indent="0" lvl="0" marL="0" rtl="0" algn="l">
              <a:lnSpc>
                <a:spcPct val="115000"/>
              </a:lnSpc>
              <a:spcBef>
                <a:spcPts val="0"/>
              </a:spcBef>
              <a:spcAft>
                <a:spcPts val="0"/>
              </a:spcAft>
              <a:buNone/>
            </a:pPr>
            <a:r>
              <a:rPr lang="en" sz="1200"/>
              <a:t>‚Ä¢ Three payments were made: $1100, $1000, and $633, totaling $2733.</a:t>
            </a:r>
            <a:endParaRPr sz="1200"/>
          </a:p>
          <a:p>
            <a:pPr indent="0" lvl="0" marL="0" rtl="0" algn="l">
              <a:lnSpc>
                <a:spcPct val="115000"/>
              </a:lnSpc>
              <a:spcBef>
                <a:spcPts val="0"/>
              </a:spcBef>
              <a:spcAft>
                <a:spcPts val="0"/>
              </a:spcAft>
              <a:buNone/>
            </a:pPr>
            <a:r>
              <a:rPr lang="en" sz="1200"/>
              <a:t>‚Ä¢ Despite the balance being zero, there was a refund of $849 scheduled for November 9th.</a:t>
            </a:r>
            <a:endParaRPr sz="1200"/>
          </a:p>
          <a:p>
            <a:pPr indent="0" lvl="0" marL="0" rtl="0" algn="l">
              <a:lnSpc>
                <a:spcPct val="115000"/>
              </a:lnSpc>
              <a:spcBef>
                <a:spcPts val="0"/>
              </a:spcBef>
              <a:spcAft>
                <a:spcPts val="0"/>
              </a:spcAft>
              <a:buNone/>
            </a:pPr>
            <a:r>
              <a:rPr lang="en" sz="1200"/>
              <a:t>‚Ä¢ The policy was canceled for nonpayment on October 25th.</a:t>
            </a:r>
            <a:endParaRPr sz="1200"/>
          </a:p>
          <a:p>
            <a:pPr indent="0" lvl="0" marL="0" rtl="0" algn="l">
              <a:lnSpc>
                <a:spcPct val="115000"/>
              </a:lnSpc>
              <a:spcBef>
                <a:spcPts val="0"/>
              </a:spcBef>
              <a:spcAft>
                <a:spcPts val="0"/>
              </a:spcAft>
              <a:buNone/>
            </a:pPr>
            <a:r>
              <a:rPr lang="en" sz="1200"/>
              <a:t>‚Ä¢ A payment of $633 was received on October 30th to zero out the balance.</a:t>
            </a:r>
            <a:endParaRPr sz="1200"/>
          </a:p>
          <a:p>
            <a:pPr indent="0" lvl="0" marL="0" rtl="0" algn="l">
              <a:lnSpc>
                <a:spcPct val="115000"/>
              </a:lnSpc>
              <a:spcBef>
                <a:spcPts val="0"/>
              </a:spcBef>
              <a:spcAft>
                <a:spcPts val="0"/>
              </a:spcAft>
              <a:buNone/>
            </a:pPr>
            <a:r>
              <a:rPr lang="en" sz="1200"/>
              <a:t>‚Ä¢ The policy was reinstated the day before the call.</a:t>
            </a:r>
            <a:endParaRPr sz="1200"/>
          </a:p>
          <a:p>
            <a:pPr indent="0" lvl="0" marL="0" rtl="0" algn="l">
              <a:lnSpc>
                <a:spcPct val="115000"/>
              </a:lnSpc>
              <a:spcBef>
                <a:spcPts val="0"/>
              </a:spcBef>
              <a:spcAft>
                <a:spcPts val="0"/>
              </a:spcAft>
              <a:buNone/>
            </a:pPr>
            <a:r>
              <a:rPr lang="en" sz="1200"/>
              <a:t>‚Ä¢ A second credit disbursement was sent back and reapplied.</a:t>
            </a:r>
            <a:endParaRPr sz="1200"/>
          </a:p>
          <a:p>
            <a:pPr indent="0" lvl="0" marL="0" rtl="0" algn="l">
              <a:lnSpc>
                <a:spcPct val="115000"/>
              </a:lnSpc>
              <a:spcBef>
                <a:spcPts val="0"/>
              </a:spcBef>
              <a:spcAft>
                <a:spcPts val="0"/>
              </a:spcAft>
              <a:buNone/>
            </a:pPr>
            <a:r>
              <a:rPr lang="en" sz="1200"/>
              <a:t>‚Ä¢ The junior agent wanted to confirm if they should create a ticket to cancel the refund.</a:t>
            </a:r>
            <a:endParaRPr sz="1200"/>
          </a:p>
          <a:p>
            <a:pPr indent="0" lvl="0" marL="0" rtl="0" algn="l">
              <a:lnSpc>
                <a:spcPct val="115000"/>
              </a:lnSpc>
              <a:spcBef>
                <a:spcPts val="0"/>
              </a:spcBef>
              <a:spcAft>
                <a:spcPts val="0"/>
              </a:spcAft>
              <a:buNone/>
            </a:pPr>
            <a:r>
              <a:rPr lang="en" sz="1200"/>
              <a:t>‚Ä¢ The senior agent agreed that the refund should be stopped as the policy value and amount paid both show $2733 in the Billing Center.</a:t>
            </a:r>
            <a:endParaRPr sz="1200"/>
          </a:p>
          <a:p>
            <a:pPr indent="0" lvl="0" marL="0" rtl="0" algn="l">
              <a:lnSpc>
                <a:spcPct val="115000"/>
              </a:lnSpc>
              <a:spcBef>
                <a:spcPts val="0"/>
              </a:spcBef>
              <a:spcAft>
                <a:spcPts val="0"/>
              </a:spcAft>
              <a:buNone/>
            </a:pPr>
            <a:r>
              <a:rPr lang="en" sz="1200"/>
              <a:t>‚Ä¢ The junior agent will create a ticket to cancel the refund.</a:t>
            </a:r>
            <a:endParaRPr sz="1200"/>
          </a:p>
          <a:p>
            <a:pPr indent="0" lvl="0" marL="0" rtl="0" algn="l">
              <a:lnSpc>
                <a:spcPct val="115000"/>
              </a:lnSpc>
              <a:spcBef>
                <a:spcPts val="0"/>
              </a:spcBef>
              <a:spcAft>
                <a:spcPts val="0"/>
              </a:spcAft>
              <a:buNone/>
            </a:pPr>
            <a:r>
              <a:rPr lang="en" sz="1200"/>
              <a:t>‚Ä¢ The call ended with both agents exchanging pleasantries.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0fda23068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0fda23068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0f788b543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0f788b543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0f788b5433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0f788b5433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0f788b5433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0f788b5433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Policy clarification now distributed across the new classes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0fda23068a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0fda23068a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06a97df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106a97df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106a97df4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106a97df4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106a97df4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106a97df4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106a97df4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106a97df4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0fda23068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0fda23068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0f788b543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0f788b543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0f788b5433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0f788b5433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0f788b5433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0f788b5433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0fda23068a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0fda23068a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106a97df4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106a97df4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0f788b5433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0f788b5433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0f788b5433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0f788b5433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111a44c1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111a44c1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03962561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03962561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039625613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039625613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039625613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039625613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039625613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039625613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039625613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039625613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1098304a27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1098304a27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1098304a2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1098304a2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1098304a27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1098304a27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hyperlink" Target="https://studio.humanfirst.ai/playbooks/playbook-GD7D67OB45CL7PNOYJTHTW4W/explore/utterances?namespace=definity&amp;dataType=NLG&amp;dataView=data&amp;dataTabId=data-3172469e-07e4-4607-9e28-6943ebb1b483&amp;matchType=1&amp;columnView=pipelines&amp;metadataFilter=pipelineId%3A%3A0%3A%3Apipeline-I5F4FKVGNVH3FPKD4RZXIL7J%3A%3Afalse%7C%7CgenerationRunId%3A%3A0%3A%3A29%3A%3Afalse%7C%7Ckey%3A%3A0%3A%3Aescalation_reason_category%3A%3Afalse&amp;match=Processing&amp;dataSortBy=random-seed&amp;dataSortDir=desc&amp;showDuplicates=tru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hyperlink" Target="https://studio.humanfirst.ai/playbooks/playbook-GD7D67OB45CL7PNOYJTHTW4W/explore/utterances?namespace=definity&amp;dataType=NLG&amp;dataView=data&amp;dataTabId=data-3172469e-07e4-4607-9e28-6943ebb1b483&amp;matchType=1&amp;columnView=pipelines&amp;metadataFilter=pipelineId%3A%3A0%3A%3Apipeline-I5F4FKVGNVH3FPKD4RZXIL7J%3A%3Afalse%7C%7CgenerationRunId%3A%3A0%3A%3A29%3A%3Afalse%7C%7Ckey%3A%3A0%3A%3Aescalation_reason_category%3A%3Afalse&amp;match=Processing&amp;dataSortBy=random-seed&amp;dataSortDir=desc&amp;showDuplicates=tru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hyperlink" Target="https://studio.humanfirst.ai/playbooks/playbook-GD7D67OB45CL7PNOYJTHTW4W/explore/utterances?namespace=definity&amp;dataType=NLG&amp;dataView=data&amp;dataTabId=data-3172469e-07e4-4607-9e28-6943ebb1b483&amp;matchType=1&amp;columnView=pipelines&amp;metadataFilter=pipelineId%3A%3A0%3A%3Apipeline-I5F4FKVGNVH3FPKD4RZXIL7J%3A%3Afalse%7C%7CgenerationRunId%3A%3A0%3A%3A29%3A%3Afalse%7C%7Ckey%3A%3A0%3A%3Aescalation_reason_category%3A%3Afalse&amp;match=Processing&amp;dataSortBy=random-seed&amp;dataSortDir=desc&amp;showDuplicates=tru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hyperlink" Target="https://studio.humanfirst.ai/playbooks/playbook-GD7D67OB45CL7PNOYJTHTW4W/explore/utterances?namespace=definity&amp;dataType=NLG&amp;dataView=data&amp;dataTabId=data-3172469e-07e4-4607-9e28-6943ebb1b483&amp;matchType=1&amp;columnView=pipelines&amp;metadataFilter=pipelineId%3A%3A0%3A%3Apipeline-I5F4FKVGNVH3FPKD4RZXIL7J%3A%3Afalse%7C%7CgenerationRunId%3A%3A0%3A%3A29%3A%3Afalse%7C%7Ckey%3A%3A0%3A%3Aescalation_reason_category%3A%3Afalse&amp;match=Processing&amp;dataSortBy=random-seed&amp;dataSortDir=desc&amp;showDuplicates=tru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8.xml"/><Relationship Id="rId3" Type="http://schemas.openxmlformats.org/officeDocument/2006/relationships/image" Target="../media/image16.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image" Target="../media/image28.png"/><Relationship Id="rId8"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 Id="rId3" Type="http://schemas.openxmlformats.org/officeDocument/2006/relationships/image" Target="../media/image31.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Changes Review</a:t>
            </a:r>
            <a:endParaRPr sz="36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41" name="Shape 141"/>
        <p:cNvGrpSpPr/>
        <p:nvPr/>
      </p:nvGrpSpPr>
      <p:grpSpPr>
        <a:xfrm>
          <a:off x="0" y="0"/>
          <a:ext cx="0" cy="0"/>
          <a:chOff x="0" y="0"/>
          <a:chExt cx="0" cy="0"/>
        </a:xfrm>
      </p:grpSpPr>
      <p:pic>
        <p:nvPicPr>
          <p:cNvPr id="142" name="Google Shape;142;p37"/>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43" name="Google Shape;143;p37"/>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Callback Report</a:t>
            </a:r>
            <a:endParaRPr sz="3600">
              <a:solidFill>
                <a:schemeClr val="lt1"/>
              </a:solidFill>
              <a:latin typeface="Manrope SemiBold"/>
              <a:ea typeface="Manrope SemiBold"/>
              <a:cs typeface="Manrope SemiBold"/>
              <a:sym typeface="Manrope SemiBold"/>
            </a:endParaRPr>
          </a:p>
        </p:txBody>
      </p:sp>
      <p:pic>
        <p:nvPicPr>
          <p:cNvPr id="144" name="Google Shape;144;p37"/>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45" name="Google Shape;14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3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52" name="Google Shape;152;p38"/>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Callback Report</a:t>
            </a:r>
            <a:endParaRPr sz="3500"/>
          </a:p>
        </p:txBody>
      </p:sp>
      <p:sp>
        <p:nvSpPr>
          <p:cNvPr id="153" name="Google Shape;153;p38"/>
          <p:cNvSpPr txBox="1"/>
          <p:nvPr/>
        </p:nvSpPr>
        <p:spPr>
          <a:xfrm>
            <a:off x="666900" y="1018650"/>
            <a:ext cx="4659900" cy="3552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475067"/>
              </a:buClr>
              <a:buSzPts val="1200"/>
              <a:buFont typeface="Inter"/>
              <a:buChar char="■"/>
            </a:pPr>
            <a:r>
              <a:rPr lang="en">
                <a:solidFill>
                  <a:srgbClr val="475067"/>
                </a:solidFill>
                <a:latin typeface="Inter"/>
                <a:ea typeface="Inter"/>
                <a:cs typeface="Inter"/>
                <a:sym typeface="Inter"/>
              </a:rPr>
              <a:t>Change Requested:</a:t>
            </a:r>
            <a:endParaRPr>
              <a:solidFill>
                <a:srgbClr val="475067"/>
              </a:solidFill>
              <a:latin typeface="Inter"/>
              <a:ea typeface="Inter"/>
              <a:cs typeface="Inter"/>
              <a:sym typeface="Inter"/>
            </a:endParaRPr>
          </a:p>
          <a:p>
            <a:pPr indent="-298450" lvl="1" marL="9144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Add additional category “None” similar to escalations report</a:t>
            </a:r>
            <a:endParaRPr sz="1100">
              <a:solidFill>
                <a:srgbClr val="475067"/>
              </a:solidFill>
              <a:latin typeface="Inter"/>
              <a:ea typeface="Inter"/>
              <a:cs typeface="Inter"/>
              <a:sym typeface="Inter"/>
            </a:endParaRPr>
          </a:p>
          <a:p>
            <a:pPr indent="-304800" lvl="0" marL="457200" rtl="0" algn="l">
              <a:lnSpc>
                <a:spcPct val="115000"/>
              </a:lnSpc>
              <a:spcBef>
                <a:spcPts val="1000"/>
              </a:spcBef>
              <a:spcAft>
                <a:spcPts val="0"/>
              </a:spcAft>
              <a:buClr>
                <a:srgbClr val="475067"/>
              </a:buClr>
              <a:buSzPts val="1200"/>
              <a:buFont typeface="Inter"/>
              <a:buChar char="■"/>
            </a:pPr>
            <a:r>
              <a:rPr lang="en">
                <a:solidFill>
                  <a:srgbClr val="475067"/>
                </a:solidFill>
                <a:latin typeface="Inter"/>
                <a:ea typeface="Inter"/>
                <a:cs typeface="Inter"/>
                <a:sym typeface="Inter"/>
              </a:rPr>
              <a:t>Notes:</a:t>
            </a:r>
            <a:endParaRPr>
              <a:solidFill>
                <a:srgbClr val="475067"/>
              </a:solidFill>
              <a:latin typeface="Inter"/>
              <a:ea typeface="Inter"/>
              <a:cs typeface="Inter"/>
              <a:sym typeface="Inter"/>
            </a:endParaRPr>
          </a:p>
          <a:p>
            <a:pPr indent="-298450" lvl="1" marL="9144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Change is not required since callback report as prompt is already doing this behaviour</a:t>
            </a:r>
            <a:endParaRPr sz="1100">
              <a:solidFill>
                <a:srgbClr val="475067"/>
              </a:solidFill>
              <a:latin typeface="Inter"/>
              <a:ea typeface="Inter"/>
              <a:cs typeface="Inter"/>
              <a:sym typeface="Inter"/>
            </a:endParaRPr>
          </a:p>
          <a:p>
            <a:pPr indent="-298450" lvl="1" marL="9144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The prompt is setup to first identify:</a:t>
            </a:r>
            <a:endParaRPr sz="1100">
              <a:solidFill>
                <a:srgbClr val="475067"/>
              </a:solidFill>
              <a:latin typeface="Inter"/>
              <a:ea typeface="Inter"/>
              <a:cs typeface="Inter"/>
              <a:sym typeface="Inter"/>
            </a:endParaRPr>
          </a:p>
          <a:p>
            <a:pPr indent="-298450" lvl="2" marL="13716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If a call is a callback</a:t>
            </a:r>
            <a:endParaRPr sz="1100">
              <a:solidFill>
                <a:srgbClr val="475067"/>
              </a:solidFill>
              <a:latin typeface="Inter"/>
              <a:ea typeface="Inter"/>
              <a:cs typeface="Inter"/>
              <a:sym typeface="Inter"/>
            </a:endParaRPr>
          </a:p>
          <a:p>
            <a:pPr indent="-298450" lvl="2" marL="1371600" rtl="0" algn="l">
              <a:lnSpc>
                <a:spcPct val="115000"/>
              </a:lnSpc>
              <a:spcBef>
                <a:spcPts val="1000"/>
              </a:spcBef>
              <a:spcAft>
                <a:spcPts val="0"/>
              </a:spcAft>
              <a:buClr>
                <a:srgbClr val="475067"/>
              </a:buClr>
              <a:buSzPts val="1100"/>
              <a:buFont typeface="Inter"/>
              <a:buChar char="■"/>
            </a:pPr>
            <a:r>
              <a:rPr lang="en" sz="1100">
                <a:solidFill>
                  <a:srgbClr val="475067"/>
                </a:solidFill>
                <a:latin typeface="Inter"/>
                <a:ea typeface="Inter"/>
                <a:cs typeface="Inter"/>
                <a:sym typeface="Inter"/>
              </a:rPr>
              <a:t>Then only assign a category - if not a callback, prompt will already mark “None”</a:t>
            </a:r>
            <a:endParaRPr sz="1100">
              <a:solidFill>
                <a:srgbClr val="475067"/>
              </a:solidFill>
              <a:latin typeface="Inter"/>
              <a:ea typeface="Inter"/>
              <a:cs typeface="Inter"/>
              <a:sym typeface="Inter"/>
            </a:endParaRPr>
          </a:p>
          <a:p>
            <a:pPr indent="-317500" lvl="0" marL="457200" rtl="0" algn="l">
              <a:lnSpc>
                <a:spcPct val="115000"/>
              </a:lnSpc>
              <a:spcBef>
                <a:spcPts val="1000"/>
              </a:spcBef>
              <a:spcAft>
                <a:spcPts val="0"/>
              </a:spcAft>
              <a:buClr>
                <a:srgbClr val="475067"/>
              </a:buClr>
              <a:buSzPts val="1400"/>
              <a:buFont typeface="Inter"/>
              <a:buChar char="■"/>
            </a:pPr>
            <a:r>
              <a:rPr lang="en">
                <a:solidFill>
                  <a:srgbClr val="475067"/>
                </a:solidFill>
                <a:latin typeface="Inter"/>
                <a:ea typeface="Inter"/>
                <a:cs typeface="Inter"/>
                <a:sym typeface="Inter"/>
              </a:rPr>
              <a:t>Result:</a:t>
            </a:r>
            <a:endParaRPr>
              <a:solidFill>
                <a:srgbClr val="475067"/>
              </a:solidFill>
              <a:latin typeface="Inter"/>
              <a:ea typeface="Inter"/>
              <a:cs typeface="Inter"/>
              <a:sym typeface="Inter"/>
            </a:endParaRPr>
          </a:p>
          <a:p>
            <a:pPr indent="-298450" lvl="1" marL="914400" rtl="0" algn="l">
              <a:lnSpc>
                <a:spcPct val="115000"/>
              </a:lnSpc>
              <a:spcBef>
                <a:spcPts val="1000"/>
              </a:spcBef>
              <a:spcAft>
                <a:spcPts val="1000"/>
              </a:spcAft>
              <a:buClr>
                <a:srgbClr val="475067"/>
              </a:buClr>
              <a:buSzPts val="1100"/>
              <a:buFont typeface="Inter"/>
              <a:buChar char="○"/>
            </a:pPr>
            <a:r>
              <a:rPr lang="en" sz="1100">
                <a:solidFill>
                  <a:srgbClr val="475067"/>
                </a:solidFill>
                <a:latin typeface="Inter"/>
                <a:ea typeface="Inter"/>
                <a:cs typeface="Inter"/>
                <a:sym typeface="Inter"/>
              </a:rPr>
              <a:t>No change needed</a:t>
            </a:r>
            <a:endParaRPr sz="1100">
              <a:solidFill>
                <a:srgbClr val="475067"/>
              </a:solidFill>
              <a:latin typeface="Inter"/>
              <a:ea typeface="Inter"/>
              <a:cs typeface="Inter"/>
              <a:sym typeface="Inter"/>
            </a:endParaRPr>
          </a:p>
        </p:txBody>
      </p:sp>
      <p:pic>
        <p:nvPicPr>
          <p:cNvPr id="154" name="Google Shape;154;p38"/>
          <p:cNvPicPr preferRelativeResize="0"/>
          <p:nvPr/>
        </p:nvPicPr>
        <p:blipFill>
          <a:blip r:embed="rId3">
            <a:alphaModFix/>
          </a:blip>
          <a:stretch>
            <a:fillRect/>
          </a:stretch>
        </p:blipFill>
        <p:spPr>
          <a:xfrm>
            <a:off x="5711723" y="1989324"/>
            <a:ext cx="3225702" cy="1460000"/>
          </a:xfrm>
          <a:prstGeom prst="rect">
            <a:avLst/>
          </a:prstGeom>
          <a:noFill/>
          <a:ln cap="flat" cmpd="sng" w="9525">
            <a:solidFill>
              <a:schemeClr val="dk1"/>
            </a:solidFill>
            <a:prstDash val="solid"/>
            <a:round/>
            <a:headEnd len="sm" w="sm" type="none"/>
            <a:tailEnd len="sm" w="sm" type="none"/>
          </a:ln>
        </p:spPr>
      </p:pic>
      <p:sp>
        <p:nvSpPr>
          <p:cNvPr id="155" name="Google Shape;155;p38"/>
          <p:cNvSpPr txBox="1"/>
          <p:nvPr/>
        </p:nvSpPr>
        <p:spPr>
          <a:xfrm>
            <a:off x="6798538" y="1679163"/>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Snippet from prompt</a:t>
            </a:r>
            <a:endParaRPr sz="800">
              <a:solidFill>
                <a:srgbClr val="475067"/>
              </a:solidFill>
            </a:endParaRPr>
          </a:p>
        </p:txBody>
      </p:sp>
      <p:pic>
        <p:nvPicPr>
          <p:cNvPr id="156" name="Google Shape;156;p38"/>
          <p:cNvPicPr preferRelativeResize="0"/>
          <p:nvPr/>
        </p:nvPicPr>
        <p:blipFill>
          <a:blip r:embed="rId4">
            <a:alphaModFix/>
          </a:blip>
          <a:stretch>
            <a:fillRect/>
          </a:stretch>
        </p:blipFill>
        <p:spPr>
          <a:xfrm>
            <a:off x="5785811" y="3572800"/>
            <a:ext cx="3077524" cy="3435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60" name="Shape 160"/>
        <p:cNvGrpSpPr/>
        <p:nvPr/>
      </p:nvGrpSpPr>
      <p:grpSpPr>
        <a:xfrm>
          <a:off x="0" y="0"/>
          <a:ext cx="0" cy="0"/>
          <a:chOff x="0" y="0"/>
          <a:chExt cx="0" cy="0"/>
        </a:xfrm>
      </p:grpSpPr>
      <p:pic>
        <p:nvPicPr>
          <p:cNvPr id="161" name="Google Shape;161;p39"/>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62" name="Google Shape;162;p39"/>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SRA Report (NBS)</a:t>
            </a:r>
            <a:endParaRPr sz="3600">
              <a:solidFill>
                <a:schemeClr val="lt1"/>
              </a:solidFill>
              <a:latin typeface="Manrope SemiBold"/>
              <a:ea typeface="Manrope SemiBold"/>
              <a:cs typeface="Manrope SemiBold"/>
              <a:sym typeface="Manrope SemiBold"/>
            </a:endParaRPr>
          </a:p>
        </p:txBody>
      </p:sp>
      <p:pic>
        <p:nvPicPr>
          <p:cNvPr id="163" name="Google Shape;163;p39"/>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64" name="Google Shape;16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4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71" name="Google Shape;171;p4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Escalation - NBS (S&amp;E)</a:t>
            </a:r>
            <a:endParaRPr sz="3500"/>
          </a:p>
        </p:txBody>
      </p:sp>
      <p:pic>
        <p:nvPicPr>
          <p:cNvPr id="172" name="Google Shape;172;p40"/>
          <p:cNvPicPr preferRelativeResize="0"/>
          <p:nvPr/>
        </p:nvPicPr>
        <p:blipFill>
          <a:blip r:embed="rId3">
            <a:alphaModFix/>
          </a:blip>
          <a:stretch>
            <a:fillRect/>
          </a:stretch>
        </p:blipFill>
        <p:spPr>
          <a:xfrm>
            <a:off x="1503438" y="1043100"/>
            <a:ext cx="6137125" cy="39896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4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79" name="Google Shape;179;p41"/>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Escalation - NBS (S&amp;E)</a:t>
            </a:r>
            <a:endParaRPr sz="3500"/>
          </a:p>
        </p:txBody>
      </p:sp>
      <p:pic>
        <p:nvPicPr>
          <p:cNvPr id="180" name="Google Shape;180;p41"/>
          <p:cNvPicPr preferRelativeResize="0"/>
          <p:nvPr/>
        </p:nvPicPr>
        <p:blipFill>
          <a:blip r:embed="rId3">
            <a:alphaModFix/>
          </a:blip>
          <a:stretch>
            <a:fillRect/>
          </a:stretch>
        </p:blipFill>
        <p:spPr>
          <a:xfrm>
            <a:off x="762900" y="1119900"/>
            <a:ext cx="7757600" cy="3718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4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87" name="Google Shape;187;p4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NBS Distributions</a:t>
            </a:r>
            <a:endParaRPr sz="3500"/>
          </a:p>
        </p:txBody>
      </p:sp>
      <p:sp>
        <p:nvSpPr>
          <p:cNvPr id="188" name="Google Shape;188;p42"/>
          <p:cNvSpPr txBox="1"/>
          <p:nvPr/>
        </p:nvSpPr>
        <p:spPr>
          <a:xfrm>
            <a:off x="1502175" y="41770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Inbound – J Agent to S Agent</a:t>
            </a:r>
            <a:endParaRPr sz="700">
              <a:solidFill>
                <a:srgbClr val="475067"/>
              </a:solidFill>
            </a:endParaRPr>
          </a:p>
          <a:p>
            <a:pPr indent="0" lvl="0" marL="0" rtl="0" algn="ctr">
              <a:spcBef>
                <a:spcPts val="0"/>
              </a:spcBef>
              <a:spcAft>
                <a:spcPts val="0"/>
              </a:spcAft>
              <a:buNone/>
            </a:pPr>
            <a:r>
              <a:rPr lang="en" sz="700">
                <a:solidFill>
                  <a:srgbClr val="475067"/>
                </a:solidFill>
              </a:rPr>
              <a:t>Both Support and Escalation</a:t>
            </a:r>
            <a:endParaRPr sz="700">
              <a:solidFill>
                <a:srgbClr val="475067"/>
              </a:solidFill>
            </a:endParaRPr>
          </a:p>
          <a:p>
            <a:pPr indent="0" lvl="0" marL="0" rtl="0" algn="ctr">
              <a:spcBef>
                <a:spcPts val="0"/>
              </a:spcBef>
              <a:spcAft>
                <a:spcPts val="0"/>
              </a:spcAft>
              <a:buNone/>
            </a:pPr>
            <a:r>
              <a:t/>
            </a:r>
            <a:endParaRPr sz="700">
              <a:solidFill>
                <a:srgbClr val="475067"/>
              </a:solidFill>
            </a:endParaRPr>
          </a:p>
        </p:txBody>
      </p:sp>
      <p:pic>
        <p:nvPicPr>
          <p:cNvPr id="189" name="Google Shape;189;p42"/>
          <p:cNvPicPr preferRelativeResize="0"/>
          <p:nvPr/>
        </p:nvPicPr>
        <p:blipFill>
          <a:blip r:embed="rId3">
            <a:alphaModFix/>
          </a:blip>
          <a:stretch>
            <a:fillRect/>
          </a:stretch>
        </p:blipFill>
        <p:spPr>
          <a:xfrm>
            <a:off x="424788" y="1316474"/>
            <a:ext cx="4005169" cy="2743676"/>
          </a:xfrm>
          <a:prstGeom prst="rect">
            <a:avLst/>
          </a:prstGeom>
          <a:noFill/>
          <a:ln cap="flat" cmpd="sng" w="9525">
            <a:solidFill>
              <a:schemeClr val="dk1"/>
            </a:solidFill>
            <a:prstDash val="solid"/>
            <a:round/>
            <a:headEnd len="sm" w="sm" type="none"/>
            <a:tailEnd len="sm" w="sm" type="none"/>
          </a:ln>
        </p:spPr>
      </p:pic>
      <p:pic>
        <p:nvPicPr>
          <p:cNvPr id="190" name="Google Shape;190;p42"/>
          <p:cNvPicPr preferRelativeResize="0"/>
          <p:nvPr/>
        </p:nvPicPr>
        <p:blipFill>
          <a:blip r:embed="rId4">
            <a:alphaModFix/>
          </a:blip>
          <a:stretch>
            <a:fillRect/>
          </a:stretch>
        </p:blipFill>
        <p:spPr>
          <a:xfrm>
            <a:off x="4766457" y="1078563"/>
            <a:ext cx="3797450" cy="3145895"/>
          </a:xfrm>
          <a:prstGeom prst="rect">
            <a:avLst/>
          </a:prstGeom>
          <a:noFill/>
          <a:ln cap="flat" cmpd="sng" w="9525">
            <a:solidFill>
              <a:schemeClr val="dk1"/>
            </a:solidFill>
            <a:prstDash val="solid"/>
            <a:round/>
            <a:headEnd len="sm" w="sm" type="none"/>
            <a:tailEnd len="sm" w="sm" type="none"/>
          </a:ln>
        </p:spPr>
      </p:pic>
      <p:sp>
        <p:nvSpPr>
          <p:cNvPr id="191" name="Google Shape;191;p42"/>
          <p:cNvSpPr/>
          <p:nvPr/>
        </p:nvSpPr>
        <p:spPr>
          <a:xfrm>
            <a:off x="2997675" y="1709100"/>
            <a:ext cx="474600" cy="3936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42"/>
          <p:cNvSpPr/>
          <p:nvPr/>
        </p:nvSpPr>
        <p:spPr>
          <a:xfrm>
            <a:off x="7172150" y="1640450"/>
            <a:ext cx="474600" cy="359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42"/>
          <p:cNvSpPr/>
          <p:nvPr/>
        </p:nvSpPr>
        <p:spPr>
          <a:xfrm>
            <a:off x="7172150" y="1446350"/>
            <a:ext cx="474600" cy="1941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42"/>
          <p:cNvSpPr/>
          <p:nvPr/>
        </p:nvSpPr>
        <p:spPr>
          <a:xfrm>
            <a:off x="7224350" y="2544325"/>
            <a:ext cx="474600" cy="359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42"/>
          <p:cNvSpPr/>
          <p:nvPr/>
        </p:nvSpPr>
        <p:spPr>
          <a:xfrm>
            <a:off x="2997675" y="2102700"/>
            <a:ext cx="474600" cy="1941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4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02" name="Google Shape;202;p4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NBS (S&amp;E) - Test Set</a:t>
            </a:r>
            <a:endParaRPr sz="3500"/>
          </a:p>
        </p:txBody>
      </p:sp>
      <p:pic>
        <p:nvPicPr>
          <p:cNvPr id="203" name="Google Shape;203;p43"/>
          <p:cNvPicPr preferRelativeResize="0"/>
          <p:nvPr/>
        </p:nvPicPr>
        <p:blipFill rotWithShape="1">
          <a:blip r:embed="rId3">
            <a:alphaModFix/>
          </a:blip>
          <a:srcRect b="0" l="0" r="63845" t="0"/>
          <a:stretch/>
        </p:blipFill>
        <p:spPr>
          <a:xfrm>
            <a:off x="2261650" y="1037775"/>
            <a:ext cx="2218874" cy="3989675"/>
          </a:xfrm>
          <a:prstGeom prst="rect">
            <a:avLst/>
          </a:prstGeom>
          <a:noFill/>
          <a:ln cap="flat" cmpd="sng" w="9525">
            <a:solidFill>
              <a:schemeClr val="dk1"/>
            </a:solidFill>
            <a:prstDash val="solid"/>
            <a:round/>
            <a:headEnd len="sm" w="sm" type="none"/>
            <a:tailEnd len="sm" w="sm" type="none"/>
          </a:ln>
        </p:spPr>
      </p:pic>
      <p:pic>
        <p:nvPicPr>
          <p:cNvPr id="204" name="Google Shape;204;p43"/>
          <p:cNvPicPr preferRelativeResize="0"/>
          <p:nvPr/>
        </p:nvPicPr>
        <p:blipFill>
          <a:blip r:embed="rId4">
            <a:alphaModFix/>
          </a:blip>
          <a:stretch>
            <a:fillRect/>
          </a:stretch>
        </p:blipFill>
        <p:spPr>
          <a:xfrm>
            <a:off x="4715100" y="2356167"/>
            <a:ext cx="3340824" cy="1041725"/>
          </a:xfrm>
          <a:prstGeom prst="rect">
            <a:avLst/>
          </a:prstGeom>
          <a:noFill/>
          <a:ln cap="flat" cmpd="sng" w="9525">
            <a:solidFill>
              <a:schemeClr val="dk1"/>
            </a:solidFill>
            <a:prstDash val="solid"/>
            <a:round/>
            <a:headEnd len="sm" w="sm" type="none"/>
            <a:tailEnd len="sm" w="sm" type="none"/>
          </a:ln>
        </p:spPr>
      </p:pic>
      <p:pic>
        <p:nvPicPr>
          <p:cNvPr id="205" name="Google Shape;205;p43"/>
          <p:cNvPicPr preferRelativeResize="0"/>
          <p:nvPr/>
        </p:nvPicPr>
        <p:blipFill>
          <a:blip r:embed="rId5">
            <a:alphaModFix/>
          </a:blip>
          <a:stretch>
            <a:fillRect/>
          </a:stretch>
        </p:blipFill>
        <p:spPr>
          <a:xfrm>
            <a:off x="4931492" y="1626917"/>
            <a:ext cx="2791926" cy="5341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4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12" name="Google Shape;212;p44"/>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Outside their Authority </a:t>
            </a:r>
            <a:endParaRPr sz="3500"/>
          </a:p>
        </p:txBody>
      </p:sp>
      <p:sp>
        <p:nvSpPr>
          <p:cNvPr id="213" name="Google Shape;213;p44"/>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Agent: </a:t>
            </a:r>
            <a:r>
              <a:rPr lang="en" sz="700"/>
              <a:t>Okay, let me just check one second. The client, I don't see any registered letter. The payment was actually due on the 8th of Jan, and we give them the grace for 10 days. Now, you might have to set up an activity for yourself to follow up when the registered letter is issued. I cannot leave the notes on the file that the payment, so they made a payment to Economicall directly or to you guys, and you're sending the money?</a:t>
            </a:r>
            <a:endParaRPr sz="700"/>
          </a:p>
          <a:p>
            <a:pPr indent="0" lvl="0" marL="0" rtl="0" algn="ctr">
              <a:spcBef>
                <a:spcPts val="0"/>
              </a:spcBef>
              <a:spcAft>
                <a:spcPts val="0"/>
              </a:spcAft>
              <a:buNone/>
            </a:pPr>
            <a:r>
              <a:rPr b="1" lang="en" sz="700"/>
              <a:t>Agent:</a:t>
            </a:r>
            <a:r>
              <a:rPr lang="en" sz="700"/>
              <a:t> </a:t>
            </a:r>
            <a:r>
              <a:rPr b="1" lang="en" sz="700"/>
              <a:t>No, to Economicall. Why can't you make a note?</a:t>
            </a:r>
            <a:r>
              <a:rPr lang="en" sz="700"/>
              <a:t> We do this all the time.</a:t>
            </a:r>
            <a:endParaRPr sz="700"/>
          </a:p>
          <a:p>
            <a:pPr indent="0" lvl="0" marL="0" rtl="0" algn="ctr">
              <a:spcBef>
                <a:spcPts val="0"/>
              </a:spcBef>
              <a:spcAft>
                <a:spcPts val="0"/>
              </a:spcAft>
              <a:buNone/>
            </a:pPr>
            <a:r>
              <a:rPr b="1" lang="en" sz="700"/>
              <a:t>Agent:</a:t>
            </a:r>
            <a:r>
              <a:rPr lang="en" sz="700"/>
              <a:t> At this point, there is no registered letter issued. This client is on a responsive payment plan.</a:t>
            </a:r>
            <a:endParaRPr sz="700"/>
          </a:p>
          <a:p>
            <a:pPr indent="0" lvl="0" marL="0" rtl="0" algn="ctr">
              <a:spcBef>
                <a:spcPts val="0"/>
              </a:spcBef>
              <a:spcAft>
                <a:spcPts val="0"/>
              </a:spcAft>
              <a:buNone/>
            </a:pPr>
            <a:r>
              <a:rPr b="1" lang="en" sz="700"/>
              <a:t>Agent:</a:t>
            </a:r>
            <a:r>
              <a:rPr lang="en" sz="700"/>
              <a:t> I know, but I don't want the registered letter to be issued, so that's why I'm calling you to tell you that I have the payment in my hand. And it will come in the courier tomorrow, so I don't want the registered letter to go out. That's the whole point of this.</a:t>
            </a:r>
            <a:endParaRPr sz="700"/>
          </a:p>
          <a:p>
            <a:pPr indent="0" lvl="0" marL="0" rtl="0" algn="ctr">
              <a:spcBef>
                <a:spcPts val="0"/>
              </a:spcBef>
              <a:spcAft>
                <a:spcPts val="0"/>
              </a:spcAft>
              <a:buNone/>
            </a:pPr>
            <a:r>
              <a:t/>
            </a:r>
            <a:endParaRPr sz="700"/>
          </a:p>
        </p:txBody>
      </p:sp>
      <p:sp>
        <p:nvSpPr>
          <p:cNvPr id="214" name="Google Shape;214;p44"/>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fe3b92b6-6bb8-5bcd-a650-7372893359e3</a:t>
            </a:r>
            <a:endParaRPr sz="700">
              <a:solidFill>
                <a:srgbClr val="475067"/>
              </a:solidFill>
            </a:endParaRPr>
          </a:p>
        </p:txBody>
      </p:sp>
      <p:graphicFrame>
        <p:nvGraphicFramePr>
          <p:cNvPr id="215" name="Google Shape;215;p44"/>
          <p:cNvGraphicFramePr/>
          <p:nvPr/>
        </p:nvGraphicFramePr>
        <p:xfrm>
          <a:off x="2769850" y="999838"/>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Outside their Authority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Inability to stop automated registered letter</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(User) had to escalate the call to a senior agent because they were unable to stop an automated registered letter from being sent to a client. The broker, Kathleen Howard, was insistent that a note be made on the file and the registered letter be stopped, as the client had made a payment. However, the junior agent explained that they don't have the capability to stop the automated process of sending registered letters. This issue is clearly outside the junior agent's authority, as they repeatedly stated they cannot make changes to the automated system. The broker's frustration and insistence on speaking to someone else led to the escalation, as the junior agent couldn't provide a solution that satisfied the broker's request.</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1" name="Google Shape;221;p4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22" name="Google Shape;222;p45"/>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Outside their Authority 2 </a:t>
            </a:r>
            <a:endParaRPr sz="3500"/>
          </a:p>
        </p:txBody>
      </p:sp>
      <p:sp>
        <p:nvSpPr>
          <p:cNvPr id="223" name="Google Shape;223;p45"/>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Agent: So quote ending in 415, right? Does the broker mind waiting for just a little while? I can do it over the phone right now, yes? Yeah. Yep, okay, cool. Because she's getting a five with that.</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lang="en" sz="700"/>
              <a:t>User: This type of override is only you can do, correct?</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lang="en" sz="700"/>
              <a:t>Agent: I believe so. I don't, yeah, I don't think you have the, I don't even think you have the field for that, I think, but I know it has to come to you, to your specialist. Does she have any new tickets or anything?</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lang="en" sz="700"/>
              <a:t>User: No, I don't. So, I don't know if it's yet to pull the MBR, should I pull the MBR? But yeah.</a:t>
            </a:r>
            <a:endParaRPr sz="700"/>
          </a:p>
          <a:p>
            <a:pPr indent="0" lvl="0" marL="0" rtl="0" algn="ctr">
              <a:spcBef>
                <a:spcPts val="0"/>
              </a:spcBef>
              <a:spcAft>
                <a:spcPts val="0"/>
              </a:spcAft>
              <a:buNone/>
            </a:pPr>
            <a:r>
              <a:rPr lang="en" sz="700"/>
              <a:t>User: Okay, looks great.</a:t>
            </a:r>
            <a:endParaRPr sz="700"/>
          </a:p>
          <a:p>
            <a:pPr indent="0" lvl="0" marL="0" rtl="0" algn="ctr">
              <a:spcBef>
                <a:spcPts val="0"/>
              </a:spcBef>
              <a:spcAft>
                <a:spcPts val="0"/>
              </a:spcAft>
              <a:buNone/>
            </a:pPr>
            <a:r>
              <a:t/>
            </a:r>
            <a:endParaRPr sz="700"/>
          </a:p>
        </p:txBody>
      </p:sp>
      <p:sp>
        <p:nvSpPr>
          <p:cNvPr id="224" name="Google Shape;224;p45"/>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8ff1c2d4-af0c-542c-ad6e-e86c147351da</a:t>
            </a:r>
            <a:endParaRPr sz="700">
              <a:solidFill>
                <a:srgbClr val="475067"/>
              </a:solidFill>
            </a:endParaRPr>
          </a:p>
        </p:txBody>
      </p:sp>
      <p:graphicFrame>
        <p:nvGraphicFramePr>
          <p:cNvPr id="225" name="Google Shape;225;p45"/>
          <p:cNvGraphicFramePr/>
          <p:nvPr/>
        </p:nvGraphicFramePr>
        <p:xfrm>
          <a:off x="2769850" y="999838"/>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Outside their Authority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Honoring accident forgiveness for a driver splitting off from an existing policy</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(User) contacted the senior agent (Agent) to seek guidance on how to honor accident forgiveness for a driver who is splitting off from an existing policy. The conversation reveals that the driver had an at-fault accident in 2018, which was forgiven on the current policy. The junior agent doesn't have the authority to apply this forgiveness to the new policy for the splitting driver, as evidenced by the statement "This type of override is only you can do, correct?" The senior agent confirms this by mentioning that they don't think the junior agent has the field for that override, and proceeds to make the necessary adjustments to ensure the driver maintains their accident forgiveness status (changing from a 5 to a 9 without DRP). This indicates that the junior agent needed to escalate the issue because it was outside their authority to make such changes in the system.</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4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32" name="Google Shape;232;p46"/>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Processing Support</a:t>
            </a:r>
            <a:endParaRPr sz="3500"/>
          </a:p>
        </p:txBody>
      </p:sp>
      <p:sp>
        <p:nvSpPr>
          <p:cNvPr id="233" name="Google Shape;233;p46"/>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User:</a:t>
            </a:r>
            <a:r>
              <a:rPr lang="en" sz="700"/>
              <a:t> Hi, Frederick Johnson. This is Theresa Brock again with that same multi-policy discount question that I had. I am trying to add that discount back on the auto policy effective. I did try 28th of August. It did not work. I tried 29th of August. It says yes, but it's giving me a $0 transaction premium. Can I give you the policy number?</a:t>
            </a:r>
            <a:endParaRPr sz="700"/>
          </a:p>
          <a:p>
            <a:pPr indent="0" lvl="0" marL="0" rtl="0" algn="ctr">
              <a:spcBef>
                <a:spcPts val="0"/>
              </a:spcBef>
              <a:spcAft>
                <a:spcPts val="0"/>
              </a:spcAft>
              <a:buNone/>
            </a:pPr>
            <a:r>
              <a:rPr b="1" lang="en" sz="700"/>
              <a:t>Agent:</a:t>
            </a:r>
            <a:r>
              <a:rPr lang="en" sz="700"/>
              <a:t> That's okay. I've still got the account. Let me just go back to it here.</a:t>
            </a:r>
            <a:endParaRPr sz="700"/>
          </a:p>
          <a:p>
            <a:pPr indent="0" lvl="0" marL="0" rtl="0" algn="ctr">
              <a:spcBef>
                <a:spcPts val="0"/>
              </a:spcBef>
              <a:spcAft>
                <a:spcPts val="0"/>
              </a:spcAft>
              <a:buNone/>
            </a:pPr>
            <a:r>
              <a:rPr b="1" lang="en" sz="700"/>
              <a:t>…</a:t>
            </a:r>
            <a:r>
              <a:rPr lang="en" sz="700"/>
              <a:t>.</a:t>
            </a:r>
            <a:endParaRPr sz="700"/>
          </a:p>
          <a:p>
            <a:pPr indent="0" lvl="0" marL="0" rtl="0" algn="ctr">
              <a:spcBef>
                <a:spcPts val="0"/>
              </a:spcBef>
              <a:spcAft>
                <a:spcPts val="0"/>
              </a:spcAft>
              <a:buNone/>
            </a:pPr>
            <a:r>
              <a:t/>
            </a:r>
            <a:endParaRPr sz="700"/>
          </a:p>
        </p:txBody>
      </p:sp>
      <p:sp>
        <p:nvSpPr>
          <p:cNvPr id="234" name="Google Shape;234;p46"/>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724ddfdc-cbfb-5780-b3b1-62a88d9dcff9</a:t>
            </a:r>
            <a:endParaRPr sz="700">
              <a:solidFill>
                <a:srgbClr val="475067"/>
              </a:solidFill>
            </a:endParaRPr>
          </a:p>
          <a:p>
            <a:pPr indent="0" lvl="0" marL="0" rtl="0" algn="ctr">
              <a:spcBef>
                <a:spcPts val="0"/>
              </a:spcBef>
              <a:spcAft>
                <a:spcPts val="0"/>
              </a:spcAft>
              <a:buNone/>
            </a:pPr>
            <a:r>
              <a:rPr lang="en" sz="700" u="sng">
                <a:solidFill>
                  <a:schemeClr val="hlink"/>
                </a:solidFill>
                <a:hlinkClick r:id="rId3"/>
              </a:rPr>
              <a:t>LINK</a:t>
            </a:r>
            <a:endParaRPr sz="700">
              <a:solidFill>
                <a:srgbClr val="475067"/>
              </a:solidFill>
            </a:endParaRPr>
          </a:p>
        </p:txBody>
      </p:sp>
      <p:graphicFrame>
        <p:nvGraphicFramePr>
          <p:cNvPr id="235" name="Google Shape;235;p46"/>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Processing Support</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Multi-policy discount application issue</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(User) contacted the senior agent (Agent) for assistance with applying a multi-policy discount to an auto insurance policy. The User was having difficulty adding the discount back to the policy after it had been removed, encountering issues with effective dates and receiving $0 transaction premiums. The senior agent provided guidance on how to properly process the change, including advice on selecting the correct effective date and navigating the quoting system. This interaction falls under Processing Support as the junior agent needed help with the technical aspects of applying the discount correctly within the insurance system.</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4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42" name="Google Shape;242;p47"/>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Processing Support 2</a:t>
            </a:r>
            <a:endParaRPr sz="3500"/>
          </a:p>
        </p:txBody>
      </p:sp>
      <p:sp>
        <p:nvSpPr>
          <p:cNvPr id="243" name="Google Shape;243;p47"/>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User: .</a:t>
            </a:r>
            <a:r>
              <a:rPr lang="en" sz="700"/>
              <a:t>.so she's trying to update and there's a cost difference about the replacement cost, so she wants to check if she can, what to do about, like she can change the replacement cost or something,</a:t>
            </a:r>
            <a:r>
              <a:rPr b="1" lang="en" sz="700"/>
              <a:t> </a:t>
            </a:r>
            <a:endParaRPr b="1" sz="700"/>
          </a:p>
          <a:p>
            <a:pPr indent="0" lvl="0" marL="0" rtl="0" algn="ctr">
              <a:spcBef>
                <a:spcPts val="0"/>
              </a:spcBef>
              <a:spcAft>
                <a:spcPts val="0"/>
              </a:spcAft>
              <a:buNone/>
            </a:pPr>
            <a:r>
              <a:t/>
            </a:r>
            <a:endParaRPr b="1" sz="700"/>
          </a:p>
          <a:p>
            <a:pPr indent="0" lvl="0" marL="0" rtl="0" algn="ctr">
              <a:spcBef>
                <a:spcPts val="0"/>
              </a:spcBef>
              <a:spcAft>
                <a:spcPts val="0"/>
              </a:spcAft>
              <a:buNone/>
            </a:pPr>
            <a:r>
              <a:rPr b="1" lang="en" sz="700"/>
              <a:t>Agent: </a:t>
            </a:r>
            <a:r>
              <a:rPr lang="en" sz="700"/>
              <a:t>So it looks like we did do a change in broker code. Yeah. So is it the new broker that's calling in and they're doing a new evaluation on the house?</a:t>
            </a:r>
            <a:endParaRPr sz="700"/>
          </a:p>
          <a:p>
            <a:pPr indent="0" lvl="0" marL="0" rtl="0" algn="ctr">
              <a:spcBef>
                <a:spcPts val="0"/>
              </a:spcBef>
              <a:spcAft>
                <a:spcPts val="0"/>
              </a:spcAft>
              <a:buNone/>
            </a:pPr>
            <a:r>
              <a:rPr b="1" lang="en" sz="700"/>
              <a:t>….</a:t>
            </a:r>
            <a:endParaRPr b="1" sz="700"/>
          </a:p>
          <a:p>
            <a:pPr indent="0" lvl="0" marL="0" rtl="0" algn="ctr">
              <a:spcBef>
                <a:spcPts val="0"/>
              </a:spcBef>
              <a:spcAft>
                <a:spcPts val="0"/>
              </a:spcAft>
              <a:buNone/>
            </a:pPr>
            <a:r>
              <a:rPr b="1" lang="en" sz="700"/>
              <a:t>Agent: </a:t>
            </a:r>
            <a:r>
              <a:rPr lang="en" sz="700"/>
              <a:t>Well, what she wants to do is she can go in, start an endorsement, where we have the value at 494.111. She can enter the new home evaluation value. There's also a field that has the home evaluation date. She can update that field, and then quote it through. And the system will update the premium accordingly. And they can go from there.</a:t>
            </a:r>
            <a:endParaRPr sz="700"/>
          </a:p>
          <a:p>
            <a:pPr indent="0" lvl="0" marL="0" rtl="0" algn="ctr">
              <a:spcBef>
                <a:spcPts val="0"/>
              </a:spcBef>
              <a:spcAft>
                <a:spcPts val="0"/>
              </a:spcAft>
              <a:buNone/>
            </a:pPr>
            <a:r>
              <a:rPr lang="en" sz="700"/>
              <a:t>User: Okay, so I just tell her, put the new value in the guidewire and the date of thing. Yep.</a:t>
            </a:r>
            <a:endParaRPr sz="700"/>
          </a:p>
          <a:p>
            <a:pPr indent="0" lvl="0" marL="0" rtl="0" algn="ctr">
              <a:spcBef>
                <a:spcPts val="0"/>
              </a:spcBef>
              <a:spcAft>
                <a:spcPts val="0"/>
              </a:spcAft>
              <a:buNone/>
            </a:pPr>
            <a:r>
              <a:t/>
            </a:r>
            <a:endParaRPr b="1" sz="700"/>
          </a:p>
        </p:txBody>
      </p:sp>
      <p:sp>
        <p:nvSpPr>
          <p:cNvPr id="244" name="Google Shape;244;p47"/>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ad132598-3276-51d0-b153-0b055b57dfb3</a:t>
            </a:r>
            <a:endParaRPr sz="700">
              <a:solidFill>
                <a:srgbClr val="475067"/>
              </a:solidFill>
            </a:endParaRPr>
          </a:p>
          <a:p>
            <a:pPr indent="0" lvl="0" marL="0" rtl="0" algn="ctr">
              <a:spcBef>
                <a:spcPts val="0"/>
              </a:spcBef>
              <a:spcAft>
                <a:spcPts val="0"/>
              </a:spcAft>
              <a:buNone/>
            </a:pPr>
            <a:r>
              <a:rPr lang="en" sz="700" u="sng">
                <a:solidFill>
                  <a:schemeClr val="hlink"/>
                </a:solidFill>
                <a:hlinkClick r:id="rId3"/>
              </a:rPr>
              <a:t>LINK</a:t>
            </a:r>
            <a:endParaRPr sz="700">
              <a:solidFill>
                <a:srgbClr val="475067"/>
              </a:solidFill>
            </a:endParaRPr>
          </a:p>
        </p:txBody>
      </p:sp>
      <p:graphicFrame>
        <p:nvGraphicFramePr>
          <p:cNvPr id="245" name="Google Shape;245;p47"/>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Processing Support</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Property evaluation and replacement cost update</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(User) contacted the senior agent (Agent) because they were unsure how to handle a request from a broker regarding a property evaluation and replacement cost update. The broker had new information about the property type (bi-level instead of tri-level) and wanted to update the replacement cost, which would affect the insurance premium. The junior agent didn't fully understand the process for making these changes and needed guidance on how to proceed. The senior agent provided step-by-step instructions on how to update the information in the system, including starting a new endorsement, updating the estimated replacement cost value, and changing the evaluation date. This situation falls under "Processing Support" as the junior agent needed assistance with the correct procedure for processing a change in the property details and its associated replacement cost.</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4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52" name="Google Shape;252;p48"/>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Technical</a:t>
            </a:r>
            <a:r>
              <a:rPr lang="en" sz="3500">
                <a:solidFill>
                  <a:schemeClr val="accent1"/>
                </a:solidFill>
              </a:rPr>
              <a:t> Support</a:t>
            </a:r>
            <a:endParaRPr sz="3500"/>
          </a:p>
        </p:txBody>
      </p:sp>
      <p:sp>
        <p:nvSpPr>
          <p:cNvPr id="253" name="Google Shape;253;p48"/>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User: </a:t>
            </a:r>
            <a:r>
              <a:rPr lang="en" sz="700"/>
              <a:t>So I'm not seeing any blocks, but that doesn't mean there aren't warning messages on the brokers.</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b="1" lang="en" sz="700"/>
              <a:t>Agent: </a:t>
            </a:r>
            <a:r>
              <a:rPr lang="en" sz="700"/>
              <a:t>There is.</a:t>
            </a:r>
            <a:endParaRPr sz="700"/>
          </a:p>
          <a:p>
            <a:pPr indent="0" lvl="0" marL="0" rtl="0" algn="ctr">
              <a:spcBef>
                <a:spcPts val="0"/>
              </a:spcBef>
              <a:spcAft>
                <a:spcPts val="0"/>
              </a:spcAft>
              <a:buNone/>
            </a:pPr>
            <a:r>
              <a:rPr b="1" lang="en" sz="700"/>
              <a:t>Agent: </a:t>
            </a:r>
            <a:r>
              <a:rPr lang="en" sz="700"/>
              <a:t>Quote system.</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b="1" lang="en" sz="700"/>
              <a:t>User: </a:t>
            </a:r>
            <a:r>
              <a:rPr lang="en" sz="700"/>
              <a:t>Okay.</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b="1" lang="en" sz="700"/>
              <a:t>Agent: </a:t>
            </a:r>
            <a:r>
              <a:rPr lang="en" sz="700"/>
              <a:t>I can't really help them with that. Okay. Because anytime there's a question on a broker quote.</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b="1" lang="en" sz="700"/>
              <a:t>User: </a:t>
            </a:r>
            <a:r>
              <a:rPr lang="en" sz="700"/>
              <a:t>Okay.</a:t>
            </a:r>
            <a:endParaRPr sz="700"/>
          </a:p>
          <a:p>
            <a:pPr indent="0" lvl="0" marL="0" rtl="0" algn="ctr">
              <a:spcBef>
                <a:spcPts val="0"/>
              </a:spcBef>
              <a:spcAft>
                <a:spcPts val="0"/>
              </a:spcAft>
              <a:buNone/>
            </a:pPr>
            <a:r>
              <a:t/>
            </a:r>
            <a:endParaRPr b="1" sz="700"/>
          </a:p>
          <a:p>
            <a:pPr indent="0" lvl="0" marL="0" rtl="0" algn="ctr">
              <a:spcBef>
                <a:spcPts val="0"/>
              </a:spcBef>
              <a:spcAft>
                <a:spcPts val="0"/>
              </a:spcAft>
              <a:buNone/>
            </a:pPr>
            <a:r>
              <a:rPr b="1" lang="en" sz="700"/>
              <a:t>Agent: </a:t>
            </a:r>
            <a:r>
              <a:rPr lang="en" sz="700"/>
              <a:t>I always say that's something they need to discuss.</a:t>
            </a:r>
            <a:endParaRPr sz="700"/>
          </a:p>
          <a:p>
            <a:pPr indent="0" lvl="0" marL="0" rtl="0" algn="ctr">
              <a:spcBef>
                <a:spcPts val="0"/>
              </a:spcBef>
              <a:spcAft>
                <a:spcPts val="0"/>
              </a:spcAft>
              <a:buNone/>
            </a:pPr>
            <a:r>
              <a:t/>
            </a:r>
            <a:endParaRPr b="1" sz="700"/>
          </a:p>
        </p:txBody>
      </p:sp>
      <p:sp>
        <p:nvSpPr>
          <p:cNvPr id="254" name="Google Shape;254;p48"/>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1edfa1bc-7166-5240-afba-bb66966e0672</a:t>
            </a:r>
            <a:endParaRPr sz="700">
              <a:solidFill>
                <a:srgbClr val="475067"/>
              </a:solidFill>
            </a:endParaRPr>
          </a:p>
          <a:p>
            <a:pPr indent="0" lvl="0" marL="0" rtl="0" algn="ctr">
              <a:spcBef>
                <a:spcPts val="0"/>
              </a:spcBef>
              <a:spcAft>
                <a:spcPts val="0"/>
              </a:spcAft>
              <a:buNone/>
            </a:pPr>
            <a:r>
              <a:rPr lang="en" sz="700" u="sng">
                <a:solidFill>
                  <a:schemeClr val="hlink"/>
                </a:solidFill>
                <a:hlinkClick r:id="rId3"/>
              </a:rPr>
              <a:t>LINK</a:t>
            </a:r>
            <a:endParaRPr sz="700">
              <a:solidFill>
                <a:srgbClr val="475067"/>
              </a:solidFill>
            </a:endParaRPr>
          </a:p>
        </p:txBody>
      </p:sp>
      <p:graphicFrame>
        <p:nvGraphicFramePr>
          <p:cNvPr id="255" name="Google Shape;255;p48"/>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Technical Support</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Broker quote system error message</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(User) contacted the senior agent (Agent) because they were dealing with a broker who was receiving an error message in their quote system. The error was related to an outdoor wood boiler, and the junior agent was unsure how to proceed. The senior agent explained that they don't have access to the broker's quoting vendor system and advised the junior agent to direct the broker to contact broker support for assistance with their quoting system issues. This situation falls under Technical Support because it involves troubleshooting an error in the broker's quoting system, which is outside the scope of what the frontline agents can directly assist with.</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4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62" name="Google Shape;262;p49"/>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Technical Support 2</a:t>
            </a:r>
            <a:endParaRPr sz="3500"/>
          </a:p>
        </p:txBody>
      </p:sp>
      <p:sp>
        <p:nvSpPr>
          <p:cNvPr id="263" name="Google Shape;263;p49"/>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User: </a:t>
            </a:r>
            <a:r>
              <a:rPr lang="en" sz="700"/>
              <a:t>So, this policy renewed on 7th November, 2023. Okay. And just that, if you go to Guidewire Policy Centre and pull up the billing screens, there is no term period showing for 2023-2024. Hmm. Which is what is super weird. Hmm. The good news is that on Billing Centre, everything is as it should be. </a:t>
            </a:r>
            <a:endParaRPr sz="700"/>
          </a:p>
          <a:p>
            <a:pPr indent="0" lvl="0" marL="0" rtl="0" algn="ctr">
              <a:spcBef>
                <a:spcPts val="0"/>
              </a:spcBef>
              <a:spcAft>
                <a:spcPts val="0"/>
              </a:spcAft>
              <a:buNone/>
            </a:pPr>
            <a:r>
              <a:t/>
            </a:r>
            <a:endParaRPr b="1" sz="700"/>
          </a:p>
        </p:txBody>
      </p:sp>
      <p:sp>
        <p:nvSpPr>
          <p:cNvPr id="264" name="Google Shape;264;p49"/>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3590c914-b3a7-53bb-a006-c583bd6a4821</a:t>
            </a:r>
            <a:endParaRPr sz="700">
              <a:solidFill>
                <a:srgbClr val="475067"/>
              </a:solidFill>
            </a:endParaRPr>
          </a:p>
          <a:p>
            <a:pPr indent="0" lvl="0" marL="0" rtl="0" algn="ctr">
              <a:spcBef>
                <a:spcPts val="0"/>
              </a:spcBef>
              <a:spcAft>
                <a:spcPts val="0"/>
              </a:spcAft>
              <a:buNone/>
            </a:pPr>
            <a:r>
              <a:rPr lang="en" sz="700" u="sng">
                <a:solidFill>
                  <a:schemeClr val="hlink"/>
                </a:solidFill>
                <a:hlinkClick r:id="rId3"/>
              </a:rPr>
              <a:t>LINK</a:t>
            </a:r>
            <a:endParaRPr sz="700">
              <a:solidFill>
                <a:srgbClr val="475067"/>
              </a:solidFill>
            </a:endParaRPr>
          </a:p>
        </p:txBody>
      </p:sp>
      <p:graphicFrame>
        <p:nvGraphicFramePr>
          <p:cNvPr id="265" name="Google Shape;265;p49"/>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Technical Support</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Missing policy term in Guidewire Policy Centre</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(User) contacted the senior agent (Agent) because they encountered an issue in the Guidewire Policy Centre system. Specifically, the 2023-2024 term period was not showing in the billing screens for a policy that had renewed on November 7, 2023. The junior agent was unable to resolve this discrepancy, which was causing concern for the broker. The senior agent identified that this was likely a system issue that would require intervention from a super user or IT department, as it wasn't something that could be easily fixed by the agents themselves. This clearly falls under the category of Technical Support, as it involves a system error or limitation that requires specialized assistance to resolve.</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5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72" name="Google Shape;272;p50"/>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Billing Support</a:t>
            </a:r>
            <a:endParaRPr sz="3500"/>
          </a:p>
        </p:txBody>
      </p:sp>
      <p:sp>
        <p:nvSpPr>
          <p:cNvPr id="273" name="Google Shape;273;p50"/>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User: </a:t>
            </a:r>
            <a:r>
              <a:rPr lang="en" sz="700"/>
              <a:t>Hi Charles Davis, just a quick question. For a commercial policy, if it's on the 3-pay plan, do they get an invoice before each payment?</a:t>
            </a:r>
            <a:endParaRPr sz="700"/>
          </a:p>
          <a:p>
            <a:pPr indent="0" lvl="0" marL="0" rtl="0" algn="ctr">
              <a:spcBef>
                <a:spcPts val="0"/>
              </a:spcBef>
              <a:spcAft>
                <a:spcPts val="0"/>
              </a:spcAft>
              <a:buNone/>
            </a:pPr>
            <a:r>
              <a:t/>
            </a:r>
            <a:endParaRPr b="1" sz="700"/>
          </a:p>
        </p:txBody>
      </p:sp>
      <p:sp>
        <p:nvSpPr>
          <p:cNvPr id="274" name="Google Shape;274;p50"/>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06997f78-ff1e-5526-b17f-bd3f82e0ddf9</a:t>
            </a:r>
            <a:br>
              <a:rPr lang="en" sz="700">
                <a:solidFill>
                  <a:srgbClr val="475067"/>
                </a:solidFill>
              </a:rPr>
            </a:br>
            <a:r>
              <a:rPr lang="en" sz="700">
                <a:solidFill>
                  <a:srgbClr val="475067"/>
                </a:solidFill>
              </a:rPr>
              <a:t>(part of test set)</a:t>
            </a:r>
            <a:endParaRPr sz="700">
              <a:solidFill>
                <a:srgbClr val="475067"/>
              </a:solidFill>
            </a:endParaRPr>
          </a:p>
        </p:txBody>
      </p:sp>
      <p:graphicFrame>
        <p:nvGraphicFramePr>
          <p:cNvPr id="275" name="Google Shape;275;p50"/>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Billing</a:t>
                      </a:r>
                      <a:r>
                        <a:rPr lang="en" sz="1000">
                          <a:latin typeface="Inter"/>
                          <a:ea typeface="Inter"/>
                          <a:cs typeface="Inter"/>
                          <a:sym typeface="Inter"/>
                        </a:rPr>
                        <a:t> Support</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Commercial policy billing cycle and invoice timing</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(User) is seeking clarification about the billing process for commercial policies on a 3-pay plan. Specifically, they want to know if customers receive invoices before each payment and how far in advance these invoices are sent. This inquiry falls under the category of Billing Support as it directly relates to the timing and process of sending invoices to customers. The senior agent (Agent) provides information about the timing of the billing statements, indicating they are typically sent out 20 days in advance for policies in the Acre system. This conversation demonstrates that the junior agent needed additional information about the billing process to better assist customers or handle inquiries related to commercial policy payments.</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279" name="Shape 279"/>
        <p:cNvGrpSpPr/>
        <p:nvPr/>
      </p:nvGrpSpPr>
      <p:grpSpPr>
        <a:xfrm>
          <a:off x="0" y="0"/>
          <a:ext cx="0" cy="0"/>
          <a:chOff x="0" y="0"/>
          <a:chExt cx="0" cy="0"/>
        </a:xfrm>
      </p:grpSpPr>
      <p:pic>
        <p:nvPicPr>
          <p:cNvPr id="280" name="Google Shape;280;p51"/>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281" name="Google Shape;281;p51"/>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SRA Report (Sonnet - Support)</a:t>
            </a:r>
            <a:endParaRPr sz="3600">
              <a:solidFill>
                <a:schemeClr val="lt1"/>
              </a:solidFill>
              <a:latin typeface="Manrope SemiBold"/>
              <a:ea typeface="Manrope SemiBold"/>
              <a:cs typeface="Manrope SemiBold"/>
              <a:sym typeface="Manrope SemiBold"/>
            </a:endParaRPr>
          </a:p>
        </p:txBody>
      </p:sp>
      <p:pic>
        <p:nvPicPr>
          <p:cNvPr id="282" name="Google Shape;282;p51"/>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283" name="Google Shape;28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5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90" name="Google Shape;290;p5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Escalation Report - Sonnet S</a:t>
            </a:r>
            <a:endParaRPr sz="3500"/>
          </a:p>
        </p:txBody>
      </p:sp>
      <p:pic>
        <p:nvPicPr>
          <p:cNvPr id="291" name="Google Shape;291;p52"/>
          <p:cNvPicPr preferRelativeResize="0"/>
          <p:nvPr/>
        </p:nvPicPr>
        <p:blipFill>
          <a:blip r:embed="rId3">
            <a:alphaModFix/>
          </a:blip>
          <a:stretch>
            <a:fillRect/>
          </a:stretch>
        </p:blipFill>
        <p:spPr>
          <a:xfrm>
            <a:off x="1491875" y="1227480"/>
            <a:ext cx="5896227" cy="353091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5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98" name="Google Shape;298;p5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Escalation Report - Sonnet S</a:t>
            </a:r>
            <a:endParaRPr sz="3500"/>
          </a:p>
        </p:txBody>
      </p:sp>
      <p:pic>
        <p:nvPicPr>
          <p:cNvPr id="299" name="Google Shape;299;p53"/>
          <p:cNvPicPr preferRelativeResize="0"/>
          <p:nvPr/>
        </p:nvPicPr>
        <p:blipFill>
          <a:blip r:embed="rId3">
            <a:alphaModFix/>
          </a:blip>
          <a:stretch>
            <a:fillRect/>
          </a:stretch>
        </p:blipFill>
        <p:spPr>
          <a:xfrm>
            <a:off x="680750" y="1119900"/>
            <a:ext cx="7909499" cy="358399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5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06" name="Google Shape;306;p54"/>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S</a:t>
            </a:r>
            <a:r>
              <a:rPr lang="en" sz="3500"/>
              <a:t> Distributions</a:t>
            </a:r>
            <a:endParaRPr sz="3500"/>
          </a:p>
        </p:txBody>
      </p:sp>
      <p:pic>
        <p:nvPicPr>
          <p:cNvPr id="307" name="Google Shape;307;p54"/>
          <p:cNvPicPr preferRelativeResize="0"/>
          <p:nvPr/>
        </p:nvPicPr>
        <p:blipFill>
          <a:blip r:embed="rId3">
            <a:alphaModFix/>
          </a:blip>
          <a:stretch>
            <a:fillRect/>
          </a:stretch>
        </p:blipFill>
        <p:spPr>
          <a:xfrm>
            <a:off x="648925" y="1443300"/>
            <a:ext cx="3537300" cy="2536600"/>
          </a:xfrm>
          <a:prstGeom prst="rect">
            <a:avLst/>
          </a:prstGeom>
          <a:noFill/>
          <a:ln cap="flat" cmpd="sng" w="9525">
            <a:solidFill>
              <a:srgbClr val="12184A"/>
            </a:solidFill>
            <a:prstDash val="solid"/>
            <a:round/>
            <a:headEnd len="sm" w="sm" type="none"/>
            <a:tailEnd len="sm" w="sm" type="none"/>
          </a:ln>
        </p:spPr>
      </p:pic>
      <p:sp>
        <p:nvSpPr>
          <p:cNvPr id="308" name="Google Shape;308;p54"/>
          <p:cNvSpPr txBox="1"/>
          <p:nvPr/>
        </p:nvSpPr>
        <p:spPr>
          <a:xfrm>
            <a:off x="3583000" y="40948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Inbound – J Agent to S Agent</a:t>
            </a:r>
            <a:endParaRPr sz="700">
              <a:solidFill>
                <a:srgbClr val="475067"/>
              </a:solidFill>
            </a:endParaRPr>
          </a:p>
        </p:txBody>
      </p:sp>
      <p:pic>
        <p:nvPicPr>
          <p:cNvPr id="309" name="Google Shape;309;p54"/>
          <p:cNvPicPr preferRelativeResize="0"/>
          <p:nvPr/>
        </p:nvPicPr>
        <p:blipFill>
          <a:blip r:embed="rId4">
            <a:alphaModFix/>
          </a:blip>
          <a:stretch>
            <a:fillRect/>
          </a:stretch>
        </p:blipFill>
        <p:spPr>
          <a:xfrm>
            <a:off x="4708725" y="1443299"/>
            <a:ext cx="3327425" cy="2575300"/>
          </a:xfrm>
          <a:prstGeom prst="rect">
            <a:avLst/>
          </a:prstGeom>
          <a:noFill/>
          <a:ln cap="flat" cmpd="sng" w="9525">
            <a:solidFill>
              <a:schemeClr val="dk1"/>
            </a:solidFill>
            <a:prstDash val="solid"/>
            <a:round/>
            <a:headEnd len="sm" w="sm" type="none"/>
            <a:tailEnd len="sm" w="sm" type="none"/>
          </a:ln>
        </p:spPr>
      </p:pic>
      <p:sp>
        <p:nvSpPr>
          <p:cNvPr id="310" name="Google Shape;310;p54"/>
          <p:cNvSpPr/>
          <p:nvPr/>
        </p:nvSpPr>
        <p:spPr>
          <a:xfrm>
            <a:off x="3711625" y="1759200"/>
            <a:ext cx="474600" cy="2226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54"/>
          <p:cNvSpPr/>
          <p:nvPr/>
        </p:nvSpPr>
        <p:spPr>
          <a:xfrm>
            <a:off x="7561550" y="1759200"/>
            <a:ext cx="474600" cy="4230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5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18" name="Google Shape;318;p55"/>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S Test Set</a:t>
            </a:r>
            <a:endParaRPr sz="3500"/>
          </a:p>
        </p:txBody>
      </p:sp>
      <p:pic>
        <p:nvPicPr>
          <p:cNvPr id="319" name="Google Shape;319;p55"/>
          <p:cNvPicPr preferRelativeResize="0"/>
          <p:nvPr/>
        </p:nvPicPr>
        <p:blipFill rotWithShape="1">
          <a:blip r:embed="rId3">
            <a:alphaModFix/>
          </a:blip>
          <a:srcRect b="0" l="0" r="69199" t="0"/>
          <a:stretch/>
        </p:blipFill>
        <p:spPr>
          <a:xfrm>
            <a:off x="2755925" y="1146850"/>
            <a:ext cx="1816075" cy="3530924"/>
          </a:xfrm>
          <a:prstGeom prst="rect">
            <a:avLst/>
          </a:prstGeom>
          <a:noFill/>
          <a:ln cap="flat" cmpd="sng" w="9525">
            <a:solidFill>
              <a:schemeClr val="dk1"/>
            </a:solidFill>
            <a:prstDash val="solid"/>
            <a:round/>
            <a:headEnd len="sm" w="sm" type="none"/>
            <a:tailEnd len="sm" w="sm" type="none"/>
          </a:ln>
        </p:spPr>
      </p:pic>
      <p:pic>
        <p:nvPicPr>
          <p:cNvPr id="320" name="Google Shape;320;p55"/>
          <p:cNvPicPr preferRelativeResize="0"/>
          <p:nvPr/>
        </p:nvPicPr>
        <p:blipFill>
          <a:blip r:embed="rId4">
            <a:alphaModFix/>
          </a:blip>
          <a:stretch>
            <a:fillRect/>
          </a:stretch>
        </p:blipFill>
        <p:spPr>
          <a:xfrm>
            <a:off x="4806100" y="2355800"/>
            <a:ext cx="2546400" cy="10221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5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27" name="Google Shape;327;p56"/>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Underwriting Inquiry 1</a:t>
            </a:r>
            <a:endParaRPr sz="3500"/>
          </a:p>
        </p:txBody>
      </p:sp>
      <p:sp>
        <p:nvSpPr>
          <p:cNvPr id="328" name="Google Shape;328;p56"/>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User: </a:t>
            </a:r>
            <a:r>
              <a:rPr lang="en" sz="700"/>
              <a:t>"Good, thank you. I have a customer who's on the phone right now. They've bought a new truck and they want to add it onto their policy. They have some questions regarding business use. I think this is going to be a decline, but I just wanted to check with you before I say no.</a:t>
            </a:r>
            <a:endParaRPr sz="700"/>
          </a:p>
          <a:p>
            <a:pPr indent="0" lvl="0" marL="0" rtl="0" algn="ctr">
              <a:spcBef>
                <a:spcPts val="0"/>
              </a:spcBef>
              <a:spcAft>
                <a:spcPts val="0"/>
              </a:spcAft>
              <a:buNone/>
            </a:pPr>
            <a:r>
              <a:rPr lang="en" sz="700"/>
              <a:t>"</a:t>
            </a:r>
            <a:endParaRPr sz="700"/>
          </a:p>
          <a:p>
            <a:pPr indent="0" lvl="0" marL="0" rtl="0" algn="ctr">
              <a:spcBef>
                <a:spcPts val="0"/>
              </a:spcBef>
              <a:spcAft>
                <a:spcPts val="0"/>
              </a:spcAft>
              <a:buNone/>
            </a:pPr>
            <a:r>
              <a:t/>
            </a:r>
            <a:endParaRPr b="1" sz="700"/>
          </a:p>
        </p:txBody>
      </p:sp>
      <p:sp>
        <p:nvSpPr>
          <p:cNvPr id="329" name="Google Shape;329;p56"/>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1fe44f3e-8944-5d59-9a2f-d3914df589fa</a:t>
            </a:r>
            <a:endParaRPr sz="700">
              <a:solidFill>
                <a:srgbClr val="475067"/>
              </a:solidFill>
            </a:endParaRPr>
          </a:p>
        </p:txBody>
      </p:sp>
      <p:graphicFrame>
        <p:nvGraphicFramePr>
          <p:cNvPr id="330" name="Google Shape;330;p56"/>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Underwriting Inquiry </a:t>
                      </a:r>
                      <a:endParaRPr sz="1000">
                        <a:latin typeface="Inter"/>
                        <a:ea typeface="Inter"/>
                        <a:cs typeface="Inter"/>
                        <a:sym typeface="Inter"/>
                      </a:endParaRPr>
                    </a:p>
                    <a:p>
                      <a:pPr indent="0" lvl="0" marL="0" rtl="0" algn="l">
                        <a:spcBef>
                          <a:spcPts val="0"/>
                        </a:spcBef>
                        <a:spcAft>
                          <a:spcPts val="0"/>
                        </a:spcAft>
                        <a:buNone/>
                      </a:pPr>
                      <a:r>
                        <a:rPr lang="en" sz="700">
                          <a:latin typeface="Inter"/>
                          <a:ea typeface="Inter"/>
                          <a:cs typeface="Inter"/>
                          <a:sym typeface="Inter"/>
                        </a:rPr>
                        <a:t>(Prior Prompt: Policy Clarification)</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Confirm eligibility for auto insurance coverage with business use of vehicle.</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was unsure about the underwriting guidelines for business use of a personal vehicle and needed clarification from a senior agent to determine if the customer's situation would be eligible for coverage or result in a decline.</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6" name="Google Shape;336;p5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37" name="Google Shape;337;p57"/>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Underwriting Inquiry 2</a:t>
            </a:r>
            <a:endParaRPr sz="3500"/>
          </a:p>
        </p:txBody>
      </p:sp>
      <p:sp>
        <p:nvSpPr>
          <p:cNvPr id="338" name="Google Shape;338;p57"/>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Alright, so it's 448-822-864. For Adam Long? Jamie Murphy. He's on the phone on hold. I did look into acceptable business for auto use. I did take a second look at the products, auto products manual as well. Alright, so the thing is this. The client reaches out to inform that his wife was in need to increase the liability because she was driving her vehicle as part of her job requirements to enroll kids up to grade eight, right?  And then we have this escalated and the client was actually advised that it's not acceptable business use for us. Okay. So the client is calling back to say that they no longer will use the vehicle for business use. Okay. So he was given like a five days notice to remove the vehicle from the policy, but then he's saying now, well, we're not going to use it anymore. Spoke to my wife. She understood and so forth. She's not going to drive the vehicles anymore. So how do we go about institutions like this? We just take the client's word.</a:t>
            </a:r>
            <a:endParaRPr sz="700"/>
          </a:p>
        </p:txBody>
      </p:sp>
      <p:sp>
        <p:nvSpPr>
          <p:cNvPr id="339" name="Google Shape;339;p57"/>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2c0a0b6e-4452-5f3c-bfb5-659e0b941778</a:t>
            </a:r>
            <a:endParaRPr sz="700">
              <a:solidFill>
                <a:srgbClr val="475067"/>
              </a:solidFill>
            </a:endParaRPr>
          </a:p>
        </p:txBody>
      </p:sp>
      <p:graphicFrame>
        <p:nvGraphicFramePr>
          <p:cNvPr id="340" name="Google Shape;340;p57"/>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Underwriting Inquiry</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Confirm the process for handling a client who previously used their vehicle for business purposes but now claims they will no longer do so.</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sought guidance on how to proceed with a client who was initially flagged for unacceptable business use of their vehicle but now claims they will discontinue this practice.</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6" name="Google Shape;346;p58"/>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47" name="Google Shape;347;p58"/>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Account Inquiry</a:t>
            </a:r>
            <a:endParaRPr sz="3500"/>
          </a:p>
        </p:txBody>
      </p:sp>
      <p:sp>
        <p:nvSpPr>
          <p:cNvPr id="348" name="Google Shape;348;p58"/>
          <p:cNvSpPr/>
          <p:nvPr/>
        </p:nvSpPr>
        <p:spPr>
          <a:xfrm>
            <a:off x="406400" y="921950"/>
            <a:ext cx="22161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User: Hi, I'm calling from New Brunswick, Kitchens Auto and Towing. We got an RCMP call on the 14th and we hauled in a vehicle that was stolen. I have not heard from the owner. I don't even know if the owner knows it's here, but I have your insurance card. Wondering if you can get a hold of the insured and let them know it's here.</a:t>
            </a:r>
            <a:endParaRPr sz="700"/>
          </a:p>
          <a:p>
            <a:pPr indent="0" lvl="0" marL="0" rtl="0" algn="ctr">
              <a:spcBef>
                <a:spcPts val="0"/>
              </a:spcBef>
              <a:spcAft>
                <a:spcPts val="0"/>
              </a:spcAft>
              <a:buNone/>
            </a:pPr>
            <a:r>
              <a:rPr lang="en" sz="700"/>
              <a:t>Agent: And, sorry, can I please get the name?</a:t>
            </a:r>
            <a:endParaRPr sz="700"/>
          </a:p>
          <a:p>
            <a:pPr indent="0" lvl="0" marL="0" rtl="0" algn="ctr">
              <a:spcBef>
                <a:spcPts val="0"/>
              </a:spcBef>
              <a:spcAft>
                <a:spcPts val="0"/>
              </a:spcAft>
              <a:buNone/>
            </a:pPr>
            <a:r>
              <a:rPr lang="en" sz="700"/>
              <a:t>User: Of the business? My name is Brian Donovan. The name of the owner?</a:t>
            </a:r>
            <a:endParaRPr sz="700"/>
          </a:p>
          <a:p>
            <a:pPr indent="0" lvl="0" marL="0" rtl="0" algn="ctr">
              <a:spcBef>
                <a:spcPts val="0"/>
              </a:spcBef>
              <a:spcAft>
                <a:spcPts val="0"/>
              </a:spcAft>
              <a:buNone/>
            </a:pPr>
            <a:r>
              <a:rPr lang="en" sz="700"/>
              <a:t>….</a:t>
            </a:r>
            <a:endParaRPr sz="700"/>
          </a:p>
          <a:p>
            <a:pPr indent="0" lvl="0" marL="0" rtl="0" algn="ctr">
              <a:spcBef>
                <a:spcPts val="0"/>
              </a:spcBef>
              <a:spcAft>
                <a:spcPts val="0"/>
              </a:spcAft>
              <a:buNone/>
            </a:pPr>
            <a:r>
              <a:rPr lang="en" sz="700"/>
              <a:t>Agent: Okay, so you have someone on the phone. Who are you talking to?</a:t>
            </a:r>
            <a:endParaRPr sz="700"/>
          </a:p>
          <a:p>
            <a:pPr indent="0" lvl="0" marL="0" rtl="0" algn="ctr">
              <a:spcBef>
                <a:spcPts val="0"/>
              </a:spcBef>
              <a:spcAft>
                <a:spcPts val="0"/>
              </a:spcAft>
              <a:buNone/>
            </a:pPr>
            <a:r>
              <a:rPr lang="en" sz="700"/>
              <a:t>Agent: Her name is Brian Donovan. She's calling from Kitchens Auto Body Repairs Limited, located in Upper Kings Clear, New Brunswick. Basically, she's calling because the RCMP found this 2021 Chevy truck in a ditch. I guess they thought it was a stolen vehicle, and they dropped it off at this Kitchen Auto Body Repair shop. She said, okay, the only thing in there is the liability card, and it's an expired liability card. I opened up Michael Flores' profile, and the truck on file is a newer Chevrolet. In this case, would I contact the claims department? Who would I contact? </a:t>
            </a:r>
            <a:r>
              <a:rPr b="1" lang="en" sz="700"/>
              <a:t>Because it's not even associated with Michael Flores' account. </a:t>
            </a:r>
            <a:endParaRPr b="1" sz="700"/>
          </a:p>
          <a:p>
            <a:pPr indent="0" lvl="0" marL="0" rtl="0" algn="ctr">
              <a:spcBef>
                <a:spcPts val="0"/>
              </a:spcBef>
              <a:spcAft>
                <a:spcPts val="0"/>
              </a:spcAft>
              <a:buNone/>
            </a:pPr>
            <a:r>
              <a:t/>
            </a:r>
            <a:endParaRPr sz="700"/>
          </a:p>
          <a:p>
            <a:pPr indent="0" lvl="0" marL="0" rtl="0" algn="ctr">
              <a:spcBef>
                <a:spcPts val="0"/>
              </a:spcBef>
              <a:spcAft>
                <a:spcPts val="0"/>
              </a:spcAft>
              <a:buNone/>
            </a:pPr>
            <a:r>
              <a:t/>
            </a:r>
            <a:endParaRPr sz="700"/>
          </a:p>
        </p:txBody>
      </p:sp>
      <p:sp>
        <p:nvSpPr>
          <p:cNvPr id="349" name="Google Shape;349;p58"/>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940b0123-866a-5892-9680-9e60f78bd3d2</a:t>
            </a:r>
            <a:endParaRPr sz="700">
              <a:solidFill>
                <a:srgbClr val="475067"/>
              </a:solidFill>
            </a:endParaRPr>
          </a:p>
        </p:txBody>
      </p:sp>
      <p:graphicFrame>
        <p:nvGraphicFramePr>
          <p:cNvPr id="350" name="Google Shape;350;p58"/>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Account Inquiry</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Unsure how to handle a third-party report of a potentially stolen vehicle.</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escalated the call because they were uncertain about the proper procedure for handling a situation where a towing company reported finding a vehicle with an expired insurance card from their company.</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5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57" name="Google Shape;357;p59"/>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Billing Inquiry</a:t>
            </a:r>
            <a:endParaRPr sz="3500"/>
          </a:p>
        </p:txBody>
      </p:sp>
      <p:sp>
        <p:nvSpPr>
          <p:cNvPr id="358" name="Google Shape;358;p59"/>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I'm looking at back office request process. So what has happened is the customer called earlier to inquire if he can make an early payment for a double payment that was going to come out on 30th of October.  So he was advised correctly by the advisor to make the payment on the very same day. So he made the payment on 20th. However, even after making the payment on 20th, instructions were sent to the bank to withdraw the money on 30th. So now he has been charged a $48 or $45 NSF from the bank. So is there a way we can, like, help him to reimburse it? Well, what did you read in the Bebo guide? I'm just trying to find out.</a:t>
            </a:r>
            <a:endParaRPr sz="700"/>
          </a:p>
        </p:txBody>
      </p:sp>
      <p:sp>
        <p:nvSpPr>
          <p:cNvPr id="359" name="Google Shape;359;p59"/>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5112a330-f2c2-54f5-ab28-fd12b6a1bd42</a:t>
            </a:r>
            <a:endParaRPr sz="700">
              <a:solidFill>
                <a:srgbClr val="475067"/>
              </a:solidFill>
            </a:endParaRPr>
          </a:p>
        </p:txBody>
      </p:sp>
      <p:graphicFrame>
        <p:nvGraphicFramePr>
          <p:cNvPr id="360" name="Google Shape;360;p59"/>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Billing Inquiry</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Unsure how to handle an out-of-sequence payment and its consequences.</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junior agent is seeking guidance on how to address a situation where a customer's early payment wasn't properly applied, resulting in an NSF fee and potential further complications.</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364" name="Shape 364"/>
        <p:cNvGrpSpPr/>
        <p:nvPr/>
      </p:nvGrpSpPr>
      <p:grpSpPr>
        <a:xfrm>
          <a:off x="0" y="0"/>
          <a:ext cx="0" cy="0"/>
          <a:chOff x="0" y="0"/>
          <a:chExt cx="0" cy="0"/>
        </a:xfrm>
      </p:grpSpPr>
      <p:pic>
        <p:nvPicPr>
          <p:cNvPr id="365" name="Google Shape;365;p60"/>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366" name="Google Shape;366;p60"/>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SRA Report (Sonnet - Escalation)</a:t>
            </a:r>
            <a:endParaRPr sz="3600">
              <a:solidFill>
                <a:schemeClr val="lt1"/>
              </a:solidFill>
              <a:latin typeface="Manrope SemiBold"/>
              <a:ea typeface="Manrope SemiBold"/>
              <a:cs typeface="Manrope SemiBold"/>
              <a:sym typeface="Manrope SemiBold"/>
            </a:endParaRPr>
          </a:p>
        </p:txBody>
      </p:sp>
      <p:pic>
        <p:nvPicPr>
          <p:cNvPr id="367" name="Google Shape;367;p60"/>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368" name="Google Shape;368;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6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75" name="Google Shape;375;p61"/>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Escalation Report - Sonnet E</a:t>
            </a:r>
            <a:endParaRPr sz="3500"/>
          </a:p>
        </p:txBody>
      </p:sp>
      <p:pic>
        <p:nvPicPr>
          <p:cNvPr id="376" name="Google Shape;376;p61"/>
          <p:cNvPicPr preferRelativeResize="0"/>
          <p:nvPr/>
        </p:nvPicPr>
        <p:blipFill>
          <a:blip r:embed="rId3">
            <a:alphaModFix/>
          </a:blip>
          <a:stretch>
            <a:fillRect/>
          </a:stretch>
        </p:blipFill>
        <p:spPr>
          <a:xfrm>
            <a:off x="1551738" y="1119900"/>
            <a:ext cx="5776536" cy="3718800"/>
          </a:xfrm>
          <a:prstGeom prst="rect">
            <a:avLst/>
          </a:prstGeom>
          <a:noFill/>
          <a:ln cap="flat" cmpd="sng" w="9525">
            <a:solidFill>
              <a:schemeClr val="dk1"/>
            </a:solidFill>
            <a:prstDash val="solid"/>
            <a:round/>
            <a:headEnd len="sm" w="sm" type="none"/>
            <a:tailEnd len="sm" w="sm" type="none"/>
          </a:ln>
        </p:spPr>
      </p:pic>
      <p:pic>
        <p:nvPicPr>
          <p:cNvPr id="377" name="Google Shape;377;p61"/>
          <p:cNvPicPr preferRelativeResize="0"/>
          <p:nvPr/>
        </p:nvPicPr>
        <p:blipFill>
          <a:blip r:embed="rId4">
            <a:alphaModFix/>
          </a:blip>
          <a:stretch>
            <a:fillRect/>
          </a:stretch>
        </p:blipFill>
        <p:spPr>
          <a:xfrm>
            <a:off x="5709575" y="3949650"/>
            <a:ext cx="3223292" cy="9861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6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84" name="Google Shape;384;p6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Escalation Report - Sonnet S</a:t>
            </a:r>
            <a:endParaRPr sz="3500"/>
          </a:p>
        </p:txBody>
      </p:sp>
      <p:pic>
        <p:nvPicPr>
          <p:cNvPr id="385" name="Google Shape;385;p62"/>
          <p:cNvPicPr preferRelativeResize="0"/>
          <p:nvPr/>
        </p:nvPicPr>
        <p:blipFill rotWithShape="1">
          <a:blip r:embed="rId3">
            <a:alphaModFix/>
          </a:blip>
          <a:srcRect b="0" l="50659" r="0" t="0"/>
          <a:stretch/>
        </p:blipFill>
        <p:spPr>
          <a:xfrm>
            <a:off x="675200" y="1039050"/>
            <a:ext cx="3846374" cy="3718799"/>
          </a:xfrm>
          <a:prstGeom prst="rect">
            <a:avLst/>
          </a:prstGeom>
          <a:noFill/>
          <a:ln>
            <a:noFill/>
          </a:ln>
        </p:spPr>
      </p:pic>
      <p:pic>
        <p:nvPicPr>
          <p:cNvPr id="386" name="Google Shape;386;p62"/>
          <p:cNvPicPr preferRelativeResize="0"/>
          <p:nvPr/>
        </p:nvPicPr>
        <p:blipFill rotWithShape="1">
          <a:blip r:embed="rId3">
            <a:alphaModFix/>
          </a:blip>
          <a:srcRect b="0" l="0" r="49365" t="0"/>
          <a:stretch/>
        </p:blipFill>
        <p:spPr>
          <a:xfrm>
            <a:off x="4521575" y="1039050"/>
            <a:ext cx="3947223" cy="37187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6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93" name="Google Shape;393;p6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E Distributions</a:t>
            </a:r>
            <a:endParaRPr sz="3500"/>
          </a:p>
        </p:txBody>
      </p:sp>
      <p:pic>
        <p:nvPicPr>
          <p:cNvPr id="394" name="Google Shape;394;p63"/>
          <p:cNvPicPr preferRelativeResize="0"/>
          <p:nvPr/>
        </p:nvPicPr>
        <p:blipFill>
          <a:blip r:embed="rId3">
            <a:alphaModFix/>
          </a:blip>
          <a:stretch>
            <a:fillRect/>
          </a:stretch>
        </p:blipFill>
        <p:spPr>
          <a:xfrm>
            <a:off x="400975" y="1312628"/>
            <a:ext cx="4256203" cy="2536600"/>
          </a:xfrm>
          <a:prstGeom prst="rect">
            <a:avLst/>
          </a:prstGeom>
          <a:noFill/>
          <a:ln cap="flat" cmpd="sng" w="9525">
            <a:solidFill>
              <a:srgbClr val="12184A"/>
            </a:solidFill>
            <a:prstDash val="solid"/>
            <a:round/>
            <a:headEnd len="sm" w="sm" type="none"/>
            <a:tailEnd len="sm" w="sm" type="none"/>
          </a:ln>
        </p:spPr>
      </p:pic>
      <p:sp>
        <p:nvSpPr>
          <p:cNvPr id="395" name="Google Shape;395;p63"/>
          <p:cNvSpPr txBox="1"/>
          <p:nvPr/>
        </p:nvSpPr>
        <p:spPr>
          <a:xfrm>
            <a:off x="3916850" y="39421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Outbound – S Agent to Customer</a:t>
            </a:r>
            <a:endParaRPr sz="700">
              <a:solidFill>
                <a:srgbClr val="475067"/>
              </a:solidFill>
            </a:endParaRPr>
          </a:p>
        </p:txBody>
      </p:sp>
      <p:pic>
        <p:nvPicPr>
          <p:cNvPr id="396" name="Google Shape;396;p63"/>
          <p:cNvPicPr preferRelativeResize="0"/>
          <p:nvPr/>
        </p:nvPicPr>
        <p:blipFill>
          <a:blip r:embed="rId4">
            <a:alphaModFix/>
          </a:blip>
          <a:stretch>
            <a:fillRect/>
          </a:stretch>
        </p:blipFill>
        <p:spPr>
          <a:xfrm>
            <a:off x="4841128" y="1382675"/>
            <a:ext cx="4182021" cy="2378145"/>
          </a:xfrm>
          <a:prstGeom prst="rect">
            <a:avLst/>
          </a:prstGeom>
          <a:noFill/>
          <a:ln cap="flat" cmpd="sng" w="9525">
            <a:solidFill>
              <a:schemeClr val="dk1"/>
            </a:solidFill>
            <a:prstDash val="solid"/>
            <a:round/>
            <a:headEnd len="sm" w="sm" type="none"/>
            <a:tailEnd len="sm" w="sm" type="none"/>
          </a:ln>
        </p:spPr>
      </p:pic>
      <p:sp>
        <p:nvSpPr>
          <p:cNvPr id="397" name="Google Shape;397;p63"/>
          <p:cNvSpPr/>
          <p:nvPr/>
        </p:nvSpPr>
        <p:spPr>
          <a:xfrm>
            <a:off x="4112400" y="1725775"/>
            <a:ext cx="516900" cy="2226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6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04" name="Google Shape;404;p64"/>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a:t>
            </a:r>
            <a:r>
              <a:rPr lang="en" sz="3500"/>
              <a:t>onnet E Test Set</a:t>
            </a:r>
            <a:endParaRPr sz="3500"/>
          </a:p>
        </p:txBody>
      </p:sp>
      <p:pic>
        <p:nvPicPr>
          <p:cNvPr id="405" name="Google Shape;405;p64"/>
          <p:cNvPicPr preferRelativeResize="0"/>
          <p:nvPr/>
        </p:nvPicPr>
        <p:blipFill rotWithShape="1">
          <a:blip r:embed="rId3">
            <a:alphaModFix/>
          </a:blip>
          <a:srcRect b="0" l="0" r="58050" t="0"/>
          <a:stretch/>
        </p:blipFill>
        <p:spPr>
          <a:xfrm>
            <a:off x="1734618" y="1119900"/>
            <a:ext cx="2423200" cy="3718800"/>
          </a:xfrm>
          <a:prstGeom prst="rect">
            <a:avLst/>
          </a:prstGeom>
          <a:noFill/>
          <a:ln cap="flat" cmpd="sng" w="9525">
            <a:solidFill>
              <a:schemeClr val="dk1"/>
            </a:solidFill>
            <a:prstDash val="solid"/>
            <a:round/>
            <a:headEnd len="sm" w="sm" type="none"/>
            <a:tailEnd len="sm" w="sm" type="none"/>
          </a:ln>
        </p:spPr>
      </p:pic>
      <p:pic>
        <p:nvPicPr>
          <p:cNvPr id="406" name="Google Shape;406;p64"/>
          <p:cNvPicPr preferRelativeResize="0"/>
          <p:nvPr/>
        </p:nvPicPr>
        <p:blipFill>
          <a:blip r:embed="rId4">
            <a:alphaModFix/>
          </a:blip>
          <a:stretch>
            <a:fillRect/>
          </a:stretch>
        </p:blipFill>
        <p:spPr>
          <a:xfrm>
            <a:off x="4300325" y="2508125"/>
            <a:ext cx="3223292" cy="9861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2" name="Google Shape;412;p6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13" name="Google Shape;413;p65"/>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Billing Inquiry</a:t>
            </a:r>
            <a:endParaRPr sz="3500"/>
          </a:p>
        </p:txBody>
      </p:sp>
      <p:sp>
        <p:nvSpPr>
          <p:cNvPr id="414" name="Google Shape;414;p65"/>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Sylvia Wells is fine? Okay, thanks, Sylvia Wells. This call is recorded for quality and training purposes. Sorry to hear about that situation. I see here, I guess there was an issue with some of the missed payments and the cancellation for the missed payments.</a:t>
            </a:r>
            <a:endParaRPr b="1" sz="700"/>
          </a:p>
        </p:txBody>
      </p:sp>
      <p:sp>
        <p:nvSpPr>
          <p:cNvPr id="415" name="Google Shape;415;p65"/>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07099c62-4dff-5e54-af43-ad644612bc23</a:t>
            </a:r>
            <a:endParaRPr sz="700">
              <a:solidFill>
                <a:srgbClr val="475067"/>
              </a:solidFill>
            </a:endParaRPr>
          </a:p>
        </p:txBody>
      </p:sp>
      <p:graphicFrame>
        <p:nvGraphicFramePr>
          <p:cNvPr id="416" name="Google Shape;416;p65"/>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Billing Inquiry</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Discrepancy between customer's bank records and insurance company's payment records.</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customer claims their bank account had sufficient funds and shows no withdrawal attempts, while the insurance company reports multiple missed payments leading to policy cancellation.</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66"/>
          <p:cNvSpPr txBox="1"/>
          <p:nvPr/>
        </p:nvSpPr>
        <p:spPr>
          <a:xfrm>
            <a:off x="4525525" y="296675"/>
            <a:ext cx="548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Inter Medium"/>
                <a:ea typeface="Inter Medium"/>
                <a:cs typeface="Inter Medium"/>
                <a:sym typeface="Inter Medium"/>
              </a:rPr>
              <a:t>NBS</a:t>
            </a:r>
            <a:endParaRPr b="1" sz="800">
              <a:solidFill>
                <a:srgbClr val="475067"/>
              </a:solidFill>
            </a:endParaRPr>
          </a:p>
        </p:txBody>
      </p:sp>
      <p:sp>
        <p:nvSpPr>
          <p:cNvPr id="423" name="Google Shape;423;p66"/>
          <p:cNvSpPr/>
          <p:nvPr/>
        </p:nvSpPr>
        <p:spPr>
          <a:xfrm>
            <a:off x="2982150" y="697100"/>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Agent Reassurance or Confidence</a:t>
            </a:r>
            <a:endParaRPr b="1" sz="800">
              <a:latin typeface="Inter"/>
              <a:ea typeface="Inter"/>
              <a:cs typeface="Inter"/>
              <a:sym typeface="Inter"/>
            </a:endParaRPr>
          </a:p>
        </p:txBody>
      </p:sp>
      <p:sp>
        <p:nvSpPr>
          <p:cNvPr id="424" name="Google Shape;424;p66"/>
          <p:cNvSpPr/>
          <p:nvPr/>
        </p:nvSpPr>
        <p:spPr>
          <a:xfrm>
            <a:off x="2982150" y="104653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Service Complaint</a:t>
            </a:r>
            <a:endParaRPr b="1" sz="800">
              <a:latin typeface="Inter"/>
              <a:ea typeface="Inter"/>
              <a:cs typeface="Inter"/>
              <a:sym typeface="Inter"/>
            </a:endParaRPr>
          </a:p>
        </p:txBody>
      </p:sp>
      <p:sp>
        <p:nvSpPr>
          <p:cNvPr id="425" name="Google Shape;425;p66"/>
          <p:cNvSpPr/>
          <p:nvPr/>
        </p:nvSpPr>
        <p:spPr>
          <a:xfrm>
            <a:off x="2982150" y="1395965"/>
            <a:ext cx="1878900" cy="306000"/>
          </a:xfrm>
          <a:prstGeom prst="roundRect">
            <a:avLst>
              <a:gd fmla="val 5387" name="adj"/>
            </a:avLst>
          </a:prstGeom>
          <a:solidFill>
            <a:srgbClr val="F4F6FB"/>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Documentation Unclear</a:t>
            </a:r>
            <a:endParaRPr b="1" sz="800">
              <a:latin typeface="Inter"/>
              <a:ea typeface="Inter"/>
              <a:cs typeface="Inter"/>
              <a:sym typeface="Inter"/>
            </a:endParaRPr>
          </a:p>
        </p:txBody>
      </p:sp>
      <p:sp>
        <p:nvSpPr>
          <p:cNvPr id="426" name="Google Shape;426;p66"/>
          <p:cNvSpPr/>
          <p:nvPr/>
        </p:nvSpPr>
        <p:spPr>
          <a:xfrm>
            <a:off x="2982150" y="174539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Frontline Agent Error</a:t>
            </a:r>
            <a:endParaRPr b="1" sz="800">
              <a:latin typeface="Inter"/>
              <a:ea typeface="Inter"/>
              <a:cs typeface="Inter"/>
              <a:sym typeface="Inter"/>
            </a:endParaRPr>
          </a:p>
        </p:txBody>
      </p:sp>
      <p:sp>
        <p:nvSpPr>
          <p:cNvPr id="427" name="Google Shape;427;p66"/>
          <p:cNvSpPr/>
          <p:nvPr/>
        </p:nvSpPr>
        <p:spPr>
          <a:xfrm>
            <a:off x="2982150" y="2094830"/>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Other</a:t>
            </a:r>
            <a:endParaRPr b="1" sz="800">
              <a:latin typeface="Inter"/>
              <a:ea typeface="Inter"/>
              <a:cs typeface="Inter"/>
              <a:sym typeface="Inter"/>
            </a:endParaRPr>
          </a:p>
        </p:txBody>
      </p:sp>
      <p:sp>
        <p:nvSpPr>
          <p:cNvPr id="428" name="Google Shape;428;p66"/>
          <p:cNvSpPr/>
          <p:nvPr/>
        </p:nvSpPr>
        <p:spPr>
          <a:xfrm>
            <a:off x="2982150" y="244426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Reverse Accidentally Made Change</a:t>
            </a:r>
            <a:endParaRPr b="1" sz="800">
              <a:latin typeface="Inter"/>
              <a:ea typeface="Inter"/>
              <a:cs typeface="Inter"/>
              <a:sym typeface="Inter"/>
            </a:endParaRPr>
          </a:p>
        </p:txBody>
      </p:sp>
      <p:sp>
        <p:nvSpPr>
          <p:cNvPr id="429" name="Google Shape;429;p66"/>
          <p:cNvSpPr/>
          <p:nvPr/>
        </p:nvSpPr>
        <p:spPr>
          <a:xfrm>
            <a:off x="2982150" y="2793694"/>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Stubborn Customer</a:t>
            </a:r>
            <a:endParaRPr b="1" sz="800">
              <a:latin typeface="Inter"/>
              <a:ea typeface="Inter"/>
              <a:cs typeface="Inter"/>
              <a:sym typeface="Inter"/>
            </a:endParaRPr>
          </a:p>
        </p:txBody>
      </p:sp>
      <p:sp>
        <p:nvSpPr>
          <p:cNvPr id="430" name="Google Shape;430;p66"/>
          <p:cNvSpPr/>
          <p:nvPr/>
        </p:nvSpPr>
        <p:spPr>
          <a:xfrm>
            <a:off x="2982150" y="314312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System Error</a:t>
            </a:r>
            <a:endParaRPr b="1" sz="800">
              <a:latin typeface="Inter"/>
              <a:ea typeface="Inter"/>
              <a:cs typeface="Inter"/>
              <a:sym typeface="Inter"/>
            </a:endParaRPr>
          </a:p>
        </p:txBody>
      </p:sp>
      <p:sp>
        <p:nvSpPr>
          <p:cNvPr id="431" name="Google Shape;431;p66"/>
          <p:cNvSpPr/>
          <p:nvPr/>
        </p:nvSpPr>
        <p:spPr>
          <a:xfrm>
            <a:off x="2982150" y="3492552"/>
            <a:ext cx="1878900" cy="306000"/>
          </a:xfrm>
          <a:prstGeom prst="roundRect">
            <a:avLst>
              <a:gd fmla="val 5387" name="adj"/>
            </a:avLst>
          </a:prstGeom>
          <a:solidFill>
            <a:srgbClr val="F4F6FB"/>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Underwriting Support</a:t>
            </a:r>
            <a:endParaRPr b="1" sz="800">
              <a:latin typeface="Inter"/>
              <a:ea typeface="Inter"/>
              <a:cs typeface="Inter"/>
              <a:sym typeface="Inter"/>
            </a:endParaRPr>
          </a:p>
        </p:txBody>
      </p:sp>
      <p:sp>
        <p:nvSpPr>
          <p:cNvPr id="432" name="Google Shape;432;p66"/>
          <p:cNvSpPr/>
          <p:nvPr/>
        </p:nvSpPr>
        <p:spPr>
          <a:xfrm>
            <a:off x="2982150" y="384197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Error</a:t>
            </a:r>
            <a:endParaRPr b="1" sz="800">
              <a:latin typeface="Inter"/>
              <a:ea typeface="Inter"/>
              <a:cs typeface="Inter"/>
              <a:sym typeface="Inter"/>
            </a:endParaRPr>
          </a:p>
        </p:txBody>
      </p:sp>
      <p:sp>
        <p:nvSpPr>
          <p:cNvPr id="433" name="Google Shape;433;p66"/>
          <p:cNvSpPr/>
          <p:nvPr/>
        </p:nvSpPr>
        <p:spPr>
          <a:xfrm>
            <a:off x="2982150" y="419140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Product or Discount Eligibility</a:t>
            </a:r>
            <a:endParaRPr b="1" sz="800">
              <a:latin typeface="Inter"/>
              <a:ea typeface="Inter"/>
              <a:cs typeface="Inter"/>
              <a:sym typeface="Inter"/>
            </a:endParaRPr>
          </a:p>
        </p:txBody>
      </p:sp>
      <p:sp>
        <p:nvSpPr>
          <p:cNvPr id="434" name="Google Shape;434;p66"/>
          <p:cNvSpPr/>
          <p:nvPr/>
        </p:nvSpPr>
        <p:spPr>
          <a:xfrm>
            <a:off x="4941738" y="697100"/>
            <a:ext cx="1209600" cy="306000"/>
          </a:xfrm>
          <a:prstGeom prst="roundRect">
            <a:avLst>
              <a:gd fmla="val 5387" name="adj"/>
            </a:avLst>
          </a:prstGeom>
          <a:solidFill>
            <a:srgbClr val="F4F6FB"/>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Outside their Authority</a:t>
            </a:r>
            <a:endParaRPr b="1" sz="800">
              <a:latin typeface="Inter"/>
              <a:ea typeface="Inter"/>
              <a:cs typeface="Inter"/>
              <a:sym typeface="Inter"/>
            </a:endParaRPr>
          </a:p>
        </p:txBody>
      </p:sp>
      <p:sp>
        <p:nvSpPr>
          <p:cNvPr id="435" name="Google Shape;435;p66"/>
          <p:cNvSpPr/>
          <p:nvPr/>
        </p:nvSpPr>
        <p:spPr>
          <a:xfrm>
            <a:off x="4941738" y="1046775"/>
            <a:ext cx="1209600" cy="306000"/>
          </a:xfrm>
          <a:prstGeom prst="roundRect">
            <a:avLst>
              <a:gd fmla="val 5387" name="adj"/>
            </a:avLst>
          </a:prstGeom>
          <a:solidFill>
            <a:srgbClr val="F4F6FB"/>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Processing Support</a:t>
            </a:r>
            <a:endParaRPr b="1" sz="800">
              <a:latin typeface="Inter"/>
              <a:ea typeface="Inter"/>
              <a:cs typeface="Inter"/>
              <a:sym typeface="Inter"/>
            </a:endParaRPr>
          </a:p>
        </p:txBody>
      </p:sp>
      <p:sp>
        <p:nvSpPr>
          <p:cNvPr id="436" name="Google Shape;436;p66"/>
          <p:cNvSpPr/>
          <p:nvPr/>
        </p:nvSpPr>
        <p:spPr>
          <a:xfrm>
            <a:off x="4941738" y="1396450"/>
            <a:ext cx="1209600" cy="306000"/>
          </a:xfrm>
          <a:prstGeom prst="roundRect">
            <a:avLst>
              <a:gd fmla="val 5387" name="adj"/>
            </a:avLst>
          </a:prstGeom>
          <a:solidFill>
            <a:srgbClr val="F4F6FB"/>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Billing Support</a:t>
            </a:r>
            <a:endParaRPr b="1" sz="800">
              <a:latin typeface="Inter"/>
              <a:ea typeface="Inter"/>
              <a:cs typeface="Inter"/>
              <a:sym typeface="Inter"/>
            </a:endParaRPr>
          </a:p>
        </p:txBody>
      </p:sp>
      <p:sp>
        <p:nvSpPr>
          <p:cNvPr id="437" name="Google Shape;437;p66"/>
          <p:cNvSpPr/>
          <p:nvPr/>
        </p:nvSpPr>
        <p:spPr>
          <a:xfrm>
            <a:off x="4941738" y="1746125"/>
            <a:ext cx="1209600" cy="306000"/>
          </a:xfrm>
          <a:prstGeom prst="roundRect">
            <a:avLst>
              <a:gd fmla="val 5387" name="adj"/>
            </a:avLst>
          </a:prstGeom>
          <a:solidFill>
            <a:srgbClr val="F4F6FB"/>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Technical Support</a:t>
            </a:r>
            <a:endParaRPr b="1" sz="800">
              <a:latin typeface="Inter"/>
              <a:ea typeface="Inter"/>
              <a:cs typeface="Inter"/>
              <a:sym typeface="Inter"/>
            </a:endParaRPr>
          </a:p>
        </p:txBody>
      </p:sp>
      <p:sp>
        <p:nvSpPr>
          <p:cNvPr id="438" name="Google Shape;438;p66"/>
          <p:cNvSpPr/>
          <p:nvPr/>
        </p:nvSpPr>
        <p:spPr>
          <a:xfrm>
            <a:off x="2982162" y="454082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None</a:t>
            </a:r>
            <a:endParaRPr b="1" sz="800">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67"/>
          <p:cNvSpPr txBox="1"/>
          <p:nvPr/>
        </p:nvSpPr>
        <p:spPr>
          <a:xfrm>
            <a:off x="1562813" y="306650"/>
            <a:ext cx="16143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Inter Medium"/>
                <a:ea typeface="Inter Medium"/>
                <a:cs typeface="Inter Medium"/>
                <a:sym typeface="Inter Medium"/>
              </a:rPr>
              <a:t>Sonnet Escalation</a:t>
            </a:r>
            <a:endParaRPr sz="1300">
              <a:latin typeface="Inter Medium"/>
              <a:ea typeface="Inter Medium"/>
              <a:cs typeface="Inter Medium"/>
              <a:sym typeface="Inter Medium"/>
            </a:endParaRPr>
          </a:p>
          <a:p>
            <a:pPr indent="0" lvl="0" marL="0" rtl="0" algn="ctr">
              <a:spcBef>
                <a:spcPts val="0"/>
              </a:spcBef>
              <a:spcAft>
                <a:spcPts val="0"/>
              </a:spcAft>
              <a:buNone/>
            </a:pPr>
            <a:r>
              <a:t/>
            </a:r>
            <a:endParaRPr b="1" sz="800">
              <a:solidFill>
                <a:srgbClr val="475067"/>
              </a:solidFill>
            </a:endParaRPr>
          </a:p>
        </p:txBody>
      </p:sp>
      <p:sp>
        <p:nvSpPr>
          <p:cNvPr id="445" name="Google Shape;445;p67"/>
          <p:cNvSpPr/>
          <p:nvPr/>
        </p:nvSpPr>
        <p:spPr>
          <a:xfrm>
            <a:off x="1430513" y="700250"/>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Agent Reassurance or Confidence</a:t>
            </a:r>
            <a:endParaRPr b="1" sz="800">
              <a:latin typeface="Inter"/>
              <a:ea typeface="Inter"/>
              <a:cs typeface="Inter"/>
              <a:sym typeface="Inter"/>
            </a:endParaRPr>
          </a:p>
        </p:txBody>
      </p:sp>
      <p:sp>
        <p:nvSpPr>
          <p:cNvPr id="446" name="Google Shape;446;p67"/>
          <p:cNvSpPr/>
          <p:nvPr/>
        </p:nvSpPr>
        <p:spPr>
          <a:xfrm>
            <a:off x="1430513" y="104968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Service Complaint</a:t>
            </a:r>
            <a:endParaRPr b="1" sz="800">
              <a:latin typeface="Inter"/>
              <a:ea typeface="Inter"/>
              <a:cs typeface="Inter"/>
              <a:sym typeface="Inter"/>
            </a:endParaRPr>
          </a:p>
        </p:txBody>
      </p:sp>
      <p:sp>
        <p:nvSpPr>
          <p:cNvPr id="447" name="Google Shape;447;p67"/>
          <p:cNvSpPr/>
          <p:nvPr/>
        </p:nvSpPr>
        <p:spPr>
          <a:xfrm>
            <a:off x="1430513" y="139911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Documentation or Process Unclear</a:t>
            </a:r>
            <a:endParaRPr b="1" sz="800">
              <a:latin typeface="Inter"/>
              <a:ea typeface="Inter"/>
              <a:cs typeface="Inter"/>
              <a:sym typeface="Inter"/>
            </a:endParaRPr>
          </a:p>
        </p:txBody>
      </p:sp>
      <p:sp>
        <p:nvSpPr>
          <p:cNvPr id="448" name="Google Shape;448;p67"/>
          <p:cNvSpPr/>
          <p:nvPr/>
        </p:nvSpPr>
        <p:spPr>
          <a:xfrm>
            <a:off x="1430513" y="174854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Frontline Agent Error</a:t>
            </a:r>
            <a:endParaRPr b="1" sz="800">
              <a:latin typeface="Inter"/>
              <a:ea typeface="Inter"/>
              <a:cs typeface="Inter"/>
              <a:sym typeface="Inter"/>
            </a:endParaRPr>
          </a:p>
        </p:txBody>
      </p:sp>
      <p:sp>
        <p:nvSpPr>
          <p:cNvPr id="449" name="Google Shape;449;p67"/>
          <p:cNvSpPr/>
          <p:nvPr/>
        </p:nvSpPr>
        <p:spPr>
          <a:xfrm>
            <a:off x="1430513" y="2097980"/>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Other</a:t>
            </a:r>
            <a:endParaRPr b="1" sz="800">
              <a:latin typeface="Inter"/>
              <a:ea typeface="Inter"/>
              <a:cs typeface="Inter"/>
              <a:sym typeface="Inter"/>
            </a:endParaRPr>
          </a:p>
        </p:txBody>
      </p:sp>
      <p:sp>
        <p:nvSpPr>
          <p:cNvPr id="450" name="Google Shape;450;p67"/>
          <p:cNvSpPr/>
          <p:nvPr/>
        </p:nvSpPr>
        <p:spPr>
          <a:xfrm>
            <a:off x="1430513" y="244741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Reverse Accidentally Made Change</a:t>
            </a:r>
            <a:endParaRPr b="1" sz="800">
              <a:latin typeface="Inter"/>
              <a:ea typeface="Inter"/>
              <a:cs typeface="Inter"/>
              <a:sym typeface="Inter"/>
            </a:endParaRPr>
          </a:p>
        </p:txBody>
      </p:sp>
      <p:sp>
        <p:nvSpPr>
          <p:cNvPr id="451" name="Google Shape;451;p67"/>
          <p:cNvSpPr/>
          <p:nvPr/>
        </p:nvSpPr>
        <p:spPr>
          <a:xfrm>
            <a:off x="1430513" y="2796844"/>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Stubborn Customer</a:t>
            </a:r>
            <a:endParaRPr b="1" sz="800">
              <a:latin typeface="Inter"/>
              <a:ea typeface="Inter"/>
              <a:cs typeface="Inter"/>
              <a:sym typeface="Inter"/>
            </a:endParaRPr>
          </a:p>
        </p:txBody>
      </p:sp>
      <p:sp>
        <p:nvSpPr>
          <p:cNvPr id="452" name="Google Shape;452;p67"/>
          <p:cNvSpPr/>
          <p:nvPr/>
        </p:nvSpPr>
        <p:spPr>
          <a:xfrm>
            <a:off x="1430513" y="314627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System Error</a:t>
            </a:r>
            <a:endParaRPr b="1" sz="800">
              <a:latin typeface="Inter"/>
              <a:ea typeface="Inter"/>
              <a:cs typeface="Inter"/>
              <a:sym typeface="Inter"/>
            </a:endParaRPr>
          </a:p>
        </p:txBody>
      </p:sp>
      <p:sp>
        <p:nvSpPr>
          <p:cNvPr id="453" name="Google Shape;453;p67"/>
          <p:cNvSpPr/>
          <p:nvPr/>
        </p:nvSpPr>
        <p:spPr>
          <a:xfrm>
            <a:off x="1430513" y="349570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Policy Clarification</a:t>
            </a:r>
            <a:endParaRPr b="1" sz="800">
              <a:latin typeface="Inter"/>
              <a:ea typeface="Inter"/>
              <a:cs typeface="Inter"/>
              <a:sym typeface="Inter"/>
            </a:endParaRPr>
          </a:p>
        </p:txBody>
      </p:sp>
      <p:sp>
        <p:nvSpPr>
          <p:cNvPr id="454" name="Google Shape;454;p67"/>
          <p:cNvSpPr/>
          <p:nvPr/>
        </p:nvSpPr>
        <p:spPr>
          <a:xfrm>
            <a:off x="1430513" y="384512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Error</a:t>
            </a:r>
            <a:endParaRPr b="1" sz="800">
              <a:latin typeface="Inter"/>
              <a:ea typeface="Inter"/>
              <a:cs typeface="Inter"/>
              <a:sym typeface="Inter"/>
            </a:endParaRPr>
          </a:p>
        </p:txBody>
      </p:sp>
      <p:sp>
        <p:nvSpPr>
          <p:cNvPr id="455" name="Google Shape;455;p67"/>
          <p:cNvSpPr/>
          <p:nvPr/>
        </p:nvSpPr>
        <p:spPr>
          <a:xfrm>
            <a:off x="1430513" y="419455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Product or Discount Eligibility</a:t>
            </a:r>
            <a:endParaRPr b="1" sz="800">
              <a:latin typeface="Inter"/>
              <a:ea typeface="Inter"/>
              <a:cs typeface="Inter"/>
              <a:sym typeface="Inter"/>
            </a:endParaRPr>
          </a:p>
        </p:txBody>
      </p:sp>
      <p:sp>
        <p:nvSpPr>
          <p:cNvPr id="456" name="Google Shape;456;p67"/>
          <p:cNvSpPr txBox="1"/>
          <p:nvPr/>
        </p:nvSpPr>
        <p:spPr>
          <a:xfrm>
            <a:off x="5053325" y="300075"/>
            <a:ext cx="16143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Inter Medium"/>
                <a:ea typeface="Inter Medium"/>
                <a:cs typeface="Inter Medium"/>
                <a:sym typeface="Inter Medium"/>
              </a:rPr>
              <a:t>Sonnet Support</a:t>
            </a:r>
            <a:endParaRPr sz="1300">
              <a:latin typeface="Inter Medium"/>
              <a:ea typeface="Inter Medium"/>
              <a:cs typeface="Inter Medium"/>
              <a:sym typeface="Inter Medium"/>
            </a:endParaRPr>
          </a:p>
          <a:p>
            <a:pPr indent="0" lvl="0" marL="0" rtl="0" algn="ctr">
              <a:spcBef>
                <a:spcPts val="0"/>
              </a:spcBef>
              <a:spcAft>
                <a:spcPts val="0"/>
              </a:spcAft>
              <a:buNone/>
            </a:pPr>
            <a:r>
              <a:t/>
            </a:r>
            <a:endParaRPr b="1" sz="800">
              <a:solidFill>
                <a:srgbClr val="475067"/>
              </a:solidFill>
            </a:endParaRPr>
          </a:p>
        </p:txBody>
      </p:sp>
      <p:sp>
        <p:nvSpPr>
          <p:cNvPr id="457" name="Google Shape;457;p67"/>
          <p:cNvSpPr/>
          <p:nvPr/>
        </p:nvSpPr>
        <p:spPr>
          <a:xfrm>
            <a:off x="4921025" y="69367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Agent Reassurance or Confidence</a:t>
            </a:r>
            <a:endParaRPr b="1" sz="800">
              <a:latin typeface="Inter"/>
              <a:ea typeface="Inter"/>
              <a:cs typeface="Inter"/>
              <a:sym typeface="Inter"/>
            </a:endParaRPr>
          </a:p>
        </p:txBody>
      </p:sp>
      <p:sp>
        <p:nvSpPr>
          <p:cNvPr id="458" name="Google Shape;458;p67"/>
          <p:cNvSpPr/>
          <p:nvPr/>
        </p:nvSpPr>
        <p:spPr>
          <a:xfrm>
            <a:off x="4921025" y="104310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Service Complaint</a:t>
            </a:r>
            <a:endParaRPr b="1" sz="800">
              <a:latin typeface="Inter"/>
              <a:ea typeface="Inter"/>
              <a:cs typeface="Inter"/>
              <a:sym typeface="Inter"/>
            </a:endParaRPr>
          </a:p>
        </p:txBody>
      </p:sp>
      <p:sp>
        <p:nvSpPr>
          <p:cNvPr id="459" name="Google Shape;459;p67"/>
          <p:cNvSpPr/>
          <p:nvPr/>
        </p:nvSpPr>
        <p:spPr>
          <a:xfrm>
            <a:off x="4921025" y="1392540"/>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Documentation or Process Unclear</a:t>
            </a:r>
            <a:endParaRPr b="1" sz="800">
              <a:latin typeface="Inter"/>
              <a:ea typeface="Inter"/>
              <a:cs typeface="Inter"/>
              <a:sym typeface="Inter"/>
            </a:endParaRPr>
          </a:p>
        </p:txBody>
      </p:sp>
      <p:sp>
        <p:nvSpPr>
          <p:cNvPr id="460" name="Google Shape;460;p67"/>
          <p:cNvSpPr/>
          <p:nvPr/>
        </p:nvSpPr>
        <p:spPr>
          <a:xfrm>
            <a:off x="4921025" y="174197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Frontline Agent Error</a:t>
            </a:r>
            <a:endParaRPr b="1" sz="800">
              <a:latin typeface="Inter"/>
              <a:ea typeface="Inter"/>
              <a:cs typeface="Inter"/>
              <a:sym typeface="Inter"/>
            </a:endParaRPr>
          </a:p>
        </p:txBody>
      </p:sp>
      <p:sp>
        <p:nvSpPr>
          <p:cNvPr id="461" name="Google Shape;461;p67"/>
          <p:cNvSpPr/>
          <p:nvPr/>
        </p:nvSpPr>
        <p:spPr>
          <a:xfrm>
            <a:off x="4921025" y="209140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Other</a:t>
            </a:r>
            <a:endParaRPr b="1" sz="800">
              <a:latin typeface="Inter"/>
              <a:ea typeface="Inter"/>
              <a:cs typeface="Inter"/>
              <a:sym typeface="Inter"/>
            </a:endParaRPr>
          </a:p>
        </p:txBody>
      </p:sp>
      <p:sp>
        <p:nvSpPr>
          <p:cNvPr id="462" name="Google Shape;462;p67"/>
          <p:cNvSpPr/>
          <p:nvPr/>
        </p:nvSpPr>
        <p:spPr>
          <a:xfrm>
            <a:off x="4921025" y="244083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Reverse Accidentally Made Change</a:t>
            </a:r>
            <a:endParaRPr b="1" sz="800">
              <a:latin typeface="Inter"/>
              <a:ea typeface="Inter"/>
              <a:cs typeface="Inter"/>
              <a:sym typeface="Inter"/>
            </a:endParaRPr>
          </a:p>
        </p:txBody>
      </p:sp>
      <p:sp>
        <p:nvSpPr>
          <p:cNvPr id="463" name="Google Shape;463;p67"/>
          <p:cNvSpPr/>
          <p:nvPr/>
        </p:nvSpPr>
        <p:spPr>
          <a:xfrm>
            <a:off x="4921025" y="2790269"/>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Stubborn Customer</a:t>
            </a:r>
            <a:endParaRPr b="1" sz="800">
              <a:latin typeface="Inter"/>
              <a:ea typeface="Inter"/>
              <a:cs typeface="Inter"/>
              <a:sym typeface="Inter"/>
            </a:endParaRPr>
          </a:p>
        </p:txBody>
      </p:sp>
      <p:sp>
        <p:nvSpPr>
          <p:cNvPr id="464" name="Google Shape;464;p67"/>
          <p:cNvSpPr/>
          <p:nvPr/>
        </p:nvSpPr>
        <p:spPr>
          <a:xfrm>
            <a:off x="4921025" y="313970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System Error</a:t>
            </a:r>
            <a:endParaRPr b="1" sz="800">
              <a:latin typeface="Inter"/>
              <a:ea typeface="Inter"/>
              <a:cs typeface="Inter"/>
              <a:sym typeface="Inter"/>
            </a:endParaRPr>
          </a:p>
        </p:txBody>
      </p:sp>
      <p:sp>
        <p:nvSpPr>
          <p:cNvPr id="465" name="Google Shape;465;p67"/>
          <p:cNvSpPr/>
          <p:nvPr/>
        </p:nvSpPr>
        <p:spPr>
          <a:xfrm>
            <a:off x="4921025" y="348912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Policy Clarification</a:t>
            </a:r>
            <a:endParaRPr b="1" sz="800">
              <a:latin typeface="Inter"/>
              <a:ea typeface="Inter"/>
              <a:cs typeface="Inter"/>
              <a:sym typeface="Inter"/>
            </a:endParaRPr>
          </a:p>
        </p:txBody>
      </p:sp>
      <p:sp>
        <p:nvSpPr>
          <p:cNvPr id="466" name="Google Shape;466;p67"/>
          <p:cNvSpPr/>
          <p:nvPr/>
        </p:nvSpPr>
        <p:spPr>
          <a:xfrm>
            <a:off x="4921025" y="3838552"/>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Customer Error</a:t>
            </a:r>
            <a:endParaRPr b="1" sz="800">
              <a:latin typeface="Inter"/>
              <a:ea typeface="Inter"/>
              <a:cs typeface="Inter"/>
              <a:sym typeface="Inter"/>
            </a:endParaRPr>
          </a:p>
        </p:txBody>
      </p:sp>
      <p:sp>
        <p:nvSpPr>
          <p:cNvPr id="467" name="Google Shape;467;p67"/>
          <p:cNvSpPr/>
          <p:nvPr/>
        </p:nvSpPr>
        <p:spPr>
          <a:xfrm>
            <a:off x="4921025" y="4187977"/>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Product or Discount Eligibility</a:t>
            </a:r>
            <a:endParaRPr b="1" sz="800">
              <a:latin typeface="Inter"/>
              <a:ea typeface="Inter"/>
              <a:cs typeface="Inter"/>
              <a:sym typeface="Inter"/>
            </a:endParaRPr>
          </a:p>
        </p:txBody>
      </p:sp>
      <p:sp>
        <p:nvSpPr>
          <p:cNvPr id="468" name="Google Shape;468;p67"/>
          <p:cNvSpPr/>
          <p:nvPr/>
        </p:nvSpPr>
        <p:spPr>
          <a:xfrm>
            <a:off x="4921025" y="4537400"/>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None</a:t>
            </a:r>
            <a:endParaRPr b="1" sz="800">
              <a:latin typeface="Inter"/>
              <a:ea typeface="Inter"/>
              <a:cs typeface="Inter"/>
              <a:sym typeface="Inter"/>
            </a:endParaRPr>
          </a:p>
        </p:txBody>
      </p:sp>
      <p:sp>
        <p:nvSpPr>
          <p:cNvPr id="469" name="Google Shape;469;p67"/>
          <p:cNvSpPr/>
          <p:nvPr/>
        </p:nvSpPr>
        <p:spPr>
          <a:xfrm>
            <a:off x="1430500" y="4543975"/>
            <a:ext cx="1878900" cy="30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None</a:t>
            </a:r>
            <a:endParaRPr b="1" sz="800">
              <a:latin typeface="Inter"/>
              <a:ea typeface="Inter"/>
              <a:cs typeface="Inter"/>
              <a:sym typeface="Inter"/>
            </a:endParaRPr>
          </a:p>
        </p:txBody>
      </p:sp>
      <p:sp>
        <p:nvSpPr>
          <p:cNvPr id="470" name="Google Shape;470;p67"/>
          <p:cNvSpPr/>
          <p:nvPr/>
        </p:nvSpPr>
        <p:spPr>
          <a:xfrm>
            <a:off x="6869450" y="700250"/>
            <a:ext cx="940500" cy="306000"/>
          </a:xfrm>
          <a:prstGeom prst="roundRect">
            <a:avLst>
              <a:gd fmla="val 5387" name="adj"/>
            </a:avLst>
          </a:prstGeom>
          <a:solidFill>
            <a:srgbClr val="F4F6FB"/>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Billing Inquiry</a:t>
            </a:r>
            <a:endParaRPr b="1" sz="800">
              <a:latin typeface="Inter"/>
              <a:ea typeface="Inter"/>
              <a:cs typeface="Inter"/>
              <a:sym typeface="Inter"/>
            </a:endParaRPr>
          </a:p>
        </p:txBody>
      </p:sp>
      <p:sp>
        <p:nvSpPr>
          <p:cNvPr id="471" name="Google Shape;471;p67"/>
          <p:cNvSpPr/>
          <p:nvPr/>
        </p:nvSpPr>
        <p:spPr>
          <a:xfrm>
            <a:off x="6869450" y="1049675"/>
            <a:ext cx="940500" cy="306000"/>
          </a:xfrm>
          <a:prstGeom prst="roundRect">
            <a:avLst>
              <a:gd fmla="val 5387" name="adj"/>
            </a:avLst>
          </a:prstGeom>
          <a:solidFill>
            <a:srgbClr val="F4F6FB"/>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Underwriting Inquiry</a:t>
            </a:r>
            <a:endParaRPr b="1" sz="800">
              <a:latin typeface="Inter"/>
              <a:ea typeface="Inter"/>
              <a:cs typeface="Inter"/>
              <a:sym typeface="Inter"/>
            </a:endParaRPr>
          </a:p>
        </p:txBody>
      </p:sp>
      <p:sp>
        <p:nvSpPr>
          <p:cNvPr id="472" name="Google Shape;472;p67"/>
          <p:cNvSpPr/>
          <p:nvPr/>
        </p:nvSpPr>
        <p:spPr>
          <a:xfrm>
            <a:off x="6869450" y="1399100"/>
            <a:ext cx="940500" cy="306000"/>
          </a:xfrm>
          <a:prstGeom prst="roundRect">
            <a:avLst>
              <a:gd fmla="val 5387" name="adj"/>
            </a:avLst>
          </a:prstGeom>
          <a:solidFill>
            <a:srgbClr val="F4F6FB"/>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Account Inquiry</a:t>
            </a:r>
            <a:endParaRPr b="1" sz="800">
              <a:latin typeface="Inter"/>
              <a:ea typeface="Inter"/>
              <a:cs typeface="Inter"/>
              <a:sym typeface="Inter"/>
            </a:endParaRPr>
          </a:p>
        </p:txBody>
      </p:sp>
      <p:sp>
        <p:nvSpPr>
          <p:cNvPr id="473" name="Google Shape;473;p67"/>
          <p:cNvSpPr/>
          <p:nvPr/>
        </p:nvSpPr>
        <p:spPr>
          <a:xfrm>
            <a:off x="3408775" y="693675"/>
            <a:ext cx="940500" cy="306000"/>
          </a:xfrm>
          <a:prstGeom prst="roundRect">
            <a:avLst>
              <a:gd fmla="val 5387" name="adj"/>
            </a:avLst>
          </a:prstGeom>
          <a:solidFill>
            <a:srgbClr val="F4F6FB"/>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Inter"/>
                <a:ea typeface="Inter"/>
                <a:cs typeface="Inter"/>
                <a:sym typeface="Inter"/>
              </a:rPr>
              <a:t>Billing Inquiry</a:t>
            </a:r>
            <a:endParaRPr b="1" sz="800">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477" name="Shape 477"/>
        <p:cNvGrpSpPr/>
        <p:nvPr/>
      </p:nvGrpSpPr>
      <p:grpSpPr>
        <a:xfrm>
          <a:off x="0" y="0"/>
          <a:ext cx="0" cy="0"/>
          <a:chOff x="0" y="0"/>
          <a:chExt cx="0" cy="0"/>
        </a:xfrm>
      </p:grpSpPr>
      <p:pic>
        <p:nvPicPr>
          <p:cNvPr id="478" name="Google Shape;478;p68"/>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479" name="Google Shape;479;p68"/>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SRA Report (Sonnet - Escalation v2)</a:t>
            </a:r>
            <a:endParaRPr sz="3600">
              <a:solidFill>
                <a:schemeClr val="lt1"/>
              </a:solidFill>
              <a:latin typeface="Manrope SemiBold"/>
              <a:ea typeface="Manrope SemiBold"/>
              <a:cs typeface="Manrope SemiBold"/>
              <a:sym typeface="Manrope SemiBold"/>
            </a:endParaRPr>
          </a:p>
        </p:txBody>
      </p:sp>
      <p:pic>
        <p:nvPicPr>
          <p:cNvPr id="480" name="Google Shape;480;p68"/>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481" name="Google Shape;481;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87" name="Google Shape;487;p69"/>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88" name="Google Shape;488;p69"/>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E Test Set</a:t>
            </a:r>
            <a:endParaRPr sz="3500"/>
          </a:p>
        </p:txBody>
      </p:sp>
      <p:pic>
        <p:nvPicPr>
          <p:cNvPr id="489" name="Google Shape;489;p69"/>
          <p:cNvPicPr preferRelativeResize="0"/>
          <p:nvPr/>
        </p:nvPicPr>
        <p:blipFill>
          <a:blip r:embed="rId3">
            <a:alphaModFix/>
          </a:blip>
          <a:stretch>
            <a:fillRect/>
          </a:stretch>
        </p:blipFill>
        <p:spPr>
          <a:xfrm>
            <a:off x="5335800" y="2447775"/>
            <a:ext cx="3188174" cy="869500"/>
          </a:xfrm>
          <a:prstGeom prst="rect">
            <a:avLst/>
          </a:prstGeom>
          <a:noFill/>
          <a:ln cap="flat" cmpd="sng" w="9525">
            <a:solidFill>
              <a:schemeClr val="dk1"/>
            </a:solidFill>
            <a:prstDash val="solid"/>
            <a:round/>
            <a:headEnd len="sm" w="sm" type="none"/>
            <a:tailEnd len="sm" w="sm" type="none"/>
          </a:ln>
        </p:spPr>
      </p:pic>
      <p:pic>
        <p:nvPicPr>
          <p:cNvPr id="490" name="Google Shape;490;p69"/>
          <p:cNvPicPr preferRelativeResize="0"/>
          <p:nvPr/>
        </p:nvPicPr>
        <p:blipFill>
          <a:blip r:embed="rId4">
            <a:alphaModFix/>
          </a:blip>
          <a:stretch>
            <a:fillRect/>
          </a:stretch>
        </p:blipFill>
        <p:spPr>
          <a:xfrm>
            <a:off x="837125" y="1310225"/>
            <a:ext cx="4367850" cy="314459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7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97" name="Google Shape;497;p70"/>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Premium</a:t>
            </a:r>
            <a:r>
              <a:rPr lang="en" sz="3500">
                <a:solidFill>
                  <a:schemeClr val="accent1"/>
                </a:solidFill>
              </a:rPr>
              <a:t> Inquiry 1</a:t>
            </a:r>
            <a:endParaRPr sz="3500"/>
          </a:p>
        </p:txBody>
      </p:sp>
      <p:sp>
        <p:nvSpPr>
          <p:cNvPr id="498" name="Google Shape;498;p70"/>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Perfect. Thank you for that. So, I did have a chance to review your renewal. You wanted a more in-depth review of it. So, I have done that here. I've also referred it off to our underwriting team for them to confirm. I'm still waiting on a reply from them, but I can tell you what I found so far. Sure. So, just to give you some context to begin with, in Ontario, we had four rate increases over the past year. A total of all of them together is 21.88%. If we take what's called the annualized amount, which is what your policy would have cost for the current term, if it was as it is now, and we multiply that by 21.88%, that would give us $3,474.80 approximately, which is compared to the price that it actually ended up being, $3,536. It is pretty close. That is for an average customer if nothing changed, just for context. Sorry, stop me if I'm going too fast. I know it can get a bit technical when it comes to discussing renewals.</a:t>
            </a:r>
            <a:endParaRPr sz="700"/>
          </a:p>
        </p:txBody>
      </p:sp>
      <p:sp>
        <p:nvSpPr>
          <p:cNvPr id="499" name="Google Shape;499;p70"/>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121bf79b-5ef6-5906-a192-c582fe8c803a</a:t>
            </a:r>
            <a:endParaRPr sz="700">
              <a:solidFill>
                <a:srgbClr val="475067"/>
              </a:solidFill>
            </a:endParaRPr>
          </a:p>
        </p:txBody>
      </p:sp>
      <p:graphicFrame>
        <p:nvGraphicFramePr>
          <p:cNvPr id="500" name="Google Shape;500;p70"/>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Premium Inquiry</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The client requested a callback for a more in-depth review of their insurance renewal, specifically regarding the increase in their premium.</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senior agent mentions reviewing the renewal in detail and explains the various factors contributing to the premium increase, indicating that the original front-line agent was unable to provide this level of detailed information.</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7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507" name="Google Shape;507;p71"/>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Premium Inquiry 2</a:t>
            </a:r>
            <a:endParaRPr sz="3500"/>
          </a:p>
        </p:txBody>
      </p:sp>
      <p:sp>
        <p:nvSpPr>
          <p:cNvPr id="508" name="Google Shape;508;p71"/>
          <p:cNvSpPr/>
          <p:nvPr/>
        </p:nvSpPr>
        <p:spPr>
          <a:xfrm>
            <a:off x="786825" y="921950"/>
            <a:ext cx="1561500" cy="3488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Agent: Okay, awesome. Thank you for answering those questions. I appreciate it. I understand that you have some concerns about a policy change made to add a vehicle to your previous automobile insurance policy with Sonnet. Can you tell me a little bit more about your concerns?</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lang="en" sz="700"/>
              <a:t>User: So I got a new car for myself, I think it was in September, and my policy went up by almost 300%. It went from Q90 every month to 971, and that just is not right. Like, I understand if it goes up by like a small amount, like $102, but that's almost 333% right there, which to me is price gouging, so I'd like to get those results.</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lang="en" sz="700"/>
              <a:t>Agent: Okay, I understand. Thank you for advising me of your concern there. </a:t>
            </a:r>
            <a:endParaRPr sz="700"/>
          </a:p>
          <a:p>
            <a:pPr indent="0" lvl="0" marL="0" rtl="0" algn="ctr">
              <a:spcBef>
                <a:spcPts val="0"/>
              </a:spcBef>
              <a:spcAft>
                <a:spcPts val="0"/>
              </a:spcAft>
              <a:buNone/>
            </a:pPr>
            <a:r>
              <a:t/>
            </a:r>
            <a:endParaRPr sz="700"/>
          </a:p>
        </p:txBody>
      </p:sp>
      <p:sp>
        <p:nvSpPr>
          <p:cNvPr id="509" name="Google Shape;509;p71"/>
          <p:cNvSpPr txBox="1"/>
          <p:nvPr/>
        </p:nvSpPr>
        <p:spPr>
          <a:xfrm>
            <a:off x="642375" y="4444800"/>
            <a:ext cx="18912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6c114a0b-0498-59f2-b038-918a458844bb</a:t>
            </a:r>
            <a:endParaRPr sz="700">
              <a:solidFill>
                <a:srgbClr val="475067"/>
              </a:solidFill>
            </a:endParaRPr>
          </a:p>
        </p:txBody>
      </p:sp>
      <p:graphicFrame>
        <p:nvGraphicFramePr>
          <p:cNvPr id="510" name="Google Shape;510;p71"/>
          <p:cNvGraphicFramePr/>
          <p:nvPr/>
        </p:nvGraphicFramePr>
        <p:xfrm>
          <a:off x="2759100" y="1085913"/>
          <a:ext cx="3000000" cy="3000000"/>
        </p:xfrm>
        <a:graphic>
          <a:graphicData uri="http://schemas.openxmlformats.org/drawingml/2006/table">
            <a:tbl>
              <a:tblPr>
                <a:noFill/>
                <a:tableStyleId>{265587B3-5DCA-44F3-9A5B-219B7173146A}</a:tableStyleId>
              </a:tblPr>
              <a:tblGrid>
                <a:gridCol w="2291825"/>
                <a:gridCol w="378480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escalation_reason_category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Premium Inquiry</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sz="1000">
                          <a:latin typeface="Inter"/>
                          <a:ea typeface="Inter"/>
                          <a:cs typeface="Inter"/>
                          <a:sym typeface="Inter"/>
                        </a:rPr>
                        <a:t>escalation_reason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Customer is concerned about a significant increase in their insurance premium after adding a new vehicle to their policy.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r h="818400">
                <a:tc>
                  <a:txBody>
                    <a:bodyPr/>
                    <a:lstStyle/>
                    <a:p>
                      <a:pPr indent="0" lvl="0" marL="0" rtl="0" algn="l">
                        <a:spcBef>
                          <a:spcPts val="0"/>
                        </a:spcBef>
                        <a:spcAft>
                          <a:spcPts val="0"/>
                        </a:spcAft>
                        <a:buNone/>
                      </a:pPr>
                      <a:r>
                        <a:rPr lang="en" sz="1000">
                          <a:latin typeface="Inter"/>
                          <a:ea typeface="Inter"/>
                          <a:cs typeface="Inter"/>
                          <a:sym typeface="Inter"/>
                        </a:rPr>
                        <a:t>reasoning</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The conversation revolves around the customer's shock at a substantial premium increase, which required clarification and explanation from a senior agent.</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6" name="Google Shape;516;p7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517" name="Google Shape;517;p72"/>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Escalation Report - Sonnet S</a:t>
            </a:r>
            <a:endParaRPr sz="3500"/>
          </a:p>
        </p:txBody>
      </p:sp>
      <p:pic>
        <p:nvPicPr>
          <p:cNvPr id="518" name="Google Shape;518;p72"/>
          <p:cNvPicPr preferRelativeResize="0"/>
          <p:nvPr/>
        </p:nvPicPr>
        <p:blipFill>
          <a:blip r:embed="rId3">
            <a:alphaModFix/>
          </a:blip>
          <a:stretch>
            <a:fillRect/>
          </a:stretch>
        </p:blipFill>
        <p:spPr>
          <a:xfrm>
            <a:off x="905900" y="1119900"/>
            <a:ext cx="7170447" cy="3718801"/>
          </a:xfrm>
          <a:prstGeom prst="rect">
            <a:avLst/>
          </a:prstGeom>
          <a:noFill/>
          <a:ln cap="flat" cmpd="sng" w="9525">
            <a:solidFill>
              <a:schemeClr val="dk1"/>
            </a:solidFill>
            <a:prstDash val="solid"/>
            <a:round/>
            <a:headEnd len="sm" w="sm" type="none"/>
            <a:tailEnd len="sm" w="sm" type="none"/>
          </a:ln>
        </p:spPr>
      </p:pic>
      <p:sp>
        <p:nvSpPr>
          <p:cNvPr id="519" name="Google Shape;519;p72"/>
          <p:cNvSpPr txBox="1"/>
          <p:nvPr/>
        </p:nvSpPr>
        <p:spPr>
          <a:xfrm>
            <a:off x="3782075" y="48156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Prompt Change Diff</a:t>
            </a:r>
            <a:endParaRPr sz="700">
              <a:solidFill>
                <a:srgbClr val="475067"/>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25" name="Google Shape;525;p7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526" name="Google Shape;526;p73"/>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Sonnet E Distributions</a:t>
            </a:r>
            <a:endParaRPr sz="3500"/>
          </a:p>
        </p:txBody>
      </p:sp>
      <p:pic>
        <p:nvPicPr>
          <p:cNvPr id="527" name="Google Shape;527;p73"/>
          <p:cNvPicPr preferRelativeResize="0"/>
          <p:nvPr/>
        </p:nvPicPr>
        <p:blipFill>
          <a:blip r:embed="rId3">
            <a:alphaModFix/>
          </a:blip>
          <a:stretch>
            <a:fillRect/>
          </a:stretch>
        </p:blipFill>
        <p:spPr>
          <a:xfrm>
            <a:off x="400975" y="1312628"/>
            <a:ext cx="4256203" cy="2536600"/>
          </a:xfrm>
          <a:prstGeom prst="rect">
            <a:avLst/>
          </a:prstGeom>
          <a:noFill/>
          <a:ln cap="flat" cmpd="sng" w="9525">
            <a:solidFill>
              <a:srgbClr val="12184A"/>
            </a:solidFill>
            <a:prstDash val="solid"/>
            <a:round/>
            <a:headEnd len="sm" w="sm" type="none"/>
            <a:tailEnd len="sm" w="sm" type="none"/>
          </a:ln>
        </p:spPr>
      </p:pic>
      <p:sp>
        <p:nvSpPr>
          <p:cNvPr id="528" name="Google Shape;528;p73"/>
          <p:cNvSpPr txBox="1"/>
          <p:nvPr/>
        </p:nvSpPr>
        <p:spPr>
          <a:xfrm>
            <a:off x="3916850" y="39421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Outbound – S Agent to Customer</a:t>
            </a:r>
            <a:endParaRPr sz="700">
              <a:solidFill>
                <a:srgbClr val="475067"/>
              </a:solidFill>
            </a:endParaRPr>
          </a:p>
        </p:txBody>
      </p:sp>
      <p:sp>
        <p:nvSpPr>
          <p:cNvPr id="529" name="Google Shape;529;p73"/>
          <p:cNvSpPr/>
          <p:nvPr/>
        </p:nvSpPr>
        <p:spPr>
          <a:xfrm>
            <a:off x="4112400" y="1725775"/>
            <a:ext cx="516900" cy="2226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0" name="Google Shape;530;p73"/>
          <p:cNvPicPr preferRelativeResize="0"/>
          <p:nvPr/>
        </p:nvPicPr>
        <p:blipFill>
          <a:blip r:embed="rId4">
            <a:alphaModFix/>
          </a:blip>
          <a:stretch>
            <a:fillRect/>
          </a:stretch>
        </p:blipFill>
        <p:spPr>
          <a:xfrm>
            <a:off x="5106103" y="1331763"/>
            <a:ext cx="3229041" cy="2517474"/>
          </a:xfrm>
          <a:prstGeom prst="rect">
            <a:avLst/>
          </a:prstGeom>
          <a:noFill/>
          <a:ln cap="flat" cmpd="sng" w="9525">
            <a:solidFill>
              <a:schemeClr val="dk1"/>
            </a:solidFill>
            <a:prstDash val="solid"/>
            <a:round/>
            <a:headEnd len="sm" w="sm" type="none"/>
            <a:tailEnd len="sm" w="sm" type="none"/>
          </a:ln>
        </p:spPr>
      </p:pic>
      <p:sp>
        <p:nvSpPr>
          <p:cNvPr id="531" name="Google Shape;531;p73"/>
          <p:cNvSpPr/>
          <p:nvPr/>
        </p:nvSpPr>
        <p:spPr>
          <a:xfrm>
            <a:off x="5106100" y="2260975"/>
            <a:ext cx="3229200" cy="1869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73"/>
          <p:cNvSpPr/>
          <p:nvPr/>
        </p:nvSpPr>
        <p:spPr>
          <a:xfrm>
            <a:off x="5106025" y="2571750"/>
            <a:ext cx="3229200" cy="1869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536" name="Shape 536"/>
        <p:cNvGrpSpPr/>
        <p:nvPr/>
      </p:nvGrpSpPr>
      <p:grpSpPr>
        <a:xfrm>
          <a:off x="0" y="0"/>
          <a:ext cx="0" cy="0"/>
          <a:chOff x="0" y="0"/>
          <a:chExt cx="0" cy="0"/>
        </a:xfrm>
      </p:grpSpPr>
      <p:pic>
        <p:nvPicPr>
          <p:cNvPr id="537" name="Google Shape;537;p74"/>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538" name="Google Shape;538;p74"/>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Summary Of Changes</a:t>
            </a:r>
            <a:endParaRPr sz="3600">
              <a:solidFill>
                <a:schemeClr val="lt1"/>
              </a:solidFill>
              <a:latin typeface="Manrope SemiBold"/>
              <a:ea typeface="Manrope SemiBold"/>
              <a:cs typeface="Manrope SemiBold"/>
              <a:sym typeface="Manrope SemiBold"/>
            </a:endParaRPr>
          </a:p>
        </p:txBody>
      </p:sp>
      <p:pic>
        <p:nvPicPr>
          <p:cNvPr id="539" name="Google Shape;539;p74"/>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540" name="Google Shape;540;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75"/>
          <p:cNvSpPr txBox="1"/>
          <p:nvPr/>
        </p:nvSpPr>
        <p:spPr>
          <a:xfrm>
            <a:off x="331800"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547" name="Google Shape;547;p75"/>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Summary Escalation Testing</a:t>
            </a:r>
            <a:endParaRPr sz="3500"/>
          </a:p>
        </p:txBody>
      </p:sp>
      <p:pic>
        <p:nvPicPr>
          <p:cNvPr id="548" name="Google Shape;548;p75"/>
          <p:cNvPicPr preferRelativeResize="0"/>
          <p:nvPr/>
        </p:nvPicPr>
        <p:blipFill>
          <a:blip r:embed="rId3">
            <a:alphaModFix/>
          </a:blip>
          <a:stretch>
            <a:fillRect/>
          </a:stretch>
        </p:blipFill>
        <p:spPr>
          <a:xfrm>
            <a:off x="343275" y="2754800"/>
            <a:ext cx="2546401" cy="884625"/>
          </a:xfrm>
          <a:prstGeom prst="rect">
            <a:avLst/>
          </a:prstGeom>
          <a:noFill/>
          <a:ln cap="flat" cmpd="sng" w="9525">
            <a:solidFill>
              <a:schemeClr val="dk1"/>
            </a:solidFill>
            <a:prstDash val="solid"/>
            <a:round/>
            <a:headEnd len="sm" w="sm" type="none"/>
            <a:tailEnd len="sm" w="sm" type="none"/>
          </a:ln>
        </p:spPr>
      </p:pic>
      <p:sp>
        <p:nvSpPr>
          <p:cNvPr id="549" name="Google Shape;549;p75"/>
          <p:cNvSpPr txBox="1"/>
          <p:nvPr/>
        </p:nvSpPr>
        <p:spPr>
          <a:xfrm>
            <a:off x="779307" y="1614550"/>
            <a:ext cx="1615500" cy="33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475067"/>
                </a:solidFill>
              </a:rPr>
              <a:t>NBS Escalation/Support</a:t>
            </a:r>
            <a:endParaRPr sz="1000">
              <a:solidFill>
                <a:srgbClr val="475067"/>
              </a:solidFill>
            </a:endParaRPr>
          </a:p>
        </p:txBody>
      </p:sp>
      <p:pic>
        <p:nvPicPr>
          <p:cNvPr id="550" name="Google Shape;550;p75"/>
          <p:cNvPicPr preferRelativeResize="0"/>
          <p:nvPr/>
        </p:nvPicPr>
        <p:blipFill>
          <a:blip r:embed="rId4">
            <a:alphaModFix/>
          </a:blip>
          <a:stretch>
            <a:fillRect/>
          </a:stretch>
        </p:blipFill>
        <p:spPr>
          <a:xfrm>
            <a:off x="486428" y="1948797"/>
            <a:ext cx="2201204" cy="750951"/>
          </a:xfrm>
          <a:prstGeom prst="rect">
            <a:avLst/>
          </a:prstGeom>
          <a:noFill/>
          <a:ln cap="flat" cmpd="sng" w="9525">
            <a:solidFill>
              <a:srgbClr val="12184A"/>
            </a:solidFill>
            <a:prstDash val="solid"/>
            <a:round/>
            <a:headEnd len="sm" w="sm" type="none"/>
            <a:tailEnd len="sm" w="sm" type="none"/>
          </a:ln>
        </p:spPr>
      </p:pic>
      <p:sp>
        <p:nvSpPr>
          <p:cNvPr id="551" name="Google Shape;551;p75"/>
          <p:cNvSpPr txBox="1"/>
          <p:nvPr/>
        </p:nvSpPr>
        <p:spPr>
          <a:xfrm>
            <a:off x="3827169" y="1614550"/>
            <a:ext cx="1615500" cy="33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475067"/>
                </a:solidFill>
              </a:rPr>
              <a:t>Sonnet Support</a:t>
            </a:r>
            <a:endParaRPr sz="1000">
              <a:solidFill>
                <a:srgbClr val="475067"/>
              </a:solidFill>
            </a:endParaRPr>
          </a:p>
        </p:txBody>
      </p:sp>
      <p:sp>
        <p:nvSpPr>
          <p:cNvPr id="552" name="Google Shape;552;p75"/>
          <p:cNvSpPr txBox="1"/>
          <p:nvPr/>
        </p:nvSpPr>
        <p:spPr>
          <a:xfrm>
            <a:off x="6809844" y="1614550"/>
            <a:ext cx="1615500" cy="33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475067"/>
                </a:solidFill>
              </a:rPr>
              <a:t>Sonnet Escalation</a:t>
            </a:r>
            <a:endParaRPr sz="1000">
              <a:solidFill>
                <a:srgbClr val="475067"/>
              </a:solidFill>
            </a:endParaRPr>
          </a:p>
        </p:txBody>
      </p:sp>
      <p:pic>
        <p:nvPicPr>
          <p:cNvPr id="553" name="Google Shape;553;p75"/>
          <p:cNvPicPr preferRelativeResize="0"/>
          <p:nvPr/>
        </p:nvPicPr>
        <p:blipFill>
          <a:blip r:embed="rId5">
            <a:alphaModFix/>
          </a:blip>
          <a:stretch>
            <a:fillRect/>
          </a:stretch>
        </p:blipFill>
        <p:spPr>
          <a:xfrm>
            <a:off x="3634325" y="1948750"/>
            <a:ext cx="2001200" cy="750950"/>
          </a:xfrm>
          <a:prstGeom prst="rect">
            <a:avLst/>
          </a:prstGeom>
          <a:noFill/>
          <a:ln cap="flat" cmpd="sng" w="9525">
            <a:solidFill>
              <a:srgbClr val="12184A"/>
            </a:solidFill>
            <a:prstDash val="solid"/>
            <a:round/>
            <a:headEnd len="sm" w="sm" type="none"/>
            <a:tailEnd len="sm" w="sm" type="none"/>
          </a:ln>
        </p:spPr>
      </p:pic>
      <p:pic>
        <p:nvPicPr>
          <p:cNvPr id="554" name="Google Shape;554;p75"/>
          <p:cNvPicPr preferRelativeResize="0"/>
          <p:nvPr/>
        </p:nvPicPr>
        <p:blipFill rotWithShape="1">
          <a:blip r:embed="rId6">
            <a:alphaModFix/>
          </a:blip>
          <a:srcRect b="7339" l="0" r="0" t="0"/>
          <a:stretch/>
        </p:blipFill>
        <p:spPr>
          <a:xfrm>
            <a:off x="3360850" y="2754800"/>
            <a:ext cx="2546400" cy="884625"/>
          </a:xfrm>
          <a:prstGeom prst="rect">
            <a:avLst/>
          </a:prstGeom>
          <a:noFill/>
          <a:ln cap="flat" cmpd="sng" w="9525">
            <a:solidFill>
              <a:schemeClr val="dk1"/>
            </a:solidFill>
            <a:prstDash val="solid"/>
            <a:round/>
            <a:headEnd len="sm" w="sm" type="none"/>
            <a:tailEnd len="sm" w="sm" type="none"/>
          </a:ln>
        </p:spPr>
      </p:pic>
      <p:pic>
        <p:nvPicPr>
          <p:cNvPr id="555" name="Google Shape;555;p75"/>
          <p:cNvPicPr preferRelativeResize="0"/>
          <p:nvPr/>
        </p:nvPicPr>
        <p:blipFill>
          <a:blip r:embed="rId7">
            <a:alphaModFix/>
          </a:blip>
          <a:stretch>
            <a:fillRect/>
          </a:stretch>
        </p:blipFill>
        <p:spPr>
          <a:xfrm>
            <a:off x="6582225" y="1948762"/>
            <a:ext cx="2201200" cy="731625"/>
          </a:xfrm>
          <a:prstGeom prst="rect">
            <a:avLst/>
          </a:prstGeom>
          <a:noFill/>
          <a:ln cap="flat" cmpd="sng" w="9525">
            <a:solidFill>
              <a:srgbClr val="12184A"/>
            </a:solidFill>
            <a:prstDash val="solid"/>
            <a:round/>
            <a:headEnd len="sm" w="sm" type="none"/>
            <a:tailEnd len="sm" w="sm" type="none"/>
          </a:ln>
        </p:spPr>
      </p:pic>
      <p:sp>
        <p:nvSpPr>
          <p:cNvPr id="556" name="Google Shape;556;p75"/>
          <p:cNvSpPr txBox="1"/>
          <p:nvPr/>
        </p:nvSpPr>
        <p:spPr>
          <a:xfrm>
            <a:off x="731019" y="3694475"/>
            <a:ext cx="1615500" cy="33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1 rename</a:t>
            </a:r>
            <a:endParaRPr sz="800">
              <a:solidFill>
                <a:srgbClr val="475067"/>
              </a:solidFill>
            </a:endParaRPr>
          </a:p>
          <a:p>
            <a:pPr indent="0" lvl="0" marL="0" rtl="0" algn="ctr">
              <a:spcBef>
                <a:spcPts val="0"/>
              </a:spcBef>
              <a:spcAft>
                <a:spcPts val="0"/>
              </a:spcAft>
              <a:buNone/>
            </a:pPr>
            <a:r>
              <a:rPr lang="en" sz="800">
                <a:solidFill>
                  <a:srgbClr val="475067"/>
                </a:solidFill>
              </a:rPr>
              <a:t>4 new positive classes</a:t>
            </a:r>
            <a:endParaRPr sz="800">
              <a:solidFill>
                <a:srgbClr val="475067"/>
              </a:solidFill>
            </a:endParaRPr>
          </a:p>
          <a:p>
            <a:pPr indent="0" lvl="0" marL="0" rtl="0" algn="ctr">
              <a:spcBef>
                <a:spcPts val="0"/>
              </a:spcBef>
              <a:spcAft>
                <a:spcPts val="0"/>
              </a:spcAft>
              <a:buNone/>
            </a:pPr>
            <a:r>
              <a:rPr lang="en" sz="800">
                <a:solidFill>
                  <a:srgbClr val="475067"/>
                </a:solidFill>
              </a:rPr>
              <a:t>1 new "None" negative class</a:t>
            </a:r>
            <a:endParaRPr sz="800">
              <a:solidFill>
                <a:srgbClr val="475067"/>
              </a:solidFill>
            </a:endParaRPr>
          </a:p>
        </p:txBody>
      </p:sp>
      <p:sp>
        <p:nvSpPr>
          <p:cNvPr id="557" name="Google Shape;557;p75"/>
          <p:cNvSpPr txBox="1"/>
          <p:nvPr/>
        </p:nvSpPr>
        <p:spPr>
          <a:xfrm>
            <a:off x="3826294" y="3757100"/>
            <a:ext cx="1615500" cy="33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3 positive classes</a:t>
            </a:r>
            <a:endParaRPr sz="800">
              <a:solidFill>
                <a:srgbClr val="475067"/>
              </a:solidFill>
            </a:endParaRPr>
          </a:p>
        </p:txBody>
      </p:sp>
      <p:sp>
        <p:nvSpPr>
          <p:cNvPr id="558" name="Google Shape;558;p75"/>
          <p:cNvSpPr txBox="1"/>
          <p:nvPr/>
        </p:nvSpPr>
        <p:spPr>
          <a:xfrm>
            <a:off x="6988294" y="3757100"/>
            <a:ext cx="1615500" cy="33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2 positive classes</a:t>
            </a:r>
            <a:endParaRPr sz="800">
              <a:solidFill>
                <a:srgbClr val="475067"/>
              </a:solidFill>
            </a:endParaRPr>
          </a:p>
        </p:txBody>
      </p:sp>
      <p:pic>
        <p:nvPicPr>
          <p:cNvPr id="559" name="Google Shape;559;p75"/>
          <p:cNvPicPr preferRelativeResize="0"/>
          <p:nvPr/>
        </p:nvPicPr>
        <p:blipFill>
          <a:blip r:embed="rId8">
            <a:alphaModFix/>
          </a:blip>
          <a:stretch>
            <a:fillRect/>
          </a:stretch>
        </p:blipFill>
        <p:spPr>
          <a:xfrm>
            <a:off x="6409625" y="2754800"/>
            <a:ext cx="2546401" cy="884625"/>
          </a:xfrm>
          <a:prstGeom prst="rect">
            <a:avLst/>
          </a:prstGeom>
          <a:noFill/>
          <a:ln cap="flat" cmpd="sng" w="9525">
            <a:solidFill>
              <a:schemeClr val="dk1"/>
            </a:solidFill>
            <a:prstDash val="solid"/>
            <a:round/>
            <a:headEnd len="sm" w="sm" type="none"/>
            <a:tailEnd len="sm" w="sm" type="none"/>
          </a:ln>
        </p:spPr>
      </p:pic>
      <p:sp>
        <p:nvSpPr>
          <p:cNvPr id="560" name="Google Shape;560;p75"/>
          <p:cNvSpPr txBox="1"/>
          <p:nvPr/>
        </p:nvSpPr>
        <p:spPr>
          <a:xfrm>
            <a:off x="-587906" y="2184663"/>
            <a:ext cx="1615500" cy="33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Before</a:t>
            </a:r>
            <a:endParaRPr sz="800">
              <a:solidFill>
                <a:srgbClr val="475067"/>
              </a:solidFill>
            </a:endParaRPr>
          </a:p>
        </p:txBody>
      </p:sp>
      <p:sp>
        <p:nvSpPr>
          <p:cNvPr id="561" name="Google Shape;561;p75"/>
          <p:cNvSpPr txBox="1"/>
          <p:nvPr/>
        </p:nvSpPr>
        <p:spPr>
          <a:xfrm>
            <a:off x="-631031" y="3030013"/>
            <a:ext cx="1615500" cy="33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After</a:t>
            </a:r>
            <a:endParaRPr sz="800">
              <a:solidFill>
                <a:srgbClr val="475067"/>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7" name="Google Shape;567;p76"/>
          <p:cNvSpPr txBox="1"/>
          <p:nvPr/>
        </p:nvSpPr>
        <p:spPr>
          <a:xfrm>
            <a:off x="331800"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568" name="Google Shape;568;p76"/>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Summary Callback Testing </a:t>
            </a:r>
            <a:r>
              <a:rPr lang="en" sz="1200"/>
              <a:t>(No Change Made)</a:t>
            </a:r>
            <a:endParaRPr sz="1200"/>
          </a:p>
        </p:txBody>
      </p:sp>
      <p:pic>
        <p:nvPicPr>
          <p:cNvPr id="569" name="Google Shape;569;p76"/>
          <p:cNvPicPr preferRelativeResize="0"/>
          <p:nvPr/>
        </p:nvPicPr>
        <p:blipFill>
          <a:blip r:embed="rId3">
            <a:alphaModFix/>
          </a:blip>
          <a:stretch>
            <a:fillRect/>
          </a:stretch>
        </p:blipFill>
        <p:spPr>
          <a:xfrm>
            <a:off x="4882013" y="1671250"/>
            <a:ext cx="2658283" cy="1485650"/>
          </a:xfrm>
          <a:prstGeom prst="rect">
            <a:avLst/>
          </a:prstGeom>
          <a:noFill/>
          <a:ln cap="flat" cmpd="sng" w="9525">
            <a:solidFill>
              <a:srgbClr val="12184A"/>
            </a:solidFill>
            <a:prstDash val="solid"/>
            <a:round/>
            <a:headEnd len="sm" w="sm" type="none"/>
            <a:tailEnd len="sm" w="sm" type="none"/>
          </a:ln>
        </p:spPr>
      </p:pic>
      <p:pic>
        <p:nvPicPr>
          <p:cNvPr id="570" name="Google Shape;570;p76"/>
          <p:cNvPicPr preferRelativeResize="0"/>
          <p:nvPr/>
        </p:nvPicPr>
        <p:blipFill>
          <a:blip r:embed="rId4">
            <a:alphaModFix/>
          </a:blip>
          <a:stretch>
            <a:fillRect/>
          </a:stretch>
        </p:blipFill>
        <p:spPr>
          <a:xfrm>
            <a:off x="1603701" y="1671250"/>
            <a:ext cx="2658275" cy="1478272"/>
          </a:xfrm>
          <a:prstGeom prst="rect">
            <a:avLst/>
          </a:prstGeom>
          <a:noFill/>
          <a:ln cap="flat" cmpd="sng" w="9525">
            <a:solidFill>
              <a:srgbClr val="12184A"/>
            </a:solidFill>
            <a:prstDash val="solid"/>
            <a:round/>
            <a:headEnd len="sm" w="sm" type="none"/>
            <a:tailEnd len="sm" w="sm" type="none"/>
          </a:ln>
        </p:spPr>
      </p:pic>
      <p:sp>
        <p:nvSpPr>
          <p:cNvPr id="571" name="Google Shape;571;p76"/>
          <p:cNvSpPr txBox="1"/>
          <p:nvPr/>
        </p:nvSpPr>
        <p:spPr>
          <a:xfrm>
            <a:off x="2216513" y="32031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475067"/>
                </a:solidFill>
              </a:rPr>
              <a:t>~84% Valid Cases</a:t>
            </a:r>
            <a:endParaRPr sz="900">
              <a:solidFill>
                <a:srgbClr val="475067"/>
              </a:solidFill>
            </a:endParaRPr>
          </a:p>
        </p:txBody>
      </p:sp>
      <p:sp>
        <p:nvSpPr>
          <p:cNvPr id="572" name="Google Shape;572;p76"/>
          <p:cNvSpPr txBox="1"/>
          <p:nvPr/>
        </p:nvSpPr>
        <p:spPr>
          <a:xfrm>
            <a:off x="5539000" y="32031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475067"/>
                </a:solidFill>
              </a:rPr>
              <a:t>~82% Valid Cases</a:t>
            </a:r>
            <a:endParaRPr sz="900">
              <a:solidFill>
                <a:srgbClr val="475067"/>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