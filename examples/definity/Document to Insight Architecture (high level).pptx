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Inter Light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  <p:embeddedFont>
      <p:font typeface="Manrope SemiBold"/>
      <p:regular r:id="rId22"/>
      <p:bold r:id="rId23"/>
    </p:embeddedFont>
    <p:embeddedFont>
      <p:font typeface="Manrope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ManropeSemiBold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Manrope-regular.fntdata"/><Relationship Id="rId23" Type="http://schemas.openxmlformats.org/officeDocument/2006/relationships/font" Target="fonts/Manrope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Manrope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Light-bold.fntdata"/><Relationship Id="rId14" Type="http://schemas.openxmlformats.org/officeDocument/2006/relationships/font" Target="fonts/InterLight-regular.fntdata"/><Relationship Id="rId17" Type="http://schemas.openxmlformats.org/officeDocument/2006/relationships/font" Target="fonts/InterLight-boldItalic.fntdata"/><Relationship Id="rId16" Type="http://schemas.openxmlformats.org/officeDocument/2006/relationships/font" Target="fonts/InterLight-italic.fntdata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99bd2dc47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99bd2dc47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662bfe6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662bfe6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120e1da4e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120e1da4e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20e1da4e8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120e1da4e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120e1da4e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120e1da4e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120e1da4e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120e1da4e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20e1da4e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120e1da4e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7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ark" type="title">
  <p:cSld name="TITLE">
    <p:bg>
      <p:bgPr>
        <a:solidFill>
          <a:srgbClr val="294489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-3500598" y="-1913375"/>
            <a:ext cx="8774449" cy="87810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">
  <p:cSld name="TITLE_2">
    <p:bg>
      <p:bgPr>
        <a:solidFill>
          <a:srgbClr val="294489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/>
          <p:cNvPicPr preferRelativeResize="0"/>
          <p:nvPr/>
        </p:nvPicPr>
        <p:blipFill rotWithShape="1">
          <a:blip r:embed="rId2">
            <a:alphaModFix amt="27000"/>
          </a:blip>
          <a:srcRect b="26243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 1">
  <p:cSld name="TITLE_2_2">
    <p:bg>
      <p:bgPr>
        <a:solidFill>
          <a:srgbClr val="294489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6"/>
          <p:cNvPicPr preferRelativeResize="0"/>
          <p:nvPr/>
        </p:nvPicPr>
        <p:blipFill rotWithShape="1">
          <a:blip r:embed="rId2">
            <a:alphaModFix amt="27000"/>
          </a:blip>
          <a:srcRect b="26243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">
  <p:cSld name="TITLE_2_1">
    <p:bg>
      <p:bgPr>
        <a:solidFill>
          <a:srgbClr val="12184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7"/>
          <p:cNvPicPr preferRelativeResize="0"/>
          <p:nvPr/>
        </p:nvPicPr>
        <p:blipFill rotWithShape="1">
          <a:blip r:embed="rId2">
            <a:alphaModFix amt="33000"/>
          </a:blip>
          <a:srcRect b="26248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 1">
  <p:cSld name="TITLE_2_1_1">
    <p:bg>
      <p:bgPr>
        <a:solidFill>
          <a:srgbClr val="12184A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8"/>
          <p:cNvPicPr preferRelativeResize="0"/>
          <p:nvPr/>
        </p:nvPicPr>
        <p:blipFill rotWithShape="1">
          <a:blip r:embed="rId2">
            <a:alphaModFix amt="33000"/>
          </a:blip>
          <a:srcRect b="26248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ight">
  <p:cSld name="TITLE_1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500598" y="-1913375"/>
            <a:ext cx="8774449" cy="87810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9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ight 1">
  <p:cSld name="TITLE_1_1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500598" y="-1913375"/>
            <a:ext cx="8774449" cy="878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ight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3600"/>
              <a:buFont typeface="Manrope"/>
              <a:buNone/>
              <a:defRPr b="1" sz="3600">
                <a:solidFill>
                  <a:srgbClr val="294489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668100" y="1421325"/>
            <a:ext cx="7546200" cy="3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○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■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○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■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○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■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9" name="Google Shape;79;p21"/>
          <p:cNvSpPr txBox="1"/>
          <p:nvPr>
            <p:ph idx="2" type="subTitle"/>
          </p:nvPr>
        </p:nvSpPr>
        <p:spPr>
          <a:xfrm>
            <a:off x="539250" y="984850"/>
            <a:ext cx="6462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ight 1">
  <p:cSld name="SECTION_HEADER_5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lac">
  <p:cSld name="SECTION_HEADER_4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/>
          <p:nvPr/>
        </p:nvSpPr>
        <p:spPr>
          <a:xfrm rot="-5400000">
            <a:off x="4255050" y="271725"/>
            <a:ext cx="5168700" cy="46092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E7E9F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3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Blue 2">
  <p:cSld name="SECTION_HEADER_4_3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/>
          <p:nvPr/>
        </p:nvSpPr>
        <p:spPr>
          <a:xfrm rot="-5400000">
            <a:off x="4261975" y="265575"/>
            <a:ext cx="5179500" cy="46092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2944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4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lac 1">
  <p:cSld name="SECTION_HEADER_4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25"/>
          <p:cNvSpPr/>
          <p:nvPr/>
        </p:nvSpPr>
        <p:spPr>
          <a:xfrm flipH="1" rot="5400000">
            <a:off x="-483350" y="448050"/>
            <a:ext cx="5160000" cy="42474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E7E9F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lue">
  <p:cSld name="SECTION_HEADER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6"/>
          <p:cNvSpPr/>
          <p:nvPr/>
        </p:nvSpPr>
        <p:spPr>
          <a:xfrm flipH="1" rot="5400000">
            <a:off x="-483350" y="448050"/>
            <a:ext cx="5160000" cy="42474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DBF2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urgundy">
  <p:cSld name="SECTION_HEADER_4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7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7"/>
          <p:cNvSpPr/>
          <p:nvPr/>
        </p:nvSpPr>
        <p:spPr>
          <a:xfrm flipH="1" rot="5400000">
            <a:off x="-483350" y="448050"/>
            <a:ext cx="5160000" cy="42474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D8C5D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urgundy 1">
  <p:cSld name="SECTION_HEADER_4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8"/>
          <p:cNvSpPr/>
          <p:nvPr/>
        </p:nvSpPr>
        <p:spPr>
          <a:xfrm flipH="1" rot="5400000">
            <a:off x="-979800" y="971550"/>
            <a:ext cx="5160000" cy="32004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urgundy 1 1">
  <p:cSld name="SECTION_HEADER_4_1_1_1_1">
    <p:bg>
      <p:bgPr>
        <a:solidFill>
          <a:schemeClr val="dk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29"/>
          <p:cNvSpPr/>
          <p:nvPr/>
        </p:nvSpPr>
        <p:spPr>
          <a:xfrm flipH="1" rot="5400000">
            <a:off x="-979800" y="971550"/>
            <a:ext cx="5160000" cy="32004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ransparency Pattern">
  <p:cSld name="SECTION_HEADER_3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23971" y="-1231413"/>
            <a:ext cx="8587677" cy="8594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0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" name="Google Shape;11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Light">
  <p:cSld name="SECTION_HEADER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31"/>
          <p:cNvPicPr preferRelativeResize="0"/>
          <p:nvPr/>
        </p:nvPicPr>
        <p:blipFill rotWithShape="1">
          <a:blip r:embed="rId2">
            <a:alphaModFix amt="27000"/>
          </a:blip>
          <a:srcRect b="26243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1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" name="Google Shape;11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Dark">
  <p:cSld name="SECTION_HEADER_1">
    <p:bg>
      <p:bgPr>
        <a:solidFill>
          <a:srgbClr val="294489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2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Dark 1">
  <p:cSld name="SECTION_HEADER_1_1">
    <p:bg>
      <p:bgPr>
        <a:solidFill>
          <a:srgbClr val="294489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" name="Google Shape;123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3600"/>
              <a:buFont typeface="Manrope"/>
              <a:buChar char="●"/>
              <a:defRPr b="1" sz="3600"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○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■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●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○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■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●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○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■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6" name="Google Shape;12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●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○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■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●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○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■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●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○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■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7" name="Google Shape;12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23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4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499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6"/>
          <p:cNvSpPr txBox="1"/>
          <p:nvPr/>
        </p:nvSpPr>
        <p:spPr>
          <a:xfrm>
            <a:off x="333650" y="1925250"/>
            <a:ext cx="7464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Document to Insight</a:t>
            </a:r>
            <a:b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</a:br>
            <a:r>
              <a:rPr lang="en" sz="18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Suggested </a:t>
            </a:r>
            <a:r>
              <a:rPr lang="en" sz="18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Architecture</a:t>
            </a:r>
            <a:endParaRPr sz="1800">
              <a:solidFill>
                <a:schemeClr val="lt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136" name="Google Shape;13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50" y="339750"/>
            <a:ext cx="1941901" cy="4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7"/>
          <p:cNvSpPr/>
          <p:nvPr/>
        </p:nvSpPr>
        <p:spPr>
          <a:xfrm>
            <a:off x="5002363" y="1870675"/>
            <a:ext cx="443325" cy="304775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HF APIs</a:t>
            </a:r>
            <a:endParaRPr sz="800"/>
          </a:p>
        </p:txBody>
      </p:sp>
      <p:sp>
        <p:nvSpPr>
          <p:cNvPr id="143" name="Google Shape;143;p37"/>
          <p:cNvSpPr/>
          <p:nvPr/>
        </p:nvSpPr>
        <p:spPr>
          <a:xfrm>
            <a:off x="470513" y="2090238"/>
            <a:ext cx="526176" cy="463428"/>
          </a:xfrm>
          <a:prstGeom prst="flowChartDocumen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Py</a:t>
            </a:r>
            <a:endParaRPr sz="1000"/>
          </a:p>
        </p:txBody>
      </p:sp>
      <p:sp>
        <p:nvSpPr>
          <p:cNvPr id="144" name="Google Shape;144;p37"/>
          <p:cNvSpPr/>
          <p:nvPr/>
        </p:nvSpPr>
        <p:spPr>
          <a:xfrm>
            <a:off x="2924475" y="2577400"/>
            <a:ext cx="443325" cy="304775"/>
          </a:xfrm>
          <a:prstGeom prst="flowChartProcess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SDK</a:t>
            </a:r>
            <a:endParaRPr sz="800"/>
          </a:p>
        </p:txBody>
      </p:sp>
      <p:sp>
        <p:nvSpPr>
          <p:cNvPr id="145" name="Google Shape;145;p37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7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47" name="Google Shape;147;p37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Architecture (General High Level)</a:t>
            </a:r>
            <a:endParaRPr sz="3500"/>
          </a:p>
        </p:txBody>
      </p:sp>
      <p:sp>
        <p:nvSpPr>
          <p:cNvPr id="148" name="Google Shape;148;p37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149" name="Google Shape;149;p37"/>
          <p:cNvSpPr/>
          <p:nvPr/>
        </p:nvSpPr>
        <p:spPr>
          <a:xfrm>
            <a:off x="1975273" y="2236898"/>
            <a:ext cx="526175" cy="529134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Data Lake</a:t>
            </a:r>
            <a:endParaRPr sz="1000"/>
          </a:p>
        </p:txBody>
      </p:sp>
      <p:sp>
        <p:nvSpPr>
          <p:cNvPr id="150" name="Google Shape;150;p37"/>
          <p:cNvSpPr/>
          <p:nvPr/>
        </p:nvSpPr>
        <p:spPr>
          <a:xfrm>
            <a:off x="1403997" y="2269750"/>
            <a:ext cx="379350" cy="463428"/>
          </a:xfrm>
          <a:prstGeom prst="flowChartDocumen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Py</a:t>
            </a:r>
            <a:endParaRPr sz="1000"/>
          </a:p>
        </p:txBody>
      </p:sp>
      <p:sp>
        <p:nvSpPr>
          <p:cNvPr id="151" name="Google Shape;151;p37"/>
          <p:cNvSpPr txBox="1"/>
          <p:nvPr/>
        </p:nvSpPr>
        <p:spPr>
          <a:xfrm>
            <a:off x="885815" y="4022525"/>
            <a:ext cx="13005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Documents are extracted from their source repository and split into their relevant fields and metadata and stored in a data lake table keyed from the </a:t>
            </a:r>
            <a:r>
              <a:rPr b="1" lang="en" sz="700"/>
              <a:t>master document id</a:t>
            </a:r>
            <a:endParaRPr b="1" sz="700"/>
          </a:p>
        </p:txBody>
      </p:sp>
      <p:sp>
        <p:nvSpPr>
          <p:cNvPr id="152" name="Google Shape;152;p37"/>
          <p:cNvSpPr/>
          <p:nvPr/>
        </p:nvSpPr>
        <p:spPr>
          <a:xfrm>
            <a:off x="3525325" y="2577400"/>
            <a:ext cx="443325" cy="304775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HF APIs</a:t>
            </a:r>
            <a:endParaRPr sz="800"/>
          </a:p>
        </p:txBody>
      </p:sp>
      <p:sp>
        <p:nvSpPr>
          <p:cNvPr id="153" name="Google Shape;153;p37"/>
          <p:cNvSpPr/>
          <p:nvPr/>
        </p:nvSpPr>
        <p:spPr>
          <a:xfrm>
            <a:off x="585113" y="2175438"/>
            <a:ext cx="526176" cy="463428"/>
          </a:xfrm>
          <a:prstGeom prst="flowChartDocumen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Py</a:t>
            </a:r>
            <a:endParaRPr sz="1000"/>
          </a:p>
        </p:txBody>
      </p:sp>
      <p:sp>
        <p:nvSpPr>
          <p:cNvPr id="154" name="Google Shape;154;p37"/>
          <p:cNvSpPr/>
          <p:nvPr/>
        </p:nvSpPr>
        <p:spPr>
          <a:xfrm>
            <a:off x="685888" y="2285038"/>
            <a:ext cx="526176" cy="463428"/>
          </a:xfrm>
          <a:prstGeom prst="flowChartDocumen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Docs</a:t>
            </a:r>
            <a:endParaRPr sz="1000"/>
          </a:p>
        </p:txBody>
      </p:sp>
      <p:sp>
        <p:nvSpPr>
          <p:cNvPr id="155" name="Google Shape;155;p37"/>
          <p:cNvSpPr/>
          <p:nvPr/>
        </p:nvSpPr>
        <p:spPr>
          <a:xfrm>
            <a:off x="3887383" y="1740425"/>
            <a:ext cx="1179200" cy="1145775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HF Studio</a:t>
            </a:r>
            <a:endParaRPr sz="800"/>
          </a:p>
        </p:txBody>
      </p:sp>
      <p:cxnSp>
        <p:nvCxnSpPr>
          <p:cNvPr id="156" name="Google Shape;156;p37"/>
          <p:cNvCxnSpPr>
            <a:stCxn id="154" idx="3"/>
            <a:endCxn id="150" idx="1"/>
          </p:cNvCxnSpPr>
          <p:nvPr/>
        </p:nvCxnSpPr>
        <p:spPr>
          <a:xfrm flipH="1" rot="10800000">
            <a:off x="1212064" y="2501452"/>
            <a:ext cx="192000" cy="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37"/>
          <p:cNvCxnSpPr>
            <a:stCxn id="144" idx="3"/>
            <a:endCxn id="152" idx="1"/>
          </p:cNvCxnSpPr>
          <p:nvPr/>
        </p:nvCxnSpPr>
        <p:spPr>
          <a:xfrm>
            <a:off x="3367800" y="2729788"/>
            <a:ext cx="157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37"/>
          <p:cNvCxnSpPr>
            <a:stCxn id="150" idx="3"/>
            <a:endCxn id="149" idx="2"/>
          </p:cNvCxnSpPr>
          <p:nvPr/>
        </p:nvCxnSpPr>
        <p:spPr>
          <a:xfrm>
            <a:off x="1783347" y="2501464"/>
            <a:ext cx="19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37"/>
          <p:cNvSpPr/>
          <p:nvPr/>
        </p:nvSpPr>
        <p:spPr>
          <a:xfrm>
            <a:off x="1873013" y="2824900"/>
            <a:ext cx="730700" cy="439436"/>
          </a:xfrm>
          <a:prstGeom prst="flowChartInternalStorag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Docs</a:t>
            </a:r>
            <a:br>
              <a:rPr lang="en" sz="800"/>
            </a:br>
            <a:r>
              <a:rPr lang="en" sz="800"/>
              <a:t>+</a:t>
            </a:r>
            <a:br>
              <a:rPr lang="en" sz="800"/>
            </a:br>
            <a:r>
              <a:rPr lang="en" sz="800"/>
              <a:t>Metadata</a:t>
            </a:r>
            <a:endParaRPr sz="800"/>
          </a:p>
        </p:txBody>
      </p:sp>
      <p:sp>
        <p:nvSpPr>
          <p:cNvPr id="160" name="Google Shape;160;p37"/>
          <p:cNvSpPr/>
          <p:nvPr/>
        </p:nvSpPr>
        <p:spPr>
          <a:xfrm>
            <a:off x="3920488" y="2445800"/>
            <a:ext cx="548700" cy="393600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Convoset</a:t>
            </a:r>
            <a:endParaRPr sz="600"/>
          </a:p>
        </p:txBody>
      </p:sp>
      <p:sp>
        <p:nvSpPr>
          <p:cNvPr id="161" name="Google Shape;161;p37"/>
          <p:cNvSpPr/>
          <p:nvPr/>
        </p:nvSpPr>
        <p:spPr>
          <a:xfrm>
            <a:off x="3973163" y="1785475"/>
            <a:ext cx="730700" cy="304775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Workspace</a:t>
            </a:r>
            <a:endParaRPr sz="800"/>
          </a:p>
        </p:txBody>
      </p:sp>
      <p:sp>
        <p:nvSpPr>
          <p:cNvPr id="162" name="Google Shape;162;p37"/>
          <p:cNvSpPr/>
          <p:nvPr/>
        </p:nvSpPr>
        <p:spPr>
          <a:xfrm>
            <a:off x="4306938" y="2013450"/>
            <a:ext cx="730700" cy="304775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Pipeline</a:t>
            </a:r>
            <a:endParaRPr sz="800"/>
          </a:p>
        </p:txBody>
      </p:sp>
      <p:cxnSp>
        <p:nvCxnSpPr>
          <p:cNvPr id="163" name="Google Shape;163;p37"/>
          <p:cNvCxnSpPr>
            <a:endCxn id="164" idx="1"/>
          </p:cNvCxnSpPr>
          <p:nvPr/>
        </p:nvCxnSpPr>
        <p:spPr>
          <a:xfrm>
            <a:off x="5445750" y="2023050"/>
            <a:ext cx="14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37"/>
          <p:cNvSpPr/>
          <p:nvPr/>
        </p:nvSpPr>
        <p:spPr>
          <a:xfrm>
            <a:off x="2703547" y="2269463"/>
            <a:ext cx="379350" cy="463428"/>
          </a:xfrm>
          <a:prstGeom prst="flowChartDocumen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Py</a:t>
            </a:r>
            <a:endParaRPr sz="1000"/>
          </a:p>
        </p:txBody>
      </p:sp>
      <p:cxnSp>
        <p:nvCxnSpPr>
          <p:cNvPr id="166" name="Google Shape;166;p37"/>
          <p:cNvCxnSpPr>
            <a:stCxn id="149" idx="4"/>
            <a:endCxn id="165" idx="1"/>
          </p:cNvCxnSpPr>
          <p:nvPr/>
        </p:nvCxnSpPr>
        <p:spPr>
          <a:xfrm flipH="1" rot="10800000">
            <a:off x="2501448" y="2501165"/>
            <a:ext cx="202200" cy="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" name="Google Shape;164;p37"/>
          <p:cNvSpPr/>
          <p:nvPr/>
        </p:nvSpPr>
        <p:spPr>
          <a:xfrm>
            <a:off x="5586150" y="1870663"/>
            <a:ext cx="443325" cy="304775"/>
          </a:xfrm>
          <a:prstGeom prst="flowChartProcess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SDK</a:t>
            </a:r>
            <a:endParaRPr sz="800"/>
          </a:p>
        </p:txBody>
      </p:sp>
      <p:sp>
        <p:nvSpPr>
          <p:cNvPr id="167" name="Google Shape;167;p37"/>
          <p:cNvSpPr/>
          <p:nvPr/>
        </p:nvSpPr>
        <p:spPr>
          <a:xfrm>
            <a:off x="5586147" y="2113963"/>
            <a:ext cx="379350" cy="463428"/>
          </a:xfrm>
          <a:prstGeom prst="flowChartDocumen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Py</a:t>
            </a:r>
            <a:endParaRPr sz="1000"/>
          </a:p>
        </p:txBody>
      </p:sp>
      <p:sp>
        <p:nvSpPr>
          <p:cNvPr id="168" name="Google Shape;168;p37"/>
          <p:cNvSpPr/>
          <p:nvPr/>
        </p:nvSpPr>
        <p:spPr>
          <a:xfrm>
            <a:off x="6263923" y="2236898"/>
            <a:ext cx="526175" cy="529134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Data Lake</a:t>
            </a:r>
            <a:endParaRPr sz="1000"/>
          </a:p>
        </p:txBody>
      </p:sp>
      <p:sp>
        <p:nvSpPr>
          <p:cNvPr id="169" name="Google Shape;169;p37"/>
          <p:cNvSpPr/>
          <p:nvPr/>
        </p:nvSpPr>
        <p:spPr>
          <a:xfrm>
            <a:off x="6161663" y="2824900"/>
            <a:ext cx="730700" cy="439436"/>
          </a:xfrm>
          <a:prstGeom prst="flowChartInternalStorag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Docs</a:t>
            </a:r>
            <a:br>
              <a:rPr lang="en" sz="800"/>
            </a:br>
            <a:r>
              <a:rPr lang="en" sz="800"/>
              <a:t>+</a:t>
            </a:r>
            <a:br>
              <a:rPr lang="en" sz="800"/>
            </a:br>
            <a:r>
              <a:rPr lang="en" sz="800"/>
              <a:t>Metadata</a:t>
            </a:r>
            <a:endParaRPr sz="800"/>
          </a:p>
        </p:txBody>
      </p:sp>
      <p:sp>
        <p:nvSpPr>
          <p:cNvPr id="170" name="Google Shape;170;p37"/>
          <p:cNvSpPr/>
          <p:nvPr/>
        </p:nvSpPr>
        <p:spPr>
          <a:xfrm>
            <a:off x="6161663" y="3334363"/>
            <a:ext cx="730700" cy="439436"/>
          </a:xfrm>
          <a:prstGeom prst="flowChartInternalStorag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Enriched</a:t>
            </a:r>
            <a:br>
              <a:rPr lang="en" sz="800"/>
            </a:br>
            <a:r>
              <a:rPr lang="en" sz="800"/>
              <a:t>Insight</a:t>
            </a:r>
            <a:endParaRPr sz="800"/>
          </a:p>
        </p:txBody>
      </p:sp>
      <p:sp>
        <p:nvSpPr>
          <p:cNvPr id="171" name="Google Shape;171;p37"/>
          <p:cNvSpPr/>
          <p:nvPr/>
        </p:nvSpPr>
        <p:spPr>
          <a:xfrm>
            <a:off x="7084838" y="2601413"/>
            <a:ext cx="730700" cy="439436"/>
          </a:xfrm>
          <a:prstGeom prst="flowChartInternalStorag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View</a:t>
            </a:r>
            <a:endParaRPr sz="800"/>
          </a:p>
        </p:txBody>
      </p:sp>
      <p:cxnSp>
        <p:nvCxnSpPr>
          <p:cNvPr id="172" name="Google Shape;172;p37"/>
          <p:cNvCxnSpPr/>
          <p:nvPr/>
        </p:nvCxnSpPr>
        <p:spPr>
          <a:xfrm>
            <a:off x="3520200" y="2882188"/>
            <a:ext cx="157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37"/>
          <p:cNvCxnSpPr>
            <a:stCxn id="167" idx="3"/>
          </p:cNvCxnSpPr>
          <p:nvPr/>
        </p:nvCxnSpPr>
        <p:spPr>
          <a:xfrm>
            <a:off x="5965497" y="2345677"/>
            <a:ext cx="306600" cy="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37"/>
          <p:cNvCxnSpPr>
            <a:stCxn id="169" idx="3"/>
            <a:endCxn id="171" idx="1"/>
          </p:cNvCxnSpPr>
          <p:nvPr/>
        </p:nvCxnSpPr>
        <p:spPr>
          <a:xfrm flipH="1" rot="10800000">
            <a:off x="6892363" y="2821118"/>
            <a:ext cx="192600" cy="22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37"/>
          <p:cNvCxnSpPr>
            <a:stCxn id="170" idx="3"/>
            <a:endCxn id="171" idx="1"/>
          </p:cNvCxnSpPr>
          <p:nvPr/>
        </p:nvCxnSpPr>
        <p:spPr>
          <a:xfrm flipH="1" rot="10800000">
            <a:off x="6892363" y="2821181"/>
            <a:ext cx="192600" cy="73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6" name="Google Shape;17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7613" y="2131737"/>
            <a:ext cx="738900" cy="7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37"/>
          <p:cNvCxnSpPr>
            <a:stCxn id="171" idx="3"/>
            <a:endCxn id="176" idx="1"/>
          </p:cNvCxnSpPr>
          <p:nvPr/>
        </p:nvCxnSpPr>
        <p:spPr>
          <a:xfrm flipH="1" rot="10800000">
            <a:off x="7815538" y="2501331"/>
            <a:ext cx="252000" cy="31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" name="Google Shape;178;p37"/>
          <p:cNvSpPr txBox="1"/>
          <p:nvPr/>
        </p:nvSpPr>
        <p:spPr>
          <a:xfrm>
            <a:off x="2586872" y="4022525"/>
            <a:ext cx="933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Documents are extracted from the source table in batches and pushed as a file for analysis into a conversation set in humanfirst</a:t>
            </a:r>
            <a:endParaRPr sz="700"/>
          </a:p>
        </p:txBody>
      </p:sp>
      <p:sp>
        <p:nvSpPr>
          <p:cNvPr id="179" name="Google Shape;179;p37"/>
          <p:cNvSpPr txBox="1"/>
          <p:nvPr/>
        </p:nvSpPr>
        <p:spPr>
          <a:xfrm>
            <a:off x="3717825" y="4022525"/>
            <a:ext cx="16122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Once files are uploaded the pipeline is triggered by the HumanFirst API and processes all the documents in the conversation set, skipping already cached results</a:t>
            </a:r>
            <a:endParaRPr sz="700"/>
          </a:p>
        </p:txBody>
      </p:sp>
      <p:sp>
        <p:nvSpPr>
          <p:cNvPr id="180" name="Google Shape;180;p37"/>
          <p:cNvSpPr txBox="1"/>
          <p:nvPr/>
        </p:nvSpPr>
        <p:spPr>
          <a:xfrm>
            <a:off x="5720912" y="4022525"/>
            <a:ext cx="16122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Insight is downloaded from the pipeline and stored in a second table keyed to the same </a:t>
            </a:r>
            <a:r>
              <a:rPr b="1" lang="en" sz="700"/>
              <a:t>master document id as the first</a:t>
            </a:r>
            <a:endParaRPr b="1" sz="700"/>
          </a:p>
        </p:txBody>
      </p:sp>
      <p:sp>
        <p:nvSpPr>
          <p:cNvPr id="181" name="Google Shape;181;p37"/>
          <p:cNvSpPr txBox="1"/>
          <p:nvPr/>
        </p:nvSpPr>
        <p:spPr>
          <a:xfrm>
            <a:off x="7443812" y="4022525"/>
            <a:ext cx="16122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A view is used to join the different types of insight required, any aggregations done and the displayed in a visualisation tool of choice</a:t>
            </a:r>
            <a:endParaRPr b="1" sz="700"/>
          </a:p>
        </p:txBody>
      </p:sp>
      <p:sp>
        <p:nvSpPr>
          <p:cNvPr id="182" name="Google Shape;182;p37"/>
          <p:cNvSpPr/>
          <p:nvPr/>
        </p:nvSpPr>
        <p:spPr>
          <a:xfrm>
            <a:off x="3256872" y="3034600"/>
            <a:ext cx="379350" cy="463428"/>
          </a:xfrm>
          <a:prstGeom prst="flowChartDocumen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FILE!</a:t>
            </a:r>
            <a:endParaRPr b="1" sz="600">
              <a:solidFill>
                <a:srgbClr val="FF0000"/>
              </a:solidFill>
            </a:endParaRPr>
          </a:p>
        </p:txBody>
      </p:sp>
      <p:sp>
        <p:nvSpPr>
          <p:cNvPr id="183" name="Google Shape;183;p37"/>
          <p:cNvSpPr/>
          <p:nvPr/>
        </p:nvSpPr>
        <p:spPr>
          <a:xfrm>
            <a:off x="4324130" y="2755825"/>
            <a:ext cx="157518" cy="248400"/>
          </a:xfrm>
          <a:prstGeom prst="flowChartDocumen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8"/>
          <p:cNvSpPr/>
          <p:nvPr/>
        </p:nvSpPr>
        <p:spPr>
          <a:xfrm>
            <a:off x="5002363" y="1870675"/>
            <a:ext cx="443325" cy="304775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HF APIs</a:t>
            </a:r>
            <a:endParaRPr sz="800"/>
          </a:p>
        </p:txBody>
      </p:sp>
      <p:sp>
        <p:nvSpPr>
          <p:cNvPr id="189" name="Google Shape;189;p38"/>
          <p:cNvSpPr/>
          <p:nvPr/>
        </p:nvSpPr>
        <p:spPr>
          <a:xfrm>
            <a:off x="470513" y="2090238"/>
            <a:ext cx="526176" cy="463428"/>
          </a:xfrm>
          <a:prstGeom prst="flowChartDocumen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Py</a:t>
            </a:r>
            <a:endParaRPr sz="1000"/>
          </a:p>
        </p:txBody>
      </p:sp>
      <p:sp>
        <p:nvSpPr>
          <p:cNvPr id="190" name="Google Shape;190;p38"/>
          <p:cNvSpPr/>
          <p:nvPr/>
        </p:nvSpPr>
        <p:spPr>
          <a:xfrm>
            <a:off x="2924475" y="2577400"/>
            <a:ext cx="443325" cy="304775"/>
          </a:xfrm>
          <a:prstGeom prst="flowChartProcess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SDK</a:t>
            </a:r>
            <a:endParaRPr sz="800"/>
          </a:p>
        </p:txBody>
      </p:sp>
      <p:sp>
        <p:nvSpPr>
          <p:cNvPr id="191" name="Google Shape;191;p38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93" name="Google Shape;193;p38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Specific notes for an Email project</a:t>
            </a:r>
            <a:endParaRPr sz="3500"/>
          </a:p>
        </p:txBody>
      </p:sp>
      <p:sp>
        <p:nvSpPr>
          <p:cNvPr id="194" name="Google Shape;194;p38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195" name="Google Shape;195;p38"/>
          <p:cNvSpPr/>
          <p:nvPr/>
        </p:nvSpPr>
        <p:spPr>
          <a:xfrm>
            <a:off x="1975273" y="2236898"/>
            <a:ext cx="526175" cy="529134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Data Lake</a:t>
            </a:r>
            <a:endParaRPr sz="1000"/>
          </a:p>
        </p:txBody>
      </p:sp>
      <p:sp>
        <p:nvSpPr>
          <p:cNvPr id="196" name="Google Shape;196;p38"/>
          <p:cNvSpPr/>
          <p:nvPr/>
        </p:nvSpPr>
        <p:spPr>
          <a:xfrm>
            <a:off x="1403997" y="2269750"/>
            <a:ext cx="379350" cy="463428"/>
          </a:xfrm>
          <a:prstGeom prst="flowChartDocumen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Py</a:t>
            </a:r>
            <a:endParaRPr sz="1000"/>
          </a:p>
        </p:txBody>
      </p:sp>
      <p:sp>
        <p:nvSpPr>
          <p:cNvPr id="197" name="Google Shape;197;p38"/>
          <p:cNvSpPr txBox="1"/>
          <p:nvPr/>
        </p:nvSpPr>
        <p:spPr>
          <a:xfrm>
            <a:off x="885815" y="4022525"/>
            <a:ext cx="13005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Here the PST or MBOX file needs breaking into the individual emails and within that different key </a:t>
            </a:r>
            <a:r>
              <a:rPr lang="en" sz="700"/>
              <a:t>fields</a:t>
            </a:r>
            <a:r>
              <a:rPr lang="en" sz="700"/>
              <a:t> like date from, to, cc, content.  Delimiting and reply handling are normally key considerations</a:t>
            </a:r>
            <a:endParaRPr b="1" sz="700"/>
          </a:p>
        </p:txBody>
      </p:sp>
      <p:sp>
        <p:nvSpPr>
          <p:cNvPr id="198" name="Google Shape;198;p38"/>
          <p:cNvSpPr/>
          <p:nvPr/>
        </p:nvSpPr>
        <p:spPr>
          <a:xfrm>
            <a:off x="3525325" y="2577400"/>
            <a:ext cx="443325" cy="304775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HF APIs</a:t>
            </a:r>
            <a:endParaRPr sz="800"/>
          </a:p>
        </p:txBody>
      </p:sp>
      <p:sp>
        <p:nvSpPr>
          <p:cNvPr id="199" name="Google Shape;199;p38"/>
          <p:cNvSpPr/>
          <p:nvPr/>
        </p:nvSpPr>
        <p:spPr>
          <a:xfrm>
            <a:off x="585113" y="2175438"/>
            <a:ext cx="526176" cy="463428"/>
          </a:xfrm>
          <a:prstGeom prst="flowChartDocumen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Py</a:t>
            </a:r>
            <a:endParaRPr sz="1000"/>
          </a:p>
        </p:txBody>
      </p:sp>
      <p:sp>
        <p:nvSpPr>
          <p:cNvPr id="200" name="Google Shape;200;p38"/>
          <p:cNvSpPr/>
          <p:nvPr/>
        </p:nvSpPr>
        <p:spPr>
          <a:xfrm>
            <a:off x="685888" y="2285038"/>
            <a:ext cx="526176" cy="463428"/>
          </a:xfrm>
          <a:prstGeom prst="flowChartDocumen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Docs</a:t>
            </a:r>
            <a:endParaRPr sz="1000"/>
          </a:p>
        </p:txBody>
      </p:sp>
      <p:sp>
        <p:nvSpPr>
          <p:cNvPr id="201" name="Google Shape;201;p38"/>
          <p:cNvSpPr/>
          <p:nvPr/>
        </p:nvSpPr>
        <p:spPr>
          <a:xfrm>
            <a:off x="3887383" y="1740425"/>
            <a:ext cx="1179200" cy="1145775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HF Studio</a:t>
            </a:r>
            <a:endParaRPr sz="800"/>
          </a:p>
        </p:txBody>
      </p:sp>
      <p:cxnSp>
        <p:nvCxnSpPr>
          <p:cNvPr id="202" name="Google Shape;202;p38"/>
          <p:cNvCxnSpPr>
            <a:stCxn id="200" idx="3"/>
            <a:endCxn id="196" idx="1"/>
          </p:cNvCxnSpPr>
          <p:nvPr/>
        </p:nvCxnSpPr>
        <p:spPr>
          <a:xfrm flipH="1" rot="10800000">
            <a:off x="1212064" y="2501452"/>
            <a:ext cx="192000" cy="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38"/>
          <p:cNvCxnSpPr>
            <a:stCxn id="190" idx="3"/>
            <a:endCxn id="198" idx="1"/>
          </p:cNvCxnSpPr>
          <p:nvPr/>
        </p:nvCxnSpPr>
        <p:spPr>
          <a:xfrm>
            <a:off x="3367800" y="2729788"/>
            <a:ext cx="157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38"/>
          <p:cNvCxnSpPr>
            <a:stCxn id="196" idx="3"/>
            <a:endCxn id="195" idx="2"/>
          </p:cNvCxnSpPr>
          <p:nvPr/>
        </p:nvCxnSpPr>
        <p:spPr>
          <a:xfrm>
            <a:off x="1783347" y="2501464"/>
            <a:ext cx="19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38"/>
          <p:cNvSpPr/>
          <p:nvPr/>
        </p:nvSpPr>
        <p:spPr>
          <a:xfrm>
            <a:off x="1873013" y="2824900"/>
            <a:ext cx="730700" cy="439436"/>
          </a:xfrm>
          <a:prstGeom prst="flowChartInternalStorag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Docs</a:t>
            </a:r>
            <a:br>
              <a:rPr lang="en" sz="800"/>
            </a:br>
            <a:r>
              <a:rPr lang="en" sz="800"/>
              <a:t>+</a:t>
            </a:r>
            <a:br>
              <a:rPr lang="en" sz="800"/>
            </a:br>
            <a:r>
              <a:rPr lang="en" sz="800"/>
              <a:t>Metadata</a:t>
            </a:r>
            <a:endParaRPr sz="800"/>
          </a:p>
        </p:txBody>
      </p:sp>
      <p:sp>
        <p:nvSpPr>
          <p:cNvPr id="206" name="Google Shape;206;p38"/>
          <p:cNvSpPr/>
          <p:nvPr/>
        </p:nvSpPr>
        <p:spPr>
          <a:xfrm>
            <a:off x="3920488" y="2445800"/>
            <a:ext cx="548700" cy="393600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Convoset</a:t>
            </a:r>
            <a:endParaRPr sz="600"/>
          </a:p>
        </p:txBody>
      </p:sp>
      <p:sp>
        <p:nvSpPr>
          <p:cNvPr id="207" name="Google Shape;207;p38"/>
          <p:cNvSpPr/>
          <p:nvPr/>
        </p:nvSpPr>
        <p:spPr>
          <a:xfrm>
            <a:off x="3973163" y="1785475"/>
            <a:ext cx="730700" cy="304775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Workspace</a:t>
            </a:r>
            <a:endParaRPr sz="800"/>
          </a:p>
        </p:txBody>
      </p:sp>
      <p:sp>
        <p:nvSpPr>
          <p:cNvPr id="208" name="Google Shape;208;p38"/>
          <p:cNvSpPr/>
          <p:nvPr/>
        </p:nvSpPr>
        <p:spPr>
          <a:xfrm>
            <a:off x="4306938" y="2013450"/>
            <a:ext cx="730700" cy="304775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Pipeline</a:t>
            </a:r>
            <a:endParaRPr sz="800"/>
          </a:p>
        </p:txBody>
      </p:sp>
      <p:cxnSp>
        <p:nvCxnSpPr>
          <p:cNvPr id="209" name="Google Shape;209;p38"/>
          <p:cNvCxnSpPr>
            <a:endCxn id="210" idx="1"/>
          </p:cNvCxnSpPr>
          <p:nvPr/>
        </p:nvCxnSpPr>
        <p:spPr>
          <a:xfrm>
            <a:off x="5445750" y="2023050"/>
            <a:ext cx="14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p38"/>
          <p:cNvSpPr/>
          <p:nvPr/>
        </p:nvSpPr>
        <p:spPr>
          <a:xfrm>
            <a:off x="2703547" y="2269463"/>
            <a:ext cx="379350" cy="463428"/>
          </a:xfrm>
          <a:prstGeom prst="flowChartDocumen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Py</a:t>
            </a:r>
            <a:endParaRPr sz="1000"/>
          </a:p>
        </p:txBody>
      </p:sp>
      <p:cxnSp>
        <p:nvCxnSpPr>
          <p:cNvPr id="212" name="Google Shape;212;p38"/>
          <p:cNvCxnSpPr>
            <a:stCxn id="195" idx="4"/>
            <a:endCxn id="211" idx="1"/>
          </p:cNvCxnSpPr>
          <p:nvPr/>
        </p:nvCxnSpPr>
        <p:spPr>
          <a:xfrm flipH="1" rot="10800000">
            <a:off x="2501448" y="2501165"/>
            <a:ext cx="202200" cy="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38"/>
          <p:cNvSpPr/>
          <p:nvPr/>
        </p:nvSpPr>
        <p:spPr>
          <a:xfrm>
            <a:off x="5586150" y="1870663"/>
            <a:ext cx="443325" cy="304775"/>
          </a:xfrm>
          <a:prstGeom prst="flowChartProcess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SDK</a:t>
            </a:r>
            <a:endParaRPr sz="800"/>
          </a:p>
        </p:txBody>
      </p:sp>
      <p:sp>
        <p:nvSpPr>
          <p:cNvPr id="213" name="Google Shape;213;p38"/>
          <p:cNvSpPr/>
          <p:nvPr/>
        </p:nvSpPr>
        <p:spPr>
          <a:xfrm>
            <a:off x="5586147" y="2113963"/>
            <a:ext cx="379350" cy="463428"/>
          </a:xfrm>
          <a:prstGeom prst="flowChartDocumen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Py</a:t>
            </a:r>
            <a:endParaRPr sz="1000"/>
          </a:p>
        </p:txBody>
      </p:sp>
      <p:sp>
        <p:nvSpPr>
          <p:cNvPr id="214" name="Google Shape;214;p38"/>
          <p:cNvSpPr/>
          <p:nvPr/>
        </p:nvSpPr>
        <p:spPr>
          <a:xfrm>
            <a:off x="6263923" y="2236898"/>
            <a:ext cx="526175" cy="529134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Data Lake</a:t>
            </a:r>
            <a:endParaRPr sz="1000"/>
          </a:p>
        </p:txBody>
      </p:sp>
      <p:sp>
        <p:nvSpPr>
          <p:cNvPr id="215" name="Google Shape;215;p38"/>
          <p:cNvSpPr/>
          <p:nvPr/>
        </p:nvSpPr>
        <p:spPr>
          <a:xfrm>
            <a:off x="6161663" y="2824900"/>
            <a:ext cx="730700" cy="439436"/>
          </a:xfrm>
          <a:prstGeom prst="flowChartInternalStorag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Docs</a:t>
            </a:r>
            <a:br>
              <a:rPr lang="en" sz="800"/>
            </a:br>
            <a:r>
              <a:rPr lang="en" sz="800"/>
              <a:t>+</a:t>
            </a:r>
            <a:br>
              <a:rPr lang="en" sz="800"/>
            </a:br>
            <a:r>
              <a:rPr lang="en" sz="800"/>
              <a:t>Metadata</a:t>
            </a:r>
            <a:endParaRPr sz="800"/>
          </a:p>
        </p:txBody>
      </p:sp>
      <p:sp>
        <p:nvSpPr>
          <p:cNvPr id="216" name="Google Shape;216;p38"/>
          <p:cNvSpPr/>
          <p:nvPr/>
        </p:nvSpPr>
        <p:spPr>
          <a:xfrm>
            <a:off x="6161663" y="3334363"/>
            <a:ext cx="730700" cy="439436"/>
          </a:xfrm>
          <a:prstGeom prst="flowChartInternalStorag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Enriched</a:t>
            </a:r>
            <a:br>
              <a:rPr lang="en" sz="800"/>
            </a:br>
            <a:r>
              <a:rPr lang="en" sz="800"/>
              <a:t>Insight</a:t>
            </a:r>
            <a:endParaRPr sz="800"/>
          </a:p>
        </p:txBody>
      </p:sp>
      <p:sp>
        <p:nvSpPr>
          <p:cNvPr id="217" name="Google Shape;217;p38"/>
          <p:cNvSpPr/>
          <p:nvPr/>
        </p:nvSpPr>
        <p:spPr>
          <a:xfrm>
            <a:off x="7084838" y="2601413"/>
            <a:ext cx="730700" cy="439436"/>
          </a:xfrm>
          <a:prstGeom prst="flowChartInternalStorag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View</a:t>
            </a:r>
            <a:endParaRPr sz="800"/>
          </a:p>
        </p:txBody>
      </p:sp>
      <p:cxnSp>
        <p:nvCxnSpPr>
          <p:cNvPr id="218" name="Google Shape;218;p38"/>
          <p:cNvCxnSpPr/>
          <p:nvPr/>
        </p:nvCxnSpPr>
        <p:spPr>
          <a:xfrm>
            <a:off x="3520200" y="2882188"/>
            <a:ext cx="157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38"/>
          <p:cNvCxnSpPr>
            <a:stCxn id="213" idx="3"/>
          </p:cNvCxnSpPr>
          <p:nvPr/>
        </p:nvCxnSpPr>
        <p:spPr>
          <a:xfrm>
            <a:off x="5965497" y="2345677"/>
            <a:ext cx="306600" cy="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38"/>
          <p:cNvCxnSpPr>
            <a:stCxn id="215" idx="3"/>
            <a:endCxn id="217" idx="1"/>
          </p:cNvCxnSpPr>
          <p:nvPr/>
        </p:nvCxnSpPr>
        <p:spPr>
          <a:xfrm flipH="1" rot="10800000">
            <a:off x="6892363" y="2821118"/>
            <a:ext cx="192600" cy="22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38"/>
          <p:cNvCxnSpPr>
            <a:stCxn id="216" idx="3"/>
            <a:endCxn id="217" idx="1"/>
          </p:cNvCxnSpPr>
          <p:nvPr/>
        </p:nvCxnSpPr>
        <p:spPr>
          <a:xfrm flipH="1" rot="10800000">
            <a:off x="6892363" y="2821181"/>
            <a:ext cx="192600" cy="73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2" name="Google Shape;22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7613" y="2131737"/>
            <a:ext cx="738900" cy="7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38"/>
          <p:cNvCxnSpPr>
            <a:stCxn id="217" idx="3"/>
            <a:endCxn id="222" idx="1"/>
          </p:cNvCxnSpPr>
          <p:nvPr/>
        </p:nvCxnSpPr>
        <p:spPr>
          <a:xfrm flipH="1" rot="10800000">
            <a:off x="7815538" y="2501331"/>
            <a:ext cx="252000" cy="31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38"/>
          <p:cNvSpPr txBox="1"/>
          <p:nvPr/>
        </p:nvSpPr>
        <p:spPr>
          <a:xfrm>
            <a:off x="2586872" y="4022525"/>
            <a:ext cx="933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Ideally the table has a single line per email, with all content being in a single field and then each other field in a column</a:t>
            </a:r>
            <a:endParaRPr sz="700"/>
          </a:p>
        </p:txBody>
      </p:sp>
      <p:sp>
        <p:nvSpPr>
          <p:cNvPr id="225" name="Google Shape;225;p38"/>
          <p:cNvSpPr txBox="1"/>
          <p:nvPr/>
        </p:nvSpPr>
        <p:spPr>
          <a:xfrm>
            <a:off x="3717825" y="4022525"/>
            <a:ext cx="16122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Convosets will </a:t>
            </a:r>
            <a:r>
              <a:rPr lang="en" sz="700"/>
              <a:t>amalgamate</a:t>
            </a:r>
            <a:r>
              <a:rPr lang="en" sz="700"/>
              <a:t> many files.  Pipeline provides caching.</a:t>
            </a:r>
            <a:br>
              <a:rPr lang="en" sz="700"/>
            </a:br>
            <a:r>
              <a:rPr lang="en" sz="700"/>
              <a:t>Keep one </a:t>
            </a:r>
            <a:r>
              <a:rPr lang="en" sz="700"/>
              <a:t>workspace</a:t>
            </a:r>
            <a:r>
              <a:rPr lang="en" sz="700"/>
              <a:t>, one model, one convoset one pipeline.</a:t>
            </a:r>
            <a:endParaRPr sz="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Prompts will operate on a reassembled version of the email based on selecting certain metadata fields</a:t>
            </a:r>
            <a:endParaRPr sz="700"/>
          </a:p>
        </p:txBody>
      </p:sp>
      <p:sp>
        <p:nvSpPr>
          <p:cNvPr id="226" name="Google Shape;226;p38"/>
          <p:cNvSpPr txBox="1"/>
          <p:nvPr/>
        </p:nvSpPr>
        <p:spPr>
          <a:xfrm>
            <a:off x="5720912" y="4022525"/>
            <a:ext cx="16122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.</a:t>
            </a:r>
            <a:endParaRPr b="1" sz="700"/>
          </a:p>
        </p:txBody>
      </p:sp>
      <p:sp>
        <p:nvSpPr>
          <p:cNvPr id="227" name="Google Shape;227;p38"/>
          <p:cNvSpPr txBox="1"/>
          <p:nvPr/>
        </p:nvSpPr>
        <p:spPr>
          <a:xfrm>
            <a:off x="7443812" y="4022525"/>
            <a:ext cx="16122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.</a:t>
            </a:r>
            <a:endParaRPr b="1"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9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34" name="Google Shape;234;p39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Mandatory fields</a:t>
            </a:r>
            <a:endParaRPr sz="3500"/>
          </a:p>
        </p:txBody>
      </p:sp>
      <p:sp>
        <p:nvSpPr>
          <p:cNvPr id="235" name="Google Shape;235;p39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36" name="Google Shape;236;p39"/>
          <p:cNvSpPr txBox="1"/>
          <p:nvPr/>
        </p:nvSpPr>
        <p:spPr>
          <a:xfrm>
            <a:off x="668100" y="1119900"/>
            <a:ext cx="7546200" cy="3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7506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Master document ID</a:t>
            </a:r>
            <a:endParaRPr sz="135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Text (Content) to analyse</a:t>
            </a:r>
            <a:endParaRPr sz="135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Timestamp of the utterance/document segment (used for sharding and ordering)</a:t>
            </a:r>
            <a:endParaRPr sz="135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Role - whether it is the client or expert speaking (can default to all client)</a:t>
            </a:r>
            <a:endParaRPr sz="135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All other fields as metadata</a:t>
            </a:r>
            <a:endParaRPr sz="135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7506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40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43" name="Google Shape;243;p40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Some data lake options</a:t>
            </a:r>
            <a:endParaRPr sz="3500"/>
          </a:p>
        </p:txBody>
      </p:sp>
      <p:sp>
        <p:nvSpPr>
          <p:cNvPr id="244" name="Google Shape;244;p40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45" name="Google Shape;245;p40"/>
          <p:cNvSpPr txBox="1"/>
          <p:nvPr/>
        </p:nvSpPr>
        <p:spPr>
          <a:xfrm>
            <a:off x="668100" y="1119900"/>
            <a:ext cx="7546200" cy="3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7506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Google BigQuery</a:t>
            </a:r>
            <a:endParaRPr sz="135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Amazon Redshift</a:t>
            </a:r>
            <a:endParaRPr sz="135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Microsoft Azure Synapse Analytics</a:t>
            </a:r>
            <a:endParaRPr sz="135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Snowflake Cloud Data Platform.</a:t>
            </a:r>
            <a:endParaRPr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7506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41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52" name="Google Shape;252;p41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Some visualisation options</a:t>
            </a:r>
            <a:endParaRPr sz="3500"/>
          </a:p>
        </p:txBody>
      </p:sp>
      <p:sp>
        <p:nvSpPr>
          <p:cNvPr id="253" name="Google Shape;253;p41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54" name="Google Shape;254;p41"/>
          <p:cNvSpPr txBox="1"/>
          <p:nvPr/>
        </p:nvSpPr>
        <p:spPr>
          <a:xfrm>
            <a:off x="668100" y="1119900"/>
            <a:ext cx="7546200" cy="3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7506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Looker Studio (light and free with Big Query) or Looker (full Version)</a:t>
            </a:r>
            <a:endParaRPr sz="135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Tableau</a:t>
            </a:r>
            <a:endParaRPr sz="135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Qlik</a:t>
            </a:r>
            <a:endParaRPr sz="135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PowerBi</a:t>
            </a:r>
            <a:endParaRPr sz="135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7506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42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61" name="Google Shape;261;p42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Some ETL tool options</a:t>
            </a:r>
            <a:endParaRPr sz="3500"/>
          </a:p>
        </p:txBody>
      </p:sp>
      <p:sp>
        <p:nvSpPr>
          <p:cNvPr id="262" name="Google Shape;262;p42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63" name="Google Shape;263;p42"/>
          <p:cNvSpPr txBox="1"/>
          <p:nvPr/>
        </p:nvSpPr>
        <p:spPr>
          <a:xfrm>
            <a:off x="668100" y="1119900"/>
            <a:ext cx="7546200" cy="3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7506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Apache Airflow</a:t>
            </a:r>
            <a:endParaRPr sz="135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Snowflake</a:t>
            </a:r>
            <a:endParaRPr sz="135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Inter"/>
              <a:buChar char="●"/>
            </a:pPr>
            <a:r>
              <a:rPr lang="en" sz="135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Cronjob + Python</a:t>
            </a:r>
            <a:endParaRPr sz="135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7506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uman First">
  <a:themeElements>
    <a:clrScheme name="Simple Light">
      <a:dk1>
        <a:srgbClr val="12184A"/>
      </a:dk1>
      <a:lt1>
        <a:srgbClr val="FFFFFF"/>
      </a:lt1>
      <a:dk2>
        <a:srgbClr val="F4F6FB"/>
      </a:dk2>
      <a:lt2>
        <a:srgbClr val="76CCED"/>
      </a:lt2>
      <a:accent1>
        <a:srgbClr val="294489"/>
      </a:accent1>
      <a:accent2>
        <a:srgbClr val="650C4C"/>
      </a:accent2>
      <a:accent3>
        <a:srgbClr val="D0D4DD"/>
      </a:accent3>
      <a:accent4>
        <a:srgbClr val="98A0B3"/>
      </a:accent4>
      <a:accent5>
        <a:srgbClr val="666F85"/>
      </a:accent5>
      <a:accent6>
        <a:srgbClr val="475067"/>
      </a:accent6>
      <a:hlink>
        <a:srgbClr val="2944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