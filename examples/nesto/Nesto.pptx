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Inter Light"/>
      <p:regular r:id="rId40"/>
      <p:bold r:id="rId41"/>
      <p:italic r:id="rId42"/>
      <p:boldItalic r:id="rId43"/>
    </p:embeddedFont>
    <p:embeddedFont>
      <p:font typeface="Inter"/>
      <p:regular r:id="rId44"/>
      <p:bold r:id="rId45"/>
      <p:italic r:id="rId46"/>
      <p:boldItalic r:id="rId47"/>
    </p:embeddedFont>
    <p:embeddedFont>
      <p:font typeface="Manrope SemiBold"/>
      <p:regular r:id="rId48"/>
      <p:bold r:id="rId49"/>
    </p:embeddedFont>
    <p:embeddedFont>
      <p:font typeface="Manrope"/>
      <p:regular r:id="rId50"/>
      <p:bold r:id="rId51"/>
    </p:embeddedFont>
    <p:embeddedFont>
      <p:font typeface="Inter Medium"/>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5E58F0-B348-4383-A09C-207D46FD5A56}">
  <a:tblStyle styleId="{385E58F0-B348-4383-A09C-207D46FD5A5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Light-regular.fntdata"/><Relationship Id="rId42" Type="http://schemas.openxmlformats.org/officeDocument/2006/relationships/font" Target="fonts/InterLight-italic.fntdata"/><Relationship Id="rId41" Type="http://schemas.openxmlformats.org/officeDocument/2006/relationships/font" Target="fonts/InterLight-bold.fntdata"/><Relationship Id="rId44" Type="http://schemas.openxmlformats.org/officeDocument/2006/relationships/font" Target="fonts/Inter-regular.fntdata"/><Relationship Id="rId43" Type="http://schemas.openxmlformats.org/officeDocument/2006/relationships/font" Target="fonts/InterLight-boldItalic.fntdata"/><Relationship Id="rId46" Type="http://schemas.openxmlformats.org/officeDocument/2006/relationships/font" Target="fonts/Inter-italic.fntdata"/><Relationship Id="rId45"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ManropeSemiBold-regular.fntdata"/><Relationship Id="rId47" Type="http://schemas.openxmlformats.org/officeDocument/2006/relationships/font" Target="fonts/Inter-boldItalic.fntdata"/><Relationship Id="rId49" Type="http://schemas.openxmlformats.org/officeDocument/2006/relationships/font" Target="fonts/ManropeSemi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anrope-bold.fntdata"/><Relationship Id="rId50" Type="http://schemas.openxmlformats.org/officeDocument/2006/relationships/font" Target="fonts/Manrope-regular.fntdata"/><Relationship Id="rId53" Type="http://schemas.openxmlformats.org/officeDocument/2006/relationships/font" Target="fonts/InterMedium-bold.fntdata"/><Relationship Id="rId52" Type="http://schemas.openxmlformats.org/officeDocument/2006/relationships/font" Target="fonts/InterMedium-regular.fntdata"/><Relationship Id="rId11" Type="http://schemas.openxmlformats.org/officeDocument/2006/relationships/slide" Target="slides/slide4.xml"/><Relationship Id="rId55" Type="http://schemas.openxmlformats.org/officeDocument/2006/relationships/font" Target="fonts/InterMedium-boldItalic.fntdata"/><Relationship Id="rId10" Type="http://schemas.openxmlformats.org/officeDocument/2006/relationships/slide" Target="slides/slide3.xml"/><Relationship Id="rId54" Type="http://schemas.openxmlformats.org/officeDocument/2006/relationships/font" Target="fonts/InterMedium-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melissa.mckenzie1@nesto.ca"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melissa.mckenzie1@nesto.ca"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e377086fa_2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e377086fa_2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c26c0284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c26c0284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e377086f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e377086f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e377086fa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e377086fa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f662bfe620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f662bfe620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fe377086fa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fe377086fa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fe377086fa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fe377086fa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fe377086fa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fe377086fa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fe377086fa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fe377086fa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3 calls (</a:t>
            </a:r>
            <a:r>
              <a:rPr lang="en" sz="1200" u="sng">
                <a:solidFill>
                  <a:srgbClr val="294489"/>
                </a:solidFill>
                <a:latin typeface="Inter"/>
                <a:ea typeface="Inter"/>
                <a:cs typeface="Inter"/>
                <a:sym typeface="Inter"/>
                <a:hlinkClick r:id="rId2">
                  <a:extLst>
                    <a:ext uri="{A12FA001-AC4F-418D-AE19-62706E023703}">
                      <ahyp:hlinkClr val="tx"/>
                    </a:ext>
                  </a:extLst>
                </a:hlinkClick>
              </a:rPr>
              <a:t>melissa.mckenzie1@nesto.ca</a:t>
            </a:r>
            <a:r>
              <a:rPr lang="en" sz="1200">
                <a:solidFill>
                  <a:srgbClr val="475067"/>
                </a:solidFill>
                <a:latin typeface="Inter"/>
                <a:ea typeface="Inter"/>
                <a:cs typeface="Inter"/>
                <a:sym typeface="Inter"/>
              </a:rPr>
              <a:t>)</a:t>
            </a:r>
            <a:endParaRPr sz="1200">
              <a:solidFill>
                <a:srgbClr val="475067"/>
              </a:solidFill>
              <a:latin typeface="Inter"/>
              <a:ea typeface="Inter"/>
              <a:cs typeface="Inter"/>
              <a:sym typeface="Inter"/>
            </a:endParaRPr>
          </a:p>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Scoring perfect on all 3 calls for Criteria 2 (Understand User Situation) and Criteria 3 (Validate Eligibility)</a:t>
            </a:r>
            <a:endParaRPr sz="1200">
              <a:solidFill>
                <a:srgbClr val="475067"/>
              </a:solidFill>
              <a:latin typeface="Inter"/>
              <a:ea typeface="Inter"/>
              <a:cs typeface="Inter"/>
              <a:sym typeface="Inter"/>
            </a:endParaRPr>
          </a:p>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Didn’t set the context this was a call regarding an inquiry started on the website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fe1c8cd082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fe1c8cd082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Run: 19</a:t>
            </a:r>
            <a:endParaRPr sz="1200">
              <a:solidFill>
                <a:srgbClr val="475067"/>
              </a:solidFill>
              <a:latin typeface="Inter"/>
              <a:ea typeface="Inter"/>
              <a:cs typeface="Inter"/>
              <a:sym typeface="Inte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fdace7f4b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fdace7f4b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3 calls (</a:t>
            </a:r>
            <a:r>
              <a:rPr lang="en" sz="1200" u="sng">
                <a:solidFill>
                  <a:srgbClr val="294489"/>
                </a:solidFill>
                <a:latin typeface="Inter"/>
                <a:ea typeface="Inter"/>
                <a:cs typeface="Inter"/>
                <a:sym typeface="Inter"/>
                <a:hlinkClick r:id="rId2">
                  <a:extLst>
                    <a:ext uri="{A12FA001-AC4F-418D-AE19-62706E023703}">
                      <ahyp:hlinkClr val="tx"/>
                    </a:ext>
                  </a:extLst>
                </a:hlinkClick>
              </a:rPr>
              <a:t>melissa.mckenzie1@nesto.ca</a:t>
            </a:r>
            <a:r>
              <a:rPr lang="en" sz="1200">
                <a:solidFill>
                  <a:srgbClr val="475067"/>
                </a:solidFill>
                <a:latin typeface="Inter"/>
                <a:ea typeface="Inter"/>
                <a:cs typeface="Inter"/>
                <a:sym typeface="Inter"/>
              </a:rPr>
              <a:t>)</a:t>
            </a:r>
            <a:endParaRPr sz="1200">
              <a:solidFill>
                <a:srgbClr val="475067"/>
              </a:solidFill>
              <a:latin typeface="Inter"/>
              <a:ea typeface="Inter"/>
              <a:cs typeface="Inter"/>
              <a:sym typeface="Inter"/>
            </a:endParaRPr>
          </a:p>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Scoring perfect on all 3 calls for Criteria 2 (Understand User Situation) and Criteria 3 (Validate Eligibility)</a:t>
            </a:r>
            <a:endParaRPr sz="1200">
              <a:solidFill>
                <a:srgbClr val="475067"/>
              </a:solidFill>
              <a:latin typeface="Inter"/>
              <a:ea typeface="Inter"/>
              <a:cs typeface="Inter"/>
              <a:sym typeface="Inter"/>
            </a:endParaRPr>
          </a:p>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Didn’t set the context this was a call regarding an inquiry started on the website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fe1c8cd08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fe1c8cd08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Didn’t set the context this was a call regarding an inquiry started on the website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fe1c8cd082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fe1c8cd082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Emphasize Nesto credentials</a:t>
            </a:r>
            <a:endParaRPr sz="1200">
              <a:solidFill>
                <a:srgbClr val="475067"/>
              </a:solidFill>
              <a:latin typeface="Inter"/>
              <a:ea typeface="Inter"/>
              <a:cs typeface="Inter"/>
              <a:sym typeface="Int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fe377086fa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fe377086fa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fe377086fa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fe377086fa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fe377086fa_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fe377086fa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fe1c8cd082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fe1c8cd082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rPr lang="en" sz="1200">
                <a:solidFill>
                  <a:srgbClr val="475067"/>
                </a:solidFill>
                <a:latin typeface="Inter"/>
                <a:ea typeface="Inter"/>
                <a:cs typeface="Inter"/>
                <a:sym typeface="Inter"/>
              </a:rPr>
              <a:t>Run: 20</a:t>
            </a:r>
            <a:endParaRPr sz="1200">
              <a:solidFill>
                <a:srgbClr val="475067"/>
              </a:solidFill>
              <a:latin typeface="Inter"/>
              <a:ea typeface="Inter"/>
              <a:cs typeface="Inter"/>
              <a:sym typeface="Inte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fe1c8cd082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fe1c8cd082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fe1c8cd082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fe1c8cd082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fe1c8cd082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fe1c8cd082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fe1c8cd08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fe1c8cd08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fe1c8cd082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fe1c8cd082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475067"/>
              </a:buClr>
              <a:buSzPts val="1200"/>
              <a:buFont typeface="Inter"/>
              <a:buChar char="●"/>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fe377086fa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fe377086fa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fe377086fa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fe377086fa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fe377086fa_2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fe377086fa_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fe377086fa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fe377086fa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fe377086fa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fe377086fa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 Checking if the agent correctly introduced themselves as calling from CompareMortgages and correctly set the context that it was regarding an inquiry started on the website.</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 The prompt is also checking whether the lead was confused and had to re-verify who the person is</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fe377086fa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fe377086fa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Inter"/>
                <a:ea typeface="Inter"/>
                <a:cs typeface="Inter"/>
                <a:sym typeface="Inter"/>
              </a:rPr>
              <a:t>- Checking to see if the agent allowed the User to explain their situation and understood them before progressing</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200"/>
              <a:t>- Expectation: In this part of the script, the Agent should allow the User to communicate their plan and current situation.</a:t>
            </a:r>
            <a:endParaRPr sz="1200"/>
          </a:p>
          <a:p>
            <a:pPr indent="0" lvl="0" marL="0" rtl="0" algn="l">
              <a:spcBef>
                <a:spcPts val="0"/>
              </a:spcBef>
              <a:spcAft>
                <a:spcPts val="0"/>
              </a:spcAft>
              <a:buNone/>
            </a:pPr>
            <a:r>
              <a:rPr lang="en" sz="1200"/>
              <a:t>- Score: Give score of 1 if the agent allowed the User to explain their situation and understood them. Give score of 0 if the Agent didn't make any attempts to understand the User's current situation. Respond "unclear" if it cannot be determined.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fe377086fa_2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fe377086fa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When validating eligibility there are two paths the Agent can take. If the Agent determines the User is not meeting the requirements they do not need to validate credit, postal code or other details. If the Agent determines User did meet basic requirements, they are to properly validate eligibility. Note that the Agents may have some context on the type of mortgage application the User is inquiring about prior to the call.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"Perfect! I can definitely have a couple of our partners reach out to you, once I confirm a few simple details: Are you looking to renew, purchase or refinance a home? How would you rate your credit fair, good, excellent, and What is the postal code for the home?"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Expectation: Here the agent is to validate the customers eligibility before transitioning to the mortgage advisor.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Score: Give score of 1 if the agent attempted to validate eligibility using a few questions. Give score of 0 if the Agent didn't make any attempts to validate User's before transfering. Respond "unclear" if it cannot be determined. Respond "no_need_to_validate" if the User doesn't meet the basic requirements.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fe377086fa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fe377086fa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providing clear steps there are two paths the Agent can take. If the Agent determines the customer is not eligible they are to briefly mention a callback from a partner or a different bank and politely end the call. If the Agent determines they were eligible, they are to properly set the context for the transfer to a mortgage advisor.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Agent determines User IS not Eligible: "No worries, I will make a note here and have our team or partner [BANK NAME (S)] give you a call back and follow up in [TIMEFRAME]. Thank you for your time. Have a great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Agent determines User IS Eligible: "Great news! Along with having a couple partners that will reach out, I have our elite partner who is the Canadian Lending Associations #1 ranked lender in 2023. I’m going to get a licensed mortgage advisor from Nesto on the line for you right now, can you bear with me a moment?"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Expectation: The agent is expected to use one of the two variations above depending on the eligibility of the User. The phrasing doesn't have to be verbatim but should be aligned with either of the responses.</a:t>
            </a:r>
            <a:endParaRPr/>
          </a:p>
          <a:p>
            <a:pPr indent="0" lvl="0" marL="0" rtl="0" algn="l">
              <a:spcBef>
                <a:spcPts val="0"/>
              </a:spcBef>
              <a:spcAft>
                <a:spcPts val="0"/>
              </a:spcAft>
              <a:buNone/>
            </a:pPr>
            <a:r>
              <a:rPr lang="en"/>
              <a:t>- Score: Give score of 1 if the agent correctly provided the next steps and mentioned a parter will reach out or a mortgage advisor will help them. If User is Eligible, the agent should also try their best to emphasize credentials if being transferred. If User is not Eligible, the agent should have ended the call politely. Give score of 0 ONLY if the Agent failed to set any context on next steps. Respond "unclear" if it cannot be determined.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fe377086fa_2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fe377086fa_2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melissa.mckenzie1%40nesto.ca%3A%3Afalse&amp;showDuplicates=true&amp;showLabeled=tru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melissa.mckenzie1%40nesto.ca%3A%3Afalse&amp;showDuplicates=true&amp;showLabeled=tru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melissa.mckenzie1%40nesto.ca%3A%3Afalse&amp;showDuplicates=true&amp;showLabeled=tru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melissa.mckenzie1%40nesto.ca%3A%3Afalse&amp;showDuplicates=true&amp;showLabeled=tru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navraj%40nesto.ca%3A%3Afalse&amp;showDuplicates=true&amp;showLabeled=tru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navraj%40nesto.ca%3A%3Afalse&amp;showDuplicates=true&amp;showLabeled=tru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navraj%40nesto.ca%3A%3Afalse&amp;showDuplicates=true&amp;showLabeled=true" TargetMode="Externa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navraj%40nesto.ca%3A%3Afalse&amp;showDuplicates=true&amp;showLabeled=tru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navraj%40nesto.ca%3A%3Afalse&amp;showDuplicates=true&amp;showLabeled=tru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hyperlink" Target="https://humanfirst.nesto.ca/playbooks/playbook-HOMHJT7IGREDBP4WDOMATDXD/explore/utterances?namespace=nesto&amp;intentId=intent-EPO6IRKG7BAJPMKPJCE7XEFX&amp;dataType=unlabeled&amp;dataView=data&amp;dataTabId=data-58de7dee-c147-409f-aba8-b4622c79917d&amp;groupBy=conversation&amp;metadataFilter=agent_id%3A%3A0%3A%3Anavraj%40nesto.ca%3A%3Afalse&amp;showDuplicates=true&amp;showLabeled=tru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SDR Script</a:t>
            </a:r>
            <a:endParaRPr sz="3600">
              <a:solidFill>
                <a:schemeClr val="lt1"/>
              </a:solidFill>
              <a:latin typeface="Manrope SemiBold"/>
              <a:ea typeface="Manrope SemiBold"/>
              <a:cs typeface="Manrope SemiBold"/>
              <a:sym typeface="Manrope SemiBold"/>
            </a:endParaRPr>
          </a:p>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Adherence</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3" name="Google Shape;143;p37"/>
          <p:cNvSpPr txBox="1"/>
          <p:nvPr>
            <p:ph idx="1" type="body"/>
          </p:nvPr>
        </p:nvSpPr>
        <p:spPr>
          <a:xfrm>
            <a:off x="557875" y="1236700"/>
            <a:ext cx="71115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Recap status goals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Overview of Compare Mortgages outbound call guidance compliance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Detailed coaching examples on compliance for</a:t>
            </a:r>
            <a:endParaRPr/>
          </a:p>
          <a:p>
            <a:pPr indent="0" lvl="0" marL="914400" rtl="0" algn="l">
              <a:spcBef>
                <a:spcPts val="0"/>
              </a:spcBef>
              <a:spcAft>
                <a:spcPts val="0"/>
              </a:spcAft>
              <a:buNone/>
            </a:pPr>
            <a:r>
              <a:t/>
            </a:r>
            <a:endParaRPr/>
          </a:p>
          <a:p>
            <a:pPr indent="-317500" lvl="1" marL="914400" rtl="0" algn="l">
              <a:spcBef>
                <a:spcPts val="0"/>
              </a:spcBef>
              <a:spcAft>
                <a:spcPts val="0"/>
              </a:spcAft>
              <a:buSzPts val="1400"/>
              <a:buChar char="○"/>
            </a:pPr>
            <a:r>
              <a:rPr lang="en"/>
              <a:t>Melissa - a “room for improvement”</a:t>
            </a:r>
            <a:endParaRPr/>
          </a:p>
          <a:p>
            <a:pPr indent="0" lvl="0" marL="914400" rtl="0" algn="l">
              <a:spcBef>
                <a:spcPts val="0"/>
              </a:spcBef>
              <a:spcAft>
                <a:spcPts val="0"/>
              </a:spcAft>
              <a:buNone/>
            </a:pPr>
            <a:r>
              <a:t/>
            </a:r>
            <a:endParaRPr/>
          </a:p>
          <a:p>
            <a:pPr indent="-317500" lvl="1" marL="914400" rtl="0" algn="l">
              <a:spcBef>
                <a:spcPts val="0"/>
              </a:spcBef>
              <a:spcAft>
                <a:spcPts val="0"/>
              </a:spcAft>
              <a:buSzPts val="1400"/>
              <a:buChar char="○"/>
            </a:pPr>
            <a:r>
              <a:rPr lang="en"/>
              <a:t>Navraj - higher performance - still things could tweak.</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Optional deep dive on method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Status</a:t>
            </a:r>
            <a:endParaRPr/>
          </a:p>
        </p:txBody>
      </p:sp>
      <p:pic>
        <p:nvPicPr>
          <p:cNvPr id="149" name="Google Shape;149;p38"/>
          <p:cNvPicPr preferRelativeResize="0"/>
          <p:nvPr/>
        </p:nvPicPr>
        <p:blipFill>
          <a:blip r:embed="rId3">
            <a:alphaModFix/>
          </a:blip>
          <a:stretch>
            <a:fillRect/>
          </a:stretch>
        </p:blipFill>
        <p:spPr>
          <a:xfrm>
            <a:off x="4936425" y="735400"/>
            <a:ext cx="3443948" cy="3853850"/>
          </a:xfrm>
          <a:prstGeom prst="rect">
            <a:avLst/>
          </a:prstGeom>
          <a:noFill/>
          <a:ln cap="flat" cmpd="sng" w="9525">
            <a:solidFill>
              <a:schemeClr val="dk1"/>
            </a:solidFill>
            <a:prstDash val="solid"/>
            <a:round/>
            <a:headEnd len="sm" w="sm" type="none"/>
            <a:tailEnd len="sm" w="sm" type="none"/>
          </a:ln>
        </p:spPr>
      </p:pic>
      <p:sp>
        <p:nvSpPr>
          <p:cNvPr id="150" name="Google Shape;150;p38"/>
          <p:cNvSpPr/>
          <p:nvPr/>
        </p:nvSpPr>
        <p:spPr>
          <a:xfrm>
            <a:off x="588785" y="1429325"/>
            <a:ext cx="781747" cy="1218458"/>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3</a:t>
            </a:r>
          </a:p>
        </p:txBody>
      </p:sp>
      <p:sp>
        <p:nvSpPr>
          <p:cNvPr id="151" name="Google Shape;151;p38"/>
          <p:cNvSpPr txBox="1"/>
          <p:nvPr/>
        </p:nvSpPr>
        <p:spPr>
          <a:xfrm>
            <a:off x="1456000" y="2099650"/>
            <a:ext cx="1704000" cy="5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days in with data and model</a:t>
            </a:r>
            <a:endParaRPr/>
          </a:p>
        </p:txBody>
      </p:sp>
      <p:sp>
        <p:nvSpPr>
          <p:cNvPr id="152" name="Google Shape;152;p38"/>
          <p:cNvSpPr/>
          <p:nvPr/>
        </p:nvSpPr>
        <p:spPr>
          <a:xfrm>
            <a:off x="4098925" y="1429325"/>
            <a:ext cx="1150200" cy="411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38"/>
          <p:cNvSpPr txBox="1"/>
          <p:nvPr/>
        </p:nvSpPr>
        <p:spPr>
          <a:xfrm>
            <a:off x="512100" y="3206900"/>
            <a:ext cx="3945600" cy="5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Deep dive into findings around consistency to prescribed playbook.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159" name="Google Shape;159;p39"/>
          <p:cNvSpPr txBox="1"/>
          <p:nvPr>
            <p:ph idx="1" type="body"/>
          </p:nvPr>
        </p:nvSpPr>
        <p:spPr>
          <a:xfrm>
            <a:off x="488725" y="984850"/>
            <a:ext cx="39039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Focused on Compare Mortgages campaign calls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Prompt is trying to evaluate and score how best an SDR adheres to the outlined script per conversation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Total of 268 calls across EN / FR with majority in French</a:t>
            </a:r>
            <a:endParaRPr/>
          </a:p>
          <a:p>
            <a:pPr indent="0" lvl="0" marL="0" rtl="0" algn="l">
              <a:spcBef>
                <a:spcPts val="0"/>
              </a:spcBef>
              <a:spcAft>
                <a:spcPts val="0"/>
              </a:spcAft>
              <a:buNone/>
            </a:pPr>
            <a:r>
              <a:t/>
            </a:r>
            <a:endParaRPr/>
          </a:p>
        </p:txBody>
      </p:sp>
      <p:pic>
        <p:nvPicPr>
          <p:cNvPr id="160" name="Google Shape;160;p39"/>
          <p:cNvPicPr preferRelativeResize="0"/>
          <p:nvPr/>
        </p:nvPicPr>
        <p:blipFill>
          <a:blip r:embed="rId3">
            <a:alphaModFix/>
          </a:blip>
          <a:stretch>
            <a:fillRect/>
          </a:stretch>
        </p:blipFill>
        <p:spPr>
          <a:xfrm>
            <a:off x="743725" y="3228050"/>
            <a:ext cx="2731025" cy="1000525"/>
          </a:xfrm>
          <a:prstGeom prst="rect">
            <a:avLst/>
          </a:prstGeom>
          <a:noFill/>
          <a:ln cap="flat" cmpd="sng" w="9525">
            <a:solidFill>
              <a:schemeClr val="dk1"/>
            </a:solidFill>
            <a:prstDash val="solid"/>
            <a:round/>
            <a:headEnd len="sm" w="sm" type="none"/>
            <a:tailEnd len="sm" w="sm" type="none"/>
          </a:ln>
        </p:spPr>
      </p:pic>
      <p:pic>
        <p:nvPicPr>
          <p:cNvPr id="161" name="Google Shape;161;p39"/>
          <p:cNvPicPr preferRelativeResize="0"/>
          <p:nvPr/>
        </p:nvPicPr>
        <p:blipFill>
          <a:blip r:embed="rId4">
            <a:alphaModFix/>
          </a:blip>
          <a:stretch>
            <a:fillRect/>
          </a:stretch>
        </p:blipFill>
        <p:spPr>
          <a:xfrm>
            <a:off x="4702825" y="984850"/>
            <a:ext cx="4267201" cy="3348648"/>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4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68" name="Google Shape;168;p4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How well are they…</a:t>
            </a:r>
            <a:endParaRPr sz="3500"/>
          </a:p>
        </p:txBody>
      </p:sp>
      <p:sp>
        <p:nvSpPr>
          <p:cNvPr id="169" name="Google Shape;169;p40"/>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sp>
        <p:nvSpPr>
          <p:cNvPr id="170" name="Google Shape;170;p40"/>
          <p:cNvSpPr txBox="1"/>
          <p:nvPr>
            <p:ph idx="1" type="body"/>
          </p:nvPr>
        </p:nvSpPr>
        <p:spPr>
          <a:xfrm>
            <a:off x="512100" y="1412200"/>
            <a:ext cx="39039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Giving the correct specified introduction.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Understanding the user Situation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Validating the user’s </a:t>
            </a:r>
            <a:r>
              <a:rPr lang="en"/>
              <a:t>eligibility</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Confirmining clear next steps with the prescribed eminence emphasis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6" name="Google Shape;176;p4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77" name="Google Shape;177;p41"/>
          <p:cNvSpPr txBox="1"/>
          <p:nvPr/>
        </p:nvSpPr>
        <p:spPr>
          <a:xfrm>
            <a:off x="1970613" y="38078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Across 268 calls</a:t>
            </a:r>
            <a:endParaRPr sz="800">
              <a:solidFill>
                <a:srgbClr val="475067"/>
              </a:solidFill>
            </a:endParaRPr>
          </a:p>
        </p:txBody>
      </p:sp>
      <p:pic>
        <p:nvPicPr>
          <p:cNvPr id="178" name="Google Shape;178;p41"/>
          <p:cNvPicPr preferRelativeResize="0"/>
          <p:nvPr/>
        </p:nvPicPr>
        <p:blipFill>
          <a:blip r:embed="rId3">
            <a:alphaModFix/>
          </a:blip>
          <a:stretch>
            <a:fillRect/>
          </a:stretch>
        </p:blipFill>
        <p:spPr>
          <a:xfrm>
            <a:off x="470525" y="152027"/>
            <a:ext cx="7607599" cy="4950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4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185" name="Google Shape;185;p42"/>
          <p:cNvSpPr txBox="1"/>
          <p:nvPr>
            <p:ph type="title"/>
          </p:nvPr>
        </p:nvSpPr>
        <p:spPr>
          <a:xfrm>
            <a:off x="512100" y="319450"/>
            <a:ext cx="83253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Average Agent Scores by Call Count</a:t>
            </a:r>
            <a:endParaRPr sz="3500"/>
          </a:p>
        </p:txBody>
      </p:sp>
      <p:sp>
        <p:nvSpPr>
          <p:cNvPr id="186" name="Google Shape;186;p42"/>
          <p:cNvSpPr txBox="1"/>
          <p:nvPr/>
        </p:nvSpPr>
        <p:spPr>
          <a:xfrm>
            <a:off x="2954549" y="3693950"/>
            <a:ext cx="3234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Averaged Across Agents - Sorted by Best Average Score</a:t>
            </a:r>
            <a:endParaRPr sz="800">
              <a:solidFill>
                <a:srgbClr val="475067"/>
              </a:solidFill>
            </a:endParaRPr>
          </a:p>
        </p:txBody>
      </p:sp>
      <p:pic>
        <p:nvPicPr>
          <p:cNvPr id="187" name="Google Shape;187;p42"/>
          <p:cNvPicPr preferRelativeResize="0"/>
          <p:nvPr/>
        </p:nvPicPr>
        <p:blipFill>
          <a:blip r:embed="rId3">
            <a:alphaModFix/>
          </a:blip>
          <a:stretch>
            <a:fillRect/>
          </a:stretch>
        </p:blipFill>
        <p:spPr>
          <a:xfrm>
            <a:off x="355388" y="1449550"/>
            <a:ext cx="8534524" cy="224440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91" name="Shape 191"/>
        <p:cNvGrpSpPr/>
        <p:nvPr/>
      </p:nvGrpSpPr>
      <p:grpSpPr>
        <a:xfrm>
          <a:off x="0" y="0"/>
          <a:ext cx="0" cy="0"/>
          <a:chOff x="0" y="0"/>
          <a:chExt cx="0" cy="0"/>
        </a:xfrm>
      </p:grpSpPr>
      <p:pic>
        <p:nvPicPr>
          <p:cNvPr id="192" name="Google Shape;192;p43"/>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93" name="Google Shape;193;p43"/>
          <p:cNvSpPr txBox="1"/>
          <p:nvPr/>
        </p:nvSpPr>
        <p:spPr>
          <a:xfrm>
            <a:off x="333650" y="1925250"/>
            <a:ext cx="82896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Example - Room to improve</a:t>
            </a:r>
            <a:endParaRPr sz="3600">
              <a:solidFill>
                <a:schemeClr val="lt1"/>
              </a:solidFill>
              <a:latin typeface="Manrope SemiBold"/>
              <a:ea typeface="Manrope SemiBold"/>
              <a:cs typeface="Manrope SemiBold"/>
              <a:sym typeface="Manrope SemiBold"/>
            </a:endParaRPr>
          </a:p>
        </p:txBody>
      </p:sp>
      <p:pic>
        <p:nvPicPr>
          <p:cNvPr id="194" name="Google Shape;194;p43"/>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95" name="Google Shape;19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4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02" name="Google Shape;202;p44"/>
          <p:cNvSpPr txBox="1"/>
          <p:nvPr/>
        </p:nvSpPr>
        <p:spPr>
          <a:xfrm>
            <a:off x="1970613" y="38078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Across 268 calls</a:t>
            </a:r>
            <a:endParaRPr sz="800">
              <a:solidFill>
                <a:srgbClr val="475067"/>
              </a:solidFill>
            </a:endParaRPr>
          </a:p>
        </p:txBody>
      </p:sp>
      <p:pic>
        <p:nvPicPr>
          <p:cNvPr id="203" name="Google Shape;203;p44"/>
          <p:cNvPicPr preferRelativeResize="0"/>
          <p:nvPr/>
        </p:nvPicPr>
        <p:blipFill>
          <a:blip r:embed="rId3">
            <a:alphaModFix/>
          </a:blip>
          <a:stretch>
            <a:fillRect/>
          </a:stretch>
        </p:blipFill>
        <p:spPr>
          <a:xfrm>
            <a:off x="470525" y="152027"/>
            <a:ext cx="7607599" cy="4950800"/>
          </a:xfrm>
          <a:prstGeom prst="rect">
            <a:avLst/>
          </a:prstGeom>
          <a:noFill/>
          <a:ln>
            <a:noFill/>
          </a:ln>
        </p:spPr>
      </p:pic>
      <p:sp>
        <p:nvSpPr>
          <p:cNvPr id="204" name="Google Shape;204;p44"/>
          <p:cNvSpPr/>
          <p:nvPr/>
        </p:nvSpPr>
        <p:spPr>
          <a:xfrm>
            <a:off x="3991575" y="581750"/>
            <a:ext cx="503700" cy="3899700"/>
          </a:xfrm>
          <a:prstGeom prst="rect">
            <a:avLst/>
          </a:prstGeom>
          <a:noFill/>
          <a:ln cap="flat" cmpd="sng" w="9525">
            <a:solidFill>
              <a:srgbClr val="FF99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Personalised Report</a:t>
            </a:r>
            <a:endParaRPr/>
          </a:p>
        </p:txBody>
      </p:sp>
      <p:pic>
        <p:nvPicPr>
          <p:cNvPr id="210" name="Google Shape;210;p45"/>
          <p:cNvPicPr preferRelativeResize="0"/>
          <p:nvPr/>
        </p:nvPicPr>
        <p:blipFill>
          <a:blip r:embed="rId3">
            <a:alphaModFix/>
          </a:blip>
          <a:stretch>
            <a:fillRect/>
          </a:stretch>
        </p:blipFill>
        <p:spPr>
          <a:xfrm>
            <a:off x="3011875" y="2146037"/>
            <a:ext cx="2926700" cy="1875275"/>
          </a:xfrm>
          <a:prstGeom prst="rect">
            <a:avLst/>
          </a:prstGeom>
          <a:noFill/>
          <a:ln cap="flat" cmpd="sng" w="9525">
            <a:solidFill>
              <a:schemeClr val="dk1"/>
            </a:solidFill>
            <a:prstDash val="solid"/>
            <a:round/>
            <a:headEnd len="sm" w="sm" type="none"/>
            <a:tailEnd len="sm" w="sm" type="none"/>
          </a:ln>
        </p:spPr>
      </p:pic>
      <p:sp>
        <p:nvSpPr>
          <p:cNvPr id="211" name="Google Shape;211;p45"/>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sp>
        <p:nvSpPr>
          <p:cNvPr id="212" name="Google Shape;212;p45"/>
          <p:cNvSpPr txBox="1"/>
          <p:nvPr/>
        </p:nvSpPr>
        <p:spPr>
          <a:xfrm>
            <a:off x="3706925" y="14793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3 calls</a:t>
            </a:r>
            <a:endParaRPr sz="800">
              <a:solidFill>
                <a:srgbClr val="475067"/>
              </a:solidFill>
            </a:endParaRPr>
          </a:p>
          <a:p>
            <a:pPr indent="0" lvl="0" marL="0" rtl="0" algn="ctr">
              <a:spcBef>
                <a:spcPts val="0"/>
              </a:spcBef>
              <a:spcAft>
                <a:spcPts val="0"/>
              </a:spcAft>
              <a:buNone/>
            </a:pPr>
            <a:r>
              <a:rPr lang="en" sz="800">
                <a:solidFill>
                  <a:srgbClr val="475067"/>
                </a:solidFill>
              </a:rPr>
              <a:t>Scoring perfect in C2 and C3</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 and C4</a:t>
            </a:r>
            <a:endParaRPr sz="8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213" name="Google Shape;213;p45"/>
          <p:cNvSpPr txBox="1"/>
          <p:nvPr/>
        </p:nvSpPr>
        <p:spPr>
          <a:xfrm>
            <a:off x="3132125" y="39934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melissa.mckenzie1@nesto.ca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call_id=600000001845604.0</a:t>
            </a:r>
            <a:endParaRPr>
              <a:solidFill>
                <a:schemeClr val="accent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6"/>
          <p:cNvSpPr/>
          <p:nvPr/>
        </p:nvSpPr>
        <p:spPr>
          <a:xfrm>
            <a:off x="3139100" y="3585850"/>
            <a:ext cx="5559000" cy="12990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3. Clarify the Transfer Process: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 Current: "So just hold the line I'll get you right over to an agent, and then I'll have another lender get Ahold of you. Okay?"</a:t>
            </a:r>
            <a:endParaRPr sz="800"/>
          </a:p>
          <a:p>
            <a:pPr indent="0" lvl="0" marL="0" rtl="0" algn="l">
              <a:spcBef>
                <a:spcPts val="0"/>
              </a:spcBef>
              <a:spcAft>
                <a:spcPts val="0"/>
              </a:spcAft>
              <a:buNone/>
            </a:pPr>
            <a:r>
              <a:rPr lang="en" sz="800"/>
              <a:t>• Recommended: "I'll now transfer you to a Nesto mortgage advisor who will provide you with a detailed estimate and discuss next steps. Additionally, another advisor will reach out to you soon, allowing you to compare options and ensure you get the best rate. Is that okay with you?"</a:t>
            </a:r>
            <a:endParaRPr sz="800"/>
          </a:p>
          <a:p>
            <a:pPr indent="0" lvl="0" marL="0" rtl="0" algn="l">
              <a:spcBef>
                <a:spcPts val="0"/>
              </a:spcBef>
              <a:spcAft>
                <a:spcPts val="0"/>
              </a:spcAft>
              <a:buNone/>
            </a:pPr>
            <a:r>
              <a:rPr lang="en" sz="800"/>
              <a:t>- Clearly explain the two-step process (immediate transfer and follow-up call) to set proper expectations and highlight the benefit of multiple options.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
        <p:nvSpPr>
          <p:cNvPr id="219" name="Google Shape;219;p4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 Report</a:t>
            </a:r>
            <a:endParaRPr/>
          </a:p>
        </p:txBody>
      </p:sp>
      <p:sp>
        <p:nvSpPr>
          <p:cNvPr id="220" name="Google Shape;220;p46"/>
          <p:cNvSpPr/>
          <p:nvPr/>
        </p:nvSpPr>
        <p:spPr>
          <a:xfrm>
            <a:off x="312050" y="1087200"/>
            <a:ext cx="2674800" cy="1275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Overall Performance</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Melissa demonstrates a mixed performance across her calls. While she shows strengths in understanding user situations and validating eligibility, there are significant areas for improvement, particularly in her introduction and emphasis on Nesto's credentials.</a:t>
            </a:r>
            <a:endParaRPr sz="800"/>
          </a:p>
          <a:p>
            <a:pPr indent="0" lvl="0" marL="0" rtl="0" algn="l">
              <a:spcBef>
                <a:spcPts val="0"/>
              </a:spcBef>
              <a:spcAft>
                <a:spcPts val="0"/>
              </a:spcAft>
              <a:buNone/>
            </a:pPr>
            <a:r>
              <a:t/>
            </a:r>
            <a:endParaRPr b="1" sz="800"/>
          </a:p>
        </p:txBody>
      </p:sp>
      <p:sp>
        <p:nvSpPr>
          <p:cNvPr id="221" name="Google Shape;221;p46"/>
          <p:cNvSpPr/>
          <p:nvPr/>
        </p:nvSpPr>
        <p:spPr>
          <a:xfrm>
            <a:off x="312050" y="3616150"/>
            <a:ext cx="2674800" cy="1238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Areas for Improvement</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1. Consistent and proper introduction</a:t>
            </a:r>
            <a:endParaRPr sz="800"/>
          </a:p>
          <a:p>
            <a:pPr indent="0" lvl="0" marL="0" rtl="0" algn="l">
              <a:spcBef>
                <a:spcPts val="0"/>
              </a:spcBef>
              <a:spcAft>
                <a:spcPts val="0"/>
              </a:spcAft>
              <a:buNone/>
            </a:pPr>
            <a:r>
              <a:rPr lang="en" sz="800"/>
              <a:t>2. Setting the context of the call by mentioning the website inquiry</a:t>
            </a:r>
            <a:endParaRPr sz="800"/>
          </a:p>
          <a:p>
            <a:pPr indent="0" lvl="0" marL="0" rtl="0" algn="l">
              <a:spcBef>
                <a:spcPts val="0"/>
              </a:spcBef>
              <a:spcAft>
                <a:spcPts val="0"/>
              </a:spcAft>
              <a:buNone/>
            </a:pPr>
            <a:r>
              <a:rPr lang="en" sz="800"/>
              <a:t>3. Emphasizing Nesto's credentials and partnership</a:t>
            </a:r>
            <a:endParaRPr sz="800"/>
          </a:p>
          <a:p>
            <a:pPr indent="0" lvl="0" marL="0" rtl="0" algn="l">
              <a:spcBef>
                <a:spcPts val="0"/>
              </a:spcBef>
              <a:spcAft>
                <a:spcPts val="0"/>
              </a:spcAft>
              <a:buNone/>
            </a:pPr>
            <a:r>
              <a:rPr lang="en" sz="800"/>
              <a:t>4. Clearer explanation of the transfer process to Nesto advisors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
        <p:nvSpPr>
          <p:cNvPr id="222" name="Google Shape;222;p46"/>
          <p:cNvSpPr/>
          <p:nvPr/>
        </p:nvSpPr>
        <p:spPr>
          <a:xfrm>
            <a:off x="312050" y="2527175"/>
            <a:ext cx="2674800" cy="924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Strengths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1. Effectively allows users to explain their situations</a:t>
            </a:r>
            <a:endParaRPr sz="800"/>
          </a:p>
          <a:p>
            <a:pPr indent="0" lvl="0" marL="0" rtl="0" algn="l">
              <a:spcBef>
                <a:spcPts val="0"/>
              </a:spcBef>
              <a:spcAft>
                <a:spcPts val="0"/>
              </a:spcAft>
              <a:buNone/>
            </a:pPr>
            <a:r>
              <a:rPr lang="en" sz="800"/>
              <a:t>2. Asks relevant questions to validate eligibility</a:t>
            </a:r>
            <a:endParaRPr sz="800"/>
          </a:p>
          <a:p>
            <a:pPr indent="0" lvl="0" marL="0" rtl="0" algn="l">
              <a:spcBef>
                <a:spcPts val="0"/>
              </a:spcBef>
              <a:spcAft>
                <a:spcPts val="0"/>
              </a:spcAft>
              <a:buNone/>
            </a:pPr>
            <a:r>
              <a:rPr lang="en" sz="800"/>
              <a:t>3. Provides clear next steps for most calls</a:t>
            </a:r>
            <a:endParaRPr sz="800"/>
          </a:p>
          <a:p>
            <a:pPr indent="0" lvl="0" marL="0" rtl="0" algn="l">
              <a:spcBef>
                <a:spcPts val="0"/>
              </a:spcBef>
              <a:spcAft>
                <a:spcPts val="0"/>
              </a:spcAft>
              <a:buNone/>
            </a:pPr>
            <a:r>
              <a:t/>
            </a:r>
            <a:endParaRPr b="1" sz="800"/>
          </a:p>
        </p:txBody>
      </p:sp>
      <p:sp>
        <p:nvSpPr>
          <p:cNvPr id="223" name="Google Shape;223;p46"/>
          <p:cNvSpPr/>
          <p:nvPr/>
        </p:nvSpPr>
        <p:spPr>
          <a:xfrm>
            <a:off x="3139100" y="1087200"/>
            <a:ext cx="5559000" cy="1129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1. Improve Introduction and Call Context:</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 Current: "Hi there. This is Melissa from Compare Mortgages. Are you looking at getting some different mortgage rates?"</a:t>
            </a:r>
            <a:endParaRPr sz="800"/>
          </a:p>
          <a:p>
            <a:pPr indent="0" lvl="0" marL="0" rtl="0" algn="l">
              <a:spcBef>
                <a:spcPts val="0"/>
              </a:spcBef>
              <a:spcAft>
                <a:spcPts val="0"/>
              </a:spcAft>
              <a:buNone/>
            </a:pPr>
            <a:r>
              <a:rPr lang="en" sz="800"/>
              <a:t>• Recommended: "Hello, this is Melissa calling from CompareMortgages.ca regarding the inquiry you started on our website about getting different mortgage rates. Is this a good time to talk?"</a:t>
            </a:r>
            <a:endParaRPr sz="800"/>
          </a:p>
          <a:p>
            <a:pPr indent="0" lvl="0" marL="0" rtl="0" algn="l">
              <a:spcBef>
                <a:spcPts val="0"/>
              </a:spcBef>
              <a:spcAft>
                <a:spcPts val="0"/>
              </a:spcAft>
              <a:buNone/>
            </a:pPr>
            <a:r>
              <a:rPr lang="en" sz="800"/>
              <a:t>- Always mention CompareMortgages.ca and reference the website inquiry to establish context and credibility.</a:t>
            </a:r>
            <a:endParaRPr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
        <p:nvSpPr>
          <p:cNvPr id="224" name="Google Shape;224;p46"/>
          <p:cNvSpPr/>
          <p:nvPr/>
        </p:nvSpPr>
        <p:spPr>
          <a:xfrm>
            <a:off x="3139100" y="2336525"/>
            <a:ext cx="5559000" cy="1129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2. Emphasize Nesto's Credentials: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 Current: "Can you just hold the line I'll? get you right over to one of our best agents. Okay?"</a:t>
            </a:r>
            <a:endParaRPr sz="800"/>
          </a:p>
          <a:p>
            <a:pPr indent="0" lvl="0" marL="0" rtl="0" algn="l">
              <a:spcBef>
                <a:spcPts val="0"/>
              </a:spcBef>
              <a:spcAft>
                <a:spcPts val="0"/>
              </a:spcAft>
              <a:buNone/>
            </a:pPr>
            <a:r>
              <a:rPr lang="en" sz="800"/>
              <a:t>• Recommended: "I'll now transfer you to one of our expert Nesto mortgage advisors. Nesto is our trusted partner known for their competitive rates and excellent service. They'll provide you with personalized advice and the best available rates."</a:t>
            </a:r>
            <a:endParaRPr sz="800"/>
          </a:p>
          <a:p>
            <a:pPr indent="0" lvl="0" marL="0" rtl="0" algn="l">
              <a:spcBef>
                <a:spcPts val="0"/>
              </a:spcBef>
              <a:spcAft>
                <a:spcPts val="0"/>
              </a:spcAft>
              <a:buNone/>
            </a:pPr>
            <a:r>
              <a:rPr lang="en" sz="800"/>
              <a:t>- Consistently highlight Nesto's expertise and partnership to build trust and set expectations.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 Coaching Tips</a:t>
            </a:r>
            <a:endParaRPr/>
          </a:p>
        </p:txBody>
      </p:sp>
      <p:pic>
        <p:nvPicPr>
          <p:cNvPr id="230" name="Google Shape;230;p47"/>
          <p:cNvPicPr preferRelativeResize="0"/>
          <p:nvPr/>
        </p:nvPicPr>
        <p:blipFill>
          <a:blip r:embed="rId3">
            <a:alphaModFix/>
          </a:blip>
          <a:stretch>
            <a:fillRect/>
          </a:stretch>
        </p:blipFill>
        <p:spPr>
          <a:xfrm>
            <a:off x="5908875" y="1924712"/>
            <a:ext cx="2926700" cy="1875275"/>
          </a:xfrm>
          <a:prstGeom prst="rect">
            <a:avLst/>
          </a:prstGeom>
          <a:noFill/>
          <a:ln cap="flat" cmpd="sng" w="9525">
            <a:solidFill>
              <a:schemeClr val="dk1"/>
            </a:solidFill>
            <a:prstDash val="solid"/>
            <a:round/>
            <a:headEnd len="sm" w="sm" type="none"/>
            <a:tailEnd len="sm" w="sm" type="none"/>
          </a:ln>
        </p:spPr>
      </p:pic>
      <p:sp>
        <p:nvSpPr>
          <p:cNvPr id="231" name="Google Shape;231;p47"/>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graphicFrame>
        <p:nvGraphicFramePr>
          <p:cNvPr id="232" name="Google Shape;232;p47"/>
          <p:cNvGraphicFramePr/>
          <p:nvPr/>
        </p:nvGraphicFramePr>
        <p:xfrm>
          <a:off x="205450" y="2337275"/>
          <a:ext cx="3000000" cy="3000000"/>
        </p:xfrm>
        <a:graphic>
          <a:graphicData uri="http://schemas.openxmlformats.org/drawingml/2006/table">
            <a:tbl>
              <a:tblPr>
                <a:noFill/>
                <a:tableStyleId>{385E58F0-B348-4383-A09C-207D46FD5A56}</a:tableStyleId>
              </a:tblPr>
              <a:tblGrid>
                <a:gridCol w="1380475"/>
                <a:gridCol w="4093375"/>
              </a:tblGrid>
              <a:tr h="15100">
                <a:tc>
                  <a:txBody>
                    <a:bodyPr/>
                    <a:lstStyle/>
                    <a:p>
                      <a:pPr indent="0" lvl="0" marL="0" rtl="0" algn="l">
                        <a:spcBef>
                          <a:spcPts val="0"/>
                        </a:spcBef>
                        <a:spcAft>
                          <a:spcPts val="0"/>
                        </a:spcAft>
                        <a:buNone/>
                      </a:pPr>
                      <a:r>
                        <a:rPr lang="en" sz="900">
                          <a:latin typeface="Inter"/>
                          <a:ea typeface="Inter"/>
                          <a:cs typeface="Inter"/>
                          <a:sym typeface="Inter"/>
                        </a:rPr>
                        <a:t>Correct Actions</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Allowed user to explain their situation, asked relevant questions to validate eligibility</a:t>
                      </a:r>
                      <a:endParaRPr sz="900">
                        <a:latin typeface="Inter"/>
                        <a:ea typeface="Inter"/>
                        <a:cs typeface="Inter"/>
                        <a:sym typeface="Inter"/>
                      </a:endParaRPr>
                    </a:p>
                  </a:txBody>
                  <a:tcPr marT="91425" marB="91425" marR="91425" marL="91425"/>
                </a:tc>
              </a:tr>
              <a:tr h="15100">
                <a:tc>
                  <a:txBody>
                    <a:bodyPr/>
                    <a:lstStyle/>
                    <a:p>
                      <a:pPr indent="0" lvl="0" marL="0" rtl="0" algn="l">
                        <a:spcBef>
                          <a:spcPts val="0"/>
                        </a:spcBef>
                        <a:spcAft>
                          <a:spcPts val="0"/>
                        </a:spcAft>
                        <a:buNone/>
                      </a:pPr>
                      <a:r>
                        <a:rPr lang="en" sz="900">
                          <a:latin typeface="Inter"/>
                          <a:ea typeface="Inter"/>
                          <a:cs typeface="Inter"/>
                          <a:sym typeface="Inter"/>
                        </a:rPr>
                        <a:t>Incorrect Actions</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Improper introduction, failed to set context for the call, did not emphasize Nesto's credentials or explain next steps clearly</a:t>
                      </a:r>
                      <a:endParaRPr sz="900">
                        <a:latin typeface="Inter"/>
                        <a:ea typeface="Inter"/>
                        <a:cs typeface="Inter"/>
                        <a:sym typeface="Inter"/>
                      </a:endParaRPr>
                    </a:p>
                  </a:txBody>
                  <a:tcPr marT="91425" marB="91425" marR="91425" marL="91425"/>
                </a:tc>
              </a:tr>
            </a:tbl>
          </a:graphicData>
        </a:graphic>
      </p:graphicFrame>
      <p:sp>
        <p:nvSpPr>
          <p:cNvPr id="233" name="Google Shape;233;p47"/>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3 calls</a:t>
            </a:r>
            <a:endParaRPr sz="800">
              <a:solidFill>
                <a:srgbClr val="475067"/>
              </a:solidFill>
            </a:endParaRPr>
          </a:p>
          <a:p>
            <a:pPr indent="0" lvl="0" marL="0" rtl="0" algn="ctr">
              <a:spcBef>
                <a:spcPts val="0"/>
              </a:spcBef>
              <a:spcAft>
                <a:spcPts val="0"/>
              </a:spcAft>
              <a:buNone/>
            </a:pPr>
            <a:r>
              <a:rPr lang="en" sz="800">
                <a:solidFill>
                  <a:srgbClr val="475067"/>
                </a:solidFill>
              </a:rPr>
              <a:t>Scoring perfect in C2 and C3</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 and C4</a:t>
            </a:r>
            <a:endParaRPr sz="8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234" name="Google Shape;234;p47"/>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melissa.mckenzie1@nesto.ca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call_id=600000001845604.0</a:t>
            </a:r>
            <a:endParaRPr>
              <a:solidFill>
                <a:schemeClr val="accent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 Coaching Tips</a:t>
            </a:r>
            <a:endParaRPr/>
          </a:p>
        </p:txBody>
      </p:sp>
      <p:pic>
        <p:nvPicPr>
          <p:cNvPr id="240" name="Google Shape;240;p48"/>
          <p:cNvPicPr preferRelativeResize="0"/>
          <p:nvPr/>
        </p:nvPicPr>
        <p:blipFill>
          <a:blip r:embed="rId3">
            <a:alphaModFix/>
          </a:blip>
          <a:stretch>
            <a:fillRect/>
          </a:stretch>
        </p:blipFill>
        <p:spPr>
          <a:xfrm>
            <a:off x="5908875" y="1924712"/>
            <a:ext cx="2926700" cy="1875275"/>
          </a:xfrm>
          <a:prstGeom prst="rect">
            <a:avLst/>
          </a:prstGeom>
          <a:noFill/>
          <a:ln cap="flat" cmpd="sng" w="9525">
            <a:solidFill>
              <a:schemeClr val="dk1"/>
            </a:solidFill>
            <a:prstDash val="solid"/>
            <a:round/>
            <a:headEnd len="sm" w="sm" type="none"/>
            <a:tailEnd len="sm" w="sm" type="none"/>
          </a:ln>
        </p:spPr>
      </p:pic>
      <p:sp>
        <p:nvSpPr>
          <p:cNvPr id="241" name="Google Shape;241;p48"/>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graphicFrame>
        <p:nvGraphicFramePr>
          <p:cNvPr id="242" name="Google Shape;242;p48"/>
          <p:cNvGraphicFramePr/>
          <p:nvPr/>
        </p:nvGraphicFramePr>
        <p:xfrm>
          <a:off x="250050" y="1808413"/>
          <a:ext cx="3000000" cy="3000000"/>
        </p:xfrm>
        <a:graphic>
          <a:graphicData uri="http://schemas.openxmlformats.org/drawingml/2006/table">
            <a:tbl>
              <a:tblPr>
                <a:noFill/>
                <a:tableStyleId>{385E58F0-B348-4383-A09C-207D46FD5A56}</a:tableStyleId>
              </a:tblPr>
              <a:tblGrid>
                <a:gridCol w="1384700"/>
                <a:gridCol w="4105875"/>
              </a:tblGrid>
              <a:tr h="308625">
                <a:tc>
                  <a:txBody>
                    <a:bodyPr/>
                    <a:lstStyle/>
                    <a:p>
                      <a:pPr indent="0" lvl="0" marL="0" rtl="0" algn="l">
                        <a:spcBef>
                          <a:spcPts val="0"/>
                        </a:spcBef>
                        <a:spcAft>
                          <a:spcPts val="0"/>
                        </a:spcAft>
                        <a:buNone/>
                      </a:pPr>
                      <a:r>
                        <a:rPr lang="en" sz="900">
                          <a:latin typeface="Inter"/>
                          <a:ea typeface="Inter"/>
                          <a:cs typeface="Inter"/>
                          <a:sym typeface="Inter"/>
                        </a:rPr>
                        <a:t>C1 - Score</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0</a:t>
                      </a:r>
                      <a:endParaRPr sz="900">
                        <a:latin typeface="Inter"/>
                        <a:ea typeface="Inter"/>
                        <a:cs typeface="Inter"/>
                        <a:sym typeface="Inter"/>
                      </a:endParaRPr>
                    </a:p>
                  </a:txBody>
                  <a:tcPr marT="91425" marB="91425" marR="91425" marL="91425"/>
                </a:tc>
              </a:tr>
              <a:tr h="733000">
                <a:tc>
                  <a:txBody>
                    <a:bodyPr/>
                    <a:lstStyle/>
                    <a:p>
                      <a:pPr indent="0" lvl="0" marL="0" rtl="0" algn="l">
                        <a:spcBef>
                          <a:spcPts val="0"/>
                        </a:spcBef>
                        <a:spcAft>
                          <a:spcPts val="0"/>
                        </a:spcAft>
                        <a:buNone/>
                      </a:pPr>
                      <a:r>
                        <a:rPr lang="en" sz="900">
                          <a:latin typeface="Inter"/>
                          <a:ea typeface="Inter"/>
                          <a:cs typeface="Inter"/>
                          <a:sym typeface="Inter"/>
                        </a:rPr>
                        <a:t>C1 - Reasoning</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The agent did not properly introduce themselves or set the context of the call. They did not mention that the call was regarding an inquiry started on the website, which is a key part of the expected introduction.</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595575">
                <a:tc>
                  <a:txBody>
                    <a:bodyPr/>
                    <a:lstStyle/>
                    <a:p>
                      <a:pPr indent="0" lvl="0" marL="0" rtl="0" algn="l">
                        <a:spcBef>
                          <a:spcPts val="0"/>
                        </a:spcBef>
                        <a:spcAft>
                          <a:spcPts val="0"/>
                        </a:spcAft>
                        <a:buNone/>
                      </a:pPr>
                      <a:r>
                        <a:rPr lang="en" sz="900">
                          <a:latin typeface="Inter"/>
                          <a:ea typeface="Inter"/>
                          <a:cs typeface="Inter"/>
                          <a:sym typeface="Inter"/>
                        </a:rPr>
                        <a:t>C1 - Snippet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“Hi there. This is Melissa from Compare Mortgages. Are you looking at getting some different mortgage rates?”</a:t>
                      </a:r>
                      <a:endParaRPr i="1"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638475">
                <a:tc>
                  <a:txBody>
                    <a:bodyPr/>
                    <a:lstStyle/>
                    <a:p>
                      <a:pPr indent="0" lvl="0" marL="0" rtl="0" algn="l">
                        <a:spcBef>
                          <a:spcPts val="0"/>
                        </a:spcBef>
                        <a:spcAft>
                          <a:spcPts val="0"/>
                        </a:spcAft>
                        <a:buNone/>
                      </a:pPr>
                      <a:r>
                        <a:rPr lang="en" sz="900">
                          <a:latin typeface="Inter"/>
                          <a:ea typeface="Inter"/>
                          <a:cs typeface="Inter"/>
                          <a:sym typeface="Inter"/>
                        </a:rPr>
                        <a:t>Expectation (per script)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“Hi is this [CLIENT NAME]? Hi, this is [AGENT NAME] calling you from</a:t>
                      </a:r>
                      <a:endParaRPr i="1" sz="900">
                        <a:latin typeface="Inter"/>
                        <a:ea typeface="Inter"/>
                        <a:cs typeface="Inter"/>
                        <a:sym typeface="Inter"/>
                      </a:endParaRPr>
                    </a:p>
                    <a:p>
                      <a:pPr indent="0" lvl="0" marL="0" rtl="0" algn="l">
                        <a:spcBef>
                          <a:spcPts val="0"/>
                        </a:spcBef>
                        <a:spcAft>
                          <a:spcPts val="0"/>
                        </a:spcAft>
                        <a:buNone/>
                      </a:pPr>
                      <a:r>
                        <a:rPr i="1" lang="en" sz="900">
                          <a:latin typeface="Inter"/>
                          <a:ea typeface="Inter"/>
                          <a:cs typeface="Inter"/>
                          <a:sym typeface="Inter"/>
                        </a:rPr>
                        <a:t>CompareMortgages.ca. I’m calling in regard to the inquiry that you started on our website.”</a:t>
                      </a:r>
                      <a:endParaRPr i="1" sz="900">
                        <a:latin typeface="Inter"/>
                        <a:ea typeface="Inter"/>
                        <a:cs typeface="Inter"/>
                        <a:sym typeface="Inter"/>
                      </a:endParaRPr>
                    </a:p>
                  </a:txBody>
                  <a:tcPr marT="91425" marB="91425" marR="91425" marL="91425"/>
                </a:tc>
              </a:tr>
            </a:tbl>
          </a:graphicData>
        </a:graphic>
      </p:graphicFrame>
      <p:sp>
        <p:nvSpPr>
          <p:cNvPr id="243" name="Google Shape;243;p48"/>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3 calls</a:t>
            </a:r>
            <a:endParaRPr sz="800">
              <a:solidFill>
                <a:srgbClr val="475067"/>
              </a:solidFill>
            </a:endParaRPr>
          </a:p>
          <a:p>
            <a:pPr indent="0" lvl="0" marL="0" rtl="0" algn="ctr">
              <a:spcBef>
                <a:spcPts val="0"/>
              </a:spcBef>
              <a:spcAft>
                <a:spcPts val="0"/>
              </a:spcAft>
              <a:buNone/>
            </a:pPr>
            <a:r>
              <a:rPr lang="en" sz="800">
                <a:solidFill>
                  <a:srgbClr val="475067"/>
                </a:solidFill>
              </a:rPr>
              <a:t>Scoring perfect in C2 and C3</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 and C4</a:t>
            </a:r>
            <a:endParaRPr sz="8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244" name="Google Shape;244;p48"/>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melissa.mckenzie1@nesto.ca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call_id=600000001845604.0</a:t>
            </a:r>
            <a:endParaRPr>
              <a:solidFill>
                <a:schemeClr val="accent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 Coaching Tips</a:t>
            </a:r>
            <a:endParaRPr/>
          </a:p>
        </p:txBody>
      </p:sp>
      <p:pic>
        <p:nvPicPr>
          <p:cNvPr id="250" name="Google Shape;250;p49"/>
          <p:cNvPicPr preferRelativeResize="0"/>
          <p:nvPr/>
        </p:nvPicPr>
        <p:blipFill>
          <a:blip r:embed="rId3">
            <a:alphaModFix/>
          </a:blip>
          <a:stretch>
            <a:fillRect/>
          </a:stretch>
        </p:blipFill>
        <p:spPr>
          <a:xfrm>
            <a:off x="5908875" y="1924712"/>
            <a:ext cx="2926700" cy="1875275"/>
          </a:xfrm>
          <a:prstGeom prst="rect">
            <a:avLst/>
          </a:prstGeom>
          <a:noFill/>
          <a:ln cap="flat" cmpd="sng" w="9525">
            <a:solidFill>
              <a:schemeClr val="dk1"/>
            </a:solidFill>
            <a:prstDash val="solid"/>
            <a:round/>
            <a:headEnd len="sm" w="sm" type="none"/>
            <a:tailEnd len="sm" w="sm" type="none"/>
          </a:ln>
        </p:spPr>
      </p:pic>
      <p:sp>
        <p:nvSpPr>
          <p:cNvPr id="251" name="Google Shape;251;p49"/>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graphicFrame>
        <p:nvGraphicFramePr>
          <p:cNvPr id="252" name="Google Shape;252;p49"/>
          <p:cNvGraphicFramePr/>
          <p:nvPr/>
        </p:nvGraphicFramePr>
        <p:xfrm>
          <a:off x="250050" y="1808413"/>
          <a:ext cx="3000000" cy="3000000"/>
        </p:xfrm>
        <a:graphic>
          <a:graphicData uri="http://schemas.openxmlformats.org/drawingml/2006/table">
            <a:tbl>
              <a:tblPr>
                <a:noFill/>
                <a:tableStyleId>{385E58F0-B348-4383-A09C-207D46FD5A56}</a:tableStyleId>
              </a:tblPr>
              <a:tblGrid>
                <a:gridCol w="1384700"/>
                <a:gridCol w="4105875"/>
              </a:tblGrid>
              <a:tr h="308625">
                <a:tc>
                  <a:txBody>
                    <a:bodyPr/>
                    <a:lstStyle/>
                    <a:p>
                      <a:pPr indent="0" lvl="0" marL="0" rtl="0" algn="l">
                        <a:spcBef>
                          <a:spcPts val="0"/>
                        </a:spcBef>
                        <a:spcAft>
                          <a:spcPts val="0"/>
                        </a:spcAft>
                        <a:buNone/>
                      </a:pPr>
                      <a:r>
                        <a:rPr lang="en" sz="900">
                          <a:latin typeface="Inter"/>
                          <a:ea typeface="Inter"/>
                          <a:cs typeface="Inter"/>
                          <a:sym typeface="Inter"/>
                        </a:rPr>
                        <a:t>C4 - Score</a:t>
                      </a:r>
                      <a:endParaRPr sz="9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0</a:t>
                      </a:r>
                      <a:endParaRPr sz="9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733000">
                <a:tc>
                  <a:txBody>
                    <a:bodyPr/>
                    <a:lstStyle/>
                    <a:p>
                      <a:pPr indent="0" lvl="0" marL="0" rtl="0" algn="l">
                        <a:spcBef>
                          <a:spcPts val="0"/>
                        </a:spcBef>
                        <a:spcAft>
                          <a:spcPts val="0"/>
                        </a:spcAft>
                        <a:buNone/>
                      </a:pPr>
                      <a:r>
                        <a:rPr lang="en" sz="900">
                          <a:latin typeface="Inter"/>
                          <a:ea typeface="Inter"/>
                          <a:cs typeface="Inter"/>
                          <a:sym typeface="Inter"/>
                        </a:rPr>
                        <a:t>C4 - Reasoning</a:t>
                      </a:r>
                      <a:endParaRPr sz="9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Inter"/>
                          <a:ea typeface="Inter"/>
                          <a:cs typeface="Inter"/>
                          <a:sym typeface="Inter"/>
                        </a:rPr>
                        <a:t>The agent failed to emphasize credentials or mention that a partner or mortgage advisor from Nesto would be helping. They simply mentioned transferring to "one of our best agents" without providing context about Nesto or its credentials.</a:t>
                      </a:r>
                      <a:endParaRPr sz="9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95575">
                <a:tc>
                  <a:txBody>
                    <a:bodyPr/>
                    <a:lstStyle/>
                    <a:p>
                      <a:pPr indent="0" lvl="0" marL="0" rtl="0" algn="l">
                        <a:spcBef>
                          <a:spcPts val="0"/>
                        </a:spcBef>
                        <a:spcAft>
                          <a:spcPts val="0"/>
                        </a:spcAft>
                        <a:buNone/>
                      </a:pPr>
                      <a:r>
                        <a:rPr lang="en" sz="900">
                          <a:latin typeface="Inter"/>
                          <a:ea typeface="Inter"/>
                          <a:cs typeface="Inter"/>
                          <a:sym typeface="Inter"/>
                        </a:rPr>
                        <a:t>C4 - Snippet</a:t>
                      </a:r>
                      <a:endParaRPr sz="9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 sz="900">
                          <a:latin typeface="Inter"/>
                          <a:ea typeface="Inter"/>
                          <a:cs typeface="Inter"/>
                          <a:sym typeface="Inter"/>
                        </a:rPr>
                        <a:t>“Gotcha. Okay perfect,. And those are all the questions I have for you. Can you just hold the line I'll? get you right over to one of our best agents. Okay?”</a:t>
                      </a:r>
                      <a:endParaRPr i="1" sz="9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38475">
                <a:tc>
                  <a:txBody>
                    <a:bodyPr/>
                    <a:lstStyle/>
                    <a:p>
                      <a:pPr indent="0" lvl="0" marL="0" rtl="0" algn="l">
                        <a:spcBef>
                          <a:spcPts val="0"/>
                        </a:spcBef>
                        <a:spcAft>
                          <a:spcPts val="0"/>
                        </a:spcAft>
                        <a:buNone/>
                      </a:pPr>
                      <a:r>
                        <a:rPr lang="en" sz="900">
                          <a:latin typeface="Inter"/>
                          <a:ea typeface="Inter"/>
                          <a:cs typeface="Inter"/>
                          <a:sym typeface="Inter"/>
                        </a:rPr>
                        <a:t>Expectation (per script)</a:t>
                      </a:r>
                      <a:endParaRPr sz="9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i="1" lang="en" sz="900">
                          <a:latin typeface="Inter"/>
                          <a:ea typeface="Inter"/>
                          <a:cs typeface="Inter"/>
                          <a:sym typeface="Inter"/>
                        </a:rPr>
                        <a:t>“Great news! Along with having a couple partners that will reach out, I have our elite partner who is the Canadian Lending Associations #1 ranked lender in 2023. I’m going to get a licensed mortgage advisor from nesto on the line for you right now, can you bear with me a moment?”</a:t>
                      </a:r>
                      <a:endParaRPr i="1" sz="9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3" name="Google Shape;253;p49"/>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3 calls</a:t>
            </a:r>
            <a:endParaRPr sz="800">
              <a:solidFill>
                <a:srgbClr val="475067"/>
              </a:solidFill>
            </a:endParaRPr>
          </a:p>
          <a:p>
            <a:pPr indent="0" lvl="0" marL="0" rtl="0" algn="ctr">
              <a:spcBef>
                <a:spcPts val="0"/>
              </a:spcBef>
              <a:spcAft>
                <a:spcPts val="0"/>
              </a:spcAft>
              <a:buNone/>
            </a:pPr>
            <a:r>
              <a:rPr lang="en" sz="800">
                <a:solidFill>
                  <a:srgbClr val="475067"/>
                </a:solidFill>
              </a:rPr>
              <a:t>Scoring perfect in C2 and C3</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 and C4</a:t>
            </a:r>
            <a:endParaRPr sz="800">
              <a:solidFill>
                <a:srgbClr val="475067"/>
              </a:solidFill>
            </a:endParaRPr>
          </a:p>
          <a:p>
            <a:pPr indent="0" lvl="0" marL="0" rtl="0" algn="ctr">
              <a:spcBef>
                <a:spcPts val="0"/>
              </a:spcBef>
              <a:spcAft>
                <a:spcPts val="0"/>
              </a:spcAft>
              <a:buNone/>
            </a:pPr>
            <a:r>
              <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254" name="Google Shape;254;p49"/>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melissa.mckenzie1@nesto.ca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call_id=600000001845604.0</a:t>
            </a:r>
            <a:endParaRPr>
              <a:solidFill>
                <a:schemeClr val="accent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258" name="Shape 258"/>
        <p:cNvGrpSpPr/>
        <p:nvPr/>
      </p:nvGrpSpPr>
      <p:grpSpPr>
        <a:xfrm>
          <a:off x="0" y="0"/>
          <a:ext cx="0" cy="0"/>
          <a:chOff x="0" y="0"/>
          <a:chExt cx="0" cy="0"/>
        </a:xfrm>
      </p:grpSpPr>
      <p:pic>
        <p:nvPicPr>
          <p:cNvPr id="259" name="Google Shape;259;p50"/>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260" name="Google Shape;260;p50"/>
          <p:cNvSpPr txBox="1"/>
          <p:nvPr/>
        </p:nvSpPr>
        <p:spPr>
          <a:xfrm>
            <a:off x="333650" y="1925250"/>
            <a:ext cx="82896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Example - Higher performer (English)</a:t>
            </a:r>
            <a:endParaRPr sz="3600">
              <a:solidFill>
                <a:schemeClr val="lt1"/>
              </a:solidFill>
              <a:latin typeface="Manrope SemiBold"/>
              <a:ea typeface="Manrope SemiBold"/>
              <a:cs typeface="Manrope SemiBold"/>
              <a:sym typeface="Manrope SemiBold"/>
            </a:endParaRPr>
          </a:p>
        </p:txBody>
      </p:sp>
      <p:pic>
        <p:nvPicPr>
          <p:cNvPr id="261" name="Google Shape;261;p50"/>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262" name="Google Shape;26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5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269" name="Google Shape;269;p51"/>
          <p:cNvSpPr txBox="1"/>
          <p:nvPr/>
        </p:nvSpPr>
        <p:spPr>
          <a:xfrm>
            <a:off x="1970613" y="38078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Across 268 calls</a:t>
            </a:r>
            <a:endParaRPr sz="800">
              <a:solidFill>
                <a:srgbClr val="475067"/>
              </a:solidFill>
            </a:endParaRPr>
          </a:p>
        </p:txBody>
      </p:sp>
      <p:pic>
        <p:nvPicPr>
          <p:cNvPr id="270" name="Google Shape;270;p51"/>
          <p:cNvPicPr preferRelativeResize="0"/>
          <p:nvPr/>
        </p:nvPicPr>
        <p:blipFill>
          <a:blip r:embed="rId3">
            <a:alphaModFix/>
          </a:blip>
          <a:stretch>
            <a:fillRect/>
          </a:stretch>
        </p:blipFill>
        <p:spPr>
          <a:xfrm>
            <a:off x="470525" y="152027"/>
            <a:ext cx="7607599" cy="4950800"/>
          </a:xfrm>
          <a:prstGeom prst="rect">
            <a:avLst/>
          </a:prstGeom>
          <a:noFill/>
          <a:ln>
            <a:noFill/>
          </a:ln>
        </p:spPr>
      </p:pic>
      <p:sp>
        <p:nvSpPr>
          <p:cNvPr id="271" name="Google Shape;271;p51"/>
          <p:cNvSpPr/>
          <p:nvPr/>
        </p:nvSpPr>
        <p:spPr>
          <a:xfrm>
            <a:off x="2212775" y="506750"/>
            <a:ext cx="503700" cy="3899700"/>
          </a:xfrm>
          <a:prstGeom prst="rect">
            <a:avLst/>
          </a:prstGeom>
          <a:noFill/>
          <a:ln cap="flat" cmpd="sng" w="9525">
            <a:solidFill>
              <a:srgbClr val="FF99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Personalised Chart</a:t>
            </a:r>
            <a:endParaRPr/>
          </a:p>
        </p:txBody>
      </p:sp>
      <p:sp>
        <p:nvSpPr>
          <p:cNvPr id="277" name="Google Shape;277;p52"/>
          <p:cNvSpPr txBox="1"/>
          <p:nvPr/>
        </p:nvSpPr>
        <p:spPr>
          <a:xfrm>
            <a:off x="3536713" y="138770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17 calls</a:t>
            </a:r>
            <a:endParaRPr sz="800">
              <a:solidFill>
                <a:srgbClr val="475067"/>
              </a:solidFill>
            </a:endParaRPr>
          </a:p>
          <a:p>
            <a:pPr indent="0" lvl="0" marL="0" rtl="0" algn="ctr">
              <a:spcBef>
                <a:spcPts val="0"/>
              </a:spcBef>
              <a:spcAft>
                <a:spcPts val="0"/>
              </a:spcAft>
              <a:buNone/>
            </a:pPr>
            <a:r>
              <a:rPr lang="en" sz="800">
                <a:solidFill>
                  <a:srgbClr val="475067"/>
                </a:solidFill>
              </a:rPr>
              <a:t>Overall High Scorer</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278" name="Google Shape;278;p52"/>
          <p:cNvSpPr txBox="1"/>
          <p:nvPr/>
        </p:nvSpPr>
        <p:spPr>
          <a:xfrm>
            <a:off x="2961913" y="39018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navraj@nesto.ca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call_id=700000000962403.0</a:t>
            </a:r>
            <a:endParaRPr>
              <a:solidFill>
                <a:schemeClr val="accent6"/>
              </a:solidFill>
            </a:endParaRPr>
          </a:p>
        </p:txBody>
      </p:sp>
      <p:pic>
        <p:nvPicPr>
          <p:cNvPr id="279" name="Google Shape;279;p52"/>
          <p:cNvPicPr preferRelativeResize="0"/>
          <p:nvPr/>
        </p:nvPicPr>
        <p:blipFill>
          <a:blip r:embed="rId3">
            <a:alphaModFix/>
          </a:blip>
          <a:stretch>
            <a:fillRect/>
          </a:stretch>
        </p:blipFill>
        <p:spPr>
          <a:xfrm>
            <a:off x="2764488" y="1933700"/>
            <a:ext cx="3092840" cy="1815725"/>
          </a:xfrm>
          <a:prstGeom prst="rect">
            <a:avLst/>
          </a:prstGeom>
          <a:noFill/>
          <a:ln cap="flat" cmpd="sng" w="9525">
            <a:solidFill>
              <a:schemeClr val="dk1"/>
            </a:solidFill>
            <a:prstDash val="solid"/>
            <a:round/>
            <a:headEnd len="sm" w="sm" type="none"/>
            <a:tailEnd len="sm" w="sm" type="none"/>
          </a:ln>
        </p:spPr>
      </p:pic>
      <p:sp>
        <p:nvSpPr>
          <p:cNvPr id="280" name="Google Shape;280;p52"/>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3"/>
          <p:cNvSpPr/>
          <p:nvPr/>
        </p:nvSpPr>
        <p:spPr>
          <a:xfrm>
            <a:off x="3139100" y="3585850"/>
            <a:ext cx="5559000" cy="12990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3. Clarify Next Steps: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 Current: "So yeah, we'll have our partner reach out. They usually take about two business days."</a:t>
            </a:r>
            <a:endParaRPr sz="800"/>
          </a:p>
          <a:p>
            <a:pPr indent="0" lvl="0" marL="0" rtl="0" algn="l">
              <a:spcBef>
                <a:spcPts val="0"/>
              </a:spcBef>
              <a:spcAft>
                <a:spcPts val="0"/>
              </a:spcAft>
              <a:buNone/>
            </a:pPr>
            <a:r>
              <a:rPr lang="en" sz="800"/>
              <a:t>• Recommended: "Our Nesto mortgage advisor will reach out to you within two business days. They'll provide detailed quotes, answer any questions you have, and guide you through the next steps in the mortgage process. Is there a preferred time or method for them to contact you?"</a:t>
            </a:r>
            <a:endParaRPr sz="800"/>
          </a:p>
          <a:p>
            <a:pPr indent="0" lvl="0" marL="0" rtl="0" algn="l">
              <a:spcBef>
                <a:spcPts val="0"/>
              </a:spcBef>
              <a:spcAft>
                <a:spcPts val="0"/>
              </a:spcAft>
              <a:buNone/>
            </a:pPr>
            <a:r>
              <a:rPr lang="en" sz="800"/>
              <a:t>• Be specific about who will contact the customer (Nesto advisor), what they'll provide (quotes, information), and when (within two business days)</a:t>
            </a:r>
            <a:endParaRPr sz="800"/>
          </a:p>
          <a:p>
            <a:pPr indent="0" lvl="0" marL="0" rtl="0" algn="l">
              <a:spcBef>
                <a:spcPts val="0"/>
              </a:spcBef>
              <a:spcAft>
                <a:spcPts val="0"/>
              </a:spcAft>
              <a:buNone/>
            </a:pPr>
            <a:r>
              <a:rPr lang="en" sz="800"/>
              <a:t>• Offer to set a specific appointment time if possible to increase the likelihood of successful follow-up</a:t>
            </a:r>
            <a:endParaRPr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
        <p:nvSpPr>
          <p:cNvPr id="286" name="Google Shape;286;p53"/>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Navraj</a:t>
            </a:r>
            <a:r>
              <a:rPr lang="en"/>
              <a:t> Report</a:t>
            </a:r>
            <a:endParaRPr/>
          </a:p>
        </p:txBody>
      </p:sp>
      <p:sp>
        <p:nvSpPr>
          <p:cNvPr id="287" name="Google Shape;287;p53"/>
          <p:cNvSpPr/>
          <p:nvPr/>
        </p:nvSpPr>
        <p:spPr>
          <a:xfrm>
            <a:off x="312050" y="1087200"/>
            <a:ext cx="2674800" cy="12759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Overall Performance</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Navraj demonstrates a moderate level of competence in handling customer calls. While they show strengths in certain areas, there are significant opportunities for improvement, particularly in the initial introduction and consistently following the prescribed script.</a:t>
            </a:r>
            <a:endParaRPr sz="800"/>
          </a:p>
          <a:p>
            <a:pPr indent="0" lvl="0" marL="0" rtl="0" algn="l">
              <a:spcBef>
                <a:spcPts val="0"/>
              </a:spcBef>
              <a:spcAft>
                <a:spcPts val="0"/>
              </a:spcAft>
              <a:buNone/>
            </a:pPr>
            <a:r>
              <a:t/>
            </a:r>
            <a:endParaRPr b="1" sz="800"/>
          </a:p>
        </p:txBody>
      </p:sp>
      <p:sp>
        <p:nvSpPr>
          <p:cNvPr id="288" name="Google Shape;288;p53"/>
          <p:cNvSpPr/>
          <p:nvPr/>
        </p:nvSpPr>
        <p:spPr>
          <a:xfrm>
            <a:off x="312050" y="3616150"/>
            <a:ext cx="2674800" cy="12384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Areas for Improvement</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1. Inconsistent and often unclear introductions</a:t>
            </a:r>
            <a:endParaRPr sz="800"/>
          </a:p>
          <a:p>
            <a:pPr indent="0" lvl="0" marL="0" rtl="0" algn="l">
              <a:spcBef>
                <a:spcPts val="0"/>
              </a:spcBef>
              <a:spcAft>
                <a:spcPts val="0"/>
              </a:spcAft>
              <a:buNone/>
            </a:pPr>
            <a:r>
              <a:rPr lang="en" sz="800"/>
              <a:t>2. Lack of emphasis on Nesto's credentials and unique selling points</a:t>
            </a:r>
            <a:endParaRPr sz="800"/>
          </a:p>
          <a:p>
            <a:pPr indent="0" lvl="0" marL="0" rtl="0" algn="l">
              <a:spcBef>
                <a:spcPts val="0"/>
              </a:spcBef>
              <a:spcAft>
                <a:spcPts val="0"/>
              </a:spcAft>
              <a:buNone/>
            </a:pPr>
            <a:r>
              <a:rPr lang="en" sz="800"/>
              <a:t>3. Inconsistent approach to eligibility validation</a:t>
            </a:r>
            <a:endParaRPr sz="800"/>
          </a:p>
          <a:p>
            <a:pPr indent="0" lvl="0" marL="0" rtl="0" algn="l">
              <a:spcBef>
                <a:spcPts val="0"/>
              </a:spcBef>
              <a:spcAft>
                <a:spcPts val="0"/>
              </a:spcAft>
              <a:buNone/>
            </a:pPr>
            <a:r>
              <a:rPr lang="en" sz="800"/>
              <a:t>4. Failure to consistently mention the website inquiry that prompted the call</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
        <p:nvSpPr>
          <p:cNvPr id="289" name="Google Shape;289;p53"/>
          <p:cNvSpPr/>
          <p:nvPr/>
        </p:nvSpPr>
        <p:spPr>
          <a:xfrm>
            <a:off x="312050" y="2460275"/>
            <a:ext cx="2674800" cy="10587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Strengths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1. Generally good at attempting to understand the user's situation</a:t>
            </a:r>
            <a:endParaRPr sz="800"/>
          </a:p>
          <a:p>
            <a:pPr indent="0" lvl="0" marL="0" rtl="0" algn="l">
              <a:spcBef>
                <a:spcPts val="0"/>
              </a:spcBef>
              <a:spcAft>
                <a:spcPts val="0"/>
              </a:spcAft>
              <a:buNone/>
            </a:pPr>
            <a:r>
              <a:rPr lang="en" sz="800"/>
              <a:t>2. Often provides clear next steps for customers</a:t>
            </a:r>
            <a:endParaRPr sz="800"/>
          </a:p>
          <a:p>
            <a:pPr indent="0" lvl="0" marL="0" rtl="0" algn="l">
              <a:spcBef>
                <a:spcPts val="0"/>
              </a:spcBef>
              <a:spcAft>
                <a:spcPts val="0"/>
              </a:spcAft>
              <a:buNone/>
            </a:pPr>
            <a:r>
              <a:rPr lang="en" sz="800"/>
              <a:t>3. Demonstrates flexibility in adapting to different customer circumstances</a:t>
            </a:r>
            <a:endParaRPr sz="800"/>
          </a:p>
          <a:p>
            <a:pPr indent="0" lvl="0" marL="0" rtl="0" algn="l">
              <a:spcBef>
                <a:spcPts val="0"/>
              </a:spcBef>
              <a:spcAft>
                <a:spcPts val="0"/>
              </a:spcAft>
              <a:buNone/>
            </a:pPr>
            <a:r>
              <a:t/>
            </a:r>
            <a:endParaRPr b="1" sz="800"/>
          </a:p>
        </p:txBody>
      </p:sp>
      <p:sp>
        <p:nvSpPr>
          <p:cNvPr id="290" name="Google Shape;290;p53"/>
          <p:cNvSpPr/>
          <p:nvPr/>
        </p:nvSpPr>
        <p:spPr>
          <a:xfrm>
            <a:off x="3139100" y="1087200"/>
            <a:ext cx="5559000" cy="1129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1. Improve Introduction:</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 Current: "Hi there is now calling from Compare mortgages. Are you today?"</a:t>
            </a:r>
            <a:endParaRPr sz="800"/>
          </a:p>
          <a:p>
            <a:pPr indent="0" lvl="0" marL="0" rtl="0" algn="l">
              <a:spcBef>
                <a:spcPts val="0"/>
              </a:spcBef>
              <a:spcAft>
                <a:spcPts val="0"/>
              </a:spcAft>
              <a:buNone/>
            </a:pPr>
            <a:r>
              <a:rPr lang="en" sz="800"/>
              <a:t>• Recommended: "Hello, this is [Your Name] calling from CompareMortgages.ca. How are you today? I'm reaching out regarding the online inquiry you submitted on our website."</a:t>
            </a:r>
            <a:endParaRPr sz="800"/>
          </a:p>
          <a:p>
            <a:pPr indent="0" lvl="0" marL="0" rtl="0" algn="l">
              <a:spcBef>
                <a:spcPts val="0"/>
              </a:spcBef>
              <a:spcAft>
                <a:spcPts val="0"/>
              </a:spcAft>
              <a:buNone/>
            </a:pPr>
            <a:r>
              <a:rPr lang="en" sz="800"/>
              <a:t>• Always clearly state your name, the company name (CompareMortgages.ca), and the reason for the call (online inquiry)</a:t>
            </a:r>
            <a:endParaRPr sz="800"/>
          </a:p>
          <a:p>
            <a:pPr indent="0" lvl="0" marL="0" rtl="0" algn="l">
              <a:spcBef>
                <a:spcPts val="0"/>
              </a:spcBef>
              <a:spcAft>
                <a:spcPts val="0"/>
              </a:spcAft>
              <a:buNone/>
            </a:pPr>
            <a:r>
              <a:rPr lang="en" sz="800"/>
              <a:t>• Practice the introduction until it becomes natural and consistent across all calls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800"/>
          </a:p>
          <a:p>
            <a:pPr indent="0" lvl="0" marL="0" rtl="0" algn="l">
              <a:spcBef>
                <a:spcPts val="0"/>
              </a:spcBef>
              <a:spcAft>
                <a:spcPts val="0"/>
              </a:spcAft>
              <a:buNone/>
            </a:pPr>
            <a:r>
              <a:t/>
            </a:r>
            <a:endParaRPr b="1" sz="800"/>
          </a:p>
        </p:txBody>
      </p:sp>
      <p:sp>
        <p:nvSpPr>
          <p:cNvPr id="291" name="Google Shape;291;p53"/>
          <p:cNvSpPr/>
          <p:nvPr/>
        </p:nvSpPr>
        <p:spPr>
          <a:xfrm>
            <a:off x="3139100" y="2336525"/>
            <a:ext cx="5559000" cy="11292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2. Emphasize Nesto's Credentials:</a:t>
            </a:r>
            <a:endParaRPr b="1" sz="800"/>
          </a:p>
          <a:p>
            <a:pPr indent="0" lvl="0" marL="0" rtl="0" algn="l">
              <a:spcBef>
                <a:spcPts val="0"/>
              </a:spcBef>
              <a:spcAft>
                <a:spcPts val="0"/>
              </a:spcAft>
              <a:buNone/>
            </a:pPr>
            <a:r>
              <a:t/>
            </a:r>
            <a:endParaRPr b="1" sz="800"/>
          </a:p>
          <a:p>
            <a:pPr indent="0" lvl="0" marL="0" rtl="0" algn="l">
              <a:spcBef>
                <a:spcPts val="0"/>
              </a:spcBef>
              <a:spcAft>
                <a:spcPts val="0"/>
              </a:spcAft>
              <a:buNone/>
            </a:pPr>
            <a:r>
              <a:rPr lang="en" sz="800"/>
              <a:t>• Current: Often fails to mention Nesto's credentials or unique selling points</a:t>
            </a:r>
            <a:endParaRPr sz="800"/>
          </a:p>
          <a:p>
            <a:pPr indent="0" lvl="0" marL="0" rtl="0" algn="l">
              <a:spcBef>
                <a:spcPts val="0"/>
              </a:spcBef>
              <a:spcAft>
                <a:spcPts val="0"/>
              </a:spcAft>
              <a:buNone/>
            </a:pPr>
            <a:r>
              <a:rPr lang="en" sz="800"/>
              <a:t>• Recommended: "We're partnered with Nesto, Canada's top-ranked online mortgage lender, to provide you with the best possible rates and service."</a:t>
            </a:r>
            <a:endParaRPr sz="800"/>
          </a:p>
          <a:p>
            <a:pPr indent="0" lvl="0" marL="0" rtl="0" algn="l">
              <a:spcBef>
                <a:spcPts val="0"/>
              </a:spcBef>
              <a:spcAft>
                <a:spcPts val="0"/>
              </a:spcAft>
              <a:buNone/>
            </a:pPr>
            <a:r>
              <a:rPr lang="en" sz="800"/>
              <a:t>• Incorporate this information early in the call to establish credibility and differentiate from competitors</a:t>
            </a:r>
            <a:endParaRPr sz="800"/>
          </a:p>
          <a:p>
            <a:pPr indent="0" lvl="0" marL="0" rtl="0" algn="l">
              <a:spcBef>
                <a:spcPts val="0"/>
              </a:spcBef>
              <a:spcAft>
                <a:spcPts val="0"/>
              </a:spcAft>
              <a:buNone/>
            </a:pPr>
            <a:r>
              <a:rPr lang="en" sz="800"/>
              <a:t>• Highlight Nesto's benefits when discussing next steps or transferring to a mortgage advisor</a:t>
            </a:r>
            <a:endParaRPr b="1" sz="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Navraj</a:t>
            </a:r>
            <a:r>
              <a:rPr lang="en"/>
              <a:t> Coaching Tips</a:t>
            </a:r>
            <a:endParaRPr/>
          </a:p>
        </p:txBody>
      </p:sp>
      <p:graphicFrame>
        <p:nvGraphicFramePr>
          <p:cNvPr id="297" name="Google Shape;297;p54"/>
          <p:cNvGraphicFramePr/>
          <p:nvPr/>
        </p:nvGraphicFramePr>
        <p:xfrm>
          <a:off x="205450" y="2337275"/>
          <a:ext cx="3000000" cy="3000000"/>
        </p:xfrm>
        <a:graphic>
          <a:graphicData uri="http://schemas.openxmlformats.org/drawingml/2006/table">
            <a:tbl>
              <a:tblPr>
                <a:noFill/>
                <a:tableStyleId>{385E58F0-B348-4383-A09C-207D46FD5A56}</a:tableStyleId>
              </a:tblPr>
              <a:tblGrid>
                <a:gridCol w="1380475"/>
                <a:gridCol w="4093375"/>
              </a:tblGrid>
              <a:tr h="15100">
                <a:tc>
                  <a:txBody>
                    <a:bodyPr/>
                    <a:lstStyle/>
                    <a:p>
                      <a:pPr indent="0" lvl="0" marL="0" rtl="0" algn="l">
                        <a:spcBef>
                          <a:spcPts val="0"/>
                        </a:spcBef>
                        <a:spcAft>
                          <a:spcPts val="0"/>
                        </a:spcAft>
                        <a:buNone/>
                      </a:pPr>
                      <a:r>
                        <a:rPr lang="en" sz="900">
                          <a:latin typeface="Inter"/>
                          <a:ea typeface="Inter"/>
                          <a:cs typeface="Inter"/>
                          <a:sym typeface="Inter"/>
                        </a:rPr>
                        <a:t>Correct Actions</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Introduced self and purpose of call, allowed user to explain situation, validated eligibility with multiple questions, provided clear next steps</a:t>
                      </a:r>
                      <a:endParaRPr sz="900">
                        <a:latin typeface="Inter"/>
                        <a:ea typeface="Inter"/>
                        <a:cs typeface="Inter"/>
                        <a:sym typeface="Inter"/>
                      </a:endParaRPr>
                    </a:p>
                  </a:txBody>
                  <a:tcPr marT="91425" marB="91425" marR="91425" marL="91425"/>
                </a:tc>
              </a:tr>
              <a:tr h="15100">
                <a:tc>
                  <a:txBody>
                    <a:bodyPr/>
                    <a:lstStyle/>
                    <a:p>
                      <a:pPr indent="0" lvl="0" marL="0" rtl="0" algn="l">
                        <a:spcBef>
                          <a:spcPts val="0"/>
                        </a:spcBef>
                        <a:spcAft>
                          <a:spcPts val="0"/>
                        </a:spcAft>
                        <a:buNone/>
                      </a:pPr>
                      <a:r>
                        <a:rPr lang="en" sz="900">
                          <a:latin typeface="Inter"/>
                          <a:ea typeface="Inter"/>
                          <a:cs typeface="Inter"/>
                          <a:sym typeface="Inter"/>
                        </a:rPr>
                        <a:t>Incorrect Actions</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None apparent</a:t>
                      </a:r>
                      <a:endParaRPr sz="900">
                        <a:latin typeface="Inter"/>
                        <a:ea typeface="Inter"/>
                        <a:cs typeface="Inter"/>
                        <a:sym typeface="Inter"/>
                      </a:endParaRPr>
                    </a:p>
                  </a:txBody>
                  <a:tcPr marT="91425" marB="91425" marR="91425" marL="91425"/>
                </a:tc>
              </a:tr>
            </a:tbl>
          </a:graphicData>
        </a:graphic>
      </p:graphicFrame>
      <p:sp>
        <p:nvSpPr>
          <p:cNvPr id="298" name="Google Shape;298;p54"/>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17 calls</a:t>
            </a:r>
            <a:endParaRPr sz="800">
              <a:solidFill>
                <a:srgbClr val="475067"/>
              </a:solidFill>
            </a:endParaRPr>
          </a:p>
          <a:p>
            <a:pPr indent="0" lvl="0" marL="0" rtl="0" algn="ctr">
              <a:spcBef>
                <a:spcPts val="0"/>
              </a:spcBef>
              <a:spcAft>
                <a:spcPts val="0"/>
              </a:spcAft>
              <a:buNone/>
            </a:pPr>
            <a:r>
              <a:rPr lang="en" sz="800">
                <a:solidFill>
                  <a:srgbClr val="475067"/>
                </a:solidFill>
              </a:rPr>
              <a:t>Overall High Scorer</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299" name="Google Shape;299;p54"/>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navraj@nesto.ca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a:t>
            </a:r>
            <a:r>
              <a:rPr lang="en" sz="700">
                <a:solidFill>
                  <a:schemeClr val="accent6"/>
                </a:solidFill>
              </a:rPr>
              <a:t>700000000962403.0</a:t>
            </a:r>
            <a:endParaRPr>
              <a:solidFill>
                <a:schemeClr val="accent6"/>
              </a:solidFill>
            </a:endParaRPr>
          </a:p>
        </p:txBody>
      </p:sp>
      <p:pic>
        <p:nvPicPr>
          <p:cNvPr id="300" name="Google Shape;300;p54"/>
          <p:cNvPicPr preferRelativeResize="0"/>
          <p:nvPr/>
        </p:nvPicPr>
        <p:blipFill>
          <a:blip r:embed="rId3">
            <a:alphaModFix/>
          </a:blip>
          <a:stretch>
            <a:fillRect/>
          </a:stretch>
        </p:blipFill>
        <p:spPr>
          <a:xfrm>
            <a:off x="5831700" y="1803975"/>
            <a:ext cx="3092840" cy="1815725"/>
          </a:xfrm>
          <a:prstGeom prst="rect">
            <a:avLst/>
          </a:prstGeom>
          <a:noFill/>
          <a:ln cap="flat" cmpd="sng" w="9525">
            <a:solidFill>
              <a:schemeClr val="dk1"/>
            </a:solidFill>
            <a:prstDash val="solid"/>
            <a:round/>
            <a:headEnd len="sm" w="sm" type="none"/>
            <a:tailEnd len="sm" w="sm" type="none"/>
          </a:ln>
        </p:spPr>
      </p:pic>
      <p:sp>
        <p:nvSpPr>
          <p:cNvPr id="301" name="Google Shape;301;p54"/>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5"/>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3"/>
              </a:rPr>
              <a:t>FILTERED LINK</a:t>
            </a:r>
            <a:endParaRPr sz="900"/>
          </a:p>
        </p:txBody>
      </p:sp>
      <p:graphicFrame>
        <p:nvGraphicFramePr>
          <p:cNvPr id="307" name="Google Shape;307;p55"/>
          <p:cNvGraphicFramePr/>
          <p:nvPr/>
        </p:nvGraphicFramePr>
        <p:xfrm>
          <a:off x="250050" y="1808413"/>
          <a:ext cx="3000000" cy="3000000"/>
        </p:xfrm>
        <a:graphic>
          <a:graphicData uri="http://schemas.openxmlformats.org/drawingml/2006/table">
            <a:tbl>
              <a:tblPr>
                <a:noFill/>
                <a:tableStyleId>{385E58F0-B348-4383-A09C-207D46FD5A56}</a:tableStyleId>
              </a:tblPr>
              <a:tblGrid>
                <a:gridCol w="1384700"/>
                <a:gridCol w="4105875"/>
              </a:tblGrid>
              <a:tr h="308625">
                <a:tc>
                  <a:txBody>
                    <a:bodyPr/>
                    <a:lstStyle/>
                    <a:p>
                      <a:pPr indent="0" lvl="0" marL="0" rtl="0" algn="l">
                        <a:spcBef>
                          <a:spcPts val="0"/>
                        </a:spcBef>
                        <a:spcAft>
                          <a:spcPts val="0"/>
                        </a:spcAft>
                        <a:buNone/>
                      </a:pPr>
                      <a:r>
                        <a:rPr lang="en" sz="900">
                          <a:latin typeface="Inter"/>
                          <a:ea typeface="Inter"/>
                          <a:cs typeface="Inter"/>
                          <a:sym typeface="Inter"/>
                        </a:rPr>
                        <a:t>C1 - Score</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1</a:t>
                      </a:r>
                      <a:endParaRPr sz="900">
                        <a:latin typeface="Inter"/>
                        <a:ea typeface="Inter"/>
                        <a:cs typeface="Inter"/>
                        <a:sym typeface="Inter"/>
                      </a:endParaRPr>
                    </a:p>
                  </a:txBody>
                  <a:tcPr marT="91425" marB="91425" marR="91425" marL="91425"/>
                </a:tc>
              </a:tr>
              <a:tr h="733000">
                <a:tc>
                  <a:txBody>
                    <a:bodyPr/>
                    <a:lstStyle/>
                    <a:p>
                      <a:pPr indent="0" lvl="0" marL="0" rtl="0" algn="l">
                        <a:spcBef>
                          <a:spcPts val="0"/>
                        </a:spcBef>
                        <a:spcAft>
                          <a:spcPts val="0"/>
                        </a:spcAft>
                        <a:buNone/>
                      </a:pPr>
                      <a:r>
                        <a:rPr lang="en" sz="900">
                          <a:latin typeface="Inter"/>
                          <a:ea typeface="Inter"/>
                          <a:cs typeface="Inter"/>
                          <a:sym typeface="Inter"/>
                        </a:rPr>
                        <a:t>C1 - Reasoning</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The agent introduced herself as calling from Compare Mortgages and mentioned the call was regarding an online inquiry. Although the introduction wasn't verbatim, it contained the essential elements.</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595575">
                <a:tc>
                  <a:txBody>
                    <a:bodyPr/>
                    <a:lstStyle/>
                    <a:p>
                      <a:pPr indent="0" lvl="0" marL="0" rtl="0" algn="l">
                        <a:spcBef>
                          <a:spcPts val="0"/>
                        </a:spcBef>
                        <a:spcAft>
                          <a:spcPts val="0"/>
                        </a:spcAft>
                        <a:buNone/>
                      </a:pPr>
                      <a:r>
                        <a:rPr lang="en" sz="900">
                          <a:latin typeface="Inter"/>
                          <a:ea typeface="Inter"/>
                          <a:cs typeface="Inter"/>
                          <a:sym typeface="Inter"/>
                        </a:rPr>
                        <a:t>C1 - Snippet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Heather is now calling from Compare Mortgages. How are you today?, Just calling to connect in regards to an online inquiry you had there with us.</a:t>
                      </a:r>
                      <a:endParaRPr i="1"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638475">
                <a:tc>
                  <a:txBody>
                    <a:bodyPr/>
                    <a:lstStyle/>
                    <a:p>
                      <a:pPr indent="0" lvl="0" marL="0" rtl="0" algn="l">
                        <a:spcBef>
                          <a:spcPts val="0"/>
                        </a:spcBef>
                        <a:spcAft>
                          <a:spcPts val="0"/>
                        </a:spcAft>
                        <a:buNone/>
                      </a:pPr>
                      <a:r>
                        <a:rPr lang="en" sz="900">
                          <a:latin typeface="Inter"/>
                          <a:ea typeface="Inter"/>
                          <a:cs typeface="Inter"/>
                          <a:sym typeface="Inter"/>
                        </a:rPr>
                        <a:t>Expectation (per script)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“Hi is this [CLIENT NAME]? Hi, this is [AGENT NAME] calling you from</a:t>
                      </a:r>
                      <a:endParaRPr i="1" sz="900">
                        <a:latin typeface="Inter"/>
                        <a:ea typeface="Inter"/>
                        <a:cs typeface="Inter"/>
                        <a:sym typeface="Inter"/>
                      </a:endParaRPr>
                    </a:p>
                    <a:p>
                      <a:pPr indent="0" lvl="0" marL="0" rtl="0" algn="l">
                        <a:spcBef>
                          <a:spcPts val="0"/>
                        </a:spcBef>
                        <a:spcAft>
                          <a:spcPts val="0"/>
                        </a:spcAft>
                        <a:buNone/>
                      </a:pPr>
                      <a:r>
                        <a:rPr i="1" lang="en" sz="900">
                          <a:latin typeface="Inter"/>
                          <a:ea typeface="Inter"/>
                          <a:cs typeface="Inter"/>
                          <a:sym typeface="Inter"/>
                        </a:rPr>
                        <a:t>CompareMortgages.ca. I’m calling in regard to the inquiry that you started on our website.”</a:t>
                      </a:r>
                      <a:endParaRPr i="1" sz="900">
                        <a:latin typeface="Inter"/>
                        <a:ea typeface="Inter"/>
                        <a:cs typeface="Inter"/>
                        <a:sym typeface="Inter"/>
                      </a:endParaRPr>
                    </a:p>
                  </a:txBody>
                  <a:tcPr marT="91425" marB="91425" marR="91425" marL="91425"/>
                </a:tc>
              </a:tr>
            </a:tbl>
          </a:graphicData>
        </a:graphic>
      </p:graphicFrame>
      <p:sp>
        <p:nvSpPr>
          <p:cNvPr id="308" name="Google Shape;308;p55"/>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17 calls</a:t>
            </a:r>
            <a:endParaRPr sz="800">
              <a:solidFill>
                <a:srgbClr val="475067"/>
              </a:solidFill>
            </a:endParaRPr>
          </a:p>
          <a:p>
            <a:pPr indent="0" lvl="0" marL="0" rtl="0" algn="ctr">
              <a:spcBef>
                <a:spcPts val="0"/>
              </a:spcBef>
              <a:spcAft>
                <a:spcPts val="0"/>
              </a:spcAft>
              <a:buNone/>
            </a:pPr>
            <a:r>
              <a:rPr lang="en" sz="800">
                <a:solidFill>
                  <a:srgbClr val="475067"/>
                </a:solidFill>
              </a:rPr>
              <a:t>Overall High Scorer</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309" name="Google Shape;309;p55"/>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navraj@nesto.ca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call_id=700000000962403.0</a:t>
            </a:r>
            <a:endParaRPr>
              <a:solidFill>
                <a:schemeClr val="accent6"/>
              </a:solidFill>
            </a:endParaRPr>
          </a:p>
        </p:txBody>
      </p:sp>
      <p:pic>
        <p:nvPicPr>
          <p:cNvPr id="310" name="Google Shape;310;p55"/>
          <p:cNvPicPr preferRelativeResize="0"/>
          <p:nvPr/>
        </p:nvPicPr>
        <p:blipFill>
          <a:blip r:embed="rId4">
            <a:alphaModFix/>
          </a:blip>
          <a:stretch>
            <a:fillRect/>
          </a:stretch>
        </p:blipFill>
        <p:spPr>
          <a:xfrm>
            <a:off x="5831700" y="1803975"/>
            <a:ext cx="3092840" cy="1815725"/>
          </a:xfrm>
          <a:prstGeom prst="rect">
            <a:avLst/>
          </a:prstGeom>
          <a:noFill/>
          <a:ln cap="flat" cmpd="sng" w="9525">
            <a:solidFill>
              <a:schemeClr val="dk1"/>
            </a:solidFill>
            <a:prstDash val="solid"/>
            <a:round/>
            <a:headEnd len="sm" w="sm" type="none"/>
            <a:tailEnd len="sm" w="sm" type="none"/>
          </a:ln>
        </p:spPr>
      </p:pic>
      <p:sp>
        <p:nvSpPr>
          <p:cNvPr id="311" name="Google Shape;311;p5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Navraj Coaching Tips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aphicFrame>
        <p:nvGraphicFramePr>
          <p:cNvPr id="316" name="Google Shape;316;p56"/>
          <p:cNvGraphicFramePr/>
          <p:nvPr/>
        </p:nvGraphicFramePr>
        <p:xfrm>
          <a:off x="250050" y="1808413"/>
          <a:ext cx="3000000" cy="3000000"/>
        </p:xfrm>
        <a:graphic>
          <a:graphicData uri="http://schemas.openxmlformats.org/drawingml/2006/table">
            <a:tbl>
              <a:tblPr>
                <a:noFill/>
                <a:tableStyleId>{385E58F0-B348-4383-A09C-207D46FD5A56}</a:tableStyleId>
              </a:tblPr>
              <a:tblGrid>
                <a:gridCol w="1384700"/>
                <a:gridCol w="4105875"/>
              </a:tblGrid>
              <a:tr h="308625">
                <a:tc>
                  <a:txBody>
                    <a:bodyPr/>
                    <a:lstStyle/>
                    <a:p>
                      <a:pPr indent="0" lvl="0" marL="0" rtl="0" algn="l">
                        <a:spcBef>
                          <a:spcPts val="0"/>
                        </a:spcBef>
                        <a:spcAft>
                          <a:spcPts val="0"/>
                        </a:spcAft>
                        <a:buNone/>
                      </a:pPr>
                      <a:r>
                        <a:rPr lang="en" sz="900">
                          <a:latin typeface="Inter"/>
                          <a:ea typeface="Inter"/>
                          <a:cs typeface="Inter"/>
                          <a:sym typeface="Inter"/>
                        </a:rPr>
                        <a:t>C2 - Score</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1</a:t>
                      </a:r>
                      <a:endParaRPr sz="900">
                        <a:latin typeface="Inter"/>
                        <a:ea typeface="Inter"/>
                        <a:cs typeface="Inter"/>
                        <a:sym typeface="Inter"/>
                      </a:endParaRPr>
                    </a:p>
                  </a:txBody>
                  <a:tcPr marT="91425" marB="91425" marR="91425" marL="91425"/>
                </a:tc>
              </a:tr>
              <a:tr h="733000">
                <a:tc>
                  <a:txBody>
                    <a:bodyPr/>
                    <a:lstStyle/>
                    <a:p>
                      <a:pPr indent="0" lvl="0" marL="0" rtl="0" algn="l">
                        <a:spcBef>
                          <a:spcPts val="0"/>
                        </a:spcBef>
                        <a:spcAft>
                          <a:spcPts val="0"/>
                        </a:spcAft>
                        <a:buNone/>
                      </a:pPr>
                      <a:r>
                        <a:rPr lang="en" sz="900">
                          <a:latin typeface="Inter"/>
                          <a:ea typeface="Inter"/>
                          <a:cs typeface="Inter"/>
                          <a:sym typeface="Inter"/>
                        </a:rPr>
                        <a:t>C2 - Reasoning</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The agent allowed the user to explain their situation and asked follow-up questions to understand better. The agent confirmed the user's renewal date and property details.</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595575">
                <a:tc>
                  <a:txBody>
                    <a:bodyPr/>
                    <a:lstStyle/>
                    <a:p>
                      <a:pPr indent="0" lvl="0" marL="0" rtl="0" algn="l">
                        <a:spcBef>
                          <a:spcPts val="0"/>
                        </a:spcBef>
                        <a:spcAft>
                          <a:spcPts val="0"/>
                        </a:spcAft>
                        <a:buNone/>
                      </a:pPr>
                      <a:r>
                        <a:rPr lang="en" sz="900">
                          <a:latin typeface="Inter"/>
                          <a:ea typeface="Inter"/>
                          <a:cs typeface="Inter"/>
                          <a:sym typeface="Inter"/>
                        </a:rPr>
                        <a:t>C2 - Snippet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Yeah, I have to redo my mortgage but, um, I haven't shopped around for rates, so I was just looking online to see if I could get any information., Yeah. For sure. Do you know when your renewal is coming up there?</a:t>
                      </a:r>
                      <a:endParaRPr i="1"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638475">
                <a:tc>
                  <a:txBody>
                    <a:bodyPr/>
                    <a:lstStyle/>
                    <a:p>
                      <a:pPr indent="0" lvl="0" marL="0" rtl="0" algn="l">
                        <a:spcBef>
                          <a:spcPts val="0"/>
                        </a:spcBef>
                        <a:spcAft>
                          <a:spcPts val="0"/>
                        </a:spcAft>
                        <a:buNone/>
                      </a:pPr>
                      <a:r>
                        <a:rPr lang="en" sz="900">
                          <a:latin typeface="Inter"/>
                          <a:ea typeface="Inter"/>
                          <a:cs typeface="Inter"/>
                          <a:sym typeface="Inter"/>
                        </a:rPr>
                        <a:t>Expectation (per script)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First and foremost, I was hoping to get a better idea about why it was you were inquiring. Are you purchasing a home, renewing, refinancing?</a:t>
                      </a:r>
                      <a:endParaRPr i="1" sz="900">
                        <a:latin typeface="Inter"/>
                        <a:ea typeface="Inter"/>
                        <a:cs typeface="Inter"/>
                        <a:sym typeface="Inter"/>
                      </a:endParaRPr>
                    </a:p>
                    <a:p>
                      <a:pPr indent="0" lvl="0" marL="0" rtl="0" algn="l">
                        <a:spcBef>
                          <a:spcPts val="0"/>
                        </a:spcBef>
                        <a:spcAft>
                          <a:spcPts val="0"/>
                        </a:spcAft>
                        <a:buNone/>
                      </a:pPr>
                      <a:r>
                        <a:rPr i="1" lang="en" sz="900">
                          <a:latin typeface="Inter"/>
                          <a:ea typeface="Inter"/>
                          <a:cs typeface="Inter"/>
                          <a:sym typeface="Inter"/>
                        </a:rPr>
                        <a:t>(Let the client tell you their plan)</a:t>
                      </a:r>
                      <a:endParaRPr i="1" sz="900">
                        <a:latin typeface="Inter"/>
                        <a:ea typeface="Inter"/>
                        <a:cs typeface="Inter"/>
                        <a:sym typeface="Inter"/>
                      </a:endParaRPr>
                    </a:p>
                  </a:txBody>
                  <a:tcPr marT="91425" marB="91425" marR="91425" marL="91425"/>
                </a:tc>
              </a:tr>
            </a:tbl>
          </a:graphicData>
        </a:graphic>
      </p:graphicFrame>
      <p:sp>
        <p:nvSpPr>
          <p:cNvPr id="317" name="Google Shape;317;p56"/>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17 calls</a:t>
            </a:r>
            <a:endParaRPr sz="800">
              <a:solidFill>
                <a:srgbClr val="475067"/>
              </a:solidFill>
            </a:endParaRPr>
          </a:p>
          <a:p>
            <a:pPr indent="0" lvl="0" marL="0" rtl="0" algn="ctr">
              <a:spcBef>
                <a:spcPts val="0"/>
              </a:spcBef>
              <a:spcAft>
                <a:spcPts val="0"/>
              </a:spcAft>
              <a:buNone/>
            </a:pPr>
            <a:r>
              <a:rPr lang="en" sz="800">
                <a:solidFill>
                  <a:srgbClr val="475067"/>
                </a:solidFill>
              </a:rPr>
              <a:t>Overall High Scorer</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318" name="Google Shape;318;p56"/>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navraj@nesto.ca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call_id=700000000962403.0</a:t>
            </a:r>
            <a:endParaRPr>
              <a:solidFill>
                <a:schemeClr val="accent6"/>
              </a:solidFill>
            </a:endParaRPr>
          </a:p>
        </p:txBody>
      </p:sp>
      <p:pic>
        <p:nvPicPr>
          <p:cNvPr id="319" name="Google Shape;319;p56"/>
          <p:cNvPicPr preferRelativeResize="0"/>
          <p:nvPr/>
        </p:nvPicPr>
        <p:blipFill>
          <a:blip r:embed="rId3">
            <a:alphaModFix/>
          </a:blip>
          <a:stretch>
            <a:fillRect/>
          </a:stretch>
        </p:blipFill>
        <p:spPr>
          <a:xfrm>
            <a:off x="5831700" y="1803975"/>
            <a:ext cx="3092840" cy="1815725"/>
          </a:xfrm>
          <a:prstGeom prst="rect">
            <a:avLst/>
          </a:prstGeom>
          <a:noFill/>
          <a:ln cap="flat" cmpd="sng" w="9525">
            <a:solidFill>
              <a:schemeClr val="dk1"/>
            </a:solidFill>
            <a:prstDash val="solid"/>
            <a:round/>
            <a:headEnd len="sm" w="sm" type="none"/>
            <a:tailEnd len="sm" w="sm" type="none"/>
          </a:ln>
        </p:spPr>
      </p:pic>
      <p:sp>
        <p:nvSpPr>
          <p:cNvPr id="320" name="Google Shape;320;p5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Navraj Coaching Tips</a:t>
            </a:r>
            <a:endParaRPr/>
          </a:p>
        </p:txBody>
      </p:sp>
      <p:sp>
        <p:nvSpPr>
          <p:cNvPr id="321" name="Google Shape;321;p56"/>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graphicFrame>
        <p:nvGraphicFramePr>
          <p:cNvPr id="326" name="Google Shape;326;p57"/>
          <p:cNvGraphicFramePr/>
          <p:nvPr/>
        </p:nvGraphicFramePr>
        <p:xfrm>
          <a:off x="250050" y="1808413"/>
          <a:ext cx="3000000" cy="3000000"/>
        </p:xfrm>
        <a:graphic>
          <a:graphicData uri="http://schemas.openxmlformats.org/drawingml/2006/table">
            <a:tbl>
              <a:tblPr>
                <a:noFill/>
                <a:tableStyleId>{385E58F0-B348-4383-A09C-207D46FD5A56}</a:tableStyleId>
              </a:tblPr>
              <a:tblGrid>
                <a:gridCol w="1384700"/>
                <a:gridCol w="4105875"/>
              </a:tblGrid>
              <a:tr h="308625">
                <a:tc>
                  <a:txBody>
                    <a:bodyPr/>
                    <a:lstStyle/>
                    <a:p>
                      <a:pPr indent="0" lvl="0" marL="0" rtl="0" algn="l">
                        <a:spcBef>
                          <a:spcPts val="0"/>
                        </a:spcBef>
                        <a:spcAft>
                          <a:spcPts val="0"/>
                        </a:spcAft>
                        <a:buNone/>
                      </a:pPr>
                      <a:r>
                        <a:rPr lang="en" sz="900">
                          <a:latin typeface="Inter"/>
                          <a:ea typeface="Inter"/>
                          <a:cs typeface="Inter"/>
                          <a:sym typeface="Inter"/>
                        </a:rPr>
                        <a:t>C3 - Score</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1</a:t>
                      </a:r>
                      <a:endParaRPr sz="900">
                        <a:latin typeface="Inter"/>
                        <a:ea typeface="Inter"/>
                        <a:cs typeface="Inter"/>
                        <a:sym typeface="Inter"/>
                      </a:endParaRPr>
                    </a:p>
                  </a:txBody>
                  <a:tcPr marT="91425" marB="91425" marR="91425" marL="91425"/>
                </a:tc>
              </a:tr>
              <a:tr h="733000">
                <a:tc>
                  <a:txBody>
                    <a:bodyPr/>
                    <a:lstStyle/>
                    <a:p>
                      <a:pPr indent="0" lvl="0" marL="0" rtl="0" algn="l">
                        <a:spcBef>
                          <a:spcPts val="0"/>
                        </a:spcBef>
                        <a:spcAft>
                          <a:spcPts val="0"/>
                        </a:spcAft>
                        <a:buNone/>
                      </a:pPr>
                      <a:r>
                        <a:rPr lang="en" sz="900">
                          <a:latin typeface="Inter"/>
                          <a:ea typeface="Inter"/>
                          <a:cs typeface="Inter"/>
                          <a:sym typeface="Inter"/>
                        </a:rPr>
                        <a:t>C3 - Reasoning</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The agent asked several questions to validate eligibility, including credit score, mortgage balance, employment status, income, and co-applicant information. This demonstrates a thorough attempt to validate eligibility.</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595575">
                <a:tc>
                  <a:txBody>
                    <a:bodyPr/>
                    <a:lstStyle/>
                    <a:p>
                      <a:pPr indent="0" lvl="0" marL="0" rtl="0" algn="l">
                        <a:spcBef>
                          <a:spcPts val="0"/>
                        </a:spcBef>
                        <a:spcAft>
                          <a:spcPts val="0"/>
                        </a:spcAft>
                        <a:buNone/>
                      </a:pPr>
                      <a:r>
                        <a:rPr lang="en" sz="900">
                          <a:latin typeface="Inter"/>
                          <a:ea typeface="Inter"/>
                          <a:cs typeface="Inter"/>
                          <a:sym typeface="Inter"/>
                        </a:rPr>
                        <a:t>C3 - Snippet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All right, so just a few things in terms of credit score roughly. Do you know where abouts you're sitting., And for the balance on the mortgage what, was remaining there?, Are you self-employed? Salaried?, And roughly the annual income there., And did you have a co applicant or just yourself there?</a:t>
                      </a:r>
                      <a:endParaRPr i="1"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638475">
                <a:tc>
                  <a:txBody>
                    <a:bodyPr/>
                    <a:lstStyle/>
                    <a:p>
                      <a:pPr indent="0" lvl="0" marL="0" rtl="0" algn="l">
                        <a:spcBef>
                          <a:spcPts val="0"/>
                        </a:spcBef>
                        <a:spcAft>
                          <a:spcPts val="0"/>
                        </a:spcAft>
                        <a:buNone/>
                      </a:pPr>
                      <a:r>
                        <a:rPr lang="en" sz="900">
                          <a:latin typeface="Inter"/>
                          <a:ea typeface="Inter"/>
                          <a:cs typeface="Inter"/>
                          <a:sym typeface="Inter"/>
                        </a:rPr>
                        <a:t>Expectation (per script)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“Perfect! I can definitely have a couple of our partners reach out to you, once I confirm a few simple details: Are you looking to renew, purchase or refinance a home? How would you rate your credit fair, good, excellent, and What is the postal code for the home?”</a:t>
                      </a:r>
                      <a:endParaRPr i="1" sz="900">
                        <a:latin typeface="Inter"/>
                        <a:ea typeface="Inter"/>
                        <a:cs typeface="Inter"/>
                        <a:sym typeface="Inter"/>
                      </a:endParaRPr>
                    </a:p>
                    <a:p>
                      <a:pPr indent="0" lvl="0" marL="0" rtl="0" algn="l">
                        <a:spcBef>
                          <a:spcPts val="0"/>
                        </a:spcBef>
                        <a:spcAft>
                          <a:spcPts val="0"/>
                        </a:spcAft>
                        <a:buNone/>
                      </a:pPr>
                      <a:r>
                        <a:t/>
                      </a:r>
                      <a:endParaRPr i="1" sz="900">
                        <a:latin typeface="Inter"/>
                        <a:ea typeface="Inter"/>
                        <a:cs typeface="Inter"/>
                        <a:sym typeface="Inter"/>
                      </a:endParaRPr>
                    </a:p>
                  </a:txBody>
                  <a:tcPr marT="91425" marB="91425" marR="91425" marL="91425"/>
                </a:tc>
              </a:tr>
            </a:tbl>
          </a:graphicData>
        </a:graphic>
      </p:graphicFrame>
      <p:sp>
        <p:nvSpPr>
          <p:cNvPr id="327" name="Google Shape;327;p57"/>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17 calls</a:t>
            </a:r>
            <a:endParaRPr sz="800">
              <a:solidFill>
                <a:srgbClr val="475067"/>
              </a:solidFill>
            </a:endParaRPr>
          </a:p>
          <a:p>
            <a:pPr indent="0" lvl="0" marL="0" rtl="0" algn="ctr">
              <a:spcBef>
                <a:spcPts val="0"/>
              </a:spcBef>
              <a:spcAft>
                <a:spcPts val="0"/>
              </a:spcAft>
              <a:buNone/>
            </a:pPr>
            <a:r>
              <a:rPr lang="en" sz="800">
                <a:solidFill>
                  <a:srgbClr val="475067"/>
                </a:solidFill>
              </a:rPr>
              <a:t>Overall High Scorer</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328" name="Google Shape;328;p57"/>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navraj@nesto.ca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call_id=700000000962403.0</a:t>
            </a:r>
            <a:endParaRPr>
              <a:solidFill>
                <a:schemeClr val="accent6"/>
              </a:solidFill>
            </a:endParaRPr>
          </a:p>
        </p:txBody>
      </p:sp>
      <p:pic>
        <p:nvPicPr>
          <p:cNvPr id="329" name="Google Shape;329;p57"/>
          <p:cNvPicPr preferRelativeResize="0"/>
          <p:nvPr/>
        </p:nvPicPr>
        <p:blipFill>
          <a:blip r:embed="rId3">
            <a:alphaModFix/>
          </a:blip>
          <a:stretch>
            <a:fillRect/>
          </a:stretch>
        </p:blipFill>
        <p:spPr>
          <a:xfrm>
            <a:off x="5831700" y="1803975"/>
            <a:ext cx="3092840" cy="1815725"/>
          </a:xfrm>
          <a:prstGeom prst="rect">
            <a:avLst/>
          </a:prstGeom>
          <a:noFill/>
          <a:ln cap="flat" cmpd="sng" w="9525">
            <a:solidFill>
              <a:schemeClr val="dk1"/>
            </a:solidFill>
            <a:prstDash val="solid"/>
            <a:round/>
            <a:headEnd len="sm" w="sm" type="none"/>
            <a:tailEnd len="sm" w="sm" type="none"/>
          </a:ln>
        </p:spPr>
      </p:pic>
      <p:sp>
        <p:nvSpPr>
          <p:cNvPr id="330" name="Google Shape;330;p5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Navraj Coaching Tips</a:t>
            </a:r>
            <a:endParaRPr/>
          </a:p>
        </p:txBody>
      </p:sp>
      <p:sp>
        <p:nvSpPr>
          <p:cNvPr id="331" name="Google Shape;331;p57"/>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graphicFrame>
        <p:nvGraphicFramePr>
          <p:cNvPr id="336" name="Google Shape;336;p58"/>
          <p:cNvGraphicFramePr/>
          <p:nvPr/>
        </p:nvGraphicFramePr>
        <p:xfrm>
          <a:off x="250050" y="1808413"/>
          <a:ext cx="3000000" cy="3000000"/>
        </p:xfrm>
        <a:graphic>
          <a:graphicData uri="http://schemas.openxmlformats.org/drawingml/2006/table">
            <a:tbl>
              <a:tblPr>
                <a:noFill/>
                <a:tableStyleId>{385E58F0-B348-4383-A09C-207D46FD5A56}</a:tableStyleId>
              </a:tblPr>
              <a:tblGrid>
                <a:gridCol w="1384700"/>
                <a:gridCol w="4105875"/>
              </a:tblGrid>
              <a:tr h="308625">
                <a:tc>
                  <a:txBody>
                    <a:bodyPr/>
                    <a:lstStyle/>
                    <a:p>
                      <a:pPr indent="0" lvl="0" marL="0" rtl="0" algn="l">
                        <a:spcBef>
                          <a:spcPts val="0"/>
                        </a:spcBef>
                        <a:spcAft>
                          <a:spcPts val="0"/>
                        </a:spcAft>
                        <a:buNone/>
                      </a:pPr>
                      <a:r>
                        <a:rPr lang="en" sz="900">
                          <a:latin typeface="Inter"/>
                          <a:ea typeface="Inter"/>
                          <a:cs typeface="Inter"/>
                          <a:sym typeface="Inter"/>
                        </a:rPr>
                        <a:t>C4 - Score</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1</a:t>
                      </a:r>
                      <a:endParaRPr sz="900">
                        <a:latin typeface="Inter"/>
                        <a:ea typeface="Inter"/>
                        <a:cs typeface="Inter"/>
                        <a:sym typeface="Inter"/>
                      </a:endParaRPr>
                    </a:p>
                  </a:txBody>
                  <a:tcPr marT="91425" marB="91425" marR="91425" marL="91425"/>
                </a:tc>
              </a:tr>
              <a:tr h="733000">
                <a:tc>
                  <a:txBody>
                    <a:bodyPr/>
                    <a:lstStyle/>
                    <a:p>
                      <a:pPr indent="0" lvl="0" marL="0" rtl="0" algn="l">
                        <a:spcBef>
                          <a:spcPts val="0"/>
                        </a:spcBef>
                        <a:spcAft>
                          <a:spcPts val="0"/>
                        </a:spcAft>
                        <a:buNone/>
                      </a:pPr>
                      <a:r>
                        <a:rPr lang="en" sz="900">
                          <a:latin typeface="Inter"/>
                          <a:ea typeface="Inter"/>
                          <a:cs typeface="Inter"/>
                          <a:sym typeface="Inter"/>
                        </a:rPr>
                        <a:t>C4 - Reasoning</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900">
                          <a:latin typeface="Inter"/>
                          <a:ea typeface="Inter"/>
                          <a:cs typeface="Inter"/>
                          <a:sym typeface="Inter"/>
                        </a:rPr>
                        <a:t>The agent clearly stated the next steps, mentioning that an advisor would run some numbers and provide quotes. While the agent didn't emphasize credentials, they did set the context for transferring to a mortgage advisor.</a:t>
                      </a:r>
                      <a:endParaRPr sz="900">
                        <a:latin typeface="Inter"/>
                        <a:ea typeface="Inter"/>
                        <a:cs typeface="Inter"/>
                        <a:sym typeface="Inter"/>
                      </a:endParaRPr>
                    </a:p>
                  </a:txBody>
                  <a:tcPr marT="91425" marB="91425" marR="91425" marL="91425"/>
                </a:tc>
              </a:tr>
              <a:tr h="595575">
                <a:tc>
                  <a:txBody>
                    <a:bodyPr/>
                    <a:lstStyle/>
                    <a:p>
                      <a:pPr indent="0" lvl="0" marL="0" rtl="0" algn="l">
                        <a:spcBef>
                          <a:spcPts val="0"/>
                        </a:spcBef>
                        <a:spcAft>
                          <a:spcPts val="0"/>
                        </a:spcAft>
                        <a:buNone/>
                      </a:pPr>
                      <a:r>
                        <a:rPr lang="en" sz="900">
                          <a:latin typeface="Inter"/>
                          <a:ea typeface="Inter"/>
                          <a:cs typeface="Inter"/>
                          <a:sym typeface="Inter"/>
                        </a:rPr>
                        <a:t>C4 - Snippet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All right. Perfect. Looks good. So in that case, bear with me a moment. Here, let me get Ahold of our advisor to run some numbers and get you some cool to see what we can do for you Okay.?</a:t>
                      </a:r>
                      <a:endParaRPr i="1"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txBody>
                  <a:tcPr marT="91425" marB="91425" marR="91425" marL="91425"/>
                </a:tc>
              </a:tr>
              <a:tr h="638475">
                <a:tc>
                  <a:txBody>
                    <a:bodyPr/>
                    <a:lstStyle/>
                    <a:p>
                      <a:pPr indent="0" lvl="0" marL="0" rtl="0" algn="l">
                        <a:spcBef>
                          <a:spcPts val="0"/>
                        </a:spcBef>
                        <a:spcAft>
                          <a:spcPts val="0"/>
                        </a:spcAft>
                        <a:buNone/>
                      </a:pPr>
                      <a:r>
                        <a:rPr lang="en" sz="900">
                          <a:latin typeface="Inter"/>
                          <a:ea typeface="Inter"/>
                          <a:cs typeface="Inter"/>
                          <a:sym typeface="Inter"/>
                        </a:rPr>
                        <a:t>Expectation (per script)</a:t>
                      </a:r>
                      <a:endParaRPr sz="9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i="1" lang="en" sz="900">
                          <a:latin typeface="Inter"/>
                          <a:ea typeface="Inter"/>
                          <a:cs typeface="Inter"/>
                          <a:sym typeface="Inter"/>
                        </a:rPr>
                        <a:t>“Great news! Along with having a couple partners that will reach out, I have our elite partner who is the Canadian Lending Associations #1 ranked lender in 2023. I’m going to get a licensed mortgage advisor from nesto on the line for you right now, can you bear with me a moment?”</a:t>
                      </a:r>
                      <a:endParaRPr i="1" sz="900">
                        <a:latin typeface="Inter"/>
                        <a:ea typeface="Inter"/>
                        <a:cs typeface="Inter"/>
                        <a:sym typeface="Inter"/>
                      </a:endParaRPr>
                    </a:p>
                  </a:txBody>
                  <a:tcPr marT="91425" marB="91425" marR="91425" marL="91425"/>
                </a:tc>
              </a:tr>
            </a:tbl>
          </a:graphicData>
        </a:graphic>
      </p:graphicFrame>
      <p:sp>
        <p:nvSpPr>
          <p:cNvPr id="337" name="Google Shape;337;p58"/>
          <p:cNvSpPr txBox="1"/>
          <p:nvPr/>
        </p:nvSpPr>
        <p:spPr>
          <a:xfrm>
            <a:off x="6603925" y="1257975"/>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Total Calls: 17 calls</a:t>
            </a:r>
            <a:endParaRPr sz="800">
              <a:solidFill>
                <a:srgbClr val="475067"/>
              </a:solidFill>
            </a:endParaRPr>
          </a:p>
          <a:p>
            <a:pPr indent="0" lvl="0" marL="0" rtl="0" algn="ctr">
              <a:spcBef>
                <a:spcPts val="0"/>
              </a:spcBef>
              <a:spcAft>
                <a:spcPts val="0"/>
              </a:spcAft>
              <a:buNone/>
            </a:pPr>
            <a:r>
              <a:rPr lang="en" sz="800">
                <a:solidFill>
                  <a:srgbClr val="475067"/>
                </a:solidFill>
              </a:rPr>
              <a:t>Overall High Scorer</a:t>
            </a:r>
            <a:endParaRPr sz="800">
              <a:solidFill>
                <a:srgbClr val="475067"/>
              </a:solidFill>
            </a:endParaRPr>
          </a:p>
          <a:p>
            <a:pPr indent="0" lvl="0" marL="0" rtl="0" algn="ctr">
              <a:spcBef>
                <a:spcPts val="0"/>
              </a:spcBef>
              <a:spcAft>
                <a:spcPts val="0"/>
              </a:spcAft>
              <a:buNone/>
            </a:pPr>
            <a:r>
              <a:rPr lang="en" sz="800">
                <a:solidFill>
                  <a:srgbClr val="475067"/>
                </a:solidFill>
              </a:rPr>
              <a:t>Room for improvement in C1</a:t>
            </a:r>
            <a:endParaRPr sz="700">
              <a:solidFill>
                <a:srgbClr val="475067"/>
              </a:solidFill>
            </a:endParaRPr>
          </a:p>
          <a:p>
            <a:pPr indent="0" lvl="0" marL="0" rtl="0" algn="l">
              <a:spcBef>
                <a:spcPts val="0"/>
              </a:spcBef>
              <a:spcAft>
                <a:spcPts val="0"/>
              </a:spcAft>
              <a:buNone/>
            </a:pPr>
            <a:r>
              <a:t/>
            </a:r>
            <a:endParaRPr sz="800">
              <a:solidFill>
                <a:srgbClr val="475067"/>
              </a:solidFill>
            </a:endParaRPr>
          </a:p>
        </p:txBody>
      </p:sp>
      <p:sp>
        <p:nvSpPr>
          <p:cNvPr id="338" name="Google Shape;338;p58"/>
          <p:cNvSpPr txBox="1"/>
          <p:nvPr/>
        </p:nvSpPr>
        <p:spPr>
          <a:xfrm>
            <a:off x="6029125" y="3772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accent6"/>
                </a:solidFill>
              </a:rPr>
              <a:t>navraj@nesto.ca</a:t>
            </a:r>
            <a:endParaRPr sz="700">
              <a:solidFill>
                <a:schemeClr val="accent6"/>
              </a:solidFill>
            </a:endParaRPr>
          </a:p>
          <a:p>
            <a:pPr indent="0" lvl="0" marL="0" rtl="0" algn="ctr">
              <a:spcBef>
                <a:spcPts val="0"/>
              </a:spcBef>
              <a:spcAft>
                <a:spcPts val="0"/>
              </a:spcAft>
              <a:buNone/>
            </a:pPr>
            <a:r>
              <a:rPr lang="en" sz="700">
                <a:solidFill>
                  <a:schemeClr val="accent6"/>
                </a:solidFill>
              </a:rPr>
              <a:t>call_id=700000000962403.0</a:t>
            </a:r>
            <a:endParaRPr>
              <a:solidFill>
                <a:schemeClr val="accent6"/>
              </a:solidFill>
            </a:endParaRPr>
          </a:p>
        </p:txBody>
      </p:sp>
      <p:pic>
        <p:nvPicPr>
          <p:cNvPr id="339" name="Google Shape;339;p58"/>
          <p:cNvPicPr preferRelativeResize="0"/>
          <p:nvPr/>
        </p:nvPicPr>
        <p:blipFill>
          <a:blip r:embed="rId3">
            <a:alphaModFix/>
          </a:blip>
          <a:stretch>
            <a:fillRect/>
          </a:stretch>
        </p:blipFill>
        <p:spPr>
          <a:xfrm>
            <a:off x="5831700" y="1803975"/>
            <a:ext cx="3092840" cy="1815725"/>
          </a:xfrm>
          <a:prstGeom prst="rect">
            <a:avLst/>
          </a:prstGeom>
          <a:noFill/>
          <a:ln cap="flat" cmpd="sng" w="9525">
            <a:solidFill>
              <a:schemeClr val="dk1"/>
            </a:solidFill>
            <a:prstDash val="solid"/>
            <a:round/>
            <a:headEnd len="sm" w="sm" type="none"/>
            <a:tailEnd len="sm" w="sm" type="none"/>
          </a:ln>
        </p:spPr>
      </p:pic>
      <p:sp>
        <p:nvSpPr>
          <p:cNvPr id="340" name="Google Shape;340;p5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Navraj Coaching Tips</a:t>
            </a:r>
            <a:endParaRPr/>
          </a:p>
        </p:txBody>
      </p:sp>
      <p:sp>
        <p:nvSpPr>
          <p:cNvPr id="341" name="Google Shape;341;p58"/>
          <p:cNvSpPr txBox="1"/>
          <p:nvPr/>
        </p:nvSpPr>
        <p:spPr>
          <a:xfrm>
            <a:off x="7755050" y="4762975"/>
            <a:ext cx="1666800" cy="49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hlink"/>
                </a:solidFill>
                <a:hlinkClick r:id="rId4"/>
              </a:rPr>
              <a:t>FILTERED LINK</a:t>
            </a:r>
            <a:endParaRPr sz="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345" name="Shape 345"/>
        <p:cNvGrpSpPr/>
        <p:nvPr/>
      </p:nvGrpSpPr>
      <p:grpSpPr>
        <a:xfrm>
          <a:off x="0" y="0"/>
          <a:ext cx="0" cy="0"/>
          <a:chOff x="0" y="0"/>
          <a:chExt cx="0" cy="0"/>
        </a:xfrm>
      </p:grpSpPr>
      <p:pic>
        <p:nvPicPr>
          <p:cNvPr id="346" name="Google Shape;346;p59"/>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347" name="Google Shape;347;p59"/>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Method</a:t>
            </a:r>
            <a:endParaRPr sz="3600">
              <a:solidFill>
                <a:schemeClr val="lt1"/>
              </a:solidFill>
              <a:latin typeface="Manrope SemiBold"/>
              <a:ea typeface="Manrope SemiBold"/>
              <a:cs typeface="Manrope SemiBold"/>
              <a:sym typeface="Manrope SemiBold"/>
            </a:endParaRPr>
          </a:p>
        </p:txBody>
      </p:sp>
      <p:pic>
        <p:nvPicPr>
          <p:cNvPr id="348" name="Google Shape;348;p59"/>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349" name="Google Shape;34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60"/>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56" name="Google Shape;356;p60"/>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Scoring Criteria 1 - 2</a:t>
            </a:r>
            <a:endParaRPr sz="3500"/>
          </a:p>
        </p:txBody>
      </p:sp>
      <p:sp>
        <p:nvSpPr>
          <p:cNvPr id="357" name="Google Shape;357;p60"/>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graphicFrame>
        <p:nvGraphicFramePr>
          <p:cNvPr id="358" name="Google Shape;358;p60"/>
          <p:cNvGraphicFramePr/>
          <p:nvPr/>
        </p:nvGraphicFramePr>
        <p:xfrm>
          <a:off x="651500" y="1485750"/>
          <a:ext cx="3000000" cy="3000000"/>
        </p:xfrm>
        <a:graphic>
          <a:graphicData uri="http://schemas.openxmlformats.org/drawingml/2006/table">
            <a:tbl>
              <a:tblPr>
                <a:noFill/>
                <a:tableStyleId>{385E58F0-B348-4383-A09C-207D46FD5A56}</a:tableStyleId>
              </a:tblPr>
              <a:tblGrid>
                <a:gridCol w="2996350"/>
                <a:gridCol w="1537875"/>
                <a:gridCol w="1549400"/>
                <a:gridCol w="2027875"/>
              </a:tblGrid>
              <a:tr h="299250">
                <a:tc>
                  <a:txBody>
                    <a:bodyPr/>
                    <a:lstStyle/>
                    <a:p>
                      <a:pPr indent="0" lvl="0" marL="0" rtl="0" algn="l">
                        <a:spcBef>
                          <a:spcPts val="0"/>
                        </a:spcBef>
                        <a:spcAft>
                          <a:spcPts val="0"/>
                        </a:spcAft>
                        <a:buNone/>
                      </a:pPr>
                      <a:r>
                        <a:rPr lang="en" sz="800">
                          <a:latin typeface="Inter Medium"/>
                          <a:ea typeface="Inter Medium"/>
                          <a:cs typeface="Inter Medium"/>
                          <a:sym typeface="Inter Medium"/>
                        </a:rPr>
                        <a:t>Script Guidance</a:t>
                      </a:r>
                      <a:endParaRPr sz="800">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sz="800">
                          <a:latin typeface="Inter Medium"/>
                          <a:ea typeface="Inter Medium"/>
                          <a:cs typeface="Inter Medium"/>
                          <a:sym typeface="Inter Medium"/>
                        </a:rPr>
                        <a:t>Evaluation Key</a:t>
                      </a:r>
                      <a:endParaRPr sz="800">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sz="800">
                          <a:latin typeface="Inter Medium"/>
                          <a:ea typeface="Inter Medium"/>
                          <a:cs typeface="Inter Medium"/>
                          <a:sym typeface="Inter Medium"/>
                        </a:rPr>
                        <a:t>Possible Scores</a:t>
                      </a:r>
                      <a:endParaRPr sz="800">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sz="800">
                          <a:latin typeface="Inter Medium"/>
                          <a:ea typeface="Inter Medium"/>
                          <a:cs typeface="Inter Medium"/>
                          <a:sym typeface="Inter Medium"/>
                        </a:rPr>
                        <a:t>Notes</a:t>
                      </a:r>
                      <a:endParaRPr sz="800">
                        <a:latin typeface="Inter Medium"/>
                        <a:ea typeface="Inter Medium"/>
                        <a:cs typeface="Inter Medium"/>
                        <a:sym typeface="Inter Medium"/>
                      </a:endParaRPr>
                    </a:p>
                  </a:txBody>
                  <a:tcPr marT="91425" marB="91425" marR="91425" marL="91425"/>
                </a:tc>
              </a:tr>
              <a:tr h="733950">
                <a:tc>
                  <a:txBody>
                    <a:bodyPr/>
                    <a:lstStyle/>
                    <a:p>
                      <a:pPr indent="0" lvl="0" marL="0" rtl="0" algn="l">
                        <a:spcBef>
                          <a:spcPts val="0"/>
                        </a:spcBef>
                        <a:spcAft>
                          <a:spcPts val="0"/>
                        </a:spcAft>
                        <a:buNone/>
                      </a:pPr>
                      <a:r>
                        <a:rPr lang="en" sz="800">
                          <a:latin typeface="Inter Medium"/>
                          <a:ea typeface="Inter Medium"/>
                          <a:cs typeface="Inter Medium"/>
                          <a:sym typeface="Inter Medium"/>
                        </a:rPr>
                        <a:t>Hi is this [CLIENT NAME]? Hi, this is [AGENT NAME] calling you from CompareMortgages.ca. I’m calling in regard to the inquiry that you started on our website. (this is a statement, not a question. Pause after you say this and let them respond)</a:t>
                      </a:r>
                      <a:endParaRPr sz="800">
                        <a:latin typeface="Inter Medium"/>
                        <a:ea typeface="Inter Medium"/>
                        <a:cs typeface="Inter Medium"/>
                        <a:sym typeface="Inter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latin typeface="Inter"/>
                          <a:ea typeface="Inter"/>
                          <a:cs typeface="Inter"/>
                          <a:sym typeface="Inter"/>
                        </a:rPr>
                        <a:t>Correct Introduction</a:t>
                      </a:r>
                      <a:endParaRPr b="1" sz="8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1,0 or "unclear"</a:t>
                      </a:r>
                      <a:endParaRPr sz="8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 Checking if the agent correctly introduced themselves as calling from CompareMortgages and correctly set the context that it was regarding an inquiry started on the website.</a:t>
                      </a:r>
                      <a:endParaRPr sz="800">
                        <a:latin typeface="Inter"/>
                        <a:ea typeface="Inter"/>
                        <a:cs typeface="Inter"/>
                        <a:sym typeface="Inter"/>
                      </a:endParaRPr>
                    </a:p>
                    <a:p>
                      <a:pPr indent="0" lvl="0" marL="0" rtl="0" algn="l">
                        <a:spcBef>
                          <a:spcPts val="0"/>
                        </a:spcBef>
                        <a:spcAft>
                          <a:spcPts val="0"/>
                        </a:spcAft>
                        <a:buNone/>
                      </a:pPr>
                      <a:r>
                        <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 The prompt is also checking whether the lead was confused and had to re-verify </a:t>
                      </a:r>
                      <a:endParaRPr sz="8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765550">
                <a:tc>
                  <a:txBody>
                    <a:bodyPr/>
                    <a:lstStyle/>
                    <a:p>
                      <a:pPr indent="0" lvl="0" marL="0" rtl="0" algn="l">
                        <a:spcBef>
                          <a:spcPts val="0"/>
                        </a:spcBef>
                        <a:spcAft>
                          <a:spcPts val="0"/>
                        </a:spcAft>
                        <a:buNone/>
                      </a:pPr>
                      <a:r>
                        <a:rPr lang="en" sz="800">
                          <a:latin typeface="Inter Medium"/>
                          <a:ea typeface="Inter Medium"/>
                          <a:cs typeface="Inter Medium"/>
                          <a:sym typeface="Inter Medium"/>
                        </a:rPr>
                        <a:t>First and foremost, I was hoping to get a better idea about why it was you were inquiring. Are you purchasing a home, renewing, refinancing?</a:t>
                      </a:r>
                      <a:endParaRPr sz="800">
                        <a:latin typeface="Inter Medium"/>
                        <a:ea typeface="Inter Medium"/>
                        <a:cs typeface="Inter Medium"/>
                        <a:sym typeface="Inter Medium"/>
                      </a:endParaRPr>
                    </a:p>
                    <a:p>
                      <a:pPr indent="0" lvl="0" marL="0" rtl="0" algn="l">
                        <a:spcBef>
                          <a:spcPts val="0"/>
                        </a:spcBef>
                        <a:spcAft>
                          <a:spcPts val="0"/>
                        </a:spcAft>
                        <a:buNone/>
                      </a:pPr>
                      <a:r>
                        <a:rPr lang="en" sz="800">
                          <a:latin typeface="Inter Medium"/>
                          <a:ea typeface="Inter Medium"/>
                          <a:cs typeface="Inter Medium"/>
                          <a:sym typeface="Inter Medium"/>
                        </a:rPr>
                        <a:t>(Let the client tell you their plan)</a:t>
                      </a:r>
                      <a:endParaRPr sz="800">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latin typeface="Inter"/>
                          <a:ea typeface="Inter"/>
                          <a:cs typeface="Inter"/>
                          <a:sym typeface="Inter"/>
                        </a:rPr>
                        <a:t>Understand User Situation</a:t>
                      </a:r>
                      <a:endParaRPr b="1"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1,0 or "unclear"</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 Checking to see if the agent allowed the User to explain their situation and understood them before progressing</a:t>
                      </a:r>
                      <a:endParaRPr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6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61"/>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65" name="Google Shape;365;p61"/>
          <p:cNvSpPr txBox="1"/>
          <p:nvPr>
            <p:ph type="title"/>
          </p:nvPr>
        </p:nvSpPr>
        <p:spPr>
          <a:xfrm>
            <a:off x="512100" y="31945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accent1"/>
                </a:solidFill>
              </a:rPr>
              <a:t>Scoring Criteria  - 3 and 4</a:t>
            </a:r>
            <a:endParaRPr sz="3500">
              <a:solidFill>
                <a:schemeClr val="accent1"/>
              </a:solidFill>
            </a:endParaRPr>
          </a:p>
          <a:p>
            <a:pPr indent="0" lvl="0" marL="0" rtl="0" algn="l">
              <a:spcBef>
                <a:spcPts val="0"/>
              </a:spcBef>
              <a:spcAft>
                <a:spcPts val="0"/>
              </a:spcAft>
              <a:buNone/>
            </a:pPr>
            <a:r>
              <a:t/>
            </a:r>
            <a:endParaRPr sz="3500"/>
          </a:p>
        </p:txBody>
      </p:sp>
      <p:sp>
        <p:nvSpPr>
          <p:cNvPr id="366" name="Google Shape;366;p61"/>
          <p:cNvSpPr txBox="1"/>
          <p:nvPr/>
        </p:nvSpPr>
        <p:spPr>
          <a:xfrm>
            <a:off x="807238" y="1356638"/>
            <a:ext cx="13443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900">
              <a:solidFill>
                <a:srgbClr val="475067"/>
              </a:solidFill>
            </a:endParaRPr>
          </a:p>
        </p:txBody>
      </p:sp>
      <p:graphicFrame>
        <p:nvGraphicFramePr>
          <p:cNvPr id="367" name="Google Shape;367;p61"/>
          <p:cNvGraphicFramePr/>
          <p:nvPr/>
        </p:nvGraphicFramePr>
        <p:xfrm>
          <a:off x="575425" y="1443650"/>
          <a:ext cx="3000000" cy="3000000"/>
        </p:xfrm>
        <a:graphic>
          <a:graphicData uri="http://schemas.openxmlformats.org/drawingml/2006/table">
            <a:tbl>
              <a:tblPr>
                <a:noFill/>
                <a:tableStyleId>{385E58F0-B348-4383-A09C-207D46FD5A56}</a:tableStyleId>
              </a:tblPr>
              <a:tblGrid>
                <a:gridCol w="2996350"/>
                <a:gridCol w="1537875"/>
                <a:gridCol w="1549400"/>
                <a:gridCol w="2027875"/>
              </a:tblGrid>
              <a:tr h="299250">
                <a:tc>
                  <a:txBody>
                    <a:bodyPr/>
                    <a:lstStyle/>
                    <a:p>
                      <a:pPr indent="0" lvl="0" marL="0" rtl="0" algn="l">
                        <a:spcBef>
                          <a:spcPts val="0"/>
                        </a:spcBef>
                        <a:spcAft>
                          <a:spcPts val="0"/>
                        </a:spcAft>
                        <a:buNone/>
                      </a:pPr>
                      <a:r>
                        <a:rPr lang="en" sz="800">
                          <a:latin typeface="Inter Medium"/>
                          <a:ea typeface="Inter Medium"/>
                          <a:cs typeface="Inter Medium"/>
                          <a:sym typeface="Inter Medium"/>
                        </a:rPr>
                        <a:t>Script Guidance</a:t>
                      </a:r>
                      <a:endParaRPr sz="800">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sz="800">
                          <a:latin typeface="Inter Medium"/>
                          <a:ea typeface="Inter Medium"/>
                          <a:cs typeface="Inter Medium"/>
                          <a:sym typeface="Inter Medium"/>
                        </a:rPr>
                        <a:t>Evaluation Key</a:t>
                      </a:r>
                      <a:endParaRPr sz="800">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sz="800">
                          <a:latin typeface="Inter Medium"/>
                          <a:ea typeface="Inter Medium"/>
                          <a:cs typeface="Inter Medium"/>
                          <a:sym typeface="Inter Medium"/>
                        </a:rPr>
                        <a:t>Possible Scores</a:t>
                      </a:r>
                      <a:endParaRPr sz="800">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sz="800">
                          <a:latin typeface="Inter Medium"/>
                          <a:ea typeface="Inter Medium"/>
                          <a:cs typeface="Inter Medium"/>
                          <a:sym typeface="Inter Medium"/>
                        </a:rPr>
                        <a:t>Notes</a:t>
                      </a:r>
                      <a:endParaRPr sz="800">
                        <a:latin typeface="Inter Medium"/>
                        <a:ea typeface="Inter Medium"/>
                        <a:cs typeface="Inter Medium"/>
                        <a:sym typeface="Inter Medium"/>
                      </a:endParaRPr>
                    </a:p>
                  </a:txBody>
                  <a:tcPr marT="91425" marB="91425" marR="91425" marL="91425"/>
                </a:tc>
              </a:tr>
              <a:tr h="999325">
                <a:tc>
                  <a:txBody>
                    <a:bodyPr/>
                    <a:lstStyle/>
                    <a:p>
                      <a:pPr indent="0" lvl="0" marL="0" rtl="0" algn="l">
                        <a:spcBef>
                          <a:spcPts val="0"/>
                        </a:spcBef>
                        <a:spcAft>
                          <a:spcPts val="0"/>
                        </a:spcAft>
                        <a:buNone/>
                      </a:pPr>
                      <a:r>
                        <a:rPr lang="en" sz="800">
                          <a:latin typeface="Inter Medium"/>
                          <a:ea typeface="Inter Medium"/>
                          <a:cs typeface="Inter Medium"/>
                          <a:sym typeface="Inter Medium"/>
                        </a:rPr>
                        <a:t>Perfect! I can definitely have a couple of our partners reach out to you, once I confirm a few simple details: Are you looking to renew, purchase or refinance a home? How would you rate your credit fair, good, excellent, and What is the postal code for the home?</a:t>
                      </a:r>
                      <a:endParaRPr sz="800">
                        <a:latin typeface="Inter Medium"/>
                        <a:ea typeface="Inter Medium"/>
                        <a:cs typeface="Inter Medium"/>
                        <a:sym typeface="Inter Medium"/>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latin typeface="Inter"/>
                          <a:ea typeface="Inter"/>
                          <a:cs typeface="Inter"/>
                          <a:sym typeface="Inter"/>
                        </a:rPr>
                        <a:t>Validate Eligibility </a:t>
                      </a:r>
                      <a:endParaRPr b="1" sz="8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1, 0,"no_need_to_validate" or "unclear"</a:t>
                      </a:r>
                      <a:endParaRPr sz="8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800">
                          <a:latin typeface="Inter"/>
                          <a:ea typeface="Inter"/>
                          <a:cs typeface="Inter"/>
                          <a:sym typeface="Inter"/>
                        </a:rPr>
                        <a:t>If the Agent determines the User is not meeting the requirements they do not need to validate credit, postal code or other details. If the Agent determines User did meet basic requirements, they are to properly validate eligibility. Extra category (no need to validate) added to account for those cases where agent determined no need to validate.</a:t>
                      </a:r>
                      <a:endParaRPr sz="8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999325">
                <a:tc>
                  <a:txBody>
                    <a:bodyPr/>
                    <a:lstStyle/>
                    <a:p>
                      <a:pPr indent="0" lvl="0" marL="0" rtl="0" algn="l">
                        <a:spcBef>
                          <a:spcPts val="0"/>
                        </a:spcBef>
                        <a:spcAft>
                          <a:spcPts val="0"/>
                        </a:spcAft>
                        <a:buNone/>
                      </a:pPr>
                      <a:r>
                        <a:rPr lang="en" sz="800">
                          <a:latin typeface="Inter Medium"/>
                          <a:ea typeface="Inter Medium"/>
                          <a:cs typeface="Inter Medium"/>
                          <a:sym typeface="Inter Medium"/>
                        </a:rPr>
                        <a:t>Great news! Along with having a couple partners that will reach out, I have our elite partner who is the Canadian Lending Associations #1 ranked lender in 2023. I’m going to get a licensed mortgage advisor from nesto on the line</a:t>
                      </a:r>
                      <a:endParaRPr sz="800">
                        <a:latin typeface="Inter Medium"/>
                        <a:ea typeface="Inter Medium"/>
                        <a:cs typeface="Inter Medium"/>
                        <a:sym typeface="Inter Medium"/>
                      </a:endParaRPr>
                    </a:p>
                    <a:p>
                      <a:pPr indent="0" lvl="0" marL="0" rtl="0" algn="l">
                        <a:spcBef>
                          <a:spcPts val="0"/>
                        </a:spcBef>
                        <a:spcAft>
                          <a:spcPts val="0"/>
                        </a:spcAft>
                        <a:buNone/>
                      </a:pPr>
                      <a:r>
                        <a:rPr lang="en" sz="800">
                          <a:latin typeface="Inter Medium"/>
                          <a:ea typeface="Inter Medium"/>
                          <a:cs typeface="Inter Medium"/>
                          <a:sym typeface="Inter Medium"/>
                        </a:rPr>
                        <a:t>for you right now, can you bear with me a moment?</a:t>
                      </a:r>
                      <a:endParaRPr sz="8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b="1" lang="en" sz="800">
                          <a:latin typeface="Inter"/>
                          <a:ea typeface="Inter"/>
                          <a:cs typeface="Inter"/>
                          <a:sym typeface="Inter"/>
                        </a:rPr>
                        <a:t>Clear Next Steps</a:t>
                      </a:r>
                      <a:endParaRPr b="1" sz="8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800">
                          <a:latin typeface="Inter Medium"/>
                          <a:ea typeface="Inter Medium"/>
                          <a:cs typeface="Inter Medium"/>
                          <a:sym typeface="Inter Medium"/>
                        </a:rPr>
                        <a:t>1,0 or "unclear"</a:t>
                      </a:r>
                      <a:endParaRPr sz="8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800">
                          <a:latin typeface="Inter Medium"/>
                          <a:ea typeface="Inter Medium"/>
                          <a:cs typeface="Inter Medium"/>
                          <a:sym typeface="Inter Medium"/>
                        </a:rPr>
                        <a:t>When providing clear steps there are two paths the Agent can take. If the Agent determines the customer is not eligible they are to briefly mention a callback from a partner or a different bank and politely end the call. If the Agent determines they were eligible, they are to properly set the context for the transfer to a mortgage advisor emphasizing Nesto credentials.</a:t>
                      </a:r>
                      <a:endParaRPr sz="800">
                        <a:latin typeface="Inter Medium"/>
                        <a:ea typeface="Inter Medium"/>
                        <a:cs typeface="Inter Medium"/>
                        <a:sym typeface="Inter Medium"/>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62"/>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74" name="Google Shape;374;p62"/>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Example</a:t>
            </a:r>
            <a:endParaRPr sz="3500"/>
          </a:p>
        </p:txBody>
      </p:sp>
      <p:sp>
        <p:nvSpPr>
          <p:cNvPr id="375" name="Google Shape;375;p62"/>
          <p:cNvSpPr/>
          <p:nvPr/>
        </p:nvSpPr>
        <p:spPr>
          <a:xfrm>
            <a:off x="254800" y="1051038"/>
            <a:ext cx="3022500" cy="3437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Yes. Hello.</a:t>
            </a:r>
            <a:endParaRPr sz="700"/>
          </a:p>
          <a:p>
            <a:pPr indent="0" lvl="0" marL="0" rtl="0" algn="ctr">
              <a:spcBef>
                <a:spcPts val="0"/>
              </a:spcBef>
              <a:spcAft>
                <a:spcPts val="0"/>
              </a:spcAft>
              <a:buNone/>
            </a:pPr>
            <a:r>
              <a:rPr lang="en" sz="700"/>
              <a:t>User: Yes. Come on.</a:t>
            </a:r>
            <a:endParaRPr sz="700"/>
          </a:p>
          <a:p>
            <a:pPr indent="0" lvl="0" marL="0" rtl="0" algn="ctr">
              <a:spcBef>
                <a:spcPts val="0"/>
              </a:spcBef>
              <a:spcAft>
                <a:spcPts val="0"/>
              </a:spcAft>
              <a:buNone/>
            </a:pPr>
            <a:r>
              <a:rPr lang="en" sz="700"/>
              <a:t>Agent: This is Nathan calling from Compare Mortgages. A my speaking with George Nydig.</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Yes, George. I'm reaching out regarding the inquiry made on our website for your mortgage renewal. Compare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mortgages  work with multiple lenders. I just wanted to see if you would be interested in receiving some rate options from our bank partners</a:t>
            </a:r>
            <a:endParaRPr sz="700"/>
          </a:p>
          <a:p>
            <a:pPr indent="0" lvl="0" marL="0" rtl="0" algn="ctr">
              <a:spcBef>
                <a:spcPts val="0"/>
              </a:spcBef>
              <a:spcAft>
                <a:spcPts val="0"/>
              </a:spcAft>
              <a:buNone/>
            </a:pPr>
            <a:r>
              <a:rPr lang="en" sz="700"/>
              <a:t>User: Sure. Sure.</a:t>
            </a:r>
            <a:endParaRPr sz="700"/>
          </a:p>
          <a:p>
            <a:pPr indent="0" lvl="0" marL="0" rtl="0" algn="ctr">
              <a:spcBef>
                <a:spcPts val="0"/>
              </a:spcBef>
              <a:spcAft>
                <a:spcPts val="0"/>
              </a:spcAft>
              <a:buNone/>
            </a:pPr>
            <a:r>
              <a:rPr lang="en" sz="700"/>
              <a:t>Agent: Perfect. When is the renewal date of your mortgage?</a:t>
            </a:r>
            <a:endParaRPr sz="700"/>
          </a:p>
          <a:p>
            <a:pPr indent="0" lvl="0" marL="0" rtl="0" algn="ctr">
              <a:spcBef>
                <a:spcPts val="0"/>
              </a:spcBef>
              <a:spcAft>
                <a:spcPts val="0"/>
              </a:spcAft>
              <a:buNone/>
            </a:pPr>
            <a:r>
              <a:rPr lang="en" sz="700"/>
              <a:t>User: October.</a:t>
            </a:r>
            <a:endParaRPr sz="700"/>
          </a:p>
          <a:p>
            <a:pPr indent="0" lvl="0" marL="0" rtl="0" algn="ctr">
              <a:spcBef>
                <a:spcPts val="0"/>
              </a:spcBef>
              <a:spcAft>
                <a:spcPts val="0"/>
              </a:spcAft>
              <a:buNone/>
            </a:pPr>
            <a:r>
              <a:rPr lang="en" sz="700"/>
              <a:t>Agent: October 2024.</a:t>
            </a:r>
            <a:endParaRPr sz="700"/>
          </a:p>
          <a:p>
            <a:pPr indent="0" lvl="0" marL="0" rtl="0" algn="ctr">
              <a:spcBef>
                <a:spcPts val="0"/>
              </a:spcBef>
              <a:spcAft>
                <a:spcPts val="0"/>
              </a:spcAft>
              <a:buNone/>
            </a:pPr>
            <a:r>
              <a:rPr lang="en" sz="700"/>
              <a:t>User: That.</a:t>
            </a:r>
            <a:endParaRPr sz="700"/>
          </a:p>
          <a:p>
            <a:pPr indent="0" lvl="0" marL="0" rtl="0" algn="ctr">
              <a:spcBef>
                <a:spcPts val="0"/>
              </a:spcBef>
              <a:spcAft>
                <a:spcPts val="0"/>
              </a:spcAft>
              <a:buNone/>
            </a:pPr>
            <a:r>
              <a:rPr lang="en" sz="700"/>
              <a:t>Agent: Okay this, is for your primary residence.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Perfect. So I'm going to put the notes regarding that. Our bank partner will do a follow up with you in the next 24 to 48 hours.</a:t>
            </a:r>
            <a:endParaRPr sz="700"/>
          </a:p>
          <a:p>
            <a:pPr indent="0" lvl="0" marL="0" rtl="0" algn="ctr">
              <a:spcBef>
                <a:spcPts val="0"/>
              </a:spcBef>
              <a:spcAft>
                <a:spcPts val="0"/>
              </a:spcAft>
              <a:buNone/>
            </a:pPr>
            <a:r>
              <a:rPr lang="en" sz="700"/>
              <a:t>User: Rich playing partner.</a:t>
            </a:r>
            <a:endParaRPr sz="700"/>
          </a:p>
          <a:p>
            <a:pPr indent="0" lvl="0" marL="0" rtl="0" algn="ctr">
              <a:spcBef>
                <a:spcPts val="0"/>
              </a:spcBef>
              <a:spcAft>
                <a:spcPts val="0"/>
              </a:spcAft>
              <a:buNone/>
            </a:pPr>
            <a:r>
              <a:rPr lang="en" sz="700"/>
              <a:t>Agent: We work with banks like BMO, CIBC National Bank Ek, Bank, so it will be about 2 to 3 lenders that will be reaching out to you and make you an offer of rates. And then you can compare with the options that you have currently.</a:t>
            </a:r>
            <a:endParaRPr sz="700"/>
          </a:p>
          <a:p>
            <a:pPr indent="0" lvl="0" marL="0" rtl="0" algn="ctr">
              <a:spcBef>
                <a:spcPts val="0"/>
              </a:spcBef>
              <a:spcAft>
                <a:spcPts val="0"/>
              </a:spcAft>
              <a:buNone/>
            </a:pPr>
            <a:r>
              <a:rPr lang="en" sz="700"/>
              <a:t>User: Right. Okay.</a:t>
            </a:r>
            <a:endParaRPr sz="700"/>
          </a:p>
          <a:p>
            <a:pPr indent="0" lvl="0" marL="0" rtl="0" algn="ctr">
              <a:spcBef>
                <a:spcPts val="0"/>
              </a:spcBef>
              <a:spcAft>
                <a:spcPts val="0"/>
              </a:spcAft>
              <a:buNone/>
            </a:pPr>
            <a:r>
              <a:rPr lang="en" sz="700"/>
              <a:t>Agent: Thank you very much for the time, George. You have a good day</a:t>
            </a:r>
            <a:endParaRPr sz="700"/>
          </a:p>
          <a:p>
            <a:pPr indent="0" lvl="0" marL="0" rtl="0" algn="ctr">
              <a:spcBef>
                <a:spcPts val="0"/>
              </a:spcBef>
              <a:spcAft>
                <a:spcPts val="0"/>
              </a:spcAft>
              <a:buNone/>
            </a:pPr>
            <a:r>
              <a:rPr lang="en" sz="700"/>
              <a:t>User: Thank you. Bye.</a:t>
            </a:r>
            <a:endParaRPr sz="700"/>
          </a:p>
          <a:p>
            <a:pPr indent="0" lvl="0" marL="0" rtl="0" algn="ctr">
              <a:spcBef>
                <a:spcPts val="0"/>
              </a:spcBef>
              <a:spcAft>
                <a:spcPts val="0"/>
              </a:spcAft>
              <a:buNone/>
            </a:pPr>
            <a:r>
              <a:rPr lang="en" sz="700"/>
              <a:t>Agent: Bye bye.</a:t>
            </a:r>
            <a:endParaRPr sz="700"/>
          </a:p>
          <a:p>
            <a:pPr indent="0" lvl="0" marL="0" rtl="0" algn="ctr">
              <a:spcBef>
                <a:spcPts val="0"/>
              </a:spcBef>
              <a:spcAft>
                <a:spcPts val="0"/>
              </a:spcAft>
              <a:buNone/>
            </a:pPr>
            <a:r>
              <a:rPr lang="en" sz="700"/>
              <a:t>User: Bye bye."</a:t>
            </a:r>
            <a:endParaRPr sz="700"/>
          </a:p>
        </p:txBody>
      </p:sp>
      <p:sp>
        <p:nvSpPr>
          <p:cNvPr id="376" name="Google Shape;376;p62"/>
          <p:cNvSpPr txBox="1"/>
          <p:nvPr/>
        </p:nvSpPr>
        <p:spPr>
          <a:xfrm>
            <a:off x="746050" y="448815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call_id: 600000001773451.0</a:t>
            </a:r>
            <a:endParaRPr sz="700">
              <a:solidFill>
                <a:srgbClr val="475067"/>
              </a:solidFill>
            </a:endParaRPr>
          </a:p>
          <a:p>
            <a:pPr indent="0" lvl="0" marL="0" rtl="0" algn="l">
              <a:spcBef>
                <a:spcPts val="0"/>
              </a:spcBef>
              <a:spcAft>
                <a:spcPts val="0"/>
              </a:spcAft>
              <a:buNone/>
            </a:pPr>
            <a:r>
              <a:t/>
            </a:r>
            <a:endParaRPr sz="700">
              <a:solidFill>
                <a:srgbClr val="475067"/>
              </a:solidFill>
            </a:endParaRPr>
          </a:p>
        </p:txBody>
      </p:sp>
      <p:graphicFrame>
        <p:nvGraphicFramePr>
          <p:cNvPr id="377" name="Google Shape;377;p62"/>
          <p:cNvGraphicFramePr/>
          <p:nvPr/>
        </p:nvGraphicFramePr>
        <p:xfrm>
          <a:off x="3496050" y="987213"/>
          <a:ext cx="3000000" cy="3000000"/>
        </p:xfrm>
        <a:graphic>
          <a:graphicData uri="http://schemas.openxmlformats.org/drawingml/2006/table">
            <a:tbl>
              <a:tblPr>
                <a:noFill/>
                <a:tableStyleId>{385E58F0-B348-4383-A09C-207D46FD5A56}</a:tableStyleId>
              </a:tblPr>
              <a:tblGrid>
                <a:gridCol w="2030300"/>
                <a:gridCol w="3352975"/>
              </a:tblGrid>
              <a:tr h="32547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613900">
                <a:tc>
                  <a:txBody>
                    <a:bodyPr/>
                    <a:lstStyle/>
                    <a:p>
                      <a:pPr indent="0" lvl="0" marL="0" rtl="0" algn="l">
                        <a:spcBef>
                          <a:spcPts val="0"/>
                        </a:spcBef>
                        <a:spcAft>
                          <a:spcPts val="0"/>
                        </a:spcAft>
                        <a:buNone/>
                      </a:pPr>
                      <a:r>
                        <a:rPr lang="en" sz="1000">
                          <a:latin typeface="Inter"/>
                          <a:ea typeface="Inter"/>
                          <a:cs typeface="Inter"/>
                          <a:sym typeface="Inter"/>
                        </a:rPr>
                        <a:t>criteria1_correct_introduction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467750">
                <a:tc>
                  <a:txBody>
                    <a:bodyPr/>
                    <a:lstStyle/>
                    <a:p>
                      <a:pPr indent="0" lvl="0" marL="0" rtl="0" algn="l">
                        <a:spcBef>
                          <a:spcPts val="0"/>
                        </a:spcBef>
                        <a:spcAft>
                          <a:spcPts val="0"/>
                        </a:spcAft>
                        <a:buNone/>
                      </a:pPr>
                      <a:r>
                        <a:rPr lang="en" sz="1000">
                          <a:latin typeface="Inter"/>
                          <a:ea typeface="Inter"/>
                          <a:cs typeface="Inter"/>
                          <a:sym typeface="Inter"/>
                        </a:rPr>
                        <a:t>criteria2_understand_user_situation</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txBody>
                  <a:tcPr marT="91425" marB="91425" marR="91425" marL="91425"/>
                </a:tc>
              </a:tr>
              <a:tr h="365450">
                <a:tc>
                  <a:txBody>
                    <a:bodyPr/>
                    <a:lstStyle/>
                    <a:p>
                      <a:pPr indent="0" lvl="0" marL="0" rtl="0" algn="l">
                        <a:spcBef>
                          <a:spcPts val="0"/>
                        </a:spcBef>
                        <a:spcAft>
                          <a:spcPts val="0"/>
                        </a:spcAft>
                        <a:buNone/>
                      </a:pPr>
                      <a:r>
                        <a:rPr lang="en" sz="1000">
                          <a:latin typeface="Inter"/>
                          <a:ea typeface="Inter"/>
                          <a:cs typeface="Inter"/>
                          <a:sym typeface="Inter"/>
                        </a:rPr>
                        <a:t>criteria3_validate_eligibility</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txBody>
                  <a:tcPr marT="91425" marB="91425" marR="91425" marL="91425"/>
                </a:tc>
              </a:tr>
              <a:tr h="365450">
                <a:tc>
                  <a:txBody>
                    <a:bodyPr/>
                    <a:lstStyle/>
                    <a:p>
                      <a:pPr indent="0" lvl="0" marL="0" rtl="0" algn="l">
                        <a:spcBef>
                          <a:spcPts val="0"/>
                        </a:spcBef>
                        <a:spcAft>
                          <a:spcPts val="0"/>
                        </a:spcAft>
                        <a:buNone/>
                      </a:pPr>
                      <a:r>
                        <a:rPr lang="en" sz="1000">
                          <a:latin typeface="Inter"/>
                          <a:ea typeface="Inter"/>
                          <a:cs typeface="Inter"/>
                          <a:sym typeface="Inter"/>
                        </a:rPr>
                        <a:t>criteria4_clear_next_steps</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txBody>
                  <a:tcPr marT="91425" marB="91425" marR="91425" marL="91425"/>
                </a:tc>
              </a:tr>
              <a:tr h="365450">
                <a:tc>
                  <a:txBody>
                    <a:bodyPr/>
                    <a:lstStyle/>
                    <a:p>
                      <a:pPr indent="0" lvl="0" marL="0" rtl="0" algn="l">
                        <a:spcBef>
                          <a:spcPts val="0"/>
                        </a:spcBef>
                        <a:spcAft>
                          <a:spcPts val="0"/>
                        </a:spcAft>
                        <a:buNone/>
                      </a:pPr>
                      <a:r>
                        <a:rPr lang="en" sz="1000">
                          <a:latin typeface="Inter"/>
                          <a:ea typeface="Inter"/>
                          <a:cs typeface="Inter"/>
                          <a:sym typeface="Inter"/>
                        </a:rPr>
                        <a:t>total_script_adherance_score</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4</a:t>
                      </a:r>
                      <a:endParaRPr sz="1000">
                        <a:latin typeface="Inter"/>
                        <a:ea typeface="Inter"/>
                        <a:cs typeface="Inter"/>
                        <a:sym typeface="Inter"/>
                      </a:endParaRPr>
                    </a:p>
                  </a:txBody>
                  <a:tcPr marT="91425" marB="91425" marR="91425" marL="91425"/>
                </a:tc>
              </a:tr>
              <a:tr h="365450">
                <a:tc>
                  <a:txBody>
                    <a:bodyPr/>
                    <a:lstStyle/>
                    <a:p>
                      <a:pPr indent="0" lvl="0" marL="0" rtl="0" algn="l">
                        <a:spcBef>
                          <a:spcPts val="0"/>
                        </a:spcBef>
                        <a:spcAft>
                          <a:spcPts val="0"/>
                        </a:spcAft>
                        <a:buNone/>
                      </a:pPr>
                      <a:r>
                        <a:rPr lang="en" sz="1000">
                          <a:latin typeface="Inter"/>
                          <a:ea typeface="Inter"/>
                          <a:cs typeface="Inter"/>
                          <a:sym typeface="Inter"/>
                        </a:rPr>
                        <a:t>incorrect actions</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None identified</a:t>
                      </a:r>
                      <a:endParaRPr sz="1000">
                        <a:latin typeface="Inter"/>
                        <a:ea typeface="Inter"/>
                        <a:cs typeface="Inter"/>
                        <a:sym typeface="Inter"/>
                      </a:endParaRPr>
                    </a:p>
                  </a:txBody>
                  <a:tcPr marT="91425" marB="91425" marR="91425" marL="91425"/>
                </a:tc>
              </a:tr>
              <a:tr h="613900">
                <a:tc>
                  <a:txBody>
                    <a:bodyPr/>
                    <a:lstStyle/>
                    <a:p>
                      <a:pPr indent="0" lvl="0" marL="0" rtl="0" algn="l">
                        <a:spcBef>
                          <a:spcPts val="0"/>
                        </a:spcBef>
                        <a:spcAft>
                          <a:spcPts val="0"/>
                        </a:spcAft>
                        <a:buNone/>
                      </a:pPr>
                      <a:r>
                        <a:rPr lang="en" sz="1000">
                          <a:latin typeface="Inter"/>
                          <a:ea typeface="Inter"/>
                          <a:cs typeface="Inter"/>
                          <a:sym typeface="Inter"/>
                        </a:rPr>
                        <a:t>correct actions</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Introduced himself and the company, Asked about renewal date, Confirmed primary residence, Explained next steps with timeline and partner banks</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63"/>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84" name="Google Shape;384;p63"/>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Example - Correct Intro</a:t>
            </a:r>
            <a:endParaRPr sz="3500"/>
          </a:p>
        </p:txBody>
      </p:sp>
      <p:sp>
        <p:nvSpPr>
          <p:cNvPr id="385" name="Google Shape;385;p63"/>
          <p:cNvSpPr/>
          <p:nvPr/>
        </p:nvSpPr>
        <p:spPr>
          <a:xfrm>
            <a:off x="254800" y="1051038"/>
            <a:ext cx="3022500" cy="3437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Yes. Hello.</a:t>
            </a:r>
            <a:endParaRPr sz="700"/>
          </a:p>
          <a:p>
            <a:pPr indent="0" lvl="0" marL="0" rtl="0" algn="ctr">
              <a:spcBef>
                <a:spcPts val="0"/>
              </a:spcBef>
              <a:spcAft>
                <a:spcPts val="0"/>
              </a:spcAft>
              <a:buNone/>
            </a:pPr>
            <a:r>
              <a:rPr lang="en" sz="700"/>
              <a:t>User: Yes. Come on.</a:t>
            </a:r>
            <a:endParaRPr sz="700"/>
          </a:p>
          <a:p>
            <a:pPr indent="0" lvl="0" marL="0" rtl="0" algn="ctr">
              <a:spcBef>
                <a:spcPts val="0"/>
              </a:spcBef>
              <a:spcAft>
                <a:spcPts val="0"/>
              </a:spcAft>
              <a:buNone/>
            </a:pPr>
            <a:r>
              <a:rPr lang="en" sz="700"/>
              <a:t>Agent: </a:t>
            </a:r>
            <a:r>
              <a:rPr b="1" lang="en" sz="700"/>
              <a:t>This is Nathan calling from Compare Mortgages.</a:t>
            </a:r>
            <a:r>
              <a:rPr lang="en" sz="700"/>
              <a:t> A my speaking with George Nydig.</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Yes, George. </a:t>
            </a:r>
            <a:r>
              <a:rPr b="1" lang="en" sz="700"/>
              <a:t>I'm reaching out regarding the inquiry made on our website for your mortgage renewal.</a:t>
            </a:r>
            <a:r>
              <a:rPr lang="en" sz="700"/>
              <a:t> Compare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mortgages  work with multiple lenders. I just wanted to see if you would be interested in receiving some rate options from our bank partners</a:t>
            </a:r>
            <a:endParaRPr sz="700"/>
          </a:p>
          <a:p>
            <a:pPr indent="0" lvl="0" marL="0" rtl="0" algn="ctr">
              <a:spcBef>
                <a:spcPts val="0"/>
              </a:spcBef>
              <a:spcAft>
                <a:spcPts val="0"/>
              </a:spcAft>
              <a:buNone/>
            </a:pPr>
            <a:r>
              <a:rPr lang="en" sz="700"/>
              <a:t>User: Sure. Sure.</a:t>
            </a:r>
            <a:endParaRPr sz="700"/>
          </a:p>
          <a:p>
            <a:pPr indent="0" lvl="0" marL="0" rtl="0" algn="ctr">
              <a:spcBef>
                <a:spcPts val="0"/>
              </a:spcBef>
              <a:spcAft>
                <a:spcPts val="0"/>
              </a:spcAft>
              <a:buNone/>
            </a:pPr>
            <a:r>
              <a:rPr lang="en" sz="700"/>
              <a:t>Agent: Perfect. When is the renewal date of your mortgage?</a:t>
            </a:r>
            <a:endParaRPr sz="700"/>
          </a:p>
          <a:p>
            <a:pPr indent="0" lvl="0" marL="0" rtl="0" algn="ctr">
              <a:spcBef>
                <a:spcPts val="0"/>
              </a:spcBef>
              <a:spcAft>
                <a:spcPts val="0"/>
              </a:spcAft>
              <a:buNone/>
            </a:pPr>
            <a:r>
              <a:rPr lang="en" sz="700"/>
              <a:t>User: October.</a:t>
            </a:r>
            <a:endParaRPr sz="700"/>
          </a:p>
          <a:p>
            <a:pPr indent="0" lvl="0" marL="0" rtl="0" algn="ctr">
              <a:spcBef>
                <a:spcPts val="0"/>
              </a:spcBef>
              <a:spcAft>
                <a:spcPts val="0"/>
              </a:spcAft>
              <a:buNone/>
            </a:pPr>
            <a:r>
              <a:rPr lang="en" sz="700"/>
              <a:t>Agent: October 2024.</a:t>
            </a:r>
            <a:endParaRPr sz="700"/>
          </a:p>
          <a:p>
            <a:pPr indent="0" lvl="0" marL="0" rtl="0" algn="ctr">
              <a:spcBef>
                <a:spcPts val="0"/>
              </a:spcBef>
              <a:spcAft>
                <a:spcPts val="0"/>
              </a:spcAft>
              <a:buNone/>
            </a:pPr>
            <a:r>
              <a:rPr lang="en" sz="700"/>
              <a:t>User: That.</a:t>
            </a:r>
            <a:endParaRPr sz="700"/>
          </a:p>
          <a:p>
            <a:pPr indent="0" lvl="0" marL="0" rtl="0" algn="ctr">
              <a:spcBef>
                <a:spcPts val="0"/>
              </a:spcBef>
              <a:spcAft>
                <a:spcPts val="0"/>
              </a:spcAft>
              <a:buNone/>
            </a:pPr>
            <a:r>
              <a:rPr lang="en" sz="700"/>
              <a:t>Agent: Okay this, is for your primary residence.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Perfect. So I'm going to put the notes regarding that. Our bank partner will do a follow up with you in the next 24 to 48 hours.</a:t>
            </a:r>
            <a:endParaRPr sz="700"/>
          </a:p>
          <a:p>
            <a:pPr indent="0" lvl="0" marL="0" rtl="0" algn="ctr">
              <a:spcBef>
                <a:spcPts val="0"/>
              </a:spcBef>
              <a:spcAft>
                <a:spcPts val="0"/>
              </a:spcAft>
              <a:buNone/>
            </a:pPr>
            <a:r>
              <a:rPr lang="en" sz="700"/>
              <a:t>User: Rich playing partner.</a:t>
            </a:r>
            <a:endParaRPr sz="700"/>
          </a:p>
          <a:p>
            <a:pPr indent="0" lvl="0" marL="0" rtl="0" algn="ctr">
              <a:spcBef>
                <a:spcPts val="0"/>
              </a:spcBef>
              <a:spcAft>
                <a:spcPts val="0"/>
              </a:spcAft>
              <a:buNone/>
            </a:pPr>
            <a:r>
              <a:rPr lang="en" sz="700"/>
              <a:t>Agent: We work with banks like BMO, CIBC National Bank Ek, Bank, so it will be about 2 to 3 lenders that will be reaching out to you and make you an offer of rates. And then you can compare with the options that you have currently.</a:t>
            </a:r>
            <a:endParaRPr sz="700"/>
          </a:p>
          <a:p>
            <a:pPr indent="0" lvl="0" marL="0" rtl="0" algn="ctr">
              <a:spcBef>
                <a:spcPts val="0"/>
              </a:spcBef>
              <a:spcAft>
                <a:spcPts val="0"/>
              </a:spcAft>
              <a:buNone/>
            </a:pPr>
            <a:r>
              <a:rPr lang="en" sz="700"/>
              <a:t>User: Right. Okay.</a:t>
            </a:r>
            <a:endParaRPr sz="700"/>
          </a:p>
          <a:p>
            <a:pPr indent="0" lvl="0" marL="0" rtl="0" algn="ctr">
              <a:spcBef>
                <a:spcPts val="0"/>
              </a:spcBef>
              <a:spcAft>
                <a:spcPts val="0"/>
              </a:spcAft>
              <a:buNone/>
            </a:pPr>
            <a:r>
              <a:rPr lang="en" sz="700"/>
              <a:t>Agent: Thank you very much for the time, George. You have a good day</a:t>
            </a:r>
            <a:endParaRPr sz="700"/>
          </a:p>
          <a:p>
            <a:pPr indent="0" lvl="0" marL="0" rtl="0" algn="ctr">
              <a:spcBef>
                <a:spcPts val="0"/>
              </a:spcBef>
              <a:spcAft>
                <a:spcPts val="0"/>
              </a:spcAft>
              <a:buNone/>
            </a:pPr>
            <a:r>
              <a:rPr lang="en" sz="700"/>
              <a:t>User: Thank you. Bye.</a:t>
            </a:r>
            <a:endParaRPr sz="700"/>
          </a:p>
          <a:p>
            <a:pPr indent="0" lvl="0" marL="0" rtl="0" algn="ctr">
              <a:spcBef>
                <a:spcPts val="0"/>
              </a:spcBef>
              <a:spcAft>
                <a:spcPts val="0"/>
              </a:spcAft>
              <a:buNone/>
            </a:pPr>
            <a:r>
              <a:rPr lang="en" sz="700"/>
              <a:t>Agent: Bye bye.</a:t>
            </a:r>
            <a:endParaRPr sz="700"/>
          </a:p>
          <a:p>
            <a:pPr indent="0" lvl="0" marL="0" rtl="0" algn="ctr">
              <a:spcBef>
                <a:spcPts val="0"/>
              </a:spcBef>
              <a:spcAft>
                <a:spcPts val="0"/>
              </a:spcAft>
              <a:buNone/>
            </a:pPr>
            <a:r>
              <a:rPr lang="en" sz="700"/>
              <a:t>User: Bye bye."</a:t>
            </a:r>
            <a:endParaRPr sz="700"/>
          </a:p>
        </p:txBody>
      </p:sp>
      <p:sp>
        <p:nvSpPr>
          <p:cNvPr id="386" name="Google Shape;386;p63"/>
          <p:cNvSpPr txBox="1"/>
          <p:nvPr/>
        </p:nvSpPr>
        <p:spPr>
          <a:xfrm>
            <a:off x="746050" y="448815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call_id: 600000001773451.0</a:t>
            </a:r>
            <a:endParaRPr sz="700">
              <a:solidFill>
                <a:srgbClr val="475067"/>
              </a:solidFill>
            </a:endParaRPr>
          </a:p>
          <a:p>
            <a:pPr indent="0" lvl="0" marL="0" rtl="0" algn="l">
              <a:spcBef>
                <a:spcPts val="0"/>
              </a:spcBef>
              <a:spcAft>
                <a:spcPts val="0"/>
              </a:spcAft>
              <a:buNone/>
            </a:pPr>
            <a:r>
              <a:t/>
            </a:r>
            <a:endParaRPr sz="700">
              <a:solidFill>
                <a:srgbClr val="475067"/>
              </a:solidFill>
            </a:endParaRPr>
          </a:p>
        </p:txBody>
      </p:sp>
      <p:graphicFrame>
        <p:nvGraphicFramePr>
          <p:cNvPr id="387" name="Google Shape;387;p63"/>
          <p:cNvGraphicFramePr/>
          <p:nvPr/>
        </p:nvGraphicFramePr>
        <p:xfrm>
          <a:off x="3513825" y="1468913"/>
          <a:ext cx="3000000" cy="3000000"/>
        </p:xfrm>
        <a:graphic>
          <a:graphicData uri="http://schemas.openxmlformats.org/drawingml/2006/table">
            <a:tbl>
              <a:tblPr>
                <a:noFill/>
                <a:tableStyleId>{385E58F0-B348-4383-A09C-207D46FD5A56}</a:tableStyleId>
              </a:tblPr>
              <a:tblGrid>
                <a:gridCol w="2034775"/>
                <a:gridCol w="336035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criteria1_correct_introduction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criteria1_reasoning</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agent correctly introduced himself as Nathan from Compare Mortgages and mentioned the inquiry made on their website regarding mortgage renewal. </a:t>
                      </a:r>
                      <a:r>
                        <a:rPr lang="en" sz="1000">
                          <a:latin typeface="Inter"/>
                          <a:ea typeface="Inter"/>
                          <a:cs typeface="Inter"/>
                          <a:sym typeface="Inter"/>
                        </a:rPr>
                        <a:t>Despite some minor transcription errors, the introduction meets the criteria.</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criteria1_snippet</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This is Nathan calling from Compare Mortgages. A my speaking with George Nydig., I'm reaching out regarding the inquiry made on our website for your mortgage renewal.</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64"/>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394" name="Google Shape;394;p64"/>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Example - Understand Situation</a:t>
            </a:r>
            <a:endParaRPr sz="3500"/>
          </a:p>
        </p:txBody>
      </p:sp>
      <p:sp>
        <p:nvSpPr>
          <p:cNvPr id="395" name="Google Shape;395;p64"/>
          <p:cNvSpPr/>
          <p:nvPr/>
        </p:nvSpPr>
        <p:spPr>
          <a:xfrm>
            <a:off x="254800" y="1051038"/>
            <a:ext cx="3022500" cy="3437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Yes. Hello.</a:t>
            </a:r>
            <a:endParaRPr sz="700"/>
          </a:p>
          <a:p>
            <a:pPr indent="0" lvl="0" marL="0" rtl="0" algn="ctr">
              <a:spcBef>
                <a:spcPts val="0"/>
              </a:spcBef>
              <a:spcAft>
                <a:spcPts val="0"/>
              </a:spcAft>
              <a:buNone/>
            </a:pPr>
            <a:r>
              <a:rPr lang="en" sz="700"/>
              <a:t>User: Yes. Come on.</a:t>
            </a:r>
            <a:endParaRPr sz="700"/>
          </a:p>
          <a:p>
            <a:pPr indent="0" lvl="0" marL="0" rtl="0" algn="ctr">
              <a:spcBef>
                <a:spcPts val="0"/>
              </a:spcBef>
              <a:spcAft>
                <a:spcPts val="0"/>
              </a:spcAft>
              <a:buNone/>
            </a:pPr>
            <a:r>
              <a:rPr lang="en" sz="700"/>
              <a:t>Agent: This is Nathan calling from Compare Mortgages. A my speaking with George Nydig.</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Yes, George. I'm reaching out regarding the inquiry made on our website for your mortgage renewal. Compare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mortgages  work with multiple lenders. I just wanted to see if you would be interested in receiving some rate options from our bank partners</a:t>
            </a:r>
            <a:endParaRPr sz="700"/>
          </a:p>
          <a:p>
            <a:pPr indent="0" lvl="0" marL="0" rtl="0" algn="ctr">
              <a:spcBef>
                <a:spcPts val="0"/>
              </a:spcBef>
              <a:spcAft>
                <a:spcPts val="0"/>
              </a:spcAft>
              <a:buNone/>
            </a:pPr>
            <a:r>
              <a:rPr lang="en" sz="700"/>
              <a:t>User: Sure. Sure.</a:t>
            </a:r>
            <a:endParaRPr sz="700"/>
          </a:p>
          <a:p>
            <a:pPr indent="0" lvl="0" marL="0" rtl="0" algn="ctr">
              <a:spcBef>
                <a:spcPts val="0"/>
              </a:spcBef>
              <a:spcAft>
                <a:spcPts val="0"/>
              </a:spcAft>
              <a:buNone/>
            </a:pPr>
            <a:r>
              <a:rPr lang="en" sz="700"/>
              <a:t>Agent:</a:t>
            </a:r>
            <a:r>
              <a:rPr b="1" lang="en" sz="700"/>
              <a:t> Perfect. When is the renewal date of your mortgage?</a:t>
            </a:r>
            <a:endParaRPr b="1" sz="700"/>
          </a:p>
          <a:p>
            <a:pPr indent="0" lvl="0" marL="0" rtl="0" algn="ctr">
              <a:spcBef>
                <a:spcPts val="0"/>
              </a:spcBef>
              <a:spcAft>
                <a:spcPts val="0"/>
              </a:spcAft>
              <a:buNone/>
            </a:pPr>
            <a:r>
              <a:rPr lang="en" sz="700"/>
              <a:t>User: October.</a:t>
            </a:r>
            <a:endParaRPr sz="700"/>
          </a:p>
          <a:p>
            <a:pPr indent="0" lvl="0" marL="0" rtl="0" algn="ctr">
              <a:spcBef>
                <a:spcPts val="0"/>
              </a:spcBef>
              <a:spcAft>
                <a:spcPts val="0"/>
              </a:spcAft>
              <a:buNone/>
            </a:pPr>
            <a:r>
              <a:rPr lang="en" sz="700"/>
              <a:t>Agent: October 2024.</a:t>
            </a:r>
            <a:endParaRPr sz="700"/>
          </a:p>
          <a:p>
            <a:pPr indent="0" lvl="0" marL="0" rtl="0" algn="ctr">
              <a:spcBef>
                <a:spcPts val="0"/>
              </a:spcBef>
              <a:spcAft>
                <a:spcPts val="0"/>
              </a:spcAft>
              <a:buNone/>
            </a:pPr>
            <a:r>
              <a:rPr lang="en" sz="700"/>
              <a:t>User: That.</a:t>
            </a:r>
            <a:endParaRPr sz="700"/>
          </a:p>
          <a:p>
            <a:pPr indent="0" lvl="0" marL="0" rtl="0" algn="ctr">
              <a:spcBef>
                <a:spcPts val="0"/>
              </a:spcBef>
              <a:spcAft>
                <a:spcPts val="0"/>
              </a:spcAft>
              <a:buNone/>
            </a:pPr>
            <a:r>
              <a:rPr lang="en" sz="700"/>
              <a:t>Agent: </a:t>
            </a:r>
            <a:r>
              <a:rPr b="1" lang="en" sz="700"/>
              <a:t>Okay this, is for your primary residence.</a:t>
            </a:r>
            <a:endParaRPr b="1"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Perfect. So I'm going to put the notes regarding that. Our bank partner will do a follow up with you in the next 24 to 48 hours.</a:t>
            </a:r>
            <a:endParaRPr sz="700"/>
          </a:p>
          <a:p>
            <a:pPr indent="0" lvl="0" marL="0" rtl="0" algn="ctr">
              <a:spcBef>
                <a:spcPts val="0"/>
              </a:spcBef>
              <a:spcAft>
                <a:spcPts val="0"/>
              </a:spcAft>
              <a:buNone/>
            </a:pPr>
            <a:r>
              <a:rPr lang="en" sz="700"/>
              <a:t>User: Rich playing partner.</a:t>
            </a:r>
            <a:endParaRPr sz="700"/>
          </a:p>
          <a:p>
            <a:pPr indent="0" lvl="0" marL="0" rtl="0" algn="ctr">
              <a:spcBef>
                <a:spcPts val="0"/>
              </a:spcBef>
              <a:spcAft>
                <a:spcPts val="0"/>
              </a:spcAft>
              <a:buNone/>
            </a:pPr>
            <a:r>
              <a:rPr lang="en" sz="700"/>
              <a:t>Agent: We work with banks like BMO, CIBC National Bank Ek, Bank, so it will be about 2 to 3 lenders that will be reaching out to you and make you an offer of rates. And then you can compare with the options that you have currently.</a:t>
            </a:r>
            <a:endParaRPr sz="700"/>
          </a:p>
          <a:p>
            <a:pPr indent="0" lvl="0" marL="0" rtl="0" algn="ctr">
              <a:spcBef>
                <a:spcPts val="0"/>
              </a:spcBef>
              <a:spcAft>
                <a:spcPts val="0"/>
              </a:spcAft>
              <a:buNone/>
            </a:pPr>
            <a:r>
              <a:rPr lang="en" sz="700"/>
              <a:t>User: Right. Okay.</a:t>
            </a:r>
            <a:endParaRPr sz="700"/>
          </a:p>
          <a:p>
            <a:pPr indent="0" lvl="0" marL="0" rtl="0" algn="ctr">
              <a:spcBef>
                <a:spcPts val="0"/>
              </a:spcBef>
              <a:spcAft>
                <a:spcPts val="0"/>
              </a:spcAft>
              <a:buNone/>
            </a:pPr>
            <a:r>
              <a:rPr lang="en" sz="700"/>
              <a:t>Agent: Thank you very much for the time, George. You have a good day</a:t>
            </a:r>
            <a:endParaRPr sz="700"/>
          </a:p>
          <a:p>
            <a:pPr indent="0" lvl="0" marL="0" rtl="0" algn="ctr">
              <a:spcBef>
                <a:spcPts val="0"/>
              </a:spcBef>
              <a:spcAft>
                <a:spcPts val="0"/>
              </a:spcAft>
              <a:buNone/>
            </a:pPr>
            <a:r>
              <a:rPr lang="en" sz="700"/>
              <a:t>User: Thank you. Bye.</a:t>
            </a:r>
            <a:endParaRPr sz="700"/>
          </a:p>
          <a:p>
            <a:pPr indent="0" lvl="0" marL="0" rtl="0" algn="ctr">
              <a:spcBef>
                <a:spcPts val="0"/>
              </a:spcBef>
              <a:spcAft>
                <a:spcPts val="0"/>
              </a:spcAft>
              <a:buNone/>
            </a:pPr>
            <a:r>
              <a:rPr lang="en" sz="700"/>
              <a:t>Agent: Bye bye.</a:t>
            </a:r>
            <a:endParaRPr sz="700"/>
          </a:p>
          <a:p>
            <a:pPr indent="0" lvl="0" marL="0" rtl="0" algn="ctr">
              <a:spcBef>
                <a:spcPts val="0"/>
              </a:spcBef>
              <a:spcAft>
                <a:spcPts val="0"/>
              </a:spcAft>
              <a:buNone/>
            </a:pPr>
            <a:r>
              <a:rPr lang="en" sz="700"/>
              <a:t>User: Bye bye."</a:t>
            </a:r>
            <a:endParaRPr sz="700"/>
          </a:p>
        </p:txBody>
      </p:sp>
      <p:sp>
        <p:nvSpPr>
          <p:cNvPr id="396" name="Google Shape;396;p64"/>
          <p:cNvSpPr txBox="1"/>
          <p:nvPr/>
        </p:nvSpPr>
        <p:spPr>
          <a:xfrm>
            <a:off x="746050" y="448815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call_id: 600000001773451.0</a:t>
            </a:r>
            <a:endParaRPr sz="700">
              <a:solidFill>
                <a:srgbClr val="475067"/>
              </a:solidFill>
            </a:endParaRPr>
          </a:p>
          <a:p>
            <a:pPr indent="0" lvl="0" marL="0" rtl="0" algn="l">
              <a:spcBef>
                <a:spcPts val="0"/>
              </a:spcBef>
              <a:spcAft>
                <a:spcPts val="0"/>
              </a:spcAft>
              <a:buNone/>
            </a:pPr>
            <a:r>
              <a:t/>
            </a:r>
            <a:endParaRPr sz="700">
              <a:solidFill>
                <a:srgbClr val="475067"/>
              </a:solidFill>
            </a:endParaRPr>
          </a:p>
        </p:txBody>
      </p:sp>
      <p:graphicFrame>
        <p:nvGraphicFramePr>
          <p:cNvPr id="397" name="Google Shape;397;p64"/>
          <p:cNvGraphicFramePr/>
          <p:nvPr/>
        </p:nvGraphicFramePr>
        <p:xfrm>
          <a:off x="3513825" y="1468913"/>
          <a:ext cx="3000000" cy="3000000"/>
        </p:xfrm>
        <a:graphic>
          <a:graphicData uri="http://schemas.openxmlformats.org/drawingml/2006/table">
            <a:tbl>
              <a:tblPr>
                <a:noFill/>
                <a:tableStyleId>{385E58F0-B348-4383-A09C-207D46FD5A56}</a:tableStyleId>
              </a:tblPr>
              <a:tblGrid>
                <a:gridCol w="2034775"/>
                <a:gridCol w="336035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criteria2_understand_user_situation</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criteria2_reasoning</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agent asked about the renewal date and confirmed it was for the primary residence, showing an effort to understand the user's situation. The user was able to provide the necessary information.</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criteria2_snippet</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Perfect. When is the renewal date of your mortgage?, October., October 2024., Okay this, is for your primary residence.</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65"/>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04" name="Google Shape;404;p65"/>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Example - Validate Eligibility</a:t>
            </a:r>
            <a:endParaRPr sz="3500"/>
          </a:p>
        </p:txBody>
      </p:sp>
      <p:sp>
        <p:nvSpPr>
          <p:cNvPr id="405" name="Google Shape;405;p65"/>
          <p:cNvSpPr/>
          <p:nvPr/>
        </p:nvSpPr>
        <p:spPr>
          <a:xfrm>
            <a:off x="254800" y="1051038"/>
            <a:ext cx="3022500" cy="3437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Yes. Hello.</a:t>
            </a:r>
            <a:endParaRPr sz="700"/>
          </a:p>
          <a:p>
            <a:pPr indent="0" lvl="0" marL="0" rtl="0" algn="ctr">
              <a:spcBef>
                <a:spcPts val="0"/>
              </a:spcBef>
              <a:spcAft>
                <a:spcPts val="0"/>
              </a:spcAft>
              <a:buNone/>
            </a:pPr>
            <a:r>
              <a:rPr lang="en" sz="700"/>
              <a:t>User: Yes. Come on.</a:t>
            </a:r>
            <a:endParaRPr sz="700"/>
          </a:p>
          <a:p>
            <a:pPr indent="0" lvl="0" marL="0" rtl="0" algn="ctr">
              <a:spcBef>
                <a:spcPts val="0"/>
              </a:spcBef>
              <a:spcAft>
                <a:spcPts val="0"/>
              </a:spcAft>
              <a:buNone/>
            </a:pPr>
            <a:r>
              <a:rPr lang="en" sz="700"/>
              <a:t>Agent: This is Nathan calling from Compare Mortgages. A my speaking with George Nydig.</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Yes, George. I'm reaching out regarding the inquiry made on our website for your mortgage renewal. Compare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mortgages  work with multiple lenders. I just wanted to see if you would be interested in receiving some rate options from our bank partners</a:t>
            </a:r>
            <a:endParaRPr sz="700"/>
          </a:p>
          <a:p>
            <a:pPr indent="0" lvl="0" marL="0" rtl="0" algn="ctr">
              <a:spcBef>
                <a:spcPts val="0"/>
              </a:spcBef>
              <a:spcAft>
                <a:spcPts val="0"/>
              </a:spcAft>
              <a:buNone/>
            </a:pPr>
            <a:r>
              <a:rPr lang="en" sz="700"/>
              <a:t>User: Sure. Sure.</a:t>
            </a:r>
            <a:endParaRPr sz="700"/>
          </a:p>
          <a:p>
            <a:pPr indent="0" lvl="0" marL="0" rtl="0" algn="ctr">
              <a:spcBef>
                <a:spcPts val="0"/>
              </a:spcBef>
              <a:spcAft>
                <a:spcPts val="0"/>
              </a:spcAft>
              <a:buNone/>
            </a:pPr>
            <a:r>
              <a:rPr lang="en" sz="700"/>
              <a:t>Agent: Perfect. </a:t>
            </a:r>
            <a:r>
              <a:rPr b="1" lang="en" sz="700"/>
              <a:t>When is the renewal date of your mortgage?</a:t>
            </a:r>
            <a:endParaRPr b="1" sz="700"/>
          </a:p>
          <a:p>
            <a:pPr indent="0" lvl="0" marL="0" rtl="0" algn="ctr">
              <a:spcBef>
                <a:spcPts val="0"/>
              </a:spcBef>
              <a:spcAft>
                <a:spcPts val="0"/>
              </a:spcAft>
              <a:buNone/>
            </a:pPr>
            <a:r>
              <a:rPr lang="en" sz="700"/>
              <a:t>User: October.</a:t>
            </a:r>
            <a:endParaRPr sz="700"/>
          </a:p>
          <a:p>
            <a:pPr indent="0" lvl="0" marL="0" rtl="0" algn="ctr">
              <a:spcBef>
                <a:spcPts val="0"/>
              </a:spcBef>
              <a:spcAft>
                <a:spcPts val="0"/>
              </a:spcAft>
              <a:buNone/>
            </a:pPr>
            <a:r>
              <a:rPr b="1" lang="en" sz="700"/>
              <a:t>Agent: October 2024.</a:t>
            </a:r>
            <a:endParaRPr b="1" sz="700"/>
          </a:p>
          <a:p>
            <a:pPr indent="0" lvl="0" marL="0" rtl="0" algn="ctr">
              <a:spcBef>
                <a:spcPts val="0"/>
              </a:spcBef>
              <a:spcAft>
                <a:spcPts val="0"/>
              </a:spcAft>
              <a:buNone/>
            </a:pPr>
            <a:r>
              <a:rPr lang="en" sz="700"/>
              <a:t>User: That.</a:t>
            </a:r>
            <a:endParaRPr sz="700"/>
          </a:p>
          <a:p>
            <a:pPr indent="0" lvl="0" marL="0" rtl="0" algn="ctr">
              <a:spcBef>
                <a:spcPts val="0"/>
              </a:spcBef>
              <a:spcAft>
                <a:spcPts val="0"/>
              </a:spcAft>
              <a:buNone/>
            </a:pPr>
            <a:r>
              <a:rPr lang="en" sz="700"/>
              <a:t>Agent: Okay this, is for your primary residence.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Perfect. So I'm going to put the notes regarding that. Our bank partner will do a follow up with you in the next 24 to 48 hours.</a:t>
            </a:r>
            <a:endParaRPr sz="700"/>
          </a:p>
          <a:p>
            <a:pPr indent="0" lvl="0" marL="0" rtl="0" algn="ctr">
              <a:spcBef>
                <a:spcPts val="0"/>
              </a:spcBef>
              <a:spcAft>
                <a:spcPts val="0"/>
              </a:spcAft>
              <a:buNone/>
            </a:pPr>
            <a:r>
              <a:rPr lang="en" sz="700"/>
              <a:t>User: Rich playing partner.</a:t>
            </a:r>
            <a:endParaRPr sz="700"/>
          </a:p>
          <a:p>
            <a:pPr indent="0" lvl="0" marL="0" rtl="0" algn="ctr">
              <a:spcBef>
                <a:spcPts val="0"/>
              </a:spcBef>
              <a:spcAft>
                <a:spcPts val="0"/>
              </a:spcAft>
              <a:buNone/>
            </a:pPr>
            <a:r>
              <a:rPr lang="en" sz="700"/>
              <a:t>Agent: We work with banks like BMO, CIBC National Bank Ek, Bank, so it will be about 2 to 3 lenders that will be reaching out to you and make you an offer of rates. And then you can compare with the options that you have currently.</a:t>
            </a:r>
            <a:endParaRPr sz="700"/>
          </a:p>
          <a:p>
            <a:pPr indent="0" lvl="0" marL="0" rtl="0" algn="ctr">
              <a:spcBef>
                <a:spcPts val="0"/>
              </a:spcBef>
              <a:spcAft>
                <a:spcPts val="0"/>
              </a:spcAft>
              <a:buNone/>
            </a:pPr>
            <a:r>
              <a:rPr lang="en" sz="700"/>
              <a:t>User: Right. Okay.</a:t>
            </a:r>
            <a:endParaRPr sz="700"/>
          </a:p>
          <a:p>
            <a:pPr indent="0" lvl="0" marL="0" rtl="0" algn="ctr">
              <a:spcBef>
                <a:spcPts val="0"/>
              </a:spcBef>
              <a:spcAft>
                <a:spcPts val="0"/>
              </a:spcAft>
              <a:buNone/>
            </a:pPr>
            <a:r>
              <a:rPr lang="en" sz="700"/>
              <a:t>Agent: Thank you very much for the time, George. You have a good day</a:t>
            </a:r>
            <a:endParaRPr sz="700"/>
          </a:p>
          <a:p>
            <a:pPr indent="0" lvl="0" marL="0" rtl="0" algn="ctr">
              <a:spcBef>
                <a:spcPts val="0"/>
              </a:spcBef>
              <a:spcAft>
                <a:spcPts val="0"/>
              </a:spcAft>
              <a:buNone/>
            </a:pPr>
            <a:r>
              <a:rPr lang="en" sz="700"/>
              <a:t>User: Thank you. Bye.</a:t>
            </a:r>
            <a:endParaRPr sz="700"/>
          </a:p>
          <a:p>
            <a:pPr indent="0" lvl="0" marL="0" rtl="0" algn="ctr">
              <a:spcBef>
                <a:spcPts val="0"/>
              </a:spcBef>
              <a:spcAft>
                <a:spcPts val="0"/>
              </a:spcAft>
              <a:buNone/>
            </a:pPr>
            <a:r>
              <a:rPr lang="en" sz="700"/>
              <a:t>Agent: Bye bye.</a:t>
            </a:r>
            <a:endParaRPr sz="700"/>
          </a:p>
          <a:p>
            <a:pPr indent="0" lvl="0" marL="0" rtl="0" algn="ctr">
              <a:spcBef>
                <a:spcPts val="0"/>
              </a:spcBef>
              <a:spcAft>
                <a:spcPts val="0"/>
              </a:spcAft>
              <a:buNone/>
            </a:pPr>
            <a:r>
              <a:rPr lang="en" sz="700"/>
              <a:t>User: Bye bye."</a:t>
            </a:r>
            <a:endParaRPr sz="700"/>
          </a:p>
        </p:txBody>
      </p:sp>
      <p:sp>
        <p:nvSpPr>
          <p:cNvPr id="406" name="Google Shape;406;p65"/>
          <p:cNvSpPr txBox="1"/>
          <p:nvPr/>
        </p:nvSpPr>
        <p:spPr>
          <a:xfrm>
            <a:off x="746050" y="448815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call_id: 600000001773451.0</a:t>
            </a:r>
            <a:endParaRPr sz="700">
              <a:solidFill>
                <a:srgbClr val="475067"/>
              </a:solidFill>
            </a:endParaRPr>
          </a:p>
          <a:p>
            <a:pPr indent="0" lvl="0" marL="0" rtl="0" algn="l">
              <a:spcBef>
                <a:spcPts val="0"/>
              </a:spcBef>
              <a:spcAft>
                <a:spcPts val="0"/>
              </a:spcAft>
              <a:buNone/>
            </a:pPr>
            <a:r>
              <a:t/>
            </a:r>
            <a:endParaRPr sz="700">
              <a:solidFill>
                <a:srgbClr val="475067"/>
              </a:solidFill>
            </a:endParaRPr>
          </a:p>
        </p:txBody>
      </p:sp>
      <p:graphicFrame>
        <p:nvGraphicFramePr>
          <p:cNvPr id="407" name="Google Shape;407;p65"/>
          <p:cNvGraphicFramePr/>
          <p:nvPr/>
        </p:nvGraphicFramePr>
        <p:xfrm>
          <a:off x="3513825" y="1468913"/>
          <a:ext cx="3000000" cy="3000000"/>
        </p:xfrm>
        <a:graphic>
          <a:graphicData uri="http://schemas.openxmlformats.org/drawingml/2006/table">
            <a:tbl>
              <a:tblPr>
                <a:noFill/>
                <a:tableStyleId>{385E58F0-B348-4383-A09C-207D46FD5A56}</a:tableStyleId>
              </a:tblPr>
              <a:tblGrid>
                <a:gridCol w="2034775"/>
                <a:gridCol w="336035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criteria3_validate_eligibility</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criteria3_reasoning</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agent attempted to validate eligibility by asking about the renewal date and confirming it was for the primary residence. While not extensive, these questions serve to validate basic eligibility.</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criteria3_snippet</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Perfect. When is the renewal date of your mortgage?, Okay this, is for your primary residence.</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66"/>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14" name="Google Shape;414;p66"/>
          <p:cNvSpPr txBox="1"/>
          <p:nvPr>
            <p:ph type="title"/>
          </p:nvPr>
        </p:nvSpPr>
        <p:spPr>
          <a:xfrm>
            <a:off x="517525" y="222100"/>
            <a:ext cx="78558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Example - Clear Next Steps</a:t>
            </a:r>
            <a:endParaRPr sz="3500"/>
          </a:p>
        </p:txBody>
      </p:sp>
      <p:sp>
        <p:nvSpPr>
          <p:cNvPr id="415" name="Google Shape;415;p66"/>
          <p:cNvSpPr/>
          <p:nvPr/>
        </p:nvSpPr>
        <p:spPr>
          <a:xfrm>
            <a:off x="254800" y="1051038"/>
            <a:ext cx="3022500" cy="34371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"Agent: Yes. Hello.</a:t>
            </a:r>
            <a:endParaRPr sz="700"/>
          </a:p>
          <a:p>
            <a:pPr indent="0" lvl="0" marL="0" rtl="0" algn="ctr">
              <a:spcBef>
                <a:spcPts val="0"/>
              </a:spcBef>
              <a:spcAft>
                <a:spcPts val="0"/>
              </a:spcAft>
              <a:buNone/>
            </a:pPr>
            <a:r>
              <a:rPr lang="en" sz="700"/>
              <a:t>User: Yes. Come on.</a:t>
            </a:r>
            <a:endParaRPr sz="700"/>
          </a:p>
          <a:p>
            <a:pPr indent="0" lvl="0" marL="0" rtl="0" algn="ctr">
              <a:spcBef>
                <a:spcPts val="0"/>
              </a:spcBef>
              <a:spcAft>
                <a:spcPts val="0"/>
              </a:spcAft>
              <a:buNone/>
            </a:pPr>
            <a:r>
              <a:rPr lang="en" sz="700"/>
              <a:t>Agent: This is Nathan calling from Compare Mortgages. A my speaking with George Nydig.</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Yes, George. I'm reaching out regarding the inquiry made on our website for your mortgage renewal. Compare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mortgages  work with multiple lenders. I just wanted to see if you would be interested in receiving some rate options from our bank partners</a:t>
            </a:r>
            <a:endParaRPr sz="700"/>
          </a:p>
          <a:p>
            <a:pPr indent="0" lvl="0" marL="0" rtl="0" algn="ctr">
              <a:spcBef>
                <a:spcPts val="0"/>
              </a:spcBef>
              <a:spcAft>
                <a:spcPts val="0"/>
              </a:spcAft>
              <a:buNone/>
            </a:pPr>
            <a:r>
              <a:rPr lang="en" sz="700"/>
              <a:t>User: Sure. Sure.</a:t>
            </a:r>
            <a:endParaRPr sz="700"/>
          </a:p>
          <a:p>
            <a:pPr indent="0" lvl="0" marL="0" rtl="0" algn="ctr">
              <a:spcBef>
                <a:spcPts val="0"/>
              </a:spcBef>
              <a:spcAft>
                <a:spcPts val="0"/>
              </a:spcAft>
              <a:buNone/>
            </a:pPr>
            <a:r>
              <a:rPr lang="en" sz="700"/>
              <a:t>Agent: Perfect. When is the renewal date of your mortgage?</a:t>
            </a:r>
            <a:endParaRPr sz="700"/>
          </a:p>
          <a:p>
            <a:pPr indent="0" lvl="0" marL="0" rtl="0" algn="ctr">
              <a:spcBef>
                <a:spcPts val="0"/>
              </a:spcBef>
              <a:spcAft>
                <a:spcPts val="0"/>
              </a:spcAft>
              <a:buNone/>
            </a:pPr>
            <a:r>
              <a:rPr lang="en" sz="700"/>
              <a:t>User: October.</a:t>
            </a:r>
            <a:endParaRPr sz="700"/>
          </a:p>
          <a:p>
            <a:pPr indent="0" lvl="0" marL="0" rtl="0" algn="ctr">
              <a:spcBef>
                <a:spcPts val="0"/>
              </a:spcBef>
              <a:spcAft>
                <a:spcPts val="0"/>
              </a:spcAft>
              <a:buNone/>
            </a:pPr>
            <a:r>
              <a:rPr lang="en" sz="700"/>
              <a:t>Agent: October 2024.</a:t>
            </a:r>
            <a:endParaRPr sz="700"/>
          </a:p>
          <a:p>
            <a:pPr indent="0" lvl="0" marL="0" rtl="0" algn="ctr">
              <a:spcBef>
                <a:spcPts val="0"/>
              </a:spcBef>
              <a:spcAft>
                <a:spcPts val="0"/>
              </a:spcAft>
              <a:buNone/>
            </a:pPr>
            <a:r>
              <a:rPr lang="en" sz="700"/>
              <a:t>User: That.</a:t>
            </a:r>
            <a:endParaRPr sz="700"/>
          </a:p>
          <a:p>
            <a:pPr indent="0" lvl="0" marL="0" rtl="0" algn="ctr">
              <a:spcBef>
                <a:spcPts val="0"/>
              </a:spcBef>
              <a:spcAft>
                <a:spcPts val="0"/>
              </a:spcAft>
              <a:buNone/>
            </a:pPr>
            <a:r>
              <a:rPr lang="en" sz="700"/>
              <a:t>Agent: Okay this, is for your primary residence.</a:t>
            </a:r>
            <a:endParaRPr sz="700"/>
          </a:p>
          <a:p>
            <a:pPr indent="0" lvl="0" marL="0" rtl="0" algn="ctr">
              <a:spcBef>
                <a:spcPts val="0"/>
              </a:spcBef>
              <a:spcAft>
                <a:spcPts val="0"/>
              </a:spcAft>
              <a:buNone/>
            </a:pPr>
            <a:r>
              <a:rPr lang="en" sz="700"/>
              <a:t>User: Yes.</a:t>
            </a:r>
            <a:endParaRPr sz="700"/>
          </a:p>
          <a:p>
            <a:pPr indent="0" lvl="0" marL="0" rtl="0" algn="ctr">
              <a:spcBef>
                <a:spcPts val="0"/>
              </a:spcBef>
              <a:spcAft>
                <a:spcPts val="0"/>
              </a:spcAft>
              <a:buNone/>
            </a:pPr>
            <a:r>
              <a:rPr lang="en" sz="700"/>
              <a:t>Agent: Perfect. So I'm going to put the notes regarding that. Our bank partner will do a follow up with you in the next 24 to 48 hours.</a:t>
            </a:r>
            <a:endParaRPr sz="700"/>
          </a:p>
          <a:p>
            <a:pPr indent="0" lvl="0" marL="0" rtl="0" algn="ctr">
              <a:spcBef>
                <a:spcPts val="0"/>
              </a:spcBef>
              <a:spcAft>
                <a:spcPts val="0"/>
              </a:spcAft>
              <a:buNone/>
            </a:pPr>
            <a:r>
              <a:rPr lang="en" sz="700"/>
              <a:t>User: Rich playing partner.</a:t>
            </a:r>
            <a:endParaRPr sz="700"/>
          </a:p>
          <a:p>
            <a:pPr indent="0" lvl="0" marL="0" rtl="0" algn="ctr">
              <a:spcBef>
                <a:spcPts val="0"/>
              </a:spcBef>
              <a:spcAft>
                <a:spcPts val="0"/>
              </a:spcAft>
              <a:buNone/>
            </a:pPr>
            <a:r>
              <a:rPr lang="en" sz="700"/>
              <a:t>Agent: </a:t>
            </a:r>
            <a:r>
              <a:rPr b="1" lang="en" sz="700"/>
              <a:t>We work with banks like BMO, CIBC National Bank Ek, Bank, so it will be about 2 to 3 lenders that will be reaching out to you and make you an offer of rates. And then you can compare with the options that you have currently.</a:t>
            </a:r>
            <a:endParaRPr b="1" sz="700"/>
          </a:p>
          <a:p>
            <a:pPr indent="0" lvl="0" marL="0" rtl="0" algn="ctr">
              <a:spcBef>
                <a:spcPts val="0"/>
              </a:spcBef>
              <a:spcAft>
                <a:spcPts val="0"/>
              </a:spcAft>
              <a:buNone/>
            </a:pPr>
            <a:r>
              <a:rPr lang="en" sz="700"/>
              <a:t>User: Right. Okay.</a:t>
            </a:r>
            <a:endParaRPr sz="700"/>
          </a:p>
          <a:p>
            <a:pPr indent="0" lvl="0" marL="0" rtl="0" algn="ctr">
              <a:spcBef>
                <a:spcPts val="0"/>
              </a:spcBef>
              <a:spcAft>
                <a:spcPts val="0"/>
              </a:spcAft>
              <a:buNone/>
            </a:pPr>
            <a:r>
              <a:rPr lang="en" sz="700"/>
              <a:t>Agent: Thank you very much for the time, George. You have a good day</a:t>
            </a:r>
            <a:endParaRPr sz="700"/>
          </a:p>
          <a:p>
            <a:pPr indent="0" lvl="0" marL="0" rtl="0" algn="ctr">
              <a:spcBef>
                <a:spcPts val="0"/>
              </a:spcBef>
              <a:spcAft>
                <a:spcPts val="0"/>
              </a:spcAft>
              <a:buNone/>
            </a:pPr>
            <a:r>
              <a:rPr lang="en" sz="700"/>
              <a:t>User: Thank you. Bye.</a:t>
            </a:r>
            <a:endParaRPr sz="700"/>
          </a:p>
          <a:p>
            <a:pPr indent="0" lvl="0" marL="0" rtl="0" algn="ctr">
              <a:spcBef>
                <a:spcPts val="0"/>
              </a:spcBef>
              <a:spcAft>
                <a:spcPts val="0"/>
              </a:spcAft>
              <a:buNone/>
            </a:pPr>
            <a:r>
              <a:rPr lang="en" sz="700"/>
              <a:t>Agent: Bye bye.</a:t>
            </a:r>
            <a:endParaRPr sz="700"/>
          </a:p>
          <a:p>
            <a:pPr indent="0" lvl="0" marL="0" rtl="0" algn="ctr">
              <a:spcBef>
                <a:spcPts val="0"/>
              </a:spcBef>
              <a:spcAft>
                <a:spcPts val="0"/>
              </a:spcAft>
              <a:buNone/>
            </a:pPr>
            <a:r>
              <a:rPr lang="en" sz="700"/>
              <a:t>User: Bye bye."</a:t>
            </a:r>
            <a:endParaRPr sz="700"/>
          </a:p>
        </p:txBody>
      </p:sp>
      <p:sp>
        <p:nvSpPr>
          <p:cNvPr id="416" name="Google Shape;416;p66"/>
          <p:cNvSpPr txBox="1"/>
          <p:nvPr/>
        </p:nvSpPr>
        <p:spPr>
          <a:xfrm>
            <a:off x="746050" y="4488150"/>
            <a:ext cx="1850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call_id: 600000001773451.0</a:t>
            </a:r>
            <a:endParaRPr sz="700">
              <a:solidFill>
                <a:srgbClr val="475067"/>
              </a:solidFill>
            </a:endParaRPr>
          </a:p>
          <a:p>
            <a:pPr indent="0" lvl="0" marL="0" rtl="0" algn="l">
              <a:spcBef>
                <a:spcPts val="0"/>
              </a:spcBef>
              <a:spcAft>
                <a:spcPts val="0"/>
              </a:spcAft>
              <a:buNone/>
            </a:pPr>
            <a:r>
              <a:t/>
            </a:r>
            <a:endParaRPr sz="700">
              <a:solidFill>
                <a:srgbClr val="475067"/>
              </a:solidFill>
            </a:endParaRPr>
          </a:p>
        </p:txBody>
      </p:sp>
      <p:graphicFrame>
        <p:nvGraphicFramePr>
          <p:cNvPr id="417" name="Google Shape;417;p66"/>
          <p:cNvGraphicFramePr/>
          <p:nvPr/>
        </p:nvGraphicFramePr>
        <p:xfrm>
          <a:off x="3513825" y="1468913"/>
          <a:ext cx="3000000" cy="3000000"/>
        </p:xfrm>
        <a:graphic>
          <a:graphicData uri="http://schemas.openxmlformats.org/drawingml/2006/table">
            <a:tbl>
              <a:tblPr>
                <a:noFill/>
                <a:tableStyleId>{385E58F0-B348-4383-A09C-207D46FD5A56}</a:tableStyleId>
              </a:tblPr>
              <a:tblGrid>
                <a:gridCol w="2034775"/>
                <a:gridCol w="3360350"/>
              </a:tblGrid>
              <a:tr h="339325">
                <a:tc>
                  <a:txBody>
                    <a:bodyPr/>
                    <a:lstStyle/>
                    <a:p>
                      <a:pPr indent="0" lvl="0" marL="0" rtl="0" algn="l">
                        <a:spcBef>
                          <a:spcPts val="0"/>
                        </a:spcBef>
                        <a:spcAft>
                          <a:spcPts val="0"/>
                        </a:spcAft>
                        <a:buNone/>
                      </a:pPr>
                      <a:r>
                        <a:rPr b="1" lang="en" sz="1000">
                          <a:latin typeface="Inter"/>
                          <a:ea typeface="Inter"/>
                          <a:cs typeface="Inter"/>
                          <a:sym typeface="Inter"/>
                        </a:rPr>
                        <a:t>Key</a:t>
                      </a:r>
                      <a:endParaRPr b="1"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1000">
                          <a:latin typeface="Inter"/>
                          <a:ea typeface="Inter"/>
                          <a:cs typeface="Inter"/>
                          <a:sym typeface="Inter"/>
                        </a:rPr>
                        <a:t>Prompt Results</a:t>
                      </a:r>
                      <a:endParaRPr b="1"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criteria4_clear_next_steps</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criteria4_reasoning</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The agent clearly explained the next steps, mentioning that bank partners would follow up within 24 to 48 hours and specified some of the banks involved. This provides clear information on what the user can expect.</a:t>
                      </a:r>
                      <a:endParaRPr sz="1000">
                        <a:latin typeface="Inter"/>
                        <a:ea typeface="Inter"/>
                        <a:cs typeface="Inter"/>
                        <a:sym typeface="Inter"/>
                      </a:endParaRPr>
                    </a:p>
                  </a:txBody>
                  <a:tcPr marT="91425" marB="91425" marR="91425" marL="91425"/>
                </a:tc>
              </a:tr>
              <a:tr h="818400">
                <a:tc>
                  <a:txBody>
                    <a:bodyPr/>
                    <a:lstStyle/>
                    <a:p>
                      <a:pPr indent="0" lvl="0" marL="0" rtl="0" algn="l">
                        <a:spcBef>
                          <a:spcPts val="0"/>
                        </a:spcBef>
                        <a:spcAft>
                          <a:spcPts val="0"/>
                        </a:spcAft>
                        <a:buNone/>
                      </a:pPr>
                      <a:r>
                        <a:rPr lang="en" sz="1000">
                          <a:latin typeface="Inter"/>
                          <a:ea typeface="Inter"/>
                          <a:cs typeface="Inter"/>
                          <a:sym typeface="Inter"/>
                        </a:rPr>
                        <a:t>criteria4_snippet</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Our bank partner will do a follow up with you in the next 24 to 48 hours., We work with banks like BMO, CIBC National Bank Ek, Bank, so it will be about 2 to 3 lenders that will be reaching out to you and make you an offer of rates.</a:t>
                      </a:r>
                      <a:endParaRPr sz="100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3" name="Google Shape;423;p67"/>
          <p:cNvSpPr txBox="1"/>
          <p:nvPr/>
        </p:nvSpPr>
        <p:spPr>
          <a:xfrm>
            <a:off x="470525" y="381000"/>
            <a:ext cx="8216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600">
              <a:solidFill>
                <a:schemeClr val="dk1"/>
              </a:solidFill>
              <a:latin typeface="Manrope SemiBold"/>
              <a:ea typeface="Manrope SemiBold"/>
              <a:cs typeface="Manrope SemiBold"/>
              <a:sym typeface="Manrope SemiBold"/>
            </a:endParaRPr>
          </a:p>
        </p:txBody>
      </p:sp>
      <p:sp>
        <p:nvSpPr>
          <p:cNvPr id="424" name="Google Shape;424;p67"/>
          <p:cNvSpPr txBox="1"/>
          <p:nvPr>
            <p:ph type="title"/>
          </p:nvPr>
        </p:nvSpPr>
        <p:spPr>
          <a:xfrm>
            <a:off x="512100" y="319450"/>
            <a:ext cx="83253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Average Agent Scores by Call Count</a:t>
            </a:r>
            <a:endParaRPr sz="3500"/>
          </a:p>
        </p:txBody>
      </p:sp>
      <p:sp>
        <p:nvSpPr>
          <p:cNvPr id="425" name="Google Shape;425;p67"/>
          <p:cNvSpPr txBox="1"/>
          <p:nvPr/>
        </p:nvSpPr>
        <p:spPr>
          <a:xfrm>
            <a:off x="2954549" y="3693950"/>
            <a:ext cx="32349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475067"/>
                </a:solidFill>
              </a:rPr>
              <a:t>Averaged Across Agents - Sorted by Best Average Score</a:t>
            </a:r>
            <a:endParaRPr sz="800">
              <a:solidFill>
                <a:srgbClr val="475067"/>
              </a:solidFill>
            </a:endParaRPr>
          </a:p>
        </p:txBody>
      </p:sp>
      <p:pic>
        <p:nvPicPr>
          <p:cNvPr id="426" name="Google Shape;426;p67"/>
          <p:cNvPicPr preferRelativeResize="0"/>
          <p:nvPr/>
        </p:nvPicPr>
        <p:blipFill>
          <a:blip r:embed="rId3">
            <a:alphaModFix/>
          </a:blip>
          <a:stretch>
            <a:fillRect/>
          </a:stretch>
        </p:blipFill>
        <p:spPr>
          <a:xfrm>
            <a:off x="355388" y="1449550"/>
            <a:ext cx="8534524" cy="2244402"/>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