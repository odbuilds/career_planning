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Inter Light"/>
      <p:regular r:id="rId24"/>
      <p:bold r:id="rId25"/>
      <p:italic r:id="rId26"/>
      <p:boldItalic r:id="rId27"/>
    </p:embeddedFont>
    <p:embeddedFont>
      <p:font typeface="Inter"/>
      <p:regular r:id="rId28"/>
      <p:bold r:id="rId29"/>
      <p:italic r:id="rId30"/>
      <p:boldItalic r:id="rId31"/>
    </p:embeddedFont>
    <p:embeddedFont>
      <p:font typeface="Manrope SemiBold"/>
      <p:regular r:id="rId32"/>
      <p:bold r:id="rId33"/>
    </p:embeddedFont>
    <p:embeddedFont>
      <p:font typeface="Manrope"/>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terLight-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nterLight-italic.fntdata"/><Relationship Id="rId25" Type="http://schemas.openxmlformats.org/officeDocument/2006/relationships/font" Target="fonts/InterLight-bold.fntdata"/><Relationship Id="rId28" Type="http://schemas.openxmlformats.org/officeDocument/2006/relationships/font" Target="fonts/Inter-regular.fntdata"/><Relationship Id="rId27" Type="http://schemas.openxmlformats.org/officeDocument/2006/relationships/font" Target="fonts/InterLigh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nter-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boldItalic.fntdata"/><Relationship Id="rId30" Type="http://schemas.openxmlformats.org/officeDocument/2006/relationships/font" Target="fonts/Inter-italic.fntdata"/><Relationship Id="rId11" Type="http://schemas.openxmlformats.org/officeDocument/2006/relationships/slide" Target="slides/slide5.xml"/><Relationship Id="rId33" Type="http://schemas.openxmlformats.org/officeDocument/2006/relationships/font" Target="fonts/ManropeSemiBold-bold.fntdata"/><Relationship Id="rId10" Type="http://schemas.openxmlformats.org/officeDocument/2006/relationships/slide" Target="slides/slide4.xml"/><Relationship Id="rId32" Type="http://schemas.openxmlformats.org/officeDocument/2006/relationships/font" Target="fonts/ManropeSemiBold-regular.fntdata"/><Relationship Id="rId13" Type="http://schemas.openxmlformats.org/officeDocument/2006/relationships/slide" Target="slides/slide7.xml"/><Relationship Id="rId35" Type="http://schemas.openxmlformats.org/officeDocument/2006/relationships/font" Target="fonts/Manrope-bold.fntdata"/><Relationship Id="rId12" Type="http://schemas.openxmlformats.org/officeDocument/2006/relationships/slide" Target="slides/slide6.xml"/><Relationship Id="rId34" Type="http://schemas.openxmlformats.org/officeDocument/2006/relationships/font" Target="fonts/Manrope-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99bd2dc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99bd2dc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fe377086fa_2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fe377086fa_2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034a0ff3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034a0ff3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6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034a0ff334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034a0ff334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17149bda9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17149bda9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158e5a56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158e5a56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7149bda9b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17149bda9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158e5a565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158e5a565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034a0ff334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034a0ff334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0D516305A6C641CAB2EE5FEAE1FB650E</a:t>
            </a:r>
            <a:endParaRPr sz="1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58e5a565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158e5a565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158e5a565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158e5a565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158e5a565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158e5a565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172a5394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172a5394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158e5a565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158e5a565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158e5a565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158e5a5659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034a0ff334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034a0ff334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17149bda9b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17149bda9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6.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6.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ark" type="title">
  <p:cSld name="TITLE">
    <p:bg>
      <p:bgPr>
        <a:solidFill>
          <a:srgbClr val="294489"/>
        </a:solidFill>
      </p:bgPr>
    </p:bg>
    <p:spTree>
      <p:nvGrpSpPr>
        <p:cNvPr id="52" name="Shape 52"/>
        <p:cNvGrpSpPr/>
        <p:nvPr/>
      </p:nvGrpSpPr>
      <p:grpSpPr>
        <a:xfrm>
          <a:off x="0" y="0"/>
          <a:ext cx="0" cy="0"/>
          <a:chOff x="0" y="0"/>
          <a:chExt cx="0" cy="0"/>
        </a:xfrm>
      </p:grpSpPr>
      <p:pic>
        <p:nvPicPr>
          <p:cNvPr id="53" name="Google Shape;53;p14"/>
          <p:cNvPicPr preferRelativeResize="0"/>
          <p:nvPr/>
        </p:nvPicPr>
        <p:blipFill>
          <a:blip r:embed="rId2">
            <a:alphaModFix amt="14000"/>
          </a:blip>
          <a:stretch>
            <a:fillRect/>
          </a:stretch>
        </p:blipFill>
        <p:spPr>
          <a:xfrm>
            <a:off x="-3500598" y="-1913375"/>
            <a:ext cx="8774449" cy="8781099"/>
          </a:xfrm>
          <a:prstGeom prst="rect">
            <a:avLst/>
          </a:prstGeom>
          <a:noFill/>
          <a:ln>
            <a:noFill/>
          </a:ln>
        </p:spPr>
      </p:pic>
      <p:sp>
        <p:nvSpPr>
          <p:cNvPr id="54" name="Google Shape;54;p14"/>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
    <p:bg>
      <p:bgPr>
        <a:solidFill>
          <a:srgbClr val="294489"/>
        </a:solidFill>
      </p:bgPr>
    </p:bg>
    <p:spTree>
      <p:nvGrpSpPr>
        <p:cNvPr id="55" name="Shape 55"/>
        <p:cNvGrpSpPr/>
        <p:nvPr/>
      </p:nvGrpSpPr>
      <p:grpSpPr>
        <a:xfrm>
          <a:off x="0" y="0"/>
          <a:ext cx="0" cy="0"/>
          <a:chOff x="0" y="0"/>
          <a:chExt cx="0" cy="0"/>
        </a:xfrm>
      </p:grpSpPr>
      <p:pic>
        <p:nvPicPr>
          <p:cNvPr id="56" name="Google Shape;56;p15"/>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57" name="Google Shape;57;p15"/>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15"/>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2">
    <p:bg>
      <p:bgPr>
        <a:solidFill>
          <a:srgbClr val="294489"/>
        </a:solidFill>
      </p:bgPr>
    </p:bg>
    <p:spTree>
      <p:nvGrpSpPr>
        <p:cNvPr id="59" name="Shape 59"/>
        <p:cNvGrpSpPr/>
        <p:nvPr/>
      </p:nvGrpSpPr>
      <p:grpSpPr>
        <a:xfrm>
          <a:off x="0" y="0"/>
          <a:ext cx="0" cy="0"/>
          <a:chOff x="0" y="0"/>
          <a:chExt cx="0" cy="0"/>
        </a:xfrm>
      </p:grpSpPr>
      <p:pic>
        <p:nvPicPr>
          <p:cNvPr id="60" name="Google Shape;60;p16"/>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61" name="Google Shape;61;p16"/>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_1">
    <p:bg>
      <p:bgPr>
        <a:solidFill>
          <a:srgbClr val="12184A"/>
        </a:solidFill>
      </p:bgPr>
    </p:bg>
    <p:spTree>
      <p:nvGrpSpPr>
        <p:cNvPr id="62" name="Shape 62"/>
        <p:cNvGrpSpPr/>
        <p:nvPr/>
      </p:nvGrpSpPr>
      <p:grpSpPr>
        <a:xfrm>
          <a:off x="0" y="0"/>
          <a:ext cx="0" cy="0"/>
          <a:chOff x="0" y="0"/>
          <a:chExt cx="0" cy="0"/>
        </a:xfrm>
      </p:grpSpPr>
      <p:pic>
        <p:nvPicPr>
          <p:cNvPr id="63" name="Google Shape;63;p17"/>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1_1">
    <p:bg>
      <p:bgPr>
        <a:solidFill>
          <a:srgbClr val="12184A"/>
        </a:solidFill>
      </p:bgPr>
    </p:bg>
    <p:spTree>
      <p:nvGrpSpPr>
        <p:cNvPr id="64" name="Shape 64"/>
        <p:cNvGrpSpPr/>
        <p:nvPr/>
      </p:nvGrpSpPr>
      <p:grpSpPr>
        <a:xfrm>
          <a:off x="0" y="0"/>
          <a:ext cx="0" cy="0"/>
          <a:chOff x="0" y="0"/>
          <a:chExt cx="0" cy="0"/>
        </a:xfrm>
      </p:grpSpPr>
      <p:pic>
        <p:nvPicPr>
          <p:cNvPr id="65" name="Google Shape;65;p18"/>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
        <p:nvSpPr>
          <p:cNvPr id="66" name="Google Shape;66;p18"/>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8"/>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p:cSld name="TITLE_1">
    <p:bg>
      <p:bgPr>
        <a:solidFill>
          <a:srgbClr val="FFFFFF"/>
        </a:solidFill>
      </p:bgPr>
    </p:bg>
    <p:spTree>
      <p:nvGrpSpPr>
        <p:cNvPr id="68" name="Shape 68"/>
        <p:cNvGrpSpPr/>
        <p:nvPr/>
      </p:nvGrpSpPr>
      <p:grpSpPr>
        <a:xfrm>
          <a:off x="0" y="0"/>
          <a:ext cx="0" cy="0"/>
          <a:chOff x="0" y="0"/>
          <a:chExt cx="0" cy="0"/>
        </a:xfrm>
      </p:grpSpPr>
      <p:pic>
        <p:nvPicPr>
          <p:cNvPr id="69" name="Google Shape;69;p19"/>
          <p:cNvPicPr preferRelativeResize="0"/>
          <p:nvPr/>
        </p:nvPicPr>
        <p:blipFill>
          <a:blip r:embed="rId2">
            <a:alphaModFix/>
          </a:blip>
          <a:stretch>
            <a:fillRect/>
          </a:stretch>
        </p:blipFill>
        <p:spPr>
          <a:xfrm>
            <a:off x="-3500598" y="-1913375"/>
            <a:ext cx="8774449" cy="8781099"/>
          </a:xfrm>
          <a:prstGeom prst="rect">
            <a:avLst/>
          </a:prstGeom>
          <a:noFill/>
          <a:ln>
            <a:noFill/>
          </a:ln>
        </p:spPr>
      </p:pic>
      <p:sp>
        <p:nvSpPr>
          <p:cNvPr id="70" name="Google Shape;70;p19"/>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9"/>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1">
  <p:cSld name="TITLE_1_1">
    <p:bg>
      <p:bgPr>
        <a:solidFill>
          <a:srgbClr val="FFFFFF"/>
        </a:solidFill>
      </p:bgPr>
    </p:bg>
    <p:spTree>
      <p:nvGrpSpPr>
        <p:cNvPr id="72" name="Shape 72"/>
        <p:cNvGrpSpPr/>
        <p:nvPr/>
      </p:nvGrpSpPr>
      <p:grpSpPr>
        <a:xfrm>
          <a:off x="0" y="0"/>
          <a:ext cx="0" cy="0"/>
          <a:chOff x="0" y="0"/>
          <a:chExt cx="0" cy="0"/>
        </a:xfrm>
      </p:grpSpPr>
      <p:pic>
        <p:nvPicPr>
          <p:cNvPr id="73" name="Google Shape;73;p20"/>
          <p:cNvPicPr preferRelativeResize="0"/>
          <p:nvPr/>
        </p:nvPicPr>
        <p:blipFill>
          <a:blip r:embed="rId2">
            <a:alphaModFix/>
          </a:blip>
          <a:stretch>
            <a:fillRect/>
          </a:stretch>
        </p:blipFill>
        <p:spPr>
          <a:xfrm>
            <a:off x="-3500598" y="-1913375"/>
            <a:ext cx="8774449" cy="87810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type="secHead">
  <p:cSld name="SECTION_HEADER">
    <p:spTree>
      <p:nvGrpSpPr>
        <p:cNvPr id="74" name="Shape 74"/>
        <p:cNvGrpSpPr/>
        <p:nvPr/>
      </p:nvGrpSpPr>
      <p:grpSpPr>
        <a:xfrm>
          <a:off x="0" y="0"/>
          <a:ext cx="0" cy="0"/>
          <a:chOff x="0" y="0"/>
          <a:chExt cx="0" cy="0"/>
        </a:xfrm>
      </p:grpSpPr>
      <p:sp>
        <p:nvSpPr>
          <p:cNvPr id="75" name="Google Shape;75;p2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21"/>
          <p:cNvPicPr preferRelativeResize="0"/>
          <p:nvPr/>
        </p:nvPicPr>
        <p:blipFill>
          <a:blip r:embed="rId2">
            <a:alphaModFix/>
          </a:blip>
          <a:stretch>
            <a:fillRect/>
          </a:stretch>
        </p:blipFill>
        <p:spPr>
          <a:xfrm>
            <a:off x="8506500" y="335925"/>
            <a:ext cx="293825" cy="293501"/>
          </a:xfrm>
          <a:prstGeom prst="rect">
            <a:avLst/>
          </a:prstGeom>
          <a:noFill/>
          <a:ln>
            <a:noFill/>
          </a:ln>
        </p:spPr>
      </p:pic>
      <p:sp>
        <p:nvSpPr>
          <p:cNvPr id="77" name="Google Shape;77;p21"/>
          <p:cNvSpPr txBox="1"/>
          <p:nvPr>
            <p:ph type="title"/>
          </p:nvPr>
        </p:nvSpPr>
        <p:spPr>
          <a:xfrm>
            <a:off x="512100" y="319450"/>
            <a:ext cx="7702200" cy="66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4489"/>
              </a:buClr>
              <a:buSzPts val="3600"/>
              <a:buFont typeface="Manrope"/>
              <a:buNone/>
              <a:defRPr b="1" sz="3600">
                <a:solidFill>
                  <a:srgbClr val="294489"/>
                </a:solidFill>
                <a:latin typeface="Manrope"/>
                <a:ea typeface="Manrope"/>
                <a:cs typeface="Manrope"/>
                <a:sym typeface="Manrop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21"/>
          <p:cNvSpPr txBox="1"/>
          <p:nvPr>
            <p:ph idx="1" type="body"/>
          </p:nvPr>
        </p:nvSpPr>
        <p:spPr>
          <a:xfrm>
            <a:off x="668100" y="1421325"/>
            <a:ext cx="7546200" cy="35520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1pPr>
            <a:lvl2pPr indent="-317500" lvl="1" marL="914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2pPr>
            <a:lvl3pPr indent="-317500" lvl="2" marL="1371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3pPr>
            <a:lvl4pPr indent="-317500" lvl="3" marL="1828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4pPr>
            <a:lvl5pPr indent="-317500" lvl="4" marL="22860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5pPr>
            <a:lvl6pPr indent="-317500" lvl="5" marL="2743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6pPr>
            <a:lvl7pPr indent="-317500" lvl="6" marL="3200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7pPr>
            <a:lvl8pPr indent="-317500" lvl="7" marL="3657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8pPr>
            <a:lvl9pPr indent="-317500" lvl="8" marL="4114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9pPr>
          </a:lstStyle>
          <a:p/>
        </p:txBody>
      </p:sp>
      <p:sp>
        <p:nvSpPr>
          <p:cNvPr id="79" name="Google Shape;79;p21"/>
          <p:cNvSpPr txBox="1"/>
          <p:nvPr>
            <p:ph idx="2" type="subTitle"/>
          </p:nvPr>
        </p:nvSpPr>
        <p:spPr>
          <a:xfrm>
            <a:off x="539250" y="984850"/>
            <a:ext cx="6462300" cy="219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1">
  <p:cSld name="SECTION_HEADER_5">
    <p:spTree>
      <p:nvGrpSpPr>
        <p:cNvPr id="80" name="Shape 80"/>
        <p:cNvGrpSpPr/>
        <p:nvPr/>
      </p:nvGrpSpPr>
      <p:grpSpPr>
        <a:xfrm>
          <a:off x="0" y="0"/>
          <a:ext cx="0" cy="0"/>
          <a:chOff x="0" y="0"/>
          <a:chExt cx="0" cy="0"/>
        </a:xfrm>
      </p:grpSpPr>
      <p:sp>
        <p:nvSpPr>
          <p:cNvPr id="81" name="Google Shape;81;p2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22"/>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p:cSld name="SECTION_HEADER_4">
    <p:spTree>
      <p:nvGrpSpPr>
        <p:cNvPr id="83" name="Shape 83"/>
        <p:cNvGrpSpPr/>
        <p:nvPr/>
      </p:nvGrpSpPr>
      <p:grpSpPr>
        <a:xfrm>
          <a:off x="0" y="0"/>
          <a:ext cx="0" cy="0"/>
          <a:chOff x="0" y="0"/>
          <a:chExt cx="0" cy="0"/>
        </a:xfrm>
      </p:grpSpPr>
      <p:sp>
        <p:nvSpPr>
          <p:cNvPr id="84" name="Google Shape;84;p23"/>
          <p:cNvSpPr/>
          <p:nvPr/>
        </p:nvSpPr>
        <p:spPr>
          <a:xfrm rot="-5400000">
            <a:off x="4255050" y="271725"/>
            <a:ext cx="5168700" cy="46092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p2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2">
  <p:cSld name="SECTION_HEADER_4_3">
    <p:spTree>
      <p:nvGrpSpPr>
        <p:cNvPr id="87" name="Shape 87"/>
        <p:cNvGrpSpPr/>
        <p:nvPr/>
      </p:nvGrpSpPr>
      <p:grpSpPr>
        <a:xfrm>
          <a:off x="0" y="0"/>
          <a:ext cx="0" cy="0"/>
          <a:chOff x="0" y="0"/>
          <a:chExt cx="0" cy="0"/>
        </a:xfrm>
      </p:grpSpPr>
      <p:sp>
        <p:nvSpPr>
          <p:cNvPr id="88" name="Google Shape;88;p24"/>
          <p:cNvSpPr/>
          <p:nvPr/>
        </p:nvSpPr>
        <p:spPr>
          <a:xfrm rot="-5400000">
            <a:off x="4261975" y="265575"/>
            <a:ext cx="5179500" cy="4609200"/>
          </a:xfrm>
          <a:prstGeom prst="round2SameRect">
            <a:avLst>
              <a:gd fmla="val 3711" name="adj1"/>
              <a:gd fmla="val 0" name="adj2"/>
            </a:avLst>
          </a:prstGeom>
          <a:solidFill>
            <a:srgbClr val="2944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2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76CCED"/>
                </a:solidFill>
                <a:latin typeface="Inter"/>
                <a:ea typeface="Inter"/>
                <a:cs typeface="Inter"/>
                <a:sym typeface="Inter"/>
              </a:defRPr>
            </a:lvl1pPr>
            <a:lvl2pPr lvl="1" rtl="0">
              <a:buNone/>
              <a:defRPr>
                <a:solidFill>
                  <a:srgbClr val="76CCED"/>
                </a:solidFill>
                <a:latin typeface="Inter"/>
                <a:ea typeface="Inter"/>
                <a:cs typeface="Inter"/>
                <a:sym typeface="Inter"/>
              </a:defRPr>
            </a:lvl2pPr>
            <a:lvl3pPr lvl="2" rtl="0">
              <a:buNone/>
              <a:defRPr>
                <a:solidFill>
                  <a:srgbClr val="76CCED"/>
                </a:solidFill>
                <a:latin typeface="Inter"/>
                <a:ea typeface="Inter"/>
                <a:cs typeface="Inter"/>
                <a:sym typeface="Inter"/>
              </a:defRPr>
            </a:lvl3pPr>
            <a:lvl4pPr lvl="3" rtl="0">
              <a:buNone/>
              <a:defRPr>
                <a:solidFill>
                  <a:srgbClr val="76CCED"/>
                </a:solidFill>
                <a:latin typeface="Inter"/>
                <a:ea typeface="Inter"/>
                <a:cs typeface="Inter"/>
                <a:sym typeface="Inter"/>
              </a:defRPr>
            </a:lvl4pPr>
            <a:lvl5pPr lvl="4" rtl="0">
              <a:buNone/>
              <a:defRPr>
                <a:solidFill>
                  <a:srgbClr val="76CCED"/>
                </a:solidFill>
                <a:latin typeface="Inter"/>
                <a:ea typeface="Inter"/>
                <a:cs typeface="Inter"/>
                <a:sym typeface="Inter"/>
              </a:defRPr>
            </a:lvl5pPr>
            <a:lvl6pPr lvl="5" rtl="0">
              <a:buNone/>
              <a:defRPr>
                <a:solidFill>
                  <a:srgbClr val="76CCED"/>
                </a:solidFill>
                <a:latin typeface="Inter"/>
                <a:ea typeface="Inter"/>
                <a:cs typeface="Inter"/>
                <a:sym typeface="Inter"/>
              </a:defRPr>
            </a:lvl6pPr>
            <a:lvl7pPr lvl="6" rtl="0">
              <a:buNone/>
              <a:defRPr>
                <a:solidFill>
                  <a:srgbClr val="76CCED"/>
                </a:solidFill>
                <a:latin typeface="Inter"/>
                <a:ea typeface="Inter"/>
                <a:cs typeface="Inter"/>
                <a:sym typeface="Inter"/>
              </a:defRPr>
            </a:lvl7pPr>
            <a:lvl8pPr lvl="7" rtl="0">
              <a:buNone/>
              <a:defRPr>
                <a:solidFill>
                  <a:srgbClr val="76CCED"/>
                </a:solidFill>
                <a:latin typeface="Inter"/>
                <a:ea typeface="Inter"/>
                <a:cs typeface="Inter"/>
                <a:sym typeface="Inter"/>
              </a:defRPr>
            </a:lvl8pPr>
            <a:lvl9pPr lvl="8" rtl="0">
              <a:buNone/>
              <a:defRPr>
                <a:solidFill>
                  <a:srgbClr val="76CCE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24"/>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1">
  <p:cSld name="SECTION_HEADER_4_2">
    <p:spTree>
      <p:nvGrpSpPr>
        <p:cNvPr id="91" name="Shape 91"/>
        <p:cNvGrpSpPr/>
        <p:nvPr/>
      </p:nvGrpSpPr>
      <p:grpSpPr>
        <a:xfrm>
          <a:off x="0" y="0"/>
          <a:ext cx="0" cy="0"/>
          <a:chOff x="0" y="0"/>
          <a:chExt cx="0" cy="0"/>
        </a:xfrm>
      </p:grpSpPr>
      <p:sp>
        <p:nvSpPr>
          <p:cNvPr id="92" name="Google Shape;92;p2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5"/>
          <p:cNvSpPr/>
          <p:nvPr/>
        </p:nvSpPr>
        <p:spPr>
          <a:xfrm flipH="1" rot="5400000">
            <a:off x="-483350" y="448050"/>
            <a:ext cx="5160000" cy="42474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4" name="Google Shape;94;p25"/>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lue">
  <p:cSld name="SECTION_HEADER_4_1">
    <p:spTree>
      <p:nvGrpSpPr>
        <p:cNvPr id="95" name="Shape 95"/>
        <p:cNvGrpSpPr/>
        <p:nvPr/>
      </p:nvGrpSpPr>
      <p:grpSpPr>
        <a:xfrm>
          <a:off x="0" y="0"/>
          <a:ext cx="0" cy="0"/>
          <a:chOff x="0" y="0"/>
          <a:chExt cx="0" cy="0"/>
        </a:xfrm>
      </p:grpSpPr>
      <p:sp>
        <p:nvSpPr>
          <p:cNvPr id="96" name="Google Shape;96;p2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6"/>
          <p:cNvSpPr/>
          <p:nvPr/>
        </p:nvSpPr>
        <p:spPr>
          <a:xfrm flipH="1" rot="5400000">
            <a:off x="-483350" y="448050"/>
            <a:ext cx="5160000" cy="4247400"/>
          </a:xfrm>
          <a:prstGeom prst="round2SameRect">
            <a:avLst>
              <a:gd fmla="val 3711" name="adj1"/>
              <a:gd fmla="val 0" name="adj2"/>
            </a:avLst>
          </a:prstGeom>
          <a:solidFill>
            <a:srgbClr val="DBF2F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8" name="Google Shape;98;p26"/>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p:cSld name="SECTION_HEADER_4_1_1">
    <p:spTree>
      <p:nvGrpSpPr>
        <p:cNvPr id="99" name="Shape 99"/>
        <p:cNvGrpSpPr/>
        <p:nvPr/>
      </p:nvGrpSpPr>
      <p:grpSpPr>
        <a:xfrm>
          <a:off x="0" y="0"/>
          <a:ext cx="0" cy="0"/>
          <a:chOff x="0" y="0"/>
          <a:chExt cx="0" cy="0"/>
        </a:xfrm>
      </p:grpSpPr>
      <p:sp>
        <p:nvSpPr>
          <p:cNvPr id="100" name="Google Shape;100;p2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7"/>
          <p:cNvSpPr/>
          <p:nvPr/>
        </p:nvSpPr>
        <p:spPr>
          <a:xfrm flipH="1" rot="5400000">
            <a:off x="-483350" y="448050"/>
            <a:ext cx="5160000" cy="4247400"/>
          </a:xfrm>
          <a:prstGeom prst="round2SameRect">
            <a:avLst>
              <a:gd fmla="val 3711" name="adj1"/>
              <a:gd fmla="val 0" name="adj2"/>
            </a:avLst>
          </a:prstGeom>
          <a:solidFill>
            <a:srgbClr val="D8C5D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2" name="Google Shape;102;p27"/>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p:cSld name="SECTION_HEADER_4_1_1_1">
    <p:spTree>
      <p:nvGrpSpPr>
        <p:cNvPr id="103" name="Shape 103"/>
        <p:cNvGrpSpPr/>
        <p:nvPr/>
      </p:nvGrpSpPr>
      <p:grpSpPr>
        <a:xfrm>
          <a:off x="0" y="0"/>
          <a:ext cx="0" cy="0"/>
          <a:chOff x="0" y="0"/>
          <a:chExt cx="0" cy="0"/>
        </a:xfrm>
      </p:grpSpPr>
      <p:sp>
        <p:nvSpPr>
          <p:cNvPr id="104" name="Google Shape;104;p2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8"/>
          <p:cNvSpPr/>
          <p:nvPr/>
        </p:nvSpPr>
        <p:spPr>
          <a:xfrm flipH="1" rot="5400000">
            <a:off x="-979800" y="971550"/>
            <a:ext cx="5160000" cy="3200400"/>
          </a:xfrm>
          <a:prstGeom prst="round2SameRect">
            <a:avLst>
              <a:gd fmla="val 0"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6" name="Google Shape;106;p28"/>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1">
  <p:cSld name="SECTION_HEADER_4_1_1_1_1">
    <p:bg>
      <p:bgPr>
        <a:solidFill>
          <a:schemeClr val="dk2"/>
        </a:solidFill>
      </p:bgPr>
    </p:bg>
    <p:spTree>
      <p:nvGrpSpPr>
        <p:cNvPr id="107" name="Shape 107"/>
        <p:cNvGrpSpPr/>
        <p:nvPr/>
      </p:nvGrpSpPr>
      <p:grpSpPr>
        <a:xfrm>
          <a:off x="0" y="0"/>
          <a:ext cx="0" cy="0"/>
          <a:chOff x="0" y="0"/>
          <a:chExt cx="0" cy="0"/>
        </a:xfrm>
      </p:grpSpPr>
      <p:sp>
        <p:nvSpPr>
          <p:cNvPr id="108" name="Google Shape;108;p2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9"/>
          <p:cNvSpPr/>
          <p:nvPr/>
        </p:nvSpPr>
        <p:spPr>
          <a:xfrm flipH="1" rot="5400000">
            <a:off x="-979800" y="971550"/>
            <a:ext cx="5160000" cy="3200400"/>
          </a:xfrm>
          <a:prstGeom prst="round2SameRect">
            <a:avLst>
              <a:gd fmla="val 0" name="adj1"/>
              <a:gd fmla="val 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0" name="Google Shape;110;p29"/>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ransparency Pattern">
  <p:cSld name="SECTION_HEADER_3">
    <p:spTree>
      <p:nvGrpSpPr>
        <p:cNvPr id="111" name="Shape 111"/>
        <p:cNvGrpSpPr/>
        <p:nvPr/>
      </p:nvGrpSpPr>
      <p:grpSpPr>
        <a:xfrm>
          <a:off x="0" y="0"/>
          <a:ext cx="0" cy="0"/>
          <a:chOff x="0" y="0"/>
          <a:chExt cx="0" cy="0"/>
        </a:xfrm>
      </p:grpSpPr>
      <p:pic>
        <p:nvPicPr>
          <p:cNvPr id="112" name="Google Shape;112;p30"/>
          <p:cNvPicPr preferRelativeResize="0"/>
          <p:nvPr/>
        </p:nvPicPr>
        <p:blipFill>
          <a:blip r:embed="rId2">
            <a:alphaModFix/>
          </a:blip>
          <a:stretch>
            <a:fillRect/>
          </a:stretch>
        </p:blipFill>
        <p:spPr>
          <a:xfrm>
            <a:off x="2723971" y="-1231413"/>
            <a:ext cx="8587677" cy="8594174"/>
          </a:xfrm>
          <a:prstGeom prst="rect">
            <a:avLst/>
          </a:prstGeom>
          <a:noFill/>
          <a:ln>
            <a:noFill/>
          </a:ln>
        </p:spPr>
      </p:pic>
      <p:sp>
        <p:nvSpPr>
          <p:cNvPr id="113" name="Google Shape;113;p3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4" name="Google Shape;114;p30"/>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Light">
  <p:cSld name="SECTION_HEADER_2">
    <p:spTree>
      <p:nvGrpSpPr>
        <p:cNvPr id="115" name="Shape 115"/>
        <p:cNvGrpSpPr/>
        <p:nvPr/>
      </p:nvGrpSpPr>
      <p:grpSpPr>
        <a:xfrm>
          <a:off x="0" y="0"/>
          <a:ext cx="0" cy="0"/>
          <a:chOff x="0" y="0"/>
          <a:chExt cx="0" cy="0"/>
        </a:xfrm>
      </p:grpSpPr>
      <p:pic>
        <p:nvPicPr>
          <p:cNvPr id="116" name="Google Shape;116;p31"/>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117" name="Google Shape;117;p3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8" name="Google Shape;118;p31"/>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p:cSld name="SECTION_HEADER_1">
    <p:bg>
      <p:bgPr>
        <a:solidFill>
          <a:srgbClr val="294489"/>
        </a:solidFill>
      </p:bgPr>
    </p:bg>
    <p:spTree>
      <p:nvGrpSpPr>
        <p:cNvPr id="119" name="Shape 119"/>
        <p:cNvGrpSpPr/>
        <p:nvPr/>
      </p:nvGrpSpPr>
      <p:grpSpPr>
        <a:xfrm>
          <a:off x="0" y="0"/>
          <a:ext cx="0" cy="0"/>
          <a:chOff x="0" y="0"/>
          <a:chExt cx="0" cy="0"/>
        </a:xfrm>
      </p:grpSpPr>
      <p:sp>
        <p:nvSpPr>
          <p:cNvPr id="120" name="Google Shape;120;p3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1">
  <p:cSld name="SECTION_HEADER_1_1">
    <p:bg>
      <p:bgPr>
        <a:solidFill>
          <a:srgbClr val="294489"/>
        </a:solidFill>
      </p:bgPr>
    </p:bg>
    <p:spTree>
      <p:nvGrpSpPr>
        <p:cNvPr id="121" name="Shape 121"/>
        <p:cNvGrpSpPr/>
        <p:nvPr/>
      </p:nvGrpSpPr>
      <p:grpSpPr>
        <a:xfrm>
          <a:off x="0" y="0"/>
          <a:ext cx="0" cy="0"/>
          <a:chOff x="0" y="0"/>
          <a:chExt cx="0" cy="0"/>
        </a:xfrm>
      </p:grpSpPr>
      <p:sp>
        <p:nvSpPr>
          <p:cNvPr id="122" name="Google Shape;122;p3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23" name="Google Shape;123;p3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4" name="Shape 124"/>
        <p:cNvGrpSpPr/>
        <p:nvPr/>
      </p:nvGrpSpPr>
      <p:grpSpPr>
        <a:xfrm>
          <a:off x="0" y="0"/>
          <a:ext cx="0" cy="0"/>
          <a:chOff x="0" y="0"/>
          <a:chExt cx="0" cy="0"/>
        </a:xfrm>
      </p:grpSpPr>
      <p:sp>
        <p:nvSpPr>
          <p:cNvPr id="125" name="Google Shape;125;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650C4C"/>
              </a:buClr>
              <a:buSzPts val="3600"/>
              <a:buFont typeface="Manrope"/>
              <a:buChar char="●"/>
              <a:defRPr b="1" sz="3600">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9pPr>
          </a:lstStyle>
          <a:p/>
        </p:txBody>
      </p:sp>
      <p:sp>
        <p:nvSpPr>
          <p:cNvPr id="126" name="Google Shape;126;p3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1pPr>
            <a:lvl2pPr indent="-317500" lvl="1" marL="914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2pPr>
            <a:lvl3pPr indent="-317500" lvl="2" marL="1371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3pPr>
            <a:lvl4pPr indent="-317500" lvl="3" marL="1828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4pPr>
            <a:lvl5pPr indent="-317500" lvl="4" marL="22860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5pPr>
            <a:lvl6pPr indent="-317500" lvl="5" marL="2743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6pPr>
            <a:lvl7pPr indent="-317500" lvl="6" marL="3200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7pPr>
            <a:lvl8pPr indent="-317500" lvl="7" marL="3657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8pPr>
            <a:lvl9pPr indent="-317500" lvl="8" marL="4114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9pPr>
          </a:lstStyle>
          <a:p/>
        </p:txBody>
      </p:sp>
      <p:sp>
        <p:nvSpPr>
          <p:cNvPr id="127" name="Google Shape;12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11.png"/><Relationship Id="rId13" Type="http://schemas.openxmlformats.org/officeDocument/2006/relationships/image" Target="../media/image23.png"/><Relationship Id="rId12" Type="http://schemas.openxmlformats.org/officeDocument/2006/relationships/image" Target="../media/image12.png"/><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24.png"/><Relationship Id="rId5" Type="http://schemas.openxmlformats.org/officeDocument/2006/relationships/image" Target="../media/image8.png"/><Relationship Id="rId6" Type="http://schemas.openxmlformats.org/officeDocument/2006/relationships/image" Target="../media/image15.png"/><Relationship Id="rId7" Type="http://schemas.openxmlformats.org/officeDocument/2006/relationships/image" Target="../media/image9.png"/><Relationship Id="rId8"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hyperlink" Target="https://www.speechmatics.com/" TargetMode="External"/><Relationship Id="rId4" Type="http://schemas.openxmlformats.org/officeDocument/2006/relationships/hyperlink" Target="https://github.com/zia-ai/academy/blob/master/speechmatics/speechmatics_gcp_transcribe.py" TargetMode="External"/><Relationship Id="rId5" Type="http://schemas.openxmlformats.org/officeDocument/2006/relationships/hyperlink" Target="https://github.com/zia-ai/academy/blob/master/speechmatics/speechmatics_to_hf_csv.py" TargetMode="External"/><Relationship Id="rId6" Type="http://schemas.openxmlformats.org/officeDocument/2006/relationships/hyperlink" Target="https://github.com/zia-ai/academy/tree/master/speechmatic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hyperlink" Target="https://docs.humanfirst.ai/docs/data-management/uploading-data/conversation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hyperlink" Target="https://drive.google.com/file/d/1Sf1kSEd-drgdDhXbS4jgdLF7tiZswYW8/view?usp=sharing" TargetMode="External"/><Relationship Id="rId4" Type="http://schemas.openxmlformats.org/officeDocument/2006/relationships/image" Target="../media/image25.gif"/><Relationship Id="rId5" Type="http://schemas.openxmlformats.org/officeDocument/2006/relationships/hyperlink" Target="https://www.loom.com/share/bca30e02e65f4cc68175fb3476b71d27" TargetMode="External"/><Relationship Id="rId6" Type="http://schemas.openxmlformats.org/officeDocument/2006/relationships/hyperlink" Target="https://www.loom.com/share/bca30e02e65f4cc68175fb3476b71d27"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25.gif"/><Relationship Id="rId4" Type="http://schemas.openxmlformats.org/officeDocument/2006/relationships/hyperlink" Target="https://www.loom.com/share/bca30e02e65f4cc68175fb3476b71d27" TargetMode="External"/><Relationship Id="rId5" Type="http://schemas.openxmlformats.org/officeDocument/2006/relationships/hyperlink" Target="https://www.loom.com/share/bca30e02e65f4cc68175fb3476b71d2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hyperlink" Target="https://docs.humanfirst.ai/docs/api/" TargetMode="External"/><Relationship Id="rId4" Type="http://schemas.openxmlformats.org/officeDocument/2006/relationships/hyperlink" Target="https://pypi.org/project/humanfirs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33" name="Shape 133"/>
        <p:cNvGrpSpPr/>
        <p:nvPr/>
      </p:nvGrpSpPr>
      <p:grpSpPr>
        <a:xfrm>
          <a:off x="0" y="0"/>
          <a:ext cx="0" cy="0"/>
          <a:chOff x="0" y="0"/>
          <a:chExt cx="0" cy="0"/>
        </a:xfrm>
      </p:grpSpPr>
      <p:pic>
        <p:nvPicPr>
          <p:cNvPr id="134" name="Google Shape;134;p36"/>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35" name="Google Shape;135;p36"/>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Nesto </a:t>
            </a:r>
            <a:endParaRPr sz="3600">
              <a:solidFill>
                <a:schemeClr val="lt1"/>
              </a:solidFill>
              <a:latin typeface="Manrope SemiBold"/>
              <a:ea typeface="Manrope SemiBold"/>
              <a:cs typeface="Manrope SemiBold"/>
              <a:sym typeface="Manrope SemiBold"/>
            </a:endParaRPr>
          </a:p>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Hand-over</a:t>
            </a:r>
            <a:endParaRPr sz="3600">
              <a:solidFill>
                <a:schemeClr val="lt1"/>
              </a:solidFill>
              <a:latin typeface="Manrope SemiBold"/>
              <a:ea typeface="Manrope SemiBold"/>
              <a:cs typeface="Manrope SemiBold"/>
              <a:sym typeface="Manrope SemiBold"/>
            </a:endParaRPr>
          </a:p>
        </p:txBody>
      </p:sp>
      <p:pic>
        <p:nvPicPr>
          <p:cNvPr id="136" name="Google Shape;136;p36"/>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37" name="Google Shape;13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43" name="Google Shape;143;p37"/>
          <p:cNvSpPr txBox="1"/>
          <p:nvPr>
            <p:ph idx="1" type="body"/>
          </p:nvPr>
        </p:nvSpPr>
        <p:spPr>
          <a:xfrm>
            <a:off x="557875" y="1236700"/>
            <a:ext cx="7111500" cy="3552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P</a:t>
            </a:r>
            <a:r>
              <a:rPr lang="en"/>
              <a:t>rocess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Tool walkthrough</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Step 1 - Transcription</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Step 2 - Uploading Data</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Step 3 - Prompts &amp; Pipelines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Step 4 - Inserting to BQ</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Automation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38"/>
          <p:cNvPicPr preferRelativeResize="0"/>
          <p:nvPr/>
        </p:nvPicPr>
        <p:blipFill>
          <a:blip r:embed="rId3">
            <a:alphaModFix/>
          </a:blip>
          <a:stretch>
            <a:fillRect/>
          </a:stretch>
        </p:blipFill>
        <p:spPr>
          <a:xfrm>
            <a:off x="1961725" y="1725013"/>
            <a:ext cx="835725" cy="835725"/>
          </a:xfrm>
          <a:prstGeom prst="rect">
            <a:avLst/>
          </a:prstGeom>
          <a:noFill/>
          <a:ln>
            <a:noFill/>
          </a:ln>
        </p:spPr>
      </p:pic>
      <p:sp>
        <p:nvSpPr>
          <p:cNvPr id="149" name="Google Shape;149;p38"/>
          <p:cNvSpPr/>
          <p:nvPr/>
        </p:nvSpPr>
        <p:spPr>
          <a:xfrm>
            <a:off x="1273849" y="2124875"/>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150" name="Google Shape;150;p38"/>
          <p:cNvSpPr/>
          <p:nvPr/>
        </p:nvSpPr>
        <p:spPr>
          <a:xfrm>
            <a:off x="2837399" y="2124875"/>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151" name="Google Shape;151;p38"/>
          <p:cNvSpPr txBox="1"/>
          <p:nvPr/>
        </p:nvSpPr>
        <p:spPr>
          <a:xfrm>
            <a:off x="124675" y="103000"/>
            <a:ext cx="15177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500"/>
          </a:p>
        </p:txBody>
      </p:sp>
      <p:sp>
        <p:nvSpPr>
          <p:cNvPr id="152" name="Google Shape;152;p38"/>
          <p:cNvSpPr/>
          <p:nvPr/>
        </p:nvSpPr>
        <p:spPr>
          <a:xfrm>
            <a:off x="7033574" y="2124863"/>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pic>
        <p:nvPicPr>
          <p:cNvPr id="153" name="Google Shape;153;p38"/>
          <p:cNvPicPr preferRelativeResize="0"/>
          <p:nvPr/>
        </p:nvPicPr>
        <p:blipFill>
          <a:blip r:embed="rId4">
            <a:alphaModFix/>
          </a:blip>
          <a:stretch>
            <a:fillRect/>
          </a:stretch>
        </p:blipFill>
        <p:spPr>
          <a:xfrm>
            <a:off x="330550" y="1866438"/>
            <a:ext cx="767100" cy="767100"/>
          </a:xfrm>
          <a:prstGeom prst="rect">
            <a:avLst/>
          </a:prstGeom>
          <a:noFill/>
          <a:ln>
            <a:noFill/>
          </a:ln>
        </p:spPr>
      </p:pic>
      <p:sp>
        <p:nvSpPr>
          <p:cNvPr id="154" name="Google Shape;154;p38"/>
          <p:cNvSpPr txBox="1"/>
          <p:nvPr/>
        </p:nvSpPr>
        <p:spPr>
          <a:xfrm>
            <a:off x="177249" y="273415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Raw Audio Files of</a:t>
            </a:r>
            <a:endParaRPr sz="600">
              <a:solidFill>
                <a:srgbClr val="475067"/>
              </a:solidFill>
            </a:endParaRPr>
          </a:p>
          <a:p>
            <a:pPr indent="0" lvl="0" marL="0" rtl="0" algn="ctr">
              <a:spcBef>
                <a:spcPts val="0"/>
              </a:spcBef>
              <a:spcAft>
                <a:spcPts val="0"/>
              </a:spcAft>
              <a:buNone/>
            </a:pPr>
            <a:r>
              <a:rPr lang="en" sz="600">
                <a:solidFill>
                  <a:srgbClr val="475067"/>
                </a:solidFill>
              </a:rPr>
              <a:t>SDR calls</a:t>
            </a:r>
            <a:endParaRPr sz="600">
              <a:solidFill>
                <a:srgbClr val="475067"/>
              </a:solidFill>
            </a:endParaRPr>
          </a:p>
        </p:txBody>
      </p:sp>
      <p:pic>
        <p:nvPicPr>
          <p:cNvPr id="155" name="Google Shape;155;p38"/>
          <p:cNvPicPr preferRelativeResize="0"/>
          <p:nvPr/>
        </p:nvPicPr>
        <p:blipFill>
          <a:blip r:embed="rId5">
            <a:alphaModFix/>
          </a:blip>
          <a:stretch>
            <a:fillRect/>
          </a:stretch>
        </p:blipFill>
        <p:spPr>
          <a:xfrm>
            <a:off x="2359249" y="2499779"/>
            <a:ext cx="601224" cy="183576"/>
          </a:xfrm>
          <a:prstGeom prst="rect">
            <a:avLst/>
          </a:prstGeom>
          <a:noFill/>
          <a:ln>
            <a:noFill/>
          </a:ln>
        </p:spPr>
      </p:pic>
      <p:sp>
        <p:nvSpPr>
          <p:cNvPr id="156" name="Google Shape;156;p38"/>
          <p:cNvSpPr txBox="1"/>
          <p:nvPr/>
        </p:nvSpPr>
        <p:spPr>
          <a:xfrm>
            <a:off x="1961724" y="274800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Perform Transcription</a:t>
            </a:r>
            <a:endParaRPr sz="600">
              <a:solidFill>
                <a:srgbClr val="475067"/>
              </a:solidFill>
            </a:endParaRPr>
          </a:p>
        </p:txBody>
      </p:sp>
      <p:pic>
        <p:nvPicPr>
          <p:cNvPr id="157" name="Google Shape;157;p38"/>
          <p:cNvPicPr preferRelativeResize="0"/>
          <p:nvPr/>
        </p:nvPicPr>
        <p:blipFill>
          <a:blip r:embed="rId6">
            <a:alphaModFix/>
          </a:blip>
          <a:stretch>
            <a:fillRect/>
          </a:stretch>
        </p:blipFill>
        <p:spPr>
          <a:xfrm>
            <a:off x="4127313" y="1650088"/>
            <a:ext cx="324150" cy="324150"/>
          </a:xfrm>
          <a:prstGeom prst="rect">
            <a:avLst/>
          </a:prstGeom>
          <a:noFill/>
          <a:ln>
            <a:noFill/>
          </a:ln>
        </p:spPr>
      </p:pic>
      <p:pic>
        <p:nvPicPr>
          <p:cNvPr id="158" name="Google Shape;158;p38"/>
          <p:cNvPicPr preferRelativeResize="0"/>
          <p:nvPr/>
        </p:nvPicPr>
        <p:blipFill>
          <a:blip r:embed="rId7">
            <a:alphaModFix/>
          </a:blip>
          <a:stretch>
            <a:fillRect/>
          </a:stretch>
        </p:blipFill>
        <p:spPr>
          <a:xfrm>
            <a:off x="5306600" y="2427002"/>
            <a:ext cx="269100" cy="269100"/>
          </a:xfrm>
          <a:prstGeom prst="rect">
            <a:avLst/>
          </a:prstGeom>
          <a:noFill/>
          <a:ln>
            <a:noFill/>
          </a:ln>
        </p:spPr>
      </p:pic>
      <p:sp>
        <p:nvSpPr>
          <p:cNvPr id="159" name="Google Shape;159;p38"/>
          <p:cNvSpPr txBox="1"/>
          <p:nvPr/>
        </p:nvSpPr>
        <p:spPr>
          <a:xfrm>
            <a:off x="3528437" y="273415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Uploaded to HF to generate insights using</a:t>
            </a:r>
            <a:endParaRPr sz="600">
              <a:solidFill>
                <a:srgbClr val="475067"/>
              </a:solidFill>
            </a:endParaRPr>
          </a:p>
          <a:p>
            <a:pPr indent="0" lvl="0" marL="0" rtl="0" algn="ctr">
              <a:spcBef>
                <a:spcPts val="0"/>
              </a:spcBef>
              <a:spcAft>
                <a:spcPts val="0"/>
              </a:spcAft>
              <a:buNone/>
            </a:pPr>
            <a:r>
              <a:rPr lang="en" sz="600">
                <a:solidFill>
                  <a:srgbClr val="475067"/>
                </a:solidFill>
              </a:rPr>
              <a:t>Vertex AI models</a:t>
            </a:r>
            <a:endParaRPr sz="600">
              <a:solidFill>
                <a:srgbClr val="475067"/>
              </a:solidFill>
            </a:endParaRPr>
          </a:p>
        </p:txBody>
      </p:sp>
      <p:pic>
        <p:nvPicPr>
          <p:cNvPr id="160" name="Google Shape;160;p38"/>
          <p:cNvPicPr preferRelativeResize="0"/>
          <p:nvPr/>
        </p:nvPicPr>
        <p:blipFill>
          <a:blip r:embed="rId8">
            <a:alphaModFix/>
          </a:blip>
          <a:stretch>
            <a:fillRect/>
          </a:stretch>
        </p:blipFill>
        <p:spPr>
          <a:xfrm>
            <a:off x="3686925" y="2035981"/>
            <a:ext cx="440375" cy="440350"/>
          </a:xfrm>
          <a:prstGeom prst="rect">
            <a:avLst/>
          </a:prstGeom>
          <a:noFill/>
          <a:ln>
            <a:noFill/>
          </a:ln>
        </p:spPr>
      </p:pic>
      <p:pic>
        <p:nvPicPr>
          <p:cNvPr id="161" name="Google Shape;161;p38"/>
          <p:cNvPicPr preferRelativeResize="0"/>
          <p:nvPr/>
        </p:nvPicPr>
        <p:blipFill>
          <a:blip r:embed="rId9">
            <a:alphaModFix/>
          </a:blip>
          <a:stretch>
            <a:fillRect/>
          </a:stretch>
        </p:blipFill>
        <p:spPr>
          <a:xfrm>
            <a:off x="4139763" y="2196175"/>
            <a:ext cx="440375" cy="439524"/>
          </a:xfrm>
          <a:prstGeom prst="rect">
            <a:avLst/>
          </a:prstGeom>
          <a:noFill/>
          <a:ln>
            <a:noFill/>
          </a:ln>
        </p:spPr>
      </p:pic>
      <p:sp>
        <p:nvSpPr>
          <p:cNvPr id="162" name="Google Shape;162;p38"/>
          <p:cNvSpPr/>
          <p:nvPr/>
        </p:nvSpPr>
        <p:spPr>
          <a:xfrm>
            <a:off x="4808449" y="2124900"/>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pic>
        <p:nvPicPr>
          <p:cNvPr id="163" name="Google Shape;163;p38"/>
          <p:cNvPicPr preferRelativeResize="0"/>
          <p:nvPr/>
        </p:nvPicPr>
        <p:blipFill>
          <a:blip r:embed="rId10">
            <a:alphaModFix/>
          </a:blip>
          <a:stretch>
            <a:fillRect/>
          </a:stretch>
        </p:blipFill>
        <p:spPr>
          <a:xfrm>
            <a:off x="5495787" y="1842025"/>
            <a:ext cx="767100" cy="767100"/>
          </a:xfrm>
          <a:prstGeom prst="rect">
            <a:avLst/>
          </a:prstGeom>
          <a:noFill/>
          <a:ln>
            <a:noFill/>
          </a:ln>
        </p:spPr>
      </p:pic>
      <p:pic>
        <p:nvPicPr>
          <p:cNvPr id="164" name="Google Shape;164;p38"/>
          <p:cNvPicPr preferRelativeResize="0"/>
          <p:nvPr/>
        </p:nvPicPr>
        <p:blipFill>
          <a:blip r:embed="rId11">
            <a:alphaModFix/>
          </a:blip>
          <a:stretch>
            <a:fillRect/>
          </a:stretch>
        </p:blipFill>
        <p:spPr>
          <a:xfrm>
            <a:off x="6166575" y="2165650"/>
            <a:ext cx="489200" cy="489200"/>
          </a:xfrm>
          <a:prstGeom prst="rect">
            <a:avLst/>
          </a:prstGeom>
          <a:noFill/>
          <a:ln>
            <a:noFill/>
          </a:ln>
        </p:spPr>
      </p:pic>
      <p:sp>
        <p:nvSpPr>
          <p:cNvPr id="165" name="Google Shape;165;p38"/>
          <p:cNvSpPr txBox="1"/>
          <p:nvPr/>
        </p:nvSpPr>
        <p:spPr>
          <a:xfrm>
            <a:off x="5342487" y="274800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Inserted into </a:t>
            </a:r>
            <a:r>
              <a:rPr lang="en" sz="600">
                <a:solidFill>
                  <a:srgbClr val="475067"/>
                </a:solidFill>
              </a:rPr>
              <a:t>separate</a:t>
            </a:r>
            <a:r>
              <a:rPr lang="en" sz="600">
                <a:solidFill>
                  <a:srgbClr val="475067"/>
                </a:solidFill>
              </a:rPr>
              <a:t> BQ table</a:t>
            </a:r>
            <a:endParaRPr sz="600">
              <a:solidFill>
                <a:srgbClr val="475067"/>
              </a:solidFill>
            </a:endParaRPr>
          </a:p>
        </p:txBody>
      </p:sp>
      <p:pic>
        <p:nvPicPr>
          <p:cNvPr id="166" name="Google Shape;166;p38"/>
          <p:cNvPicPr preferRelativeResize="0"/>
          <p:nvPr/>
        </p:nvPicPr>
        <p:blipFill>
          <a:blip r:embed="rId12">
            <a:alphaModFix/>
          </a:blip>
          <a:stretch>
            <a:fillRect/>
          </a:stretch>
        </p:blipFill>
        <p:spPr>
          <a:xfrm>
            <a:off x="8253600" y="2405017"/>
            <a:ext cx="767099" cy="438107"/>
          </a:xfrm>
          <a:prstGeom prst="rect">
            <a:avLst/>
          </a:prstGeom>
          <a:noFill/>
          <a:ln>
            <a:noFill/>
          </a:ln>
        </p:spPr>
      </p:pic>
      <p:pic>
        <p:nvPicPr>
          <p:cNvPr id="167" name="Google Shape;167;p38"/>
          <p:cNvPicPr preferRelativeResize="0"/>
          <p:nvPr/>
        </p:nvPicPr>
        <p:blipFill>
          <a:blip r:embed="rId13">
            <a:alphaModFix/>
          </a:blip>
          <a:stretch>
            <a:fillRect/>
          </a:stretch>
        </p:blipFill>
        <p:spPr>
          <a:xfrm>
            <a:off x="7671482" y="1819450"/>
            <a:ext cx="861050" cy="861050"/>
          </a:xfrm>
          <a:prstGeom prst="rect">
            <a:avLst/>
          </a:prstGeom>
          <a:noFill/>
          <a:ln>
            <a:noFill/>
          </a:ln>
        </p:spPr>
      </p:pic>
      <p:sp>
        <p:nvSpPr>
          <p:cNvPr id="168" name="Google Shape;168;p38"/>
          <p:cNvSpPr txBox="1"/>
          <p:nvPr/>
        </p:nvSpPr>
        <p:spPr>
          <a:xfrm>
            <a:off x="7608287" y="274800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Looker Dashboard</a:t>
            </a:r>
            <a:endParaRPr sz="600">
              <a:solidFill>
                <a:srgbClr val="475067"/>
              </a:solidFill>
            </a:endParaRPr>
          </a:p>
        </p:txBody>
      </p:sp>
      <p:sp>
        <p:nvSpPr>
          <p:cNvPr id="169" name="Google Shape;169;p3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 Transcription</a:t>
            </a:r>
            <a:endParaRPr/>
          </a:p>
        </p:txBody>
      </p:sp>
      <p:sp>
        <p:nvSpPr>
          <p:cNvPr id="175" name="Google Shape;175;p39"/>
          <p:cNvSpPr txBox="1"/>
          <p:nvPr>
            <p:ph idx="1" type="body"/>
          </p:nvPr>
        </p:nvSpPr>
        <p:spPr>
          <a:xfrm>
            <a:off x="512100" y="1103200"/>
            <a:ext cx="5866800" cy="355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HumanFirst did </a:t>
            </a:r>
            <a:r>
              <a:rPr lang="en" sz="1200"/>
              <a:t>transcription</a:t>
            </a:r>
            <a:r>
              <a:rPr lang="en" sz="1200"/>
              <a:t> using </a:t>
            </a:r>
            <a:r>
              <a:rPr lang="en" sz="1200" u="sng">
                <a:solidFill>
                  <a:schemeClr val="hlink"/>
                </a:solidFill>
                <a:hlinkClick r:id="rId3"/>
              </a:rPr>
              <a:t>Speechmatics</a:t>
            </a:r>
            <a:r>
              <a:rPr lang="en" sz="1200"/>
              <a:t>.</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Used HumanFirst Academy scripts to transcribe from a GCP bucket or local directory and convert to HumanFirst-compatible CSV.</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Transcription </a:t>
            </a:r>
            <a:r>
              <a:rPr lang="en" sz="1200" u="sng">
                <a:solidFill>
                  <a:schemeClr val="hlink"/>
                </a:solidFill>
                <a:hlinkClick r:id="rId4"/>
              </a:rPr>
              <a:t>Script</a:t>
            </a:r>
            <a:r>
              <a:rPr lang="en" sz="1200"/>
              <a:t>.</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To use the script, would need</a:t>
            </a:r>
            <a:endParaRPr sz="1200"/>
          </a:p>
          <a:p>
            <a:pPr indent="-304800" lvl="1" marL="914400" rtl="0" algn="l">
              <a:spcBef>
                <a:spcPts val="0"/>
              </a:spcBef>
              <a:spcAft>
                <a:spcPts val="0"/>
              </a:spcAft>
              <a:buSzPts val="1200"/>
              <a:buChar char="○"/>
            </a:pPr>
            <a:r>
              <a:rPr lang="en" sz="1200"/>
              <a:t>Speechmatics API</a:t>
            </a:r>
            <a:endParaRPr sz="1200"/>
          </a:p>
          <a:p>
            <a:pPr indent="-304800" lvl="1" marL="914400" rtl="0" algn="l">
              <a:spcBef>
                <a:spcPts val="0"/>
              </a:spcBef>
              <a:spcAft>
                <a:spcPts val="0"/>
              </a:spcAft>
              <a:buSzPts val="1200"/>
              <a:buChar char="○"/>
            </a:pPr>
            <a:r>
              <a:rPr lang="en" sz="1200"/>
              <a:t>Audio files either in GCP or stored locally</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Converted Speechmatics transcriptions into HumanFirst CSV using this </a:t>
            </a:r>
            <a:r>
              <a:rPr lang="en" sz="1200" u="sng">
                <a:solidFill>
                  <a:schemeClr val="hlink"/>
                </a:solidFill>
                <a:hlinkClick r:id="rId5"/>
              </a:rPr>
              <a:t>script</a:t>
            </a:r>
            <a:r>
              <a:rPr lang="en" sz="1200"/>
              <a:t> </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Can find other helpful speechmatics related </a:t>
            </a:r>
            <a:r>
              <a:rPr lang="en" sz="1200"/>
              <a:t>scripts</a:t>
            </a:r>
            <a:r>
              <a:rPr lang="en" sz="1200"/>
              <a:t> </a:t>
            </a:r>
            <a:r>
              <a:rPr lang="en" sz="1200" u="sng">
                <a:solidFill>
                  <a:schemeClr val="hlink"/>
                </a:solidFill>
                <a:hlinkClick r:id="rId6"/>
              </a:rPr>
              <a:t>here</a:t>
            </a:r>
            <a:r>
              <a:rPr lang="en" sz="1200"/>
              <a:t>.</a:t>
            </a:r>
            <a:endParaRPr sz="1200"/>
          </a:p>
          <a:p>
            <a:pPr indent="0" lvl="0" marL="45720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If going with different transcription approach, then please ensure t</a:t>
            </a:r>
            <a:r>
              <a:rPr lang="en" sz="1200"/>
              <a:t>o have a timestamp per utterance, a role, the transcribed text, and a unique id </a:t>
            </a:r>
            <a:r>
              <a:rPr i="1" lang="en" sz="1200"/>
              <a:t>(call_id) </a:t>
            </a:r>
            <a:r>
              <a:rPr lang="en" sz="1200"/>
              <a:t>in the final dataset.</a:t>
            </a:r>
            <a:endParaRPr sz="1200"/>
          </a:p>
          <a:p>
            <a:pPr indent="0" lvl="0" marL="0" rtl="0" algn="l">
              <a:spcBef>
                <a:spcPts val="0"/>
              </a:spcBef>
              <a:spcAft>
                <a:spcPts val="0"/>
              </a:spcAft>
              <a:buNone/>
            </a:pPr>
            <a:r>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40"/>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 Transcription</a:t>
            </a:r>
            <a:endParaRPr/>
          </a:p>
        </p:txBody>
      </p:sp>
      <p:sp>
        <p:nvSpPr>
          <p:cNvPr id="181" name="Google Shape;181;p40"/>
          <p:cNvSpPr txBox="1"/>
          <p:nvPr>
            <p:ph idx="1" type="body"/>
          </p:nvPr>
        </p:nvSpPr>
        <p:spPr>
          <a:xfrm>
            <a:off x="512100" y="1162325"/>
            <a:ext cx="8319000" cy="355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Content enrichment was added to ensure agent names, companies were correctly recognized to the transcription to avoid affecting scoring</a:t>
            </a:r>
            <a:endParaRPr sz="1200"/>
          </a:p>
        </p:txBody>
      </p:sp>
      <p:pic>
        <p:nvPicPr>
          <p:cNvPr id="182" name="Google Shape;182;p40"/>
          <p:cNvPicPr preferRelativeResize="0"/>
          <p:nvPr/>
        </p:nvPicPr>
        <p:blipFill>
          <a:blip r:embed="rId3">
            <a:alphaModFix/>
          </a:blip>
          <a:stretch>
            <a:fillRect/>
          </a:stretch>
        </p:blipFill>
        <p:spPr>
          <a:xfrm>
            <a:off x="2660602" y="1820500"/>
            <a:ext cx="3912651" cy="3070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41"/>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Uploading Data</a:t>
            </a:r>
            <a:endParaRPr/>
          </a:p>
        </p:txBody>
      </p:sp>
      <p:sp>
        <p:nvSpPr>
          <p:cNvPr id="188" name="Google Shape;188;p41"/>
          <p:cNvSpPr txBox="1"/>
          <p:nvPr>
            <p:ph idx="1" type="body"/>
          </p:nvPr>
        </p:nvSpPr>
        <p:spPr>
          <a:xfrm>
            <a:off x="512100" y="1297575"/>
            <a:ext cx="5866800" cy="355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HumanFirst accepts conversations in either CSV or HF JSON. They must have:</a:t>
            </a:r>
            <a:endParaRPr sz="1200"/>
          </a:p>
          <a:p>
            <a:pPr indent="-304800" lvl="1" marL="914400" rtl="0" algn="l">
              <a:spcBef>
                <a:spcPts val="0"/>
              </a:spcBef>
              <a:spcAft>
                <a:spcPts val="0"/>
              </a:spcAft>
              <a:buSzPts val="1200"/>
              <a:buChar char="○"/>
            </a:pPr>
            <a:r>
              <a:rPr lang="en" sz="1200"/>
              <a:t>c</a:t>
            </a:r>
            <a:r>
              <a:rPr lang="en" sz="1200"/>
              <a:t>onversation_id </a:t>
            </a:r>
            <a:r>
              <a:rPr i="1" lang="en" sz="1200"/>
              <a:t>(ex call_id for Nesto)</a:t>
            </a:r>
            <a:endParaRPr i="1" sz="1200"/>
          </a:p>
          <a:p>
            <a:pPr indent="-304800" lvl="1" marL="914400" rtl="0" algn="l">
              <a:spcBef>
                <a:spcPts val="0"/>
              </a:spcBef>
              <a:spcAft>
                <a:spcPts val="0"/>
              </a:spcAft>
              <a:buSzPts val="1200"/>
              <a:buChar char="○"/>
            </a:pPr>
            <a:r>
              <a:rPr lang="en" sz="1200"/>
              <a:t>t</a:t>
            </a:r>
            <a:r>
              <a:rPr lang="en" sz="1200"/>
              <a:t>ext </a:t>
            </a:r>
            <a:r>
              <a:rPr i="1" lang="en" sz="1200"/>
              <a:t>(column containing the </a:t>
            </a:r>
            <a:r>
              <a:rPr i="1" lang="en" sz="1200"/>
              <a:t>actual text being spoken)</a:t>
            </a:r>
            <a:endParaRPr i="1" sz="1200"/>
          </a:p>
          <a:p>
            <a:pPr indent="-304800" lvl="1" marL="914400" rtl="0" algn="l">
              <a:spcBef>
                <a:spcPts val="0"/>
              </a:spcBef>
              <a:spcAft>
                <a:spcPts val="0"/>
              </a:spcAft>
              <a:buSzPts val="1200"/>
              <a:buChar char="○"/>
            </a:pPr>
            <a:r>
              <a:rPr lang="en" sz="1200"/>
              <a:t>timestamp </a:t>
            </a:r>
            <a:r>
              <a:rPr i="1" lang="en" sz="1200"/>
              <a:t>(support timestamps below)</a:t>
            </a:r>
            <a:endParaRPr i="1" sz="1200"/>
          </a:p>
          <a:p>
            <a:pPr indent="-304800" lvl="1" marL="914400" rtl="0" algn="l">
              <a:spcBef>
                <a:spcPts val="0"/>
              </a:spcBef>
              <a:spcAft>
                <a:spcPts val="0"/>
              </a:spcAft>
              <a:buSzPts val="1200"/>
              <a:buChar char="○"/>
            </a:pPr>
            <a:r>
              <a:rPr lang="en" sz="1200"/>
              <a:t>role </a:t>
            </a:r>
            <a:r>
              <a:rPr i="1" lang="en" sz="1200"/>
              <a:t>(2 unique roles ex: client and expert)</a:t>
            </a:r>
            <a:endParaRPr i="1" sz="1200"/>
          </a:p>
          <a:p>
            <a:pPr indent="-285750" lvl="1" marL="914400" rtl="0" algn="l">
              <a:spcBef>
                <a:spcPts val="0"/>
              </a:spcBef>
              <a:spcAft>
                <a:spcPts val="0"/>
              </a:spcAft>
              <a:buSzPts val="900"/>
              <a:buChar char="○"/>
            </a:pPr>
            <a:r>
              <a:rPr lang="en" sz="900" u="sng">
                <a:solidFill>
                  <a:schemeClr val="hlink"/>
                </a:solidFill>
                <a:hlinkClick r:id="rId3"/>
              </a:rPr>
              <a:t>https://docs.humanfirst.ai/docs/data-management/uploading-data/conversations/</a:t>
            </a:r>
            <a:r>
              <a:rPr lang="en" sz="900"/>
              <a:t> </a:t>
            </a:r>
            <a:endParaRPr sz="9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Head to Data Management → Click on Create Dataset → Rename to the current call time frame being ingested (</a:t>
            </a:r>
            <a:r>
              <a:rPr i="1" lang="en" sz="1200"/>
              <a:t>calls_01/01/2024-03/01/2024</a:t>
            </a:r>
            <a:r>
              <a:rPr lang="en" sz="1200"/>
              <a:t>)</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Click the “+” icon and upload the dataset</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Match the corresponding roles if uploading a CSV file</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Uploading Data</a:t>
            </a:r>
            <a:endParaRPr/>
          </a:p>
        </p:txBody>
      </p:sp>
      <p:pic>
        <p:nvPicPr>
          <p:cNvPr id="194" name="Google Shape;194;p42"/>
          <p:cNvPicPr preferRelativeResize="0"/>
          <p:nvPr/>
        </p:nvPicPr>
        <p:blipFill>
          <a:blip r:embed="rId3">
            <a:alphaModFix/>
          </a:blip>
          <a:stretch>
            <a:fillRect/>
          </a:stretch>
        </p:blipFill>
        <p:spPr>
          <a:xfrm>
            <a:off x="623050" y="1137300"/>
            <a:ext cx="7687963" cy="3853850"/>
          </a:xfrm>
          <a:prstGeom prst="rect">
            <a:avLst/>
          </a:prstGeom>
          <a:noFill/>
          <a:ln cap="flat" cmpd="sng" w="9525">
            <a:solidFill>
              <a:schemeClr val="dk1"/>
            </a:solidFill>
            <a:prstDash val="solid"/>
            <a:round/>
            <a:headEnd len="sm" w="sm" type="none"/>
            <a:tailEnd len="sm" w="sm" type="none"/>
          </a:ln>
        </p:spPr>
      </p:pic>
      <p:sp>
        <p:nvSpPr>
          <p:cNvPr id="195" name="Google Shape;195;p42"/>
          <p:cNvSpPr/>
          <p:nvPr/>
        </p:nvSpPr>
        <p:spPr>
          <a:xfrm>
            <a:off x="623050" y="1198375"/>
            <a:ext cx="657600" cy="1752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42"/>
          <p:cNvSpPr/>
          <p:nvPr/>
        </p:nvSpPr>
        <p:spPr>
          <a:xfrm>
            <a:off x="1995750" y="1198375"/>
            <a:ext cx="657600" cy="1533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42"/>
          <p:cNvSpPr/>
          <p:nvPr/>
        </p:nvSpPr>
        <p:spPr>
          <a:xfrm>
            <a:off x="2963500" y="1198375"/>
            <a:ext cx="657600" cy="1752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42"/>
          <p:cNvSpPr/>
          <p:nvPr/>
        </p:nvSpPr>
        <p:spPr>
          <a:xfrm>
            <a:off x="4270550" y="1198375"/>
            <a:ext cx="555900" cy="1752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3"/>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Prompts / Pipelines</a:t>
            </a:r>
            <a:endParaRPr/>
          </a:p>
        </p:txBody>
      </p:sp>
      <p:sp>
        <p:nvSpPr>
          <p:cNvPr id="204" name="Google Shape;204;p43"/>
          <p:cNvSpPr txBox="1"/>
          <p:nvPr>
            <p:ph idx="1" type="body"/>
          </p:nvPr>
        </p:nvSpPr>
        <p:spPr>
          <a:xfrm>
            <a:off x="512100" y="1297575"/>
            <a:ext cx="5866800" cy="355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Create a new workspace or open an existing one</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Link the dataset to the workspace. (Data Actions → Add Data → Re-use Existing Data →  Select the conversation set)</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Click on the Pipelines tab and trigger the pipeline</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Wait for pipeline to complete and filter on the output</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Export the JSON file with the following settings:</a:t>
            </a:r>
            <a:endParaRPr sz="1200"/>
          </a:p>
          <a:p>
            <a:pPr indent="-304800" lvl="1" marL="914400" rtl="0" algn="l">
              <a:spcBef>
                <a:spcPts val="0"/>
              </a:spcBef>
              <a:spcAft>
                <a:spcPts val="0"/>
              </a:spcAft>
              <a:buSzPts val="1200"/>
              <a:buChar char="○"/>
            </a:pPr>
            <a:r>
              <a:rPr lang="en" sz="1200"/>
              <a:t>No Group By Selected</a:t>
            </a:r>
            <a:endParaRPr sz="1200"/>
          </a:p>
          <a:p>
            <a:pPr indent="-304800" lvl="1" marL="914400" rtl="0" algn="l">
              <a:spcBef>
                <a:spcPts val="0"/>
              </a:spcBef>
              <a:spcAft>
                <a:spcPts val="0"/>
              </a:spcAft>
              <a:buSzPts val="1200"/>
              <a:buChar char="○"/>
            </a:pPr>
            <a:r>
              <a:rPr lang="en" sz="1200"/>
              <a:t>Include Duplicates </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44"/>
          <p:cNvPicPr preferRelativeResize="0"/>
          <p:nvPr/>
        </p:nvPicPr>
        <p:blipFill>
          <a:blip r:embed="rId3">
            <a:alphaModFix/>
          </a:blip>
          <a:stretch>
            <a:fillRect/>
          </a:stretch>
        </p:blipFill>
        <p:spPr>
          <a:xfrm>
            <a:off x="294975" y="2002250"/>
            <a:ext cx="835725" cy="835725"/>
          </a:xfrm>
          <a:prstGeom prst="rect">
            <a:avLst/>
          </a:prstGeom>
          <a:noFill/>
          <a:ln>
            <a:noFill/>
          </a:ln>
        </p:spPr>
      </p:pic>
      <p:sp>
        <p:nvSpPr>
          <p:cNvPr id="210" name="Google Shape;210;p44"/>
          <p:cNvSpPr/>
          <p:nvPr/>
        </p:nvSpPr>
        <p:spPr>
          <a:xfrm>
            <a:off x="1200574" y="2254250"/>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211" name="Google Shape;211;p44"/>
          <p:cNvSpPr/>
          <p:nvPr/>
        </p:nvSpPr>
        <p:spPr>
          <a:xfrm>
            <a:off x="1819150" y="1922110"/>
            <a:ext cx="875100" cy="996000"/>
          </a:xfrm>
          <a:prstGeom prst="roundRect">
            <a:avLst>
              <a:gd fmla="val 16667" name="adj"/>
            </a:avLst>
          </a:prstGeom>
          <a:noFill/>
          <a:ln cap="flat" cmpd="sng" w="9525">
            <a:solidFill>
              <a:srgbClr val="1218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44"/>
          <p:cNvSpPr txBox="1"/>
          <p:nvPr/>
        </p:nvSpPr>
        <p:spPr>
          <a:xfrm>
            <a:off x="1776096" y="2220400"/>
            <a:ext cx="9612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SDR Call Guidance Prompt</a:t>
            </a:r>
            <a:endParaRPr sz="700">
              <a:solidFill>
                <a:srgbClr val="475067"/>
              </a:solidFill>
            </a:endParaRPr>
          </a:p>
        </p:txBody>
      </p:sp>
      <p:sp>
        <p:nvSpPr>
          <p:cNvPr id="213" name="Google Shape;213;p44"/>
          <p:cNvSpPr/>
          <p:nvPr/>
        </p:nvSpPr>
        <p:spPr>
          <a:xfrm>
            <a:off x="2764124" y="2254250"/>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214" name="Google Shape;214;p44"/>
          <p:cNvSpPr txBox="1"/>
          <p:nvPr/>
        </p:nvSpPr>
        <p:spPr>
          <a:xfrm>
            <a:off x="4062848" y="4186525"/>
            <a:ext cx="25305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Extracting the scoring, reasoning across 8 call guidance criteria</a:t>
            </a:r>
            <a:endParaRPr sz="600">
              <a:solidFill>
                <a:srgbClr val="475067"/>
              </a:solidFill>
            </a:endParaRPr>
          </a:p>
        </p:txBody>
      </p:sp>
      <p:sp>
        <p:nvSpPr>
          <p:cNvPr id="215" name="Google Shape;215;p44"/>
          <p:cNvSpPr txBox="1"/>
          <p:nvPr/>
        </p:nvSpPr>
        <p:spPr>
          <a:xfrm>
            <a:off x="124675" y="103000"/>
            <a:ext cx="15177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500"/>
          </a:p>
        </p:txBody>
      </p:sp>
      <p:sp>
        <p:nvSpPr>
          <p:cNvPr id="216" name="Google Shape;216;p44"/>
          <p:cNvSpPr/>
          <p:nvPr/>
        </p:nvSpPr>
        <p:spPr>
          <a:xfrm>
            <a:off x="7294874" y="2295013"/>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pic>
        <p:nvPicPr>
          <p:cNvPr id="217" name="Google Shape;217;p44"/>
          <p:cNvPicPr preferRelativeResize="0"/>
          <p:nvPr/>
        </p:nvPicPr>
        <p:blipFill>
          <a:blip r:embed="rId4">
            <a:alphaModFix/>
          </a:blip>
          <a:stretch>
            <a:fillRect/>
          </a:stretch>
        </p:blipFill>
        <p:spPr>
          <a:xfrm>
            <a:off x="8005550" y="1897175"/>
            <a:ext cx="915549" cy="915549"/>
          </a:xfrm>
          <a:prstGeom prst="rect">
            <a:avLst/>
          </a:prstGeom>
          <a:noFill/>
          <a:ln>
            <a:noFill/>
          </a:ln>
        </p:spPr>
      </p:pic>
      <p:sp>
        <p:nvSpPr>
          <p:cNvPr id="218" name="Google Shape;218;p44"/>
          <p:cNvSpPr txBox="1"/>
          <p:nvPr/>
        </p:nvSpPr>
        <p:spPr>
          <a:xfrm>
            <a:off x="7814700" y="2863525"/>
            <a:ext cx="12378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Individual scores (0,1) per call per agent</a:t>
            </a:r>
            <a:endParaRPr sz="700">
              <a:solidFill>
                <a:srgbClr val="475067"/>
              </a:solidFill>
            </a:endParaRPr>
          </a:p>
        </p:txBody>
      </p:sp>
      <p:sp>
        <p:nvSpPr>
          <p:cNvPr id="219" name="Google Shape;219;p44"/>
          <p:cNvSpPr/>
          <p:nvPr/>
        </p:nvSpPr>
        <p:spPr>
          <a:xfrm>
            <a:off x="3522800" y="1078925"/>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Agent Name</a:t>
            </a:r>
            <a:endParaRPr b="1" sz="700"/>
          </a:p>
          <a:p>
            <a:pPr indent="0" lvl="0" marL="0" rtl="0" algn="l">
              <a:spcBef>
                <a:spcPts val="0"/>
              </a:spcBef>
              <a:spcAft>
                <a:spcPts val="0"/>
              </a:spcAft>
              <a:buNone/>
            </a:pPr>
            <a:r>
              <a:rPr lang="en" sz="700"/>
              <a:t>Did the Agent introduce themselves by name?</a:t>
            </a:r>
            <a:endParaRPr sz="700"/>
          </a:p>
        </p:txBody>
      </p:sp>
      <p:sp>
        <p:nvSpPr>
          <p:cNvPr id="220" name="Google Shape;220;p44"/>
          <p:cNvSpPr/>
          <p:nvPr/>
        </p:nvSpPr>
        <p:spPr>
          <a:xfrm>
            <a:off x="5276475" y="1078925"/>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User (Customer) Name</a:t>
            </a:r>
            <a:endParaRPr b="1" sz="700"/>
          </a:p>
          <a:p>
            <a:pPr indent="0" lvl="0" marL="0" rtl="0" algn="l">
              <a:spcBef>
                <a:spcPts val="0"/>
              </a:spcBef>
              <a:spcAft>
                <a:spcPts val="0"/>
              </a:spcAft>
              <a:buNone/>
            </a:pPr>
            <a:r>
              <a:rPr lang="en" sz="700"/>
              <a:t>Did the Agent greet the User by name?</a:t>
            </a:r>
            <a:endParaRPr sz="700"/>
          </a:p>
        </p:txBody>
      </p:sp>
      <p:sp>
        <p:nvSpPr>
          <p:cNvPr id="221" name="Google Shape;221;p44"/>
          <p:cNvSpPr/>
          <p:nvPr/>
        </p:nvSpPr>
        <p:spPr>
          <a:xfrm>
            <a:off x="3522800" y="1855825"/>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Calling Organization</a:t>
            </a:r>
            <a:endParaRPr b="1" sz="700"/>
          </a:p>
          <a:p>
            <a:pPr indent="0" lvl="0" marL="0" rtl="0" algn="l">
              <a:spcBef>
                <a:spcPts val="0"/>
              </a:spcBef>
              <a:spcAft>
                <a:spcPts val="0"/>
              </a:spcAft>
              <a:buNone/>
            </a:pPr>
            <a:r>
              <a:rPr lang="en" sz="700"/>
              <a:t>Did the Agent mention calling from CompareMortgages or MonMeilleurTaux explicitly?</a:t>
            </a:r>
            <a:endParaRPr sz="700"/>
          </a:p>
        </p:txBody>
      </p:sp>
      <p:sp>
        <p:nvSpPr>
          <p:cNvPr id="222" name="Google Shape;222;p44"/>
          <p:cNvSpPr/>
          <p:nvPr/>
        </p:nvSpPr>
        <p:spPr>
          <a:xfrm>
            <a:off x="5276475" y="1855825"/>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Reason For Call</a:t>
            </a:r>
            <a:endParaRPr b="1" sz="700"/>
          </a:p>
          <a:p>
            <a:pPr indent="0" lvl="0" marL="0" rtl="0" algn="l">
              <a:spcBef>
                <a:spcPts val="0"/>
              </a:spcBef>
              <a:spcAft>
                <a:spcPts val="0"/>
              </a:spcAft>
              <a:buNone/>
            </a:pPr>
            <a:r>
              <a:rPr lang="en" sz="700"/>
              <a:t>Did the Agent mention the reason for calling is regarding an inquiry started on the website?</a:t>
            </a:r>
            <a:endParaRPr sz="700"/>
          </a:p>
        </p:txBody>
      </p:sp>
      <p:sp>
        <p:nvSpPr>
          <p:cNvPr id="223" name="Google Shape;223;p44"/>
          <p:cNvSpPr/>
          <p:nvPr/>
        </p:nvSpPr>
        <p:spPr>
          <a:xfrm>
            <a:off x="3530425" y="2632713"/>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Mortgage Need</a:t>
            </a:r>
            <a:endParaRPr b="1" sz="700"/>
          </a:p>
          <a:p>
            <a:pPr indent="0" lvl="0" marL="0" rtl="0" algn="l">
              <a:spcBef>
                <a:spcPts val="0"/>
              </a:spcBef>
              <a:spcAft>
                <a:spcPts val="0"/>
              </a:spcAft>
              <a:buNone/>
            </a:pPr>
            <a:r>
              <a:rPr lang="en" sz="700"/>
              <a:t>Did the Agent understand the User's mortgage situation?</a:t>
            </a:r>
            <a:endParaRPr sz="700"/>
          </a:p>
        </p:txBody>
      </p:sp>
      <p:sp>
        <p:nvSpPr>
          <p:cNvPr id="224" name="Google Shape;224;p44"/>
          <p:cNvSpPr/>
          <p:nvPr/>
        </p:nvSpPr>
        <p:spPr>
          <a:xfrm>
            <a:off x="5284100" y="2632713"/>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Mortgage Timeframe</a:t>
            </a:r>
            <a:endParaRPr b="1" sz="700"/>
          </a:p>
          <a:p>
            <a:pPr indent="0" lvl="0" marL="0" rtl="0" algn="l">
              <a:spcBef>
                <a:spcPts val="0"/>
              </a:spcBef>
              <a:spcAft>
                <a:spcPts val="0"/>
              </a:spcAft>
              <a:buNone/>
            </a:pPr>
            <a:r>
              <a:rPr lang="en" sz="700"/>
              <a:t>Did the Agent verify the User's likely timeframe for getting a mortgage?</a:t>
            </a:r>
            <a:endParaRPr sz="700"/>
          </a:p>
        </p:txBody>
      </p:sp>
      <p:sp>
        <p:nvSpPr>
          <p:cNvPr id="225" name="Google Shape;225;p44"/>
          <p:cNvSpPr/>
          <p:nvPr/>
        </p:nvSpPr>
        <p:spPr>
          <a:xfrm>
            <a:off x="3530425" y="3409613"/>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Credit Score</a:t>
            </a:r>
            <a:endParaRPr b="1" sz="700"/>
          </a:p>
          <a:p>
            <a:pPr indent="0" lvl="0" marL="0" rtl="0" algn="l">
              <a:spcBef>
                <a:spcPts val="0"/>
              </a:spcBef>
              <a:spcAft>
                <a:spcPts val="0"/>
              </a:spcAft>
              <a:buNone/>
            </a:pPr>
            <a:r>
              <a:rPr lang="en" sz="700"/>
              <a:t>Did the Agent ask the User whether they knew their credit score?</a:t>
            </a:r>
            <a:endParaRPr sz="700"/>
          </a:p>
        </p:txBody>
      </p:sp>
      <p:sp>
        <p:nvSpPr>
          <p:cNvPr id="226" name="Google Shape;226;p44"/>
          <p:cNvSpPr/>
          <p:nvPr/>
        </p:nvSpPr>
        <p:spPr>
          <a:xfrm>
            <a:off x="5284100" y="3409613"/>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Next Steps</a:t>
            </a:r>
            <a:endParaRPr b="1" sz="700"/>
          </a:p>
          <a:p>
            <a:pPr indent="0" lvl="0" marL="0" rtl="0" algn="l">
              <a:spcBef>
                <a:spcPts val="0"/>
              </a:spcBef>
              <a:spcAft>
                <a:spcPts val="0"/>
              </a:spcAft>
              <a:buNone/>
            </a:pPr>
            <a:r>
              <a:rPr lang="en" sz="700"/>
              <a:t>Did the Agent discuss or clearly communicate next steps at any point in the call?</a:t>
            </a:r>
            <a:endParaRPr sz="700"/>
          </a:p>
        </p:txBody>
      </p:sp>
      <p:sp>
        <p:nvSpPr>
          <p:cNvPr id="227" name="Google Shape;227;p44"/>
          <p:cNvSpPr txBox="1"/>
          <p:nvPr/>
        </p:nvSpPr>
        <p:spPr>
          <a:xfrm>
            <a:off x="175999" y="2842875"/>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Transcribed Call Transcripts</a:t>
            </a:r>
            <a:endParaRPr sz="600">
              <a:solidFill>
                <a:srgbClr val="475067"/>
              </a:solidFill>
            </a:endParaRPr>
          </a:p>
        </p:txBody>
      </p:sp>
      <p:sp>
        <p:nvSpPr>
          <p:cNvPr id="228" name="Google Shape;228;p44"/>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Prompt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5"/>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Prompts / Pipelines</a:t>
            </a:r>
            <a:endParaRPr/>
          </a:p>
        </p:txBody>
      </p:sp>
      <p:pic>
        <p:nvPicPr>
          <p:cNvPr id="234" name="Google Shape;234;p45"/>
          <p:cNvPicPr preferRelativeResize="0"/>
          <p:nvPr/>
        </p:nvPicPr>
        <p:blipFill>
          <a:blip r:embed="rId3">
            <a:alphaModFix/>
          </a:blip>
          <a:stretch>
            <a:fillRect/>
          </a:stretch>
        </p:blipFill>
        <p:spPr>
          <a:xfrm>
            <a:off x="1559550" y="1099500"/>
            <a:ext cx="6415545" cy="38538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6"/>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Prompts / Pipelines</a:t>
            </a:r>
            <a:endParaRPr/>
          </a:p>
        </p:txBody>
      </p:sp>
      <p:pic>
        <p:nvPicPr>
          <p:cNvPr id="240" name="Google Shape;240;p46"/>
          <p:cNvPicPr preferRelativeResize="0"/>
          <p:nvPr/>
        </p:nvPicPr>
        <p:blipFill>
          <a:blip r:embed="rId3">
            <a:alphaModFix/>
          </a:blip>
          <a:stretch>
            <a:fillRect/>
          </a:stretch>
        </p:blipFill>
        <p:spPr>
          <a:xfrm>
            <a:off x="120050" y="1644050"/>
            <a:ext cx="4942574" cy="2143525"/>
          </a:xfrm>
          <a:prstGeom prst="rect">
            <a:avLst/>
          </a:prstGeom>
          <a:noFill/>
          <a:ln>
            <a:noFill/>
          </a:ln>
        </p:spPr>
      </p:pic>
      <p:pic>
        <p:nvPicPr>
          <p:cNvPr id="241" name="Google Shape;241;p46"/>
          <p:cNvPicPr preferRelativeResize="0"/>
          <p:nvPr/>
        </p:nvPicPr>
        <p:blipFill>
          <a:blip r:embed="rId4">
            <a:alphaModFix/>
          </a:blip>
          <a:stretch>
            <a:fillRect/>
          </a:stretch>
        </p:blipFill>
        <p:spPr>
          <a:xfrm>
            <a:off x="5278274" y="1250475"/>
            <a:ext cx="3744226" cy="325353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Prompts / Pipelines</a:t>
            </a:r>
            <a:endParaRPr/>
          </a:p>
        </p:txBody>
      </p:sp>
      <p:pic>
        <p:nvPicPr>
          <p:cNvPr id="247" name="Google Shape;247;p47"/>
          <p:cNvPicPr preferRelativeResize="0"/>
          <p:nvPr/>
        </p:nvPicPr>
        <p:blipFill>
          <a:blip r:embed="rId3">
            <a:alphaModFix/>
          </a:blip>
          <a:stretch>
            <a:fillRect/>
          </a:stretch>
        </p:blipFill>
        <p:spPr>
          <a:xfrm>
            <a:off x="1389225" y="1072575"/>
            <a:ext cx="6365561" cy="38538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Prompts / Pipelines</a:t>
            </a:r>
            <a:endParaRPr/>
          </a:p>
        </p:txBody>
      </p:sp>
      <p:pic>
        <p:nvPicPr>
          <p:cNvPr id="253" name="Google Shape;253;p48"/>
          <p:cNvPicPr preferRelativeResize="0"/>
          <p:nvPr/>
        </p:nvPicPr>
        <p:blipFill>
          <a:blip r:embed="rId3">
            <a:alphaModFix/>
          </a:blip>
          <a:stretch>
            <a:fillRect/>
          </a:stretch>
        </p:blipFill>
        <p:spPr>
          <a:xfrm>
            <a:off x="1391250" y="1078275"/>
            <a:ext cx="6123757" cy="38538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Pushing to BQ </a:t>
            </a:r>
            <a:r>
              <a:rPr lang="en" sz="1500"/>
              <a:t>(Script)</a:t>
            </a:r>
            <a:endParaRPr sz="1500"/>
          </a:p>
        </p:txBody>
      </p:sp>
      <p:sp>
        <p:nvSpPr>
          <p:cNvPr id="259" name="Google Shape;259;p49"/>
          <p:cNvSpPr txBox="1"/>
          <p:nvPr>
            <p:ph idx="1" type="body"/>
          </p:nvPr>
        </p:nvSpPr>
        <p:spPr>
          <a:xfrm>
            <a:off x="512100" y="1222100"/>
            <a:ext cx="5866800" cy="355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Go to HumanFirst and Filter by Pipeline output</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Data Actions -&gt; Download as JSON</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Download the JSON file and ensure the file is complete</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Download the script files (</a:t>
            </a:r>
            <a:r>
              <a:rPr lang="en" sz="1200" u="sng">
                <a:solidFill>
                  <a:schemeClr val="hlink"/>
                </a:solidFill>
                <a:hlinkClick r:id="rId3"/>
              </a:rPr>
              <a:t>here</a:t>
            </a:r>
            <a:r>
              <a:rPr lang="en" sz="1200"/>
              <a:t>)</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Create a python venv and install requirements.txt</a:t>
            </a:r>
            <a:endParaRPr sz="1200"/>
          </a:p>
          <a:p>
            <a:pPr indent="0" lvl="0" marL="45720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Copy the JSON file to pipeline_downloads folder</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Edit the input variables in the main.py file</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Ensure authentication either via Service Account Key Credentials (.env) or authentication locally via gcloud CLI is setup with access to insert/create/read data from BQ</a:t>
            </a:r>
            <a:endParaRPr sz="1200"/>
          </a:p>
          <a:p>
            <a:pPr indent="0" lvl="0" marL="45720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Run script</a:t>
            </a:r>
            <a:endParaRPr sz="1200"/>
          </a:p>
        </p:txBody>
      </p:sp>
      <p:pic>
        <p:nvPicPr>
          <p:cNvPr id="260" name="Google Shape;260;p49"/>
          <p:cNvPicPr preferRelativeResize="0"/>
          <p:nvPr/>
        </p:nvPicPr>
        <p:blipFill>
          <a:blip r:embed="rId4">
            <a:alphaModFix/>
          </a:blip>
          <a:stretch>
            <a:fillRect/>
          </a:stretch>
        </p:blipFill>
        <p:spPr>
          <a:xfrm>
            <a:off x="5891700" y="1493450"/>
            <a:ext cx="3019399" cy="1973300"/>
          </a:xfrm>
          <a:prstGeom prst="rect">
            <a:avLst/>
          </a:prstGeom>
          <a:noFill/>
          <a:ln>
            <a:noFill/>
          </a:ln>
        </p:spPr>
      </p:pic>
      <p:sp>
        <p:nvSpPr>
          <p:cNvPr id="261" name="Google Shape;261;p49"/>
          <p:cNvSpPr txBox="1"/>
          <p:nvPr/>
        </p:nvSpPr>
        <p:spPr>
          <a:xfrm>
            <a:off x="7139322" y="2846486"/>
            <a:ext cx="2036100" cy="2003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50">
                <a:solidFill>
                  <a:schemeClr val="hlink"/>
                </a:solidFill>
                <a:highlight>
                  <a:srgbClr val="FFFFFF"/>
                </a:highlight>
                <a:uFill>
                  <a:noFill/>
                </a:uFill>
                <a:hlinkClick r:id="rId5"/>
              </a:rPr>
              <a:t>Data Pipeline Results to BigQuery Walkthrough 📊 - Watch Video</a:t>
            </a:r>
            <a:endParaRPr sz="1050">
              <a:solidFill>
                <a:schemeClr val="hlink"/>
              </a:solidFill>
              <a:highlight>
                <a:srgbClr val="FFFFFF"/>
              </a:highlight>
              <a:uFill>
                <a:noFill/>
              </a:uFill>
              <a:hlinkClick r:id="rId6"/>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0"/>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Pushing to BQ </a:t>
            </a:r>
            <a:r>
              <a:rPr lang="en" sz="1500"/>
              <a:t>(Script)</a:t>
            </a:r>
            <a:endParaRPr sz="1500"/>
          </a:p>
        </p:txBody>
      </p:sp>
      <p:sp>
        <p:nvSpPr>
          <p:cNvPr id="267" name="Google Shape;267;p50"/>
          <p:cNvSpPr txBox="1"/>
          <p:nvPr>
            <p:ph idx="1" type="body"/>
          </p:nvPr>
        </p:nvSpPr>
        <p:spPr>
          <a:xfrm>
            <a:off x="512100" y="1222100"/>
            <a:ext cx="5170500" cy="355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Script will:</a:t>
            </a:r>
            <a:endParaRPr sz="1200"/>
          </a:p>
          <a:p>
            <a:pPr indent="-304800" lvl="1" marL="914400" rtl="0" algn="l">
              <a:spcBef>
                <a:spcPts val="0"/>
              </a:spcBef>
              <a:spcAft>
                <a:spcPts val="0"/>
              </a:spcAft>
              <a:buSzPts val="1200"/>
              <a:buChar char="○"/>
            </a:pPr>
            <a:r>
              <a:rPr lang="en" sz="1200"/>
              <a:t>Read the HF JSON file</a:t>
            </a:r>
            <a:endParaRPr sz="1200"/>
          </a:p>
          <a:p>
            <a:pPr indent="0" lvl="0" marL="914400" rtl="0" algn="l">
              <a:spcBef>
                <a:spcPts val="0"/>
              </a:spcBef>
              <a:spcAft>
                <a:spcPts val="0"/>
              </a:spcAft>
              <a:buNone/>
            </a:pPr>
            <a:r>
              <a:t/>
            </a:r>
            <a:endParaRPr sz="1200"/>
          </a:p>
          <a:p>
            <a:pPr indent="-304800" lvl="1" marL="914400" rtl="0" algn="l">
              <a:spcBef>
                <a:spcPts val="0"/>
              </a:spcBef>
              <a:spcAft>
                <a:spcPts val="0"/>
              </a:spcAft>
              <a:buSzPts val="1200"/>
              <a:buChar char="○"/>
            </a:pPr>
            <a:r>
              <a:rPr lang="en" sz="1200"/>
              <a:t>Pivot the outputs on the specified column (call_id)</a:t>
            </a:r>
            <a:endParaRPr sz="1200"/>
          </a:p>
          <a:p>
            <a:pPr indent="0" lvl="0" marL="914400" rtl="0" algn="l">
              <a:spcBef>
                <a:spcPts val="0"/>
              </a:spcBef>
              <a:spcAft>
                <a:spcPts val="0"/>
              </a:spcAft>
              <a:buNone/>
            </a:pPr>
            <a:r>
              <a:t/>
            </a:r>
            <a:endParaRPr sz="1200"/>
          </a:p>
          <a:p>
            <a:pPr indent="-304800" lvl="1" marL="914400" rtl="0" algn="l">
              <a:spcBef>
                <a:spcPts val="0"/>
              </a:spcBef>
              <a:spcAft>
                <a:spcPts val="0"/>
              </a:spcAft>
              <a:buSzPts val="1200"/>
              <a:buChar char="○"/>
            </a:pPr>
            <a:r>
              <a:rPr lang="en" sz="1200"/>
              <a:t>Create / Use Existing Table on BQ</a:t>
            </a:r>
            <a:endParaRPr sz="1200"/>
          </a:p>
          <a:p>
            <a:pPr indent="0" lvl="0" marL="914400" rtl="0" algn="l">
              <a:spcBef>
                <a:spcPts val="0"/>
              </a:spcBef>
              <a:spcAft>
                <a:spcPts val="0"/>
              </a:spcAft>
              <a:buNone/>
            </a:pPr>
            <a:r>
              <a:t/>
            </a:r>
            <a:endParaRPr sz="1200"/>
          </a:p>
          <a:p>
            <a:pPr indent="-304800" lvl="1" marL="914400" rtl="0" algn="l">
              <a:spcBef>
                <a:spcPts val="0"/>
              </a:spcBef>
              <a:spcAft>
                <a:spcPts val="0"/>
              </a:spcAft>
              <a:buSzPts val="1200"/>
              <a:buChar char="○"/>
            </a:pPr>
            <a:r>
              <a:rPr lang="en" sz="1200"/>
              <a:t>Extract &amp; verify the relevant required and optional columns</a:t>
            </a:r>
            <a:endParaRPr sz="1200"/>
          </a:p>
          <a:p>
            <a:pPr indent="0" lvl="0" marL="914400" rtl="0" algn="l">
              <a:spcBef>
                <a:spcPts val="0"/>
              </a:spcBef>
              <a:spcAft>
                <a:spcPts val="0"/>
              </a:spcAft>
              <a:buNone/>
            </a:pPr>
            <a:r>
              <a:t/>
            </a:r>
            <a:endParaRPr sz="1200"/>
          </a:p>
          <a:p>
            <a:pPr indent="-304800" lvl="1" marL="914400" rtl="0" algn="l">
              <a:spcBef>
                <a:spcPts val="0"/>
              </a:spcBef>
              <a:spcAft>
                <a:spcPts val="0"/>
              </a:spcAft>
              <a:buSzPts val="1200"/>
              <a:buChar char="○"/>
            </a:pPr>
            <a:r>
              <a:rPr lang="en" sz="1200"/>
              <a:t>Delete any existing call_id’s in the BQ table that are in the current dataframe to ensure no duplicates </a:t>
            </a:r>
            <a:endParaRPr sz="1200"/>
          </a:p>
          <a:p>
            <a:pPr indent="0" lvl="0" marL="914400" rtl="0" algn="l">
              <a:spcBef>
                <a:spcPts val="0"/>
              </a:spcBef>
              <a:spcAft>
                <a:spcPts val="0"/>
              </a:spcAft>
              <a:buNone/>
            </a:pPr>
            <a:r>
              <a:t/>
            </a:r>
            <a:endParaRPr sz="1200"/>
          </a:p>
          <a:p>
            <a:pPr indent="-304800" lvl="1" marL="914400" rtl="0" algn="l">
              <a:spcBef>
                <a:spcPts val="0"/>
              </a:spcBef>
              <a:spcAft>
                <a:spcPts val="0"/>
              </a:spcAft>
              <a:buSzPts val="1200"/>
              <a:buChar char="○"/>
            </a:pPr>
            <a:r>
              <a:rPr lang="en" sz="1200"/>
              <a:t>Append pivoted DataFrame into BQ table using BQ Python SDK</a:t>
            </a:r>
            <a:endParaRPr sz="1200"/>
          </a:p>
        </p:txBody>
      </p:sp>
      <p:pic>
        <p:nvPicPr>
          <p:cNvPr id="268" name="Google Shape;268;p50"/>
          <p:cNvPicPr preferRelativeResize="0"/>
          <p:nvPr/>
        </p:nvPicPr>
        <p:blipFill>
          <a:blip r:embed="rId3">
            <a:alphaModFix/>
          </a:blip>
          <a:stretch>
            <a:fillRect/>
          </a:stretch>
        </p:blipFill>
        <p:spPr>
          <a:xfrm>
            <a:off x="5891700" y="1493450"/>
            <a:ext cx="3019399" cy="1973300"/>
          </a:xfrm>
          <a:prstGeom prst="rect">
            <a:avLst/>
          </a:prstGeom>
          <a:noFill/>
          <a:ln>
            <a:noFill/>
          </a:ln>
        </p:spPr>
      </p:pic>
      <p:sp>
        <p:nvSpPr>
          <p:cNvPr id="269" name="Google Shape;269;p50"/>
          <p:cNvSpPr txBox="1"/>
          <p:nvPr/>
        </p:nvSpPr>
        <p:spPr>
          <a:xfrm>
            <a:off x="7139322" y="2846486"/>
            <a:ext cx="2036100" cy="2003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50">
                <a:solidFill>
                  <a:schemeClr val="hlink"/>
                </a:solidFill>
                <a:highlight>
                  <a:srgbClr val="FFFFFF"/>
                </a:highlight>
                <a:uFill>
                  <a:noFill/>
                </a:uFill>
                <a:hlinkClick r:id="rId4"/>
              </a:rPr>
              <a:t>Data Pipeline Results to BigQuery Walkthrough 📊 - Watch Video</a:t>
            </a:r>
            <a:endParaRPr sz="1050">
              <a:solidFill>
                <a:schemeClr val="hlink"/>
              </a:solidFill>
              <a:highlight>
                <a:srgbClr val="FFFFFF"/>
              </a:highlight>
              <a:uFill>
                <a:noFill/>
              </a:uFill>
              <a:hlinkClick r:id="rId5"/>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51"/>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4- Pushing to BQ </a:t>
            </a:r>
            <a:r>
              <a:rPr lang="en" sz="1500">
                <a:solidFill>
                  <a:schemeClr val="accent1"/>
                </a:solidFill>
              </a:rPr>
              <a:t>(Script)</a:t>
            </a:r>
            <a:endParaRPr/>
          </a:p>
        </p:txBody>
      </p:sp>
      <p:pic>
        <p:nvPicPr>
          <p:cNvPr id="275" name="Google Shape;275;p51"/>
          <p:cNvPicPr preferRelativeResize="0"/>
          <p:nvPr/>
        </p:nvPicPr>
        <p:blipFill>
          <a:blip r:embed="rId3">
            <a:alphaModFix/>
          </a:blip>
          <a:stretch>
            <a:fillRect/>
          </a:stretch>
        </p:blipFill>
        <p:spPr>
          <a:xfrm>
            <a:off x="1590350" y="1072550"/>
            <a:ext cx="3687377" cy="3853850"/>
          </a:xfrm>
          <a:prstGeom prst="rect">
            <a:avLst/>
          </a:prstGeom>
          <a:noFill/>
          <a:ln cap="flat" cmpd="sng" w="9525">
            <a:solidFill>
              <a:schemeClr val="dk1"/>
            </a:solidFill>
            <a:prstDash val="solid"/>
            <a:round/>
            <a:headEnd len="sm" w="sm" type="none"/>
            <a:tailEnd len="sm" w="sm" type="none"/>
          </a:ln>
        </p:spPr>
      </p:pic>
      <p:sp>
        <p:nvSpPr>
          <p:cNvPr id="276" name="Google Shape;276;p51"/>
          <p:cNvSpPr/>
          <p:nvPr/>
        </p:nvSpPr>
        <p:spPr>
          <a:xfrm>
            <a:off x="5615575" y="1663375"/>
            <a:ext cx="2490900" cy="23103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SELECT</a:t>
            </a:r>
            <a:endParaRPr sz="700"/>
          </a:p>
          <a:p>
            <a:pPr indent="0" lvl="0" marL="0" rtl="0" algn="l">
              <a:spcBef>
                <a:spcPts val="0"/>
              </a:spcBef>
              <a:spcAft>
                <a:spcPts val="0"/>
              </a:spcAft>
              <a:buNone/>
            </a:pPr>
            <a:r>
              <a:rPr lang="en" sz="700"/>
              <a:t>  sdr_calls.*,</a:t>
            </a:r>
            <a:endParaRPr sz="700"/>
          </a:p>
          <a:p>
            <a:pPr indent="0" lvl="0" marL="0" rtl="0" algn="l">
              <a:spcBef>
                <a:spcPts val="0"/>
              </a:spcBef>
              <a:spcAft>
                <a:spcPts val="0"/>
              </a:spcAft>
              <a:buNone/>
            </a:pPr>
            <a:r>
              <a:rPr lang="en" sz="700"/>
              <a:t>  insights.agent_name,</a:t>
            </a:r>
            <a:endParaRPr sz="700"/>
          </a:p>
          <a:p>
            <a:pPr indent="0" lvl="0" marL="0" rtl="0" algn="l">
              <a:spcBef>
                <a:spcPts val="0"/>
              </a:spcBef>
              <a:spcAft>
                <a:spcPts val="0"/>
              </a:spcAft>
              <a:buNone/>
            </a:pPr>
            <a:r>
              <a:rPr lang="en" sz="700"/>
              <a:t>  insights.user_name,</a:t>
            </a:r>
            <a:endParaRPr sz="700"/>
          </a:p>
          <a:p>
            <a:pPr indent="0" lvl="0" marL="0" rtl="0" algn="l">
              <a:spcBef>
                <a:spcPts val="0"/>
              </a:spcBef>
              <a:spcAft>
                <a:spcPts val="0"/>
              </a:spcAft>
              <a:buNone/>
            </a:pPr>
            <a:r>
              <a:rPr lang="en" sz="700"/>
              <a:t>  insights.calling_organization,</a:t>
            </a:r>
            <a:endParaRPr sz="700"/>
          </a:p>
          <a:p>
            <a:pPr indent="0" lvl="0" marL="0" rtl="0" algn="l">
              <a:spcBef>
                <a:spcPts val="0"/>
              </a:spcBef>
              <a:spcAft>
                <a:spcPts val="0"/>
              </a:spcAft>
              <a:buNone/>
            </a:pPr>
            <a:r>
              <a:rPr lang="en" sz="700"/>
              <a:t>  insights.reason_for_call,</a:t>
            </a:r>
            <a:endParaRPr sz="700"/>
          </a:p>
          <a:p>
            <a:pPr indent="0" lvl="0" marL="0" rtl="0" algn="l">
              <a:spcBef>
                <a:spcPts val="0"/>
              </a:spcBef>
              <a:spcAft>
                <a:spcPts val="0"/>
              </a:spcAft>
              <a:buNone/>
            </a:pPr>
            <a:r>
              <a:rPr lang="en" sz="700"/>
              <a:t>  insights.mortgage_need,</a:t>
            </a:r>
            <a:endParaRPr sz="700"/>
          </a:p>
          <a:p>
            <a:pPr indent="0" lvl="0" marL="0" rtl="0" algn="l">
              <a:spcBef>
                <a:spcPts val="0"/>
              </a:spcBef>
              <a:spcAft>
                <a:spcPts val="0"/>
              </a:spcAft>
              <a:buNone/>
            </a:pPr>
            <a:r>
              <a:rPr lang="en" sz="700"/>
              <a:t>  insights.mortgage_timeframe,</a:t>
            </a:r>
            <a:endParaRPr sz="700"/>
          </a:p>
          <a:p>
            <a:pPr indent="0" lvl="0" marL="0" rtl="0" algn="l">
              <a:spcBef>
                <a:spcPts val="0"/>
              </a:spcBef>
              <a:spcAft>
                <a:spcPts val="0"/>
              </a:spcAft>
              <a:buNone/>
            </a:pPr>
            <a:r>
              <a:rPr lang="en" sz="700"/>
              <a:t>  insights.credit_score,</a:t>
            </a:r>
            <a:endParaRPr sz="700"/>
          </a:p>
          <a:p>
            <a:pPr indent="0" lvl="0" marL="0" rtl="0" algn="l">
              <a:spcBef>
                <a:spcPts val="0"/>
              </a:spcBef>
              <a:spcAft>
                <a:spcPts val="0"/>
              </a:spcAft>
              <a:buNone/>
            </a:pPr>
            <a:r>
              <a:rPr lang="en" sz="700"/>
              <a:t>  insights.next_steps,</a:t>
            </a:r>
            <a:endParaRPr sz="700"/>
          </a:p>
          <a:p>
            <a:pPr indent="0" lvl="0" marL="0" rtl="0" algn="l">
              <a:spcBef>
                <a:spcPts val="0"/>
              </a:spcBef>
              <a:spcAft>
                <a:spcPts val="0"/>
              </a:spcAft>
              <a:buNone/>
            </a:pPr>
            <a:r>
              <a:rPr lang="en" sz="700"/>
              <a:t>FROM `humanfirst-prod-bb47f202.poc.insights_table` as insights</a:t>
            </a:r>
            <a:endParaRPr sz="700"/>
          </a:p>
          <a:p>
            <a:pPr indent="0" lvl="0" marL="0" rtl="0" algn="l">
              <a:spcBef>
                <a:spcPts val="0"/>
              </a:spcBef>
              <a:spcAft>
                <a:spcPts val="0"/>
              </a:spcAft>
              <a:buNone/>
            </a:pPr>
            <a:r>
              <a:rPr lang="en" sz="700"/>
              <a:t>LEFT JOIN `humanfirst-prod-bb47f202.poc.tbl_sdr_calls_enriched` as sdr_calls</a:t>
            </a:r>
            <a:endParaRPr sz="700"/>
          </a:p>
          <a:p>
            <a:pPr indent="0" lvl="0" marL="0" rtl="0" algn="l">
              <a:spcBef>
                <a:spcPts val="0"/>
              </a:spcBef>
              <a:spcAft>
                <a:spcPts val="0"/>
              </a:spcAft>
              <a:buNone/>
            </a:pPr>
            <a:r>
              <a:rPr lang="en" sz="700"/>
              <a:t>ON insights.conversation_id = sdr_calls.call_id;</a:t>
            </a:r>
            <a:endParaRPr sz="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Automation</a:t>
            </a:r>
            <a:endParaRPr/>
          </a:p>
        </p:txBody>
      </p:sp>
      <p:sp>
        <p:nvSpPr>
          <p:cNvPr id="282" name="Google Shape;282;p52"/>
          <p:cNvSpPr txBox="1"/>
          <p:nvPr>
            <p:ph idx="1" type="body"/>
          </p:nvPr>
        </p:nvSpPr>
        <p:spPr>
          <a:xfrm>
            <a:off x="512100" y="1103200"/>
            <a:ext cx="8385600" cy="355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HumanFirst supports HTTP API’s where all major actions in the flow can be automated</a:t>
            </a:r>
            <a:endParaRPr sz="1200"/>
          </a:p>
          <a:p>
            <a:pPr indent="-292100" lvl="1" marL="914400" rtl="0" algn="l">
              <a:spcBef>
                <a:spcPts val="0"/>
              </a:spcBef>
              <a:spcAft>
                <a:spcPts val="0"/>
              </a:spcAft>
              <a:buSzPts val="1000"/>
              <a:buChar char="○"/>
            </a:pPr>
            <a:r>
              <a:rPr lang="en" sz="1000"/>
              <a:t>Note for Nesto being “on-prem” the API endpoint needs to be configured differently and is not the same API endpoint as found in the docs. (will follow up with steps on how to expose this on-prem)</a:t>
            </a:r>
            <a:endParaRPr sz="1000"/>
          </a:p>
          <a:p>
            <a:pPr indent="-279400" lvl="1" marL="914400" rtl="0" algn="l">
              <a:spcBef>
                <a:spcPts val="0"/>
              </a:spcBef>
              <a:spcAft>
                <a:spcPts val="0"/>
              </a:spcAft>
              <a:buSzPts val="800"/>
              <a:buChar char="○"/>
            </a:pPr>
            <a:r>
              <a:rPr i="1" lang="en" sz="800" u="sng">
                <a:solidFill>
                  <a:schemeClr val="hlink"/>
                </a:solidFill>
                <a:hlinkClick r:id="rId3"/>
              </a:rPr>
              <a:t>https://docs.humanfirst.ai/docs/api/</a:t>
            </a:r>
            <a:r>
              <a:rPr i="1" lang="en" sz="800"/>
              <a:t> </a:t>
            </a:r>
            <a:endParaRPr i="1" sz="8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Python based SDK that is a wrapper around the HTTP API’s</a:t>
            </a:r>
            <a:endParaRPr sz="1200"/>
          </a:p>
          <a:p>
            <a:pPr indent="-279400" lvl="1" marL="914400" rtl="0" algn="l">
              <a:spcBef>
                <a:spcPts val="0"/>
              </a:spcBef>
              <a:spcAft>
                <a:spcPts val="0"/>
              </a:spcAft>
              <a:buSzPts val="800"/>
              <a:buChar char="○"/>
            </a:pPr>
            <a:r>
              <a:rPr lang="en" sz="800" u="sng">
                <a:solidFill>
                  <a:schemeClr val="hlink"/>
                </a:solidFill>
                <a:hlinkClick r:id="rId4"/>
              </a:rPr>
              <a:t>https://pypi.org/project/humanfirst/</a:t>
            </a:r>
            <a:r>
              <a:rPr lang="en" sz="800"/>
              <a:t> </a:t>
            </a:r>
            <a:endParaRPr sz="800"/>
          </a:p>
          <a:p>
            <a:pPr indent="0" lvl="0" marL="45720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Airflow SDK Example WIP</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Human First">
  <a:themeElements>
    <a:clrScheme name="Simple Light">
      <a:dk1>
        <a:srgbClr val="12184A"/>
      </a:dk1>
      <a:lt1>
        <a:srgbClr val="FFFFFF"/>
      </a:lt1>
      <a:dk2>
        <a:srgbClr val="F4F6FB"/>
      </a:dk2>
      <a:lt2>
        <a:srgbClr val="76CCED"/>
      </a:lt2>
      <a:accent1>
        <a:srgbClr val="294489"/>
      </a:accent1>
      <a:accent2>
        <a:srgbClr val="650C4C"/>
      </a:accent2>
      <a:accent3>
        <a:srgbClr val="D0D4DD"/>
      </a:accent3>
      <a:accent4>
        <a:srgbClr val="98A0B3"/>
      </a:accent4>
      <a:accent5>
        <a:srgbClr val="666F85"/>
      </a:accent5>
      <a:accent6>
        <a:srgbClr val="475067"/>
      </a:accent6>
      <a:hlink>
        <a:srgbClr val="2944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