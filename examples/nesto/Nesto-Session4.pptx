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nter Light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Manrope SemiBold"/>
      <p:regular r:id="rId26"/>
      <p:bold r:id="rId27"/>
    </p:embeddedFont>
    <p:embeddedFont>
      <p:font typeface="Manrop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9BC1CA-31E6-4E22-A5EF-486958D30767}">
  <a:tblStyle styleId="{E99BC1CA-31E6-4E22-A5EF-486958D307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Light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anropeSemiBold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Manrope-regular.fntdata"/><Relationship Id="rId27" Type="http://schemas.openxmlformats.org/officeDocument/2006/relationships/font" Target="fonts/ManropeSemi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anrope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InterLight-bold.fntdata"/><Relationship Id="rId18" Type="http://schemas.openxmlformats.org/officeDocument/2006/relationships/font" Target="fonts/Inter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9bd2dc4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9bd2dc4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e377086fa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e377086fa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ed465e5c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ed465e5c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d75cfe49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d75cfe49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ed465e5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ed465e5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d75cfe49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d75cfe49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113ecd3b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113ecd3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d75cfe49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d75cfe49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d75cfe49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d75cfe49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d75cfe49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d75cfe49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9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 type="title">
  <p:cSld name="TITLE">
    <p:bg>
      <p:bgPr>
        <a:solidFill>
          <a:srgbClr val="29448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">
    <p:bg>
      <p:bgPr>
        <a:solidFill>
          <a:srgbClr val="29448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2">
    <p:bg>
      <p:bgPr>
        <a:solidFill>
          <a:srgbClr val="2944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_1">
    <p:bg>
      <p:bgPr>
        <a:solidFill>
          <a:srgbClr val="1218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1_1">
    <p:bg>
      <p:bgPr>
        <a:solidFill>
          <a:srgbClr val="12184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">
  <p:cSld name="TITLE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 1">
  <p:cSld name="TITLE_1_1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3600"/>
              <a:buFont typeface="Manrope"/>
              <a:buNone/>
              <a:defRPr b="1" sz="3600">
                <a:solidFill>
                  <a:srgbClr val="294489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68100" y="1421325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2" type="subTitle"/>
          </p:nvPr>
        </p:nvSpPr>
        <p:spPr>
          <a:xfrm>
            <a:off x="539250" y="984850"/>
            <a:ext cx="646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 1">
  <p:cSld name="SECTION_HEADER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">
  <p:cSld name="SECTION_HEADER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 rot="-5400000">
            <a:off x="4255050" y="271725"/>
            <a:ext cx="51687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Blue 2">
  <p:cSld name="SECTION_HEADER_4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 rot="-5400000">
            <a:off x="4261975" y="265575"/>
            <a:ext cx="51795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294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 1">
  <p:cSld name="SECTION_HEADER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5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lue">
  <p:cSld name="SECTION_HEADER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6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BF2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">
  <p:cSld name="SECTION_HEADER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7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8C5D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">
  <p:cSld name="SECTION_HEADER_4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8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 1">
  <p:cSld name="SECTION_HEADER_4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9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ransparency Pattern">
  <p:cSld name="SECTION_HEADER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971" y="-1231413"/>
            <a:ext cx="8587677" cy="8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Light">
  <p:cSld name="SECTION_HEADER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">
  <p:cSld name="SECTION_HEADER_1">
    <p:bg>
      <p:bgPr>
        <a:solidFill>
          <a:srgbClr val="29448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 1">
  <p:cSld name="SECTION_HEADER_1_1">
    <p:bg>
      <p:bgPr>
        <a:solidFill>
          <a:srgbClr val="29448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3600"/>
              <a:buFont typeface="Manrope"/>
              <a:buChar char="●"/>
              <a:defRPr b="1" sz="3600"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/>
        </p:nvSpPr>
        <p:spPr>
          <a:xfrm>
            <a:off x="333650" y="1925250"/>
            <a:ext cx="572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Nesto Session 4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</a:t>
            </a:r>
            <a:endParaRPr/>
          </a:p>
        </p:txBody>
      </p:sp>
      <p:sp>
        <p:nvSpPr>
          <p:cNvPr id="143" name="Google Shape;143;p37"/>
          <p:cNvSpPr txBox="1"/>
          <p:nvPr>
            <p:ph idx="1" type="body"/>
          </p:nvPr>
        </p:nvSpPr>
        <p:spPr>
          <a:xfrm>
            <a:off x="557875" y="1236700"/>
            <a:ext cx="7111500" cy="35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Simplified Script </a:t>
            </a:r>
            <a:r>
              <a:rPr lang="en"/>
              <a:t>Adherence</a:t>
            </a:r>
            <a:r>
              <a:rPr lang="en"/>
              <a:t> prompt to universal Nesto Call Guidance Prompt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8 clear criteria that can be </a:t>
            </a:r>
            <a:r>
              <a:rPr lang="en" sz="1200"/>
              <a:t>used </a:t>
            </a:r>
            <a:r>
              <a:rPr lang="en" sz="1200"/>
              <a:t>universally across Nesto campaigns and easily verified without ambiguity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Manual human evaluation results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Completed a manual eval across 50 English calls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3600 calls </a:t>
            </a:r>
            <a:r>
              <a:rPr lang="en" sz="900"/>
              <a:t>(CompareMortgages Campaign)</a:t>
            </a:r>
            <a:r>
              <a:rPr lang="en"/>
              <a:t> processed and ready to be written into Insight tables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38"/>
          <p:cNvSpPr txBox="1"/>
          <p:nvPr>
            <p:ph type="title"/>
          </p:nvPr>
        </p:nvSpPr>
        <p:spPr>
          <a:xfrm>
            <a:off x="506700" y="114575"/>
            <a:ext cx="7855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Call Guidance</a:t>
            </a:r>
            <a:endParaRPr sz="3500"/>
          </a:p>
        </p:txBody>
      </p:sp>
      <p:sp>
        <p:nvSpPr>
          <p:cNvPr id="150" name="Google Shape;150;p38"/>
          <p:cNvSpPr/>
          <p:nvPr/>
        </p:nvSpPr>
        <p:spPr>
          <a:xfrm>
            <a:off x="2239500" y="1180050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Agent Name: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introduce themselves by name?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38"/>
          <p:cNvSpPr/>
          <p:nvPr/>
        </p:nvSpPr>
        <p:spPr>
          <a:xfrm>
            <a:off x="2239500" y="1609618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User Name: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greet the User by name?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38"/>
          <p:cNvSpPr/>
          <p:nvPr/>
        </p:nvSpPr>
        <p:spPr>
          <a:xfrm>
            <a:off x="2239500" y="2039186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Calling Organization: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mention calling from CompareMortgages or MonMeilleurTaux explicitly?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38"/>
          <p:cNvSpPr/>
          <p:nvPr/>
        </p:nvSpPr>
        <p:spPr>
          <a:xfrm>
            <a:off x="2239500" y="2468754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Reason For Call: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mention the reason for calling is regarding an inquiry started on the website?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38"/>
          <p:cNvSpPr/>
          <p:nvPr/>
        </p:nvSpPr>
        <p:spPr>
          <a:xfrm>
            <a:off x="2239500" y="2898322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Mortgage Need</a:t>
            </a:r>
            <a:r>
              <a:rPr b="1" lang="en" sz="900"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understand the User's mortgage situation? 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8"/>
          <p:cNvSpPr/>
          <p:nvPr/>
        </p:nvSpPr>
        <p:spPr>
          <a:xfrm>
            <a:off x="2239500" y="3327890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Mortgage Timeframe: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verify the User's likely timeframe for getting a mortgage?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38"/>
          <p:cNvSpPr/>
          <p:nvPr/>
        </p:nvSpPr>
        <p:spPr>
          <a:xfrm>
            <a:off x="2239500" y="3757458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Credit Score: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ask the User whether they knew their credit score?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38"/>
          <p:cNvSpPr/>
          <p:nvPr/>
        </p:nvSpPr>
        <p:spPr>
          <a:xfrm>
            <a:off x="2239500" y="4187026"/>
            <a:ext cx="4390200" cy="3258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Inter"/>
                <a:ea typeface="Inter"/>
                <a:cs typeface="Inter"/>
                <a:sym typeface="Inter"/>
              </a:rPr>
              <a:t>Next Steps: 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Did the Agent discuss or clearly communicate next steps at any point in the call?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8" name="Google Shape;1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00" y="2219050"/>
            <a:ext cx="835725" cy="8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8"/>
          <p:cNvSpPr/>
          <p:nvPr/>
        </p:nvSpPr>
        <p:spPr>
          <a:xfrm>
            <a:off x="1329999" y="2468750"/>
            <a:ext cx="548700" cy="25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94489"/>
          </a:solidFill>
          <a:ln cap="flat" cmpd="sng" w="9525">
            <a:solidFill>
              <a:srgbClr val="294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76CCED"/>
              </a:highlight>
            </a:endParaRPr>
          </a:p>
        </p:txBody>
      </p:sp>
      <p:sp>
        <p:nvSpPr>
          <p:cNvPr id="160" name="Google Shape;160;p38"/>
          <p:cNvSpPr/>
          <p:nvPr/>
        </p:nvSpPr>
        <p:spPr>
          <a:xfrm>
            <a:off x="6927824" y="2468750"/>
            <a:ext cx="548700" cy="25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94489"/>
          </a:solidFill>
          <a:ln cap="flat" cmpd="sng" w="9525">
            <a:solidFill>
              <a:srgbClr val="294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76CCED"/>
              </a:highlight>
            </a:endParaRPr>
          </a:p>
        </p:txBody>
      </p:sp>
      <p:sp>
        <p:nvSpPr>
          <p:cNvPr id="161" name="Google Shape;161;p38"/>
          <p:cNvSpPr/>
          <p:nvPr/>
        </p:nvSpPr>
        <p:spPr>
          <a:xfrm>
            <a:off x="7689950" y="2298950"/>
            <a:ext cx="1301400" cy="665400"/>
          </a:xfrm>
          <a:prstGeom prst="roundRect">
            <a:avLst>
              <a:gd fmla="val 5387" name="adj"/>
            </a:avLst>
          </a:prstGeom>
          <a:solidFill>
            <a:srgbClr val="F4F6FB"/>
          </a:solidFill>
          <a:ln cap="flat" cmpd="sng" w="9525">
            <a:solidFill>
              <a:srgbClr val="D0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ter"/>
                <a:ea typeface="Inter"/>
                <a:cs typeface="Inter"/>
                <a:sym typeface="Inter"/>
              </a:rPr>
              <a:t>Scores </a:t>
            </a:r>
            <a:r>
              <a:rPr b="1" lang="en" sz="900"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lang="en" sz="900"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900">
                <a:latin typeface="Inter"/>
                <a:ea typeface="Inter"/>
                <a:cs typeface="Inter"/>
                <a:sym typeface="Inter"/>
              </a:rPr>
              <a:t> for each key</a:t>
            </a:r>
            <a:endParaRPr sz="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ter"/>
                <a:ea typeface="Inter"/>
                <a:cs typeface="Inter"/>
                <a:sym typeface="Inter"/>
              </a:rPr>
              <a:t>Reasoning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9"/>
          <p:cNvSpPr txBox="1"/>
          <p:nvPr>
            <p:ph type="title"/>
          </p:nvPr>
        </p:nvSpPr>
        <p:spPr>
          <a:xfrm>
            <a:off x="506700" y="114575"/>
            <a:ext cx="7855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Prompt Evaluation</a:t>
            </a:r>
            <a:endParaRPr sz="3500"/>
          </a:p>
        </p:txBody>
      </p:sp>
      <p:graphicFrame>
        <p:nvGraphicFramePr>
          <p:cNvPr id="168" name="Google Shape;168;p39"/>
          <p:cNvGraphicFramePr/>
          <p:nvPr/>
        </p:nvGraphicFramePr>
        <p:xfrm>
          <a:off x="2212025" y="105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{E99BC1CA-31E6-4E22-A5EF-486958D30767}</a:tableStyleId>
              </a:tblPr>
              <a:tblGrid>
                <a:gridCol w="3163575"/>
                <a:gridCol w="20593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Criteria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Inter"/>
                          <a:ea typeface="Inter"/>
                          <a:cs typeface="Inter"/>
                          <a:sym typeface="Inter"/>
                        </a:rPr>
                        <a:t>% Match with GT</a:t>
                      </a:r>
                      <a:endParaRPr b="1" sz="12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Agent Name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96%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User Name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96%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Calling Organization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94%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Reason For Call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86%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Mortgage Need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96%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Mortgage Timeframe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86%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Credit Score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90%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Next Steps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88%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TOTAL AVERAGE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91% accuracy</a:t>
                      </a:r>
                      <a:endParaRPr b="1"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39"/>
          <p:cNvSpPr txBox="1"/>
          <p:nvPr/>
        </p:nvSpPr>
        <p:spPr>
          <a:xfrm>
            <a:off x="3728625" y="4500875"/>
            <a:ext cx="218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ter"/>
                <a:ea typeface="Inter"/>
                <a:cs typeface="Inter"/>
                <a:sym typeface="Inter"/>
              </a:rPr>
              <a:t>Random sample of 50 English Calls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Timelines</a:t>
            </a:r>
            <a:endParaRPr/>
          </a:p>
        </p:txBody>
      </p:sp>
      <p:graphicFrame>
        <p:nvGraphicFramePr>
          <p:cNvPr id="175" name="Google Shape;175;p40"/>
          <p:cNvGraphicFramePr/>
          <p:nvPr/>
        </p:nvGraphicFramePr>
        <p:xfrm>
          <a:off x="1077550" y="145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{E99BC1CA-31E6-4E22-A5EF-486958D30767}</a:tableStyleId>
              </a:tblPr>
              <a:tblGrid>
                <a:gridCol w="4763975"/>
                <a:gridCol w="2395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Action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Timeline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Simplified prompt + test set annotated w/ manual evaluation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DONE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Run ~3.6K CompareMortgages EN/FR Outbound Campaigns transcription with latest enrichment on prompt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DONE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Verify other campaign guidance matches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Follow Up (Karim/Chase)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Get permissions to create, update, and load data to BQ + Looker Studio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Requested</a:t>
                      </a: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 (Ata)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Build initial Looker Dashboard for CompareMortgages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Inter"/>
                          <a:ea typeface="Inter"/>
                          <a:cs typeface="Inter"/>
                          <a:sym typeface="Inter"/>
                        </a:rPr>
                        <a:t>TBD</a:t>
                      </a:r>
                      <a:endParaRPr sz="10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Campaigns</a:t>
            </a:r>
            <a:endParaRPr/>
          </a:p>
        </p:txBody>
      </p:sp>
      <p:pic>
        <p:nvPicPr>
          <p:cNvPr id="181" name="Google Shape;1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4150" y="1104325"/>
            <a:ext cx="4042956" cy="38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1"/>
          <p:cNvSpPr txBox="1"/>
          <p:nvPr/>
        </p:nvSpPr>
        <p:spPr>
          <a:xfrm>
            <a:off x="178800" y="3777675"/>
            <a:ext cx="218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ter"/>
                <a:ea typeface="Inter"/>
                <a:cs typeface="Inter"/>
                <a:sym typeface="Inter"/>
              </a:rPr>
              <a:t>10 campaigns for Segments 1-3 with first and nth dials (EN/FR)</a:t>
            </a:r>
            <a:endParaRPr sz="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ter"/>
                <a:ea typeface="Inter"/>
                <a:cs typeface="Inter"/>
                <a:sym typeface="Inter"/>
              </a:rPr>
              <a:t>SDRs outbound: Segment 1 through3 EN/FR (6 campaigns), and Compre Mortgage EN/FR (10 campaigns).</a:t>
            </a:r>
            <a:endParaRPr sz="9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2"/>
          <p:cNvSpPr txBox="1"/>
          <p:nvPr/>
        </p:nvSpPr>
        <p:spPr>
          <a:xfrm>
            <a:off x="333650" y="1925250"/>
            <a:ext cx="828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Results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89" name="Google Shape;1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450" y="623750"/>
            <a:ext cx="7503550" cy="3831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750" y="91738"/>
            <a:ext cx="6786500" cy="496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225" y="301925"/>
            <a:ext cx="6383074" cy="461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uman First">
  <a:themeElements>
    <a:clrScheme name="Simple Light">
      <a:dk1>
        <a:srgbClr val="12184A"/>
      </a:dk1>
      <a:lt1>
        <a:srgbClr val="FFFFFF"/>
      </a:lt1>
      <a:dk2>
        <a:srgbClr val="F4F6FB"/>
      </a:dk2>
      <a:lt2>
        <a:srgbClr val="76CCED"/>
      </a:lt2>
      <a:accent1>
        <a:srgbClr val="294489"/>
      </a:accent1>
      <a:accent2>
        <a:srgbClr val="650C4C"/>
      </a:accent2>
      <a:accent3>
        <a:srgbClr val="D0D4DD"/>
      </a:accent3>
      <a:accent4>
        <a:srgbClr val="98A0B3"/>
      </a:accent4>
      <a:accent5>
        <a:srgbClr val="666F85"/>
      </a:accent5>
      <a:accent6>
        <a:srgbClr val="475067"/>
      </a:accent6>
      <a:hlink>
        <a:srgbClr val="2944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