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5"/>
    <p:sldMasterId id="214748368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y="5143500" cx="9144000"/>
  <p:notesSz cx="6858000" cy="9144000"/>
  <p:embeddedFontLst>
    <p:embeddedFont>
      <p:font typeface="Inter Light"/>
      <p:regular r:id="rId25"/>
      <p:bold r:id="rId26"/>
      <p:italic r:id="rId27"/>
      <p:boldItalic r:id="rId28"/>
    </p:embeddedFont>
    <p:embeddedFont>
      <p:font typeface="Inter"/>
      <p:regular r:id="rId29"/>
      <p:bold r:id="rId30"/>
      <p:italic r:id="rId31"/>
      <p:boldItalic r:id="rId32"/>
    </p:embeddedFont>
    <p:embeddedFont>
      <p:font typeface="Manrope SemiBold"/>
      <p:regular r:id="rId33"/>
      <p:bold r:id="rId34"/>
    </p:embeddedFont>
    <p:embeddedFont>
      <p:font typeface="Manrope"/>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6681EA8-31EA-4F3D-9C76-EBEE808183FA}">
  <a:tblStyle styleId="{46681EA8-31EA-4F3D-9C76-EBEE808183F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InterLight-bold.fntdata"/><Relationship Id="rId25" Type="http://schemas.openxmlformats.org/officeDocument/2006/relationships/font" Target="fonts/InterLight-regular.fntdata"/><Relationship Id="rId28" Type="http://schemas.openxmlformats.org/officeDocument/2006/relationships/font" Target="fonts/InterLight-boldItalic.fntdata"/><Relationship Id="rId27" Type="http://schemas.openxmlformats.org/officeDocument/2006/relationships/font" Target="fonts/InterLight-italic.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Inter-regular.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Inter-italic.fntdata"/><Relationship Id="rId30" Type="http://schemas.openxmlformats.org/officeDocument/2006/relationships/font" Target="fonts/Inter-bold.fntdata"/><Relationship Id="rId11" Type="http://schemas.openxmlformats.org/officeDocument/2006/relationships/slide" Target="slides/slide4.xml"/><Relationship Id="rId33" Type="http://schemas.openxmlformats.org/officeDocument/2006/relationships/font" Target="fonts/ManropeSemiBold-regular.fntdata"/><Relationship Id="rId10" Type="http://schemas.openxmlformats.org/officeDocument/2006/relationships/slide" Target="slides/slide3.xml"/><Relationship Id="rId32" Type="http://schemas.openxmlformats.org/officeDocument/2006/relationships/font" Target="fonts/Inter-boldItalic.fntdata"/><Relationship Id="rId13" Type="http://schemas.openxmlformats.org/officeDocument/2006/relationships/slide" Target="slides/slide6.xml"/><Relationship Id="rId35" Type="http://schemas.openxmlformats.org/officeDocument/2006/relationships/font" Target="fonts/Manrope-regular.fntdata"/><Relationship Id="rId12" Type="http://schemas.openxmlformats.org/officeDocument/2006/relationships/slide" Target="slides/slide5.xml"/><Relationship Id="rId34" Type="http://schemas.openxmlformats.org/officeDocument/2006/relationships/font" Target="fonts/ManropeSemiBold-bold.fntdata"/><Relationship Id="rId15" Type="http://schemas.openxmlformats.org/officeDocument/2006/relationships/slide" Target="slides/slide8.xml"/><Relationship Id="rId14" Type="http://schemas.openxmlformats.org/officeDocument/2006/relationships/slide" Target="slides/slide7.xml"/><Relationship Id="rId36" Type="http://schemas.openxmlformats.org/officeDocument/2006/relationships/font" Target="fonts/Manrope-bold.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699bd2dc47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699bd2dc47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fe377086fa_2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fe377086fa_2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034a0ff334_0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034a0ff334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034a0ff33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034a0ff33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0D516305A6C641CAB2EE5FEAE1FB650E</a:t>
            </a:r>
            <a:endParaRPr sz="16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034a0ff334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034a0ff334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0D516305A6C641CAB2EE5FEAE1FB650E</a:t>
            </a:r>
            <a:endParaRPr sz="16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096f9f04e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096f9f04e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096f9f04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096f9f04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034a0ff334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034a0ff334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034a0ff334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034a0ff334_0_3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034a0ff334_0_4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034a0ff334_0_4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034a0ff334_0_4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034a0ff334_0_4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034a0ff334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034a0ff334_0_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034a0ff334_0_4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034a0ff334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034a0ff334_0_4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034a0ff334_0_4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096f9f04e9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096f9f04e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1173b4983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1173b498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1173b4983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1173b4983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4.jp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jp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Dark" type="title">
  <p:cSld name="TITLE">
    <p:bg>
      <p:bgPr>
        <a:solidFill>
          <a:srgbClr val="294489"/>
        </a:solidFill>
      </p:bgPr>
    </p:bg>
    <p:spTree>
      <p:nvGrpSpPr>
        <p:cNvPr id="52" name="Shape 52"/>
        <p:cNvGrpSpPr/>
        <p:nvPr/>
      </p:nvGrpSpPr>
      <p:grpSpPr>
        <a:xfrm>
          <a:off x="0" y="0"/>
          <a:ext cx="0" cy="0"/>
          <a:chOff x="0" y="0"/>
          <a:chExt cx="0" cy="0"/>
        </a:xfrm>
      </p:grpSpPr>
      <p:pic>
        <p:nvPicPr>
          <p:cNvPr id="53" name="Google Shape;53;p14"/>
          <p:cNvPicPr preferRelativeResize="0"/>
          <p:nvPr/>
        </p:nvPicPr>
        <p:blipFill>
          <a:blip r:embed="rId2">
            <a:alphaModFix amt="14000"/>
          </a:blip>
          <a:stretch>
            <a:fillRect/>
          </a:stretch>
        </p:blipFill>
        <p:spPr>
          <a:xfrm>
            <a:off x="-3500598" y="-1913375"/>
            <a:ext cx="8774449" cy="8781099"/>
          </a:xfrm>
          <a:prstGeom prst="rect">
            <a:avLst/>
          </a:prstGeom>
          <a:noFill/>
          <a:ln>
            <a:noFill/>
          </a:ln>
        </p:spPr>
      </p:pic>
      <p:sp>
        <p:nvSpPr>
          <p:cNvPr id="54" name="Google Shape;54;p14"/>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
    <p:bg>
      <p:bgPr>
        <a:solidFill>
          <a:srgbClr val="294489"/>
        </a:solidFill>
      </p:bgPr>
    </p:bg>
    <p:spTree>
      <p:nvGrpSpPr>
        <p:cNvPr id="55" name="Shape 55"/>
        <p:cNvGrpSpPr/>
        <p:nvPr/>
      </p:nvGrpSpPr>
      <p:grpSpPr>
        <a:xfrm>
          <a:off x="0" y="0"/>
          <a:ext cx="0" cy="0"/>
          <a:chOff x="0" y="0"/>
          <a:chExt cx="0" cy="0"/>
        </a:xfrm>
      </p:grpSpPr>
      <p:pic>
        <p:nvPicPr>
          <p:cNvPr id="56" name="Google Shape;56;p15"/>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57" name="Google Shape;57;p15"/>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58" name="Google Shape;58;p15"/>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2">
    <p:bg>
      <p:bgPr>
        <a:solidFill>
          <a:srgbClr val="294489"/>
        </a:solidFill>
      </p:bgPr>
    </p:bg>
    <p:spTree>
      <p:nvGrpSpPr>
        <p:cNvPr id="59" name="Shape 59"/>
        <p:cNvGrpSpPr/>
        <p:nvPr/>
      </p:nvGrpSpPr>
      <p:grpSpPr>
        <a:xfrm>
          <a:off x="0" y="0"/>
          <a:ext cx="0" cy="0"/>
          <a:chOff x="0" y="0"/>
          <a:chExt cx="0" cy="0"/>
        </a:xfrm>
      </p:grpSpPr>
      <p:pic>
        <p:nvPicPr>
          <p:cNvPr id="60" name="Google Shape;60;p16"/>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61" name="Google Shape;61;p16"/>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p:cSld name="TITLE_2_1">
    <p:bg>
      <p:bgPr>
        <a:solidFill>
          <a:srgbClr val="12184A"/>
        </a:solidFill>
      </p:bgPr>
    </p:bg>
    <p:spTree>
      <p:nvGrpSpPr>
        <p:cNvPr id="62" name="Shape 62"/>
        <p:cNvGrpSpPr/>
        <p:nvPr/>
      </p:nvGrpSpPr>
      <p:grpSpPr>
        <a:xfrm>
          <a:off x="0" y="0"/>
          <a:ext cx="0" cy="0"/>
          <a:chOff x="0" y="0"/>
          <a:chExt cx="0" cy="0"/>
        </a:xfrm>
      </p:grpSpPr>
      <p:pic>
        <p:nvPicPr>
          <p:cNvPr id="63" name="Google Shape;63;p17"/>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Dark 1">
  <p:cSld name="TITLE_2_1_1">
    <p:bg>
      <p:bgPr>
        <a:solidFill>
          <a:srgbClr val="12184A"/>
        </a:solidFill>
      </p:bgPr>
    </p:bg>
    <p:spTree>
      <p:nvGrpSpPr>
        <p:cNvPr id="64" name="Shape 64"/>
        <p:cNvGrpSpPr/>
        <p:nvPr/>
      </p:nvGrpSpPr>
      <p:grpSpPr>
        <a:xfrm>
          <a:off x="0" y="0"/>
          <a:ext cx="0" cy="0"/>
          <a:chOff x="0" y="0"/>
          <a:chExt cx="0" cy="0"/>
        </a:xfrm>
      </p:grpSpPr>
      <p:pic>
        <p:nvPicPr>
          <p:cNvPr id="65" name="Google Shape;65;p18"/>
          <p:cNvPicPr preferRelativeResize="0"/>
          <p:nvPr/>
        </p:nvPicPr>
        <p:blipFill rotWithShape="1">
          <a:blip r:embed="rId2">
            <a:alphaModFix amt="33000"/>
          </a:blip>
          <a:srcRect b="26248" l="0" r="0" t="0"/>
          <a:stretch/>
        </p:blipFill>
        <p:spPr>
          <a:xfrm>
            <a:off x="0" y="0"/>
            <a:ext cx="9144000" cy="5143499"/>
          </a:xfrm>
          <a:prstGeom prst="rect">
            <a:avLst/>
          </a:prstGeom>
          <a:noFill/>
          <a:ln>
            <a:noFill/>
          </a:ln>
        </p:spPr>
      </p:pic>
      <p:sp>
        <p:nvSpPr>
          <p:cNvPr id="66" name="Google Shape;66;p18"/>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pic>
        <p:nvPicPr>
          <p:cNvPr id="67" name="Google Shape;67;p18"/>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p:cSld name="TITLE_1">
    <p:bg>
      <p:bgPr>
        <a:solidFill>
          <a:srgbClr val="FFFFFF"/>
        </a:solidFill>
      </p:bgPr>
    </p:bg>
    <p:spTree>
      <p:nvGrpSpPr>
        <p:cNvPr id="68" name="Shape 68"/>
        <p:cNvGrpSpPr/>
        <p:nvPr/>
      </p:nvGrpSpPr>
      <p:grpSpPr>
        <a:xfrm>
          <a:off x="0" y="0"/>
          <a:ext cx="0" cy="0"/>
          <a:chOff x="0" y="0"/>
          <a:chExt cx="0" cy="0"/>
        </a:xfrm>
      </p:grpSpPr>
      <p:pic>
        <p:nvPicPr>
          <p:cNvPr id="69" name="Google Shape;69;p19"/>
          <p:cNvPicPr preferRelativeResize="0"/>
          <p:nvPr/>
        </p:nvPicPr>
        <p:blipFill>
          <a:blip r:embed="rId2">
            <a:alphaModFix/>
          </a:blip>
          <a:stretch>
            <a:fillRect/>
          </a:stretch>
        </p:blipFill>
        <p:spPr>
          <a:xfrm>
            <a:off x="-3500598" y="-1913375"/>
            <a:ext cx="8774449" cy="8781099"/>
          </a:xfrm>
          <a:prstGeom prst="rect">
            <a:avLst/>
          </a:prstGeom>
          <a:noFill/>
          <a:ln>
            <a:noFill/>
          </a:ln>
        </p:spPr>
      </p:pic>
      <p:sp>
        <p:nvSpPr>
          <p:cNvPr id="70" name="Google Shape;70;p19"/>
          <p:cNvSpPr txBox="1"/>
          <p:nvPr>
            <p:ph idx="12" type="sldNum"/>
          </p:nvPr>
        </p:nvSpPr>
        <p:spPr>
          <a:xfrm>
            <a:off x="8214297" y="4587017"/>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9"/>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Light 1">
  <p:cSld name="TITLE_1_1">
    <p:bg>
      <p:bgPr>
        <a:solidFill>
          <a:srgbClr val="FFFFFF"/>
        </a:solidFill>
      </p:bgPr>
    </p:bg>
    <p:spTree>
      <p:nvGrpSpPr>
        <p:cNvPr id="72" name="Shape 72"/>
        <p:cNvGrpSpPr/>
        <p:nvPr/>
      </p:nvGrpSpPr>
      <p:grpSpPr>
        <a:xfrm>
          <a:off x="0" y="0"/>
          <a:ext cx="0" cy="0"/>
          <a:chOff x="0" y="0"/>
          <a:chExt cx="0" cy="0"/>
        </a:xfrm>
      </p:grpSpPr>
      <p:pic>
        <p:nvPicPr>
          <p:cNvPr id="73" name="Google Shape;73;p20"/>
          <p:cNvPicPr preferRelativeResize="0"/>
          <p:nvPr/>
        </p:nvPicPr>
        <p:blipFill>
          <a:blip r:embed="rId2">
            <a:alphaModFix/>
          </a:blip>
          <a:stretch>
            <a:fillRect/>
          </a:stretch>
        </p:blipFill>
        <p:spPr>
          <a:xfrm>
            <a:off x="-3500598" y="-1913375"/>
            <a:ext cx="8774449" cy="87810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type="secHead">
  <p:cSld name="SECTION_HEADER">
    <p:spTree>
      <p:nvGrpSpPr>
        <p:cNvPr id="74" name="Shape 74"/>
        <p:cNvGrpSpPr/>
        <p:nvPr/>
      </p:nvGrpSpPr>
      <p:grpSpPr>
        <a:xfrm>
          <a:off x="0" y="0"/>
          <a:ext cx="0" cy="0"/>
          <a:chOff x="0" y="0"/>
          <a:chExt cx="0" cy="0"/>
        </a:xfrm>
      </p:grpSpPr>
      <p:sp>
        <p:nvSpPr>
          <p:cNvPr id="75" name="Google Shape;75;p2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76" name="Google Shape;76;p21"/>
          <p:cNvPicPr preferRelativeResize="0"/>
          <p:nvPr/>
        </p:nvPicPr>
        <p:blipFill>
          <a:blip r:embed="rId2">
            <a:alphaModFix/>
          </a:blip>
          <a:stretch>
            <a:fillRect/>
          </a:stretch>
        </p:blipFill>
        <p:spPr>
          <a:xfrm>
            <a:off x="8506500" y="335925"/>
            <a:ext cx="293825" cy="293501"/>
          </a:xfrm>
          <a:prstGeom prst="rect">
            <a:avLst/>
          </a:prstGeom>
          <a:noFill/>
          <a:ln>
            <a:noFill/>
          </a:ln>
        </p:spPr>
      </p:pic>
      <p:sp>
        <p:nvSpPr>
          <p:cNvPr id="77" name="Google Shape;77;p21"/>
          <p:cNvSpPr txBox="1"/>
          <p:nvPr>
            <p:ph type="title"/>
          </p:nvPr>
        </p:nvSpPr>
        <p:spPr>
          <a:xfrm>
            <a:off x="512100" y="319450"/>
            <a:ext cx="7702200" cy="66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294489"/>
              </a:buClr>
              <a:buSzPts val="3600"/>
              <a:buFont typeface="Manrope"/>
              <a:buNone/>
              <a:defRPr b="1" sz="3600">
                <a:solidFill>
                  <a:srgbClr val="294489"/>
                </a:solidFill>
                <a:latin typeface="Manrope"/>
                <a:ea typeface="Manrope"/>
                <a:cs typeface="Manrope"/>
                <a:sym typeface="Manrop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78" name="Google Shape;78;p21"/>
          <p:cNvSpPr txBox="1"/>
          <p:nvPr>
            <p:ph idx="1" type="body"/>
          </p:nvPr>
        </p:nvSpPr>
        <p:spPr>
          <a:xfrm>
            <a:off x="668100" y="1421325"/>
            <a:ext cx="7546200" cy="3552000"/>
          </a:xfrm>
          <a:prstGeom prst="rect">
            <a:avLst/>
          </a:prstGeom>
          <a:noFill/>
          <a:ln>
            <a:noFill/>
          </a:ln>
        </p:spPr>
        <p:txBody>
          <a:bodyPr anchorCtr="0" anchor="t" bIns="91425" lIns="91425" spcFirstLastPara="1" rIns="91425" wrap="square" tIns="91425">
            <a:noAutofit/>
          </a:bodyPr>
          <a:lstStyle>
            <a:lvl1pPr indent="-317500" lvl="0" marL="457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1pPr>
            <a:lvl2pPr indent="-317500" lvl="1" marL="914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2pPr>
            <a:lvl3pPr indent="-317500" lvl="2" marL="1371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3pPr>
            <a:lvl4pPr indent="-317500" lvl="3" marL="1828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4pPr>
            <a:lvl5pPr indent="-317500" lvl="4" marL="22860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5pPr>
            <a:lvl6pPr indent="-317500" lvl="5" marL="27432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6pPr>
            <a:lvl7pPr indent="-317500" lvl="6" marL="32004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7pPr>
            <a:lvl8pPr indent="-317500" lvl="7" marL="36576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8pPr>
            <a:lvl9pPr indent="-317500" lvl="8" marL="4114800" rtl="0">
              <a:spcBef>
                <a:spcPts val="0"/>
              </a:spcBef>
              <a:spcAft>
                <a:spcPts val="0"/>
              </a:spcAft>
              <a:buClr>
                <a:schemeClr val="accent6"/>
              </a:buClr>
              <a:buSzPts val="1400"/>
              <a:buFont typeface="Inter"/>
              <a:buChar char="■"/>
              <a:defRPr>
                <a:solidFill>
                  <a:schemeClr val="accent6"/>
                </a:solidFill>
                <a:latin typeface="Inter"/>
                <a:ea typeface="Inter"/>
                <a:cs typeface="Inter"/>
                <a:sym typeface="Inter"/>
              </a:defRPr>
            </a:lvl9pPr>
          </a:lstStyle>
          <a:p/>
        </p:txBody>
      </p:sp>
      <p:sp>
        <p:nvSpPr>
          <p:cNvPr id="79" name="Google Shape;79;p21"/>
          <p:cNvSpPr txBox="1"/>
          <p:nvPr>
            <p:ph idx="2" type="subTitle"/>
          </p:nvPr>
        </p:nvSpPr>
        <p:spPr>
          <a:xfrm>
            <a:off x="539250" y="984850"/>
            <a:ext cx="6462300" cy="2196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None/>
              <a:defRPr>
                <a:solidFill>
                  <a:srgbClr val="650C4C"/>
                </a:solidFill>
                <a:latin typeface="Manrope"/>
                <a:ea typeface="Manrope"/>
                <a:cs typeface="Manrope"/>
                <a:sym typeface="Manrop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Light 1">
  <p:cSld name="SECTION_HEADER_5">
    <p:spTree>
      <p:nvGrpSpPr>
        <p:cNvPr id="80" name="Shape 80"/>
        <p:cNvGrpSpPr/>
        <p:nvPr/>
      </p:nvGrpSpPr>
      <p:grpSpPr>
        <a:xfrm>
          <a:off x="0" y="0"/>
          <a:ext cx="0" cy="0"/>
          <a:chOff x="0" y="0"/>
          <a:chExt cx="0" cy="0"/>
        </a:xfrm>
      </p:grpSpPr>
      <p:sp>
        <p:nvSpPr>
          <p:cNvPr id="81" name="Google Shape;81;p2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2" name="Google Shape;82;p22"/>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p:cSld name="SECTION_HEADER_4">
    <p:spTree>
      <p:nvGrpSpPr>
        <p:cNvPr id="83" name="Shape 83"/>
        <p:cNvGrpSpPr/>
        <p:nvPr/>
      </p:nvGrpSpPr>
      <p:grpSpPr>
        <a:xfrm>
          <a:off x="0" y="0"/>
          <a:ext cx="0" cy="0"/>
          <a:chOff x="0" y="0"/>
          <a:chExt cx="0" cy="0"/>
        </a:xfrm>
      </p:grpSpPr>
      <p:sp>
        <p:nvSpPr>
          <p:cNvPr id="84" name="Google Shape;84;p23"/>
          <p:cNvSpPr/>
          <p:nvPr/>
        </p:nvSpPr>
        <p:spPr>
          <a:xfrm rot="-5400000">
            <a:off x="4255050" y="271725"/>
            <a:ext cx="5168700" cy="46092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5" name="Google Shape;85;p2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86" name="Google Shape;86;p2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Blue 2">
  <p:cSld name="SECTION_HEADER_4_3">
    <p:spTree>
      <p:nvGrpSpPr>
        <p:cNvPr id="87" name="Shape 87"/>
        <p:cNvGrpSpPr/>
        <p:nvPr/>
      </p:nvGrpSpPr>
      <p:grpSpPr>
        <a:xfrm>
          <a:off x="0" y="0"/>
          <a:ext cx="0" cy="0"/>
          <a:chOff x="0" y="0"/>
          <a:chExt cx="0" cy="0"/>
        </a:xfrm>
      </p:grpSpPr>
      <p:sp>
        <p:nvSpPr>
          <p:cNvPr id="88" name="Google Shape;88;p24"/>
          <p:cNvSpPr/>
          <p:nvPr/>
        </p:nvSpPr>
        <p:spPr>
          <a:xfrm rot="-5400000">
            <a:off x="4261975" y="265575"/>
            <a:ext cx="5179500" cy="4609200"/>
          </a:xfrm>
          <a:prstGeom prst="round2SameRect">
            <a:avLst>
              <a:gd fmla="val 3711" name="adj1"/>
              <a:gd fmla="val 0" name="adj2"/>
            </a:avLst>
          </a:prstGeom>
          <a:solidFill>
            <a:srgbClr val="29448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9" name="Google Shape;89;p24"/>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76CCED"/>
                </a:solidFill>
                <a:latin typeface="Inter"/>
                <a:ea typeface="Inter"/>
                <a:cs typeface="Inter"/>
                <a:sym typeface="Inter"/>
              </a:defRPr>
            </a:lvl1pPr>
            <a:lvl2pPr lvl="1" rtl="0">
              <a:buNone/>
              <a:defRPr>
                <a:solidFill>
                  <a:srgbClr val="76CCED"/>
                </a:solidFill>
                <a:latin typeface="Inter"/>
                <a:ea typeface="Inter"/>
                <a:cs typeface="Inter"/>
                <a:sym typeface="Inter"/>
              </a:defRPr>
            </a:lvl2pPr>
            <a:lvl3pPr lvl="2" rtl="0">
              <a:buNone/>
              <a:defRPr>
                <a:solidFill>
                  <a:srgbClr val="76CCED"/>
                </a:solidFill>
                <a:latin typeface="Inter"/>
                <a:ea typeface="Inter"/>
                <a:cs typeface="Inter"/>
                <a:sym typeface="Inter"/>
              </a:defRPr>
            </a:lvl3pPr>
            <a:lvl4pPr lvl="3" rtl="0">
              <a:buNone/>
              <a:defRPr>
                <a:solidFill>
                  <a:srgbClr val="76CCED"/>
                </a:solidFill>
                <a:latin typeface="Inter"/>
                <a:ea typeface="Inter"/>
                <a:cs typeface="Inter"/>
                <a:sym typeface="Inter"/>
              </a:defRPr>
            </a:lvl4pPr>
            <a:lvl5pPr lvl="4" rtl="0">
              <a:buNone/>
              <a:defRPr>
                <a:solidFill>
                  <a:srgbClr val="76CCED"/>
                </a:solidFill>
                <a:latin typeface="Inter"/>
                <a:ea typeface="Inter"/>
                <a:cs typeface="Inter"/>
                <a:sym typeface="Inter"/>
              </a:defRPr>
            </a:lvl5pPr>
            <a:lvl6pPr lvl="5" rtl="0">
              <a:buNone/>
              <a:defRPr>
                <a:solidFill>
                  <a:srgbClr val="76CCED"/>
                </a:solidFill>
                <a:latin typeface="Inter"/>
                <a:ea typeface="Inter"/>
                <a:cs typeface="Inter"/>
                <a:sym typeface="Inter"/>
              </a:defRPr>
            </a:lvl6pPr>
            <a:lvl7pPr lvl="6" rtl="0">
              <a:buNone/>
              <a:defRPr>
                <a:solidFill>
                  <a:srgbClr val="76CCED"/>
                </a:solidFill>
                <a:latin typeface="Inter"/>
                <a:ea typeface="Inter"/>
                <a:cs typeface="Inter"/>
                <a:sym typeface="Inter"/>
              </a:defRPr>
            </a:lvl7pPr>
            <a:lvl8pPr lvl="7" rtl="0">
              <a:buNone/>
              <a:defRPr>
                <a:solidFill>
                  <a:srgbClr val="76CCED"/>
                </a:solidFill>
                <a:latin typeface="Inter"/>
                <a:ea typeface="Inter"/>
                <a:cs typeface="Inter"/>
                <a:sym typeface="Inter"/>
              </a:defRPr>
            </a:lvl8pPr>
            <a:lvl9pPr lvl="8" rtl="0">
              <a:buNone/>
              <a:defRPr>
                <a:solidFill>
                  <a:srgbClr val="76CCED"/>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24"/>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lac 1">
  <p:cSld name="SECTION_HEADER_4_2">
    <p:spTree>
      <p:nvGrpSpPr>
        <p:cNvPr id="91" name="Shape 91"/>
        <p:cNvGrpSpPr/>
        <p:nvPr/>
      </p:nvGrpSpPr>
      <p:grpSpPr>
        <a:xfrm>
          <a:off x="0" y="0"/>
          <a:ext cx="0" cy="0"/>
          <a:chOff x="0" y="0"/>
          <a:chExt cx="0" cy="0"/>
        </a:xfrm>
      </p:grpSpPr>
      <p:sp>
        <p:nvSpPr>
          <p:cNvPr id="92" name="Google Shape;92;p25"/>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25"/>
          <p:cNvSpPr/>
          <p:nvPr/>
        </p:nvSpPr>
        <p:spPr>
          <a:xfrm flipH="1" rot="5400000">
            <a:off x="-483350" y="448050"/>
            <a:ext cx="5160000" cy="4247400"/>
          </a:xfrm>
          <a:prstGeom prst="round2SameRect">
            <a:avLst>
              <a:gd fmla="val 3711" name="adj1"/>
              <a:gd fmla="val 0" name="adj2"/>
            </a:avLst>
          </a:prstGeom>
          <a:solidFill>
            <a:srgbClr val="E7E9F9"/>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4" name="Google Shape;94;p25"/>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lue">
  <p:cSld name="SECTION_HEADER_4_1">
    <p:spTree>
      <p:nvGrpSpPr>
        <p:cNvPr id="95" name="Shape 95"/>
        <p:cNvGrpSpPr/>
        <p:nvPr/>
      </p:nvGrpSpPr>
      <p:grpSpPr>
        <a:xfrm>
          <a:off x="0" y="0"/>
          <a:ext cx="0" cy="0"/>
          <a:chOff x="0" y="0"/>
          <a:chExt cx="0" cy="0"/>
        </a:xfrm>
      </p:grpSpPr>
      <p:sp>
        <p:nvSpPr>
          <p:cNvPr id="96" name="Google Shape;96;p26"/>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26"/>
          <p:cNvSpPr/>
          <p:nvPr/>
        </p:nvSpPr>
        <p:spPr>
          <a:xfrm flipH="1" rot="5400000">
            <a:off x="-483350" y="448050"/>
            <a:ext cx="5160000" cy="4247400"/>
          </a:xfrm>
          <a:prstGeom prst="round2SameRect">
            <a:avLst>
              <a:gd fmla="val 3711" name="adj1"/>
              <a:gd fmla="val 0" name="adj2"/>
            </a:avLst>
          </a:prstGeom>
          <a:solidFill>
            <a:srgbClr val="DBF2FA"/>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98" name="Google Shape;98;p26"/>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p:cSld name="SECTION_HEADER_4_1_1">
    <p:spTree>
      <p:nvGrpSpPr>
        <p:cNvPr id="99" name="Shape 99"/>
        <p:cNvGrpSpPr/>
        <p:nvPr/>
      </p:nvGrpSpPr>
      <p:grpSpPr>
        <a:xfrm>
          <a:off x="0" y="0"/>
          <a:ext cx="0" cy="0"/>
          <a:chOff x="0" y="0"/>
          <a:chExt cx="0" cy="0"/>
        </a:xfrm>
      </p:grpSpPr>
      <p:sp>
        <p:nvSpPr>
          <p:cNvPr id="100" name="Google Shape;100;p27"/>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27"/>
          <p:cNvSpPr/>
          <p:nvPr/>
        </p:nvSpPr>
        <p:spPr>
          <a:xfrm flipH="1" rot="5400000">
            <a:off x="-483350" y="448050"/>
            <a:ext cx="5160000" cy="4247400"/>
          </a:xfrm>
          <a:prstGeom prst="round2SameRect">
            <a:avLst>
              <a:gd fmla="val 3711" name="adj1"/>
              <a:gd fmla="val 0" name="adj2"/>
            </a:avLst>
          </a:prstGeom>
          <a:solidFill>
            <a:srgbClr val="D8C5D4"/>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2" name="Google Shape;102;p27"/>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p:cSld name="SECTION_HEADER_4_1_1_1">
    <p:spTree>
      <p:nvGrpSpPr>
        <p:cNvPr id="103" name="Shape 103"/>
        <p:cNvGrpSpPr/>
        <p:nvPr/>
      </p:nvGrpSpPr>
      <p:grpSpPr>
        <a:xfrm>
          <a:off x="0" y="0"/>
          <a:ext cx="0" cy="0"/>
          <a:chOff x="0" y="0"/>
          <a:chExt cx="0" cy="0"/>
        </a:xfrm>
      </p:grpSpPr>
      <p:sp>
        <p:nvSpPr>
          <p:cNvPr id="104" name="Google Shape;104;p28"/>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8"/>
          <p:cNvSpPr/>
          <p:nvPr/>
        </p:nvSpPr>
        <p:spPr>
          <a:xfrm flipH="1" rot="5400000">
            <a:off x="-979800" y="971550"/>
            <a:ext cx="5160000" cy="3200400"/>
          </a:xfrm>
          <a:prstGeom prst="round2SameRect">
            <a:avLst>
              <a:gd fmla="val 0" name="adj1"/>
              <a:gd fmla="val 0" name="adj2"/>
            </a:avLst>
          </a:prstGeom>
          <a:solidFill>
            <a:schemeClr val="dk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06" name="Google Shape;106;p28"/>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Light Burgundy 1 1">
  <p:cSld name="SECTION_HEADER_4_1_1_1_1">
    <p:bg>
      <p:bgPr>
        <a:solidFill>
          <a:schemeClr val="dk2"/>
        </a:solidFill>
      </p:bgPr>
    </p:bg>
    <p:spTree>
      <p:nvGrpSpPr>
        <p:cNvPr id="107" name="Shape 107"/>
        <p:cNvGrpSpPr/>
        <p:nvPr/>
      </p:nvGrpSpPr>
      <p:grpSpPr>
        <a:xfrm>
          <a:off x="0" y="0"/>
          <a:ext cx="0" cy="0"/>
          <a:chOff x="0" y="0"/>
          <a:chExt cx="0" cy="0"/>
        </a:xfrm>
      </p:grpSpPr>
      <p:sp>
        <p:nvSpPr>
          <p:cNvPr id="108" name="Google Shape;108;p29"/>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109" name="Google Shape;109;p29"/>
          <p:cNvSpPr/>
          <p:nvPr/>
        </p:nvSpPr>
        <p:spPr>
          <a:xfrm flipH="1" rot="5400000">
            <a:off x="-979800" y="971550"/>
            <a:ext cx="5160000" cy="3200400"/>
          </a:xfrm>
          <a:prstGeom prst="round2SameRect">
            <a:avLst>
              <a:gd fmla="val 0" name="adj1"/>
              <a:gd fmla="val 0" name="adj2"/>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10" name="Google Shape;110;p29"/>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Transparency Pattern">
  <p:cSld name="SECTION_HEADER_3">
    <p:spTree>
      <p:nvGrpSpPr>
        <p:cNvPr id="111" name="Shape 111"/>
        <p:cNvGrpSpPr/>
        <p:nvPr/>
      </p:nvGrpSpPr>
      <p:grpSpPr>
        <a:xfrm>
          <a:off x="0" y="0"/>
          <a:ext cx="0" cy="0"/>
          <a:chOff x="0" y="0"/>
          <a:chExt cx="0" cy="0"/>
        </a:xfrm>
      </p:grpSpPr>
      <p:pic>
        <p:nvPicPr>
          <p:cNvPr id="112" name="Google Shape;112;p30"/>
          <p:cNvPicPr preferRelativeResize="0"/>
          <p:nvPr/>
        </p:nvPicPr>
        <p:blipFill>
          <a:blip r:embed="rId2">
            <a:alphaModFix/>
          </a:blip>
          <a:stretch>
            <a:fillRect/>
          </a:stretch>
        </p:blipFill>
        <p:spPr>
          <a:xfrm>
            <a:off x="2723971" y="-1231413"/>
            <a:ext cx="8587677" cy="8594174"/>
          </a:xfrm>
          <a:prstGeom prst="rect">
            <a:avLst/>
          </a:prstGeom>
          <a:noFill/>
          <a:ln>
            <a:noFill/>
          </a:ln>
        </p:spPr>
      </p:pic>
      <p:sp>
        <p:nvSpPr>
          <p:cNvPr id="113" name="Google Shape;113;p30"/>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4" name="Google Shape;114;p30"/>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ometric Background Light">
  <p:cSld name="SECTION_HEADER_2">
    <p:spTree>
      <p:nvGrpSpPr>
        <p:cNvPr id="115" name="Shape 115"/>
        <p:cNvGrpSpPr/>
        <p:nvPr/>
      </p:nvGrpSpPr>
      <p:grpSpPr>
        <a:xfrm>
          <a:off x="0" y="0"/>
          <a:ext cx="0" cy="0"/>
          <a:chOff x="0" y="0"/>
          <a:chExt cx="0" cy="0"/>
        </a:xfrm>
      </p:grpSpPr>
      <p:pic>
        <p:nvPicPr>
          <p:cNvPr id="116" name="Google Shape;116;p31"/>
          <p:cNvPicPr preferRelativeResize="0"/>
          <p:nvPr/>
        </p:nvPicPr>
        <p:blipFill rotWithShape="1">
          <a:blip r:embed="rId2">
            <a:alphaModFix amt="27000"/>
          </a:blip>
          <a:srcRect b="26243" l="0" r="0" t="0"/>
          <a:stretch/>
        </p:blipFill>
        <p:spPr>
          <a:xfrm>
            <a:off x="0" y="0"/>
            <a:ext cx="9144000" cy="5143499"/>
          </a:xfrm>
          <a:prstGeom prst="rect">
            <a:avLst/>
          </a:prstGeom>
          <a:noFill/>
          <a:ln>
            <a:noFill/>
          </a:ln>
        </p:spPr>
      </p:pic>
      <p:sp>
        <p:nvSpPr>
          <p:cNvPr id="117" name="Google Shape;117;p31"/>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rgbClr val="12184A"/>
                </a:solidFill>
                <a:latin typeface="Inter"/>
                <a:ea typeface="Inter"/>
                <a:cs typeface="Inter"/>
                <a:sym typeface="Inter"/>
              </a:defRPr>
            </a:lvl1pPr>
            <a:lvl2pPr lvl="1" rtl="0">
              <a:buNone/>
              <a:defRPr>
                <a:solidFill>
                  <a:srgbClr val="12184A"/>
                </a:solidFill>
                <a:latin typeface="Inter"/>
                <a:ea typeface="Inter"/>
                <a:cs typeface="Inter"/>
                <a:sym typeface="Inter"/>
              </a:defRPr>
            </a:lvl2pPr>
            <a:lvl3pPr lvl="2" rtl="0">
              <a:buNone/>
              <a:defRPr>
                <a:solidFill>
                  <a:srgbClr val="12184A"/>
                </a:solidFill>
                <a:latin typeface="Inter"/>
                <a:ea typeface="Inter"/>
                <a:cs typeface="Inter"/>
                <a:sym typeface="Inter"/>
              </a:defRPr>
            </a:lvl3pPr>
            <a:lvl4pPr lvl="3" rtl="0">
              <a:buNone/>
              <a:defRPr>
                <a:solidFill>
                  <a:srgbClr val="12184A"/>
                </a:solidFill>
                <a:latin typeface="Inter"/>
                <a:ea typeface="Inter"/>
                <a:cs typeface="Inter"/>
                <a:sym typeface="Inter"/>
              </a:defRPr>
            </a:lvl4pPr>
            <a:lvl5pPr lvl="4" rtl="0">
              <a:buNone/>
              <a:defRPr>
                <a:solidFill>
                  <a:srgbClr val="12184A"/>
                </a:solidFill>
                <a:latin typeface="Inter"/>
                <a:ea typeface="Inter"/>
                <a:cs typeface="Inter"/>
                <a:sym typeface="Inter"/>
              </a:defRPr>
            </a:lvl5pPr>
            <a:lvl6pPr lvl="5" rtl="0">
              <a:buNone/>
              <a:defRPr>
                <a:solidFill>
                  <a:srgbClr val="12184A"/>
                </a:solidFill>
                <a:latin typeface="Inter"/>
                <a:ea typeface="Inter"/>
                <a:cs typeface="Inter"/>
                <a:sym typeface="Inter"/>
              </a:defRPr>
            </a:lvl6pPr>
            <a:lvl7pPr lvl="6" rtl="0">
              <a:buNone/>
              <a:defRPr>
                <a:solidFill>
                  <a:srgbClr val="12184A"/>
                </a:solidFill>
                <a:latin typeface="Inter"/>
                <a:ea typeface="Inter"/>
                <a:cs typeface="Inter"/>
                <a:sym typeface="Inter"/>
              </a:defRPr>
            </a:lvl7pPr>
            <a:lvl8pPr lvl="7" rtl="0">
              <a:buNone/>
              <a:defRPr>
                <a:solidFill>
                  <a:srgbClr val="12184A"/>
                </a:solidFill>
                <a:latin typeface="Inter"/>
                <a:ea typeface="Inter"/>
                <a:cs typeface="Inter"/>
                <a:sym typeface="Inter"/>
              </a:defRPr>
            </a:lvl8pPr>
            <a:lvl9pPr lvl="8" rtl="0">
              <a:buNone/>
              <a:defRPr>
                <a:solidFill>
                  <a:srgbClr val="12184A"/>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18" name="Google Shape;118;p31"/>
          <p:cNvPicPr preferRelativeResize="0"/>
          <p:nvPr/>
        </p:nvPicPr>
        <p:blipFill>
          <a:blip r:embed="rId3">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p:cSld name="SECTION_HEADER_1">
    <p:bg>
      <p:bgPr>
        <a:solidFill>
          <a:srgbClr val="294489"/>
        </a:solidFill>
      </p:bgPr>
    </p:bg>
    <p:spTree>
      <p:nvGrpSpPr>
        <p:cNvPr id="119" name="Shape 119"/>
        <p:cNvGrpSpPr/>
        <p:nvPr/>
      </p:nvGrpSpPr>
      <p:grpSpPr>
        <a:xfrm>
          <a:off x="0" y="0"/>
          <a:ext cx="0" cy="0"/>
          <a:chOff x="0" y="0"/>
          <a:chExt cx="0" cy="0"/>
        </a:xfrm>
      </p:grpSpPr>
      <p:sp>
        <p:nvSpPr>
          <p:cNvPr id="120" name="Google Shape;120;p32"/>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Dark 1">
  <p:cSld name="SECTION_HEADER_1_1">
    <p:bg>
      <p:bgPr>
        <a:solidFill>
          <a:srgbClr val="294489"/>
        </a:solidFill>
      </p:bgPr>
    </p:bg>
    <p:spTree>
      <p:nvGrpSpPr>
        <p:cNvPr id="121" name="Shape 121"/>
        <p:cNvGrpSpPr/>
        <p:nvPr/>
      </p:nvGrpSpPr>
      <p:grpSpPr>
        <a:xfrm>
          <a:off x="0" y="0"/>
          <a:ext cx="0" cy="0"/>
          <a:chOff x="0" y="0"/>
          <a:chExt cx="0" cy="0"/>
        </a:xfrm>
      </p:grpSpPr>
      <p:sp>
        <p:nvSpPr>
          <p:cNvPr id="122" name="Google Shape;122;p33"/>
          <p:cNvSpPr txBox="1"/>
          <p:nvPr>
            <p:ph idx="12" type="sldNum"/>
          </p:nvPr>
        </p:nvSpPr>
        <p:spPr>
          <a:xfrm>
            <a:off x="8214297" y="4570594"/>
            <a:ext cx="548700" cy="393600"/>
          </a:xfrm>
          <a:prstGeom prst="rect">
            <a:avLst/>
          </a:prstGeom>
        </p:spPr>
        <p:txBody>
          <a:bodyPr anchorCtr="0" anchor="ctr" bIns="91425" lIns="91425" spcFirstLastPara="1" rIns="91425" wrap="square" tIns="91425">
            <a:normAutofit/>
          </a:bodyPr>
          <a:lstStyle>
            <a:lvl1pPr lvl="0" rtl="0">
              <a:buNone/>
              <a:defRPr>
                <a:solidFill>
                  <a:schemeClr val="lt1"/>
                </a:solidFill>
                <a:latin typeface="Inter"/>
                <a:ea typeface="Inter"/>
                <a:cs typeface="Inter"/>
                <a:sym typeface="Inter"/>
              </a:defRPr>
            </a:lvl1pPr>
            <a:lvl2pPr lvl="1" rtl="0">
              <a:buNone/>
              <a:defRPr>
                <a:solidFill>
                  <a:schemeClr val="lt1"/>
                </a:solidFill>
                <a:latin typeface="Inter"/>
                <a:ea typeface="Inter"/>
                <a:cs typeface="Inter"/>
                <a:sym typeface="Inter"/>
              </a:defRPr>
            </a:lvl2pPr>
            <a:lvl3pPr lvl="2" rtl="0">
              <a:buNone/>
              <a:defRPr>
                <a:solidFill>
                  <a:schemeClr val="lt1"/>
                </a:solidFill>
                <a:latin typeface="Inter"/>
                <a:ea typeface="Inter"/>
                <a:cs typeface="Inter"/>
                <a:sym typeface="Inter"/>
              </a:defRPr>
            </a:lvl3pPr>
            <a:lvl4pPr lvl="3" rtl="0">
              <a:buNone/>
              <a:defRPr>
                <a:solidFill>
                  <a:schemeClr val="lt1"/>
                </a:solidFill>
                <a:latin typeface="Inter"/>
                <a:ea typeface="Inter"/>
                <a:cs typeface="Inter"/>
                <a:sym typeface="Inter"/>
              </a:defRPr>
            </a:lvl4pPr>
            <a:lvl5pPr lvl="4" rtl="0">
              <a:buNone/>
              <a:defRPr>
                <a:solidFill>
                  <a:schemeClr val="lt1"/>
                </a:solidFill>
                <a:latin typeface="Inter"/>
                <a:ea typeface="Inter"/>
                <a:cs typeface="Inter"/>
                <a:sym typeface="Inter"/>
              </a:defRPr>
            </a:lvl5pPr>
            <a:lvl6pPr lvl="5" rtl="0">
              <a:buNone/>
              <a:defRPr>
                <a:solidFill>
                  <a:schemeClr val="lt1"/>
                </a:solidFill>
                <a:latin typeface="Inter"/>
                <a:ea typeface="Inter"/>
                <a:cs typeface="Inter"/>
                <a:sym typeface="Inter"/>
              </a:defRPr>
            </a:lvl6pPr>
            <a:lvl7pPr lvl="6" rtl="0">
              <a:buNone/>
              <a:defRPr>
                <a:solidFill>
                  <a:schemeClr val="lt1"/>
                </a:solidFill>
                <a:latin typeface="Inter"/>
                <a:ea typeface="Inter"/>
                <a:cs typeface="Inter"/>
                <a:sym typeface="Inter"/>
              </a:defRPr>
            </a:lvl7pPr>
            <a:lvl8pPr lvl="7" rtl="0">
              <a:buNone/>
              <a:defRPr>
                <a:solidFill>
                  <a:schemeClr val="lt1"/>
                </a:solidFill>
                <a:latin typeface="Inter"/>
                <a:ea typeface="Inter"/>
                <a:cs typeface="Inter"/>
                <a:sym typeface="Inter"/>
              </a:defRPr>
            </a:lvl8pPr>
            <a:lvl9pPr lvl="8" rtl="0">
              <a:buNone/>
              <a:defRPr>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pic>
        <p:nvPicPr>
          <p:cNvPr id="123" name="Google Shape;123;p33"/>
          <p:cNvPicPr preferRelativeResize="0"/>
          <p:nvPr/>
        </p:nvPicPr>
        <p:blipFill>
          <a:blip r:embed="rId2">
            <a:alphaModFix/>
          </a:blip>
          <a:stretch>
            <a:fillRect/>
          </a:stretch>
        </p:blipFill>
        <p:spPr>
          <a:xfrm>
            <a:off x="8506500" y="335925"/>
            <a:ext cx="293825" cy="293501"/>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4" name="Shape 124"/>
        <p:cNvGrpSpPr/>
        <p:nvPr/>
      </p:nvGrpSpPr>
      <p:grpSpPr>
        <a:xfrm>
          <a:off x="0" y="0"/>
          <a:ext cx="0" cy="0"/>
          <a:chOff x="0" y="0"/>
          <a:chExt cx="0" cy="0"/>
        </a:xfrm>
      </p:grpSpPr>
      <p:sp>
        <p:nvSpPr>
          <p:cNvPr id="125" name="Google Shape;125;p3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rtl="0">
              <a:spcBef>
                <a:spcPts val="0"/>
              </a:spcBef>
              <a:spcAft>
                <a:spcPts val="0"/>
              </a:spcAft>
              <a:buClr>
                <a:srgbClr val="650C4C"/>
              </a:buClr>
              <a:buSzPts val="3600"/>
              <a:buFont typeface="Manrope"/>
              <a:buChar char="●"/>
              <a:defRPr b="1" sz="3600">
                <a:solidFill>
                  <a:srgbClr val="650C4C"/>
                </a:solidFill>
                <a:latin typeface="Manrope"/>
                <a:ea typeface="Manrope"/>
                <a:cs typeface="Manrope"/>
                <a:sym typeface="Manrope"/>
              </a:defRPr>
            </a:lvl1pPr>
            <a:lvl2pPr lvl="1"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2pPr>
            <a:lvl3pPr lvl="2"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3pPr>
            <a:lvl4pPr lvl="3"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4pPr>
            <a:lvl5pPr lvl="4"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5pPr>
            <a:lvl6pPr lvl="5"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6pPr>
            <a:lvl7pPr lvl="6"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7pPr>
            <a:lvl8pPr lvl="7"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8pPr>
            <a:lvl9pPr lvl="8" rtl="0">
              <a:spcBef>
                <a:spcPts val="0"/>
              </a:spcBef>
              <a:spcAft>
                <a:spcPts val="0"/>
              </a:spcAft>
              <a:buClr>
                <a:srgbClr val="650C4C"/>
              </a:buClr>
              <a:buSzPts val="1400"/>
              <a:buFont typeface="Manrope"/>
              <a:buChar char="■"/>
              <a:defRPr>
                <a:solidFill>
                  <a:srgbClr val="650C4C"/>
                </a:solidFill>
                <a:latin typeface="Manrope"/>
                <a:ea typeface="Manrope"/>
                <a:cs typeface="Manrope"/>
                <a:sym typeface="Manrope"/>
              </a:defRPr>
            </a:lvl9pPr>
          </a:lstStyle>
          <a:p/>
        </p:txBody>
      </p:sp>
      <p:sp>
        <p:nvSpPr>
          <p:cNvPr id="126" name="Google Shape;126;p34"/>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1pPr>
            <a:lvl2pPr indent="-317500" lvl="1" marL="914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2pPr>
            <a:lvl3pPr indent="-317500" lvl="2" marL="1371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3pPr>
            <a:lvl4pPr indent="-317500" lvl="3" marL="1828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4pPr>
            <a:lvl5pPr indent="-317500" lvl="4" marL="22860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5pPr>
            <a:lvl6pPr indent="-317500" lvl="5" marL="27432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6pPr>
            <a:lvl7pPr indent="-317500" lvl="6" marL="32004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7pPr>
            <a:lvl8pPr indent="-317500" lvl="7" marL="36576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8pPr>
            <a:lvl9pPr indent="-317500" lvl="8" marL="4114800" rtl="0">
              <a:spcBef>
                <a:spcPts val="0"/>
              </a:spcBef>
              <a:spcAft>
                <a:spcPts val="0"/>
              </a:spcAft>
              <a:buClr>
                <a:srgbClr val="294489"/>
              </a:buClr>
              <a:buSzPts val="1400"/>
              <a:buFont typeface="Inter Light"/>
              <a:buChar char="■"/>
              <a:defRPr>
                <a:solidFill>
                  <a:srgbClr val="294489"/>
                </a:solidFill>
                <a:latin typeface="Inter Light"/>
                <a:ea typeface="Inter Light"/>
                <a:cs typeface="Inter Light"/>
                <a:sym typeface="Inter Light"/>
              </a:defRPr>
            </a:lvl9pPr>
          </a:lstStyle>
          <a:p/>
        </p:txBody>
      </p:sp>
      <p:sp>
        <p:nvSpPr>
          <p:cNvPr id="127" name="Google Shape;127;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23"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22.png"/></Relationships>
</file>

<file path=ppt/slides/_rels/slide4.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13.png"/><Relationship Id="rId13" Type="http://schemas.openxmlformats.org/officeDocument/2006/relationships/image" Target="../media/image12.png"/><Relationship Id="rId12" Type="http://schemas.openxmlformats.org/officeDocument/2006/relationships/image" Target="../media/image18.png"/><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7.png"/><Relationship Id="rId9"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21.png"/><Relationship Id="rId7" Type="http://schemas.openxmlformats.org/officeDocument/2006/relationships/image" Target="../media/image8.png"/><Relationship Id="rId8"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 Id="rId3"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28.png"/><Relationship Id="rId4" Type="http://schemas.openxmlformats.org/officeDocument/2006/relationships/image" Target="../media/image20.png"/><Relationship Id="rId5" Type="http://schemas.openxmlformats.org/officeDocument/2006/relationships/hyperlink" Target="https://lookerstudio.google.com/reporting/1f032e0e-787c-4cf8-852d-e5362b845245"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 Id="rId3"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26.png"/><Relationship Id="rId5"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4A"/>
        </a:solidFill>
      </p:bgPr>
    </p:bg>
    <p:spTree>
      <p:nvGrpSpPr>
        <p:cNvPr id="133" name="Shape 133"/>
        <p:cNvGrpSpPr/>
        <p:nvPr/>
      </p:nvGrpSpPr>
      <p:grpSpPr>
        <a:xfrm>
          <a:off x="0" y="0"/>
          <a:ext cx="0" cy="0"/>
          <a:chOff x="0" y="0"/>
          <a:chExt cx="0" cy="0"/>
        </a:xfrm>
      </p:grpSpPr>
      <p:pic>
        <p:nvPicPr>
          <p:cNvPr id="134" name="Google Shape;134;p36"/>
          <p:cNvPicPr preferRelativeResize="0"/>
          <p:nvPr/>
        </p:nvPicPr>
        <p:blipFill rotWithShape="1">
          <a:blip r:embed="rId3">
            <a:alphaModFix/>
          </a:blip>
          <a:srcRect b="0" l="0" r="0" t="0"/>
          <a:stretch/>
        </p:blipFill>
        <p:spPr>
          <a:xfrm>
            <a:off x="4000499" y="0"/>
            <a:ext cx="5143501" cy="5143501"/>
          </a:xfrm>
          <a:prstGeom prst="rect">
            <a:avLst/>
          </a:prstGeom>
          <a:noFill/>
          <a:ln>
            <a:noFill/>
          </a:ln>
        </p:spPr>
      </p:pic>
      <p:sp>
        <p:nvSpPr>
          <p:cNvPr id="135" name="Google Shape;135;p36"/>
          <p:cNvSpPr txBox="1"/>
          <p:nvPr/>
        </p:nvSpPr>
        <p:spPr>
          <a:xfrm>
            <a:off x="333650" y="1925250"/>
            <a:ext cx="5726400" cy="129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chemeClr val="lt1"/>
                </a:solidFill>
                <a:latin typeface="Manrope SemiBold"/>
                <a:ea typeface="Manrope SemiBold"/>
                <a:cs typeface="Manrope SemiBold"/>
                <a:sym typeface="Manrope SemiBold"/>
              </a:rPr>
              <a:t>Nesto POC</a:t>
            </a:r>
            <a:endParaRPr sz="3600">
              <a:solidFill>
                <a:schemeClr val="lt1"/>
              </a:solidFill>
              <a:latin typeface="Manrope SemiBold"/>
              <a:ea typeface="Manrope SemiBold"/>
              <a:cs typeface="Manrope SemiBold"/>
              <a:sym typeface="Manrope SemiBold"/>
            </a:endParaRPr>
          </a:p>
        </p:txBody>
      </p:sp>
      <p:pic>
        <p:nvPicPr>
          <p:cNvPr id="136" name="Google Shape;136;p36"/>
          <p:cNvPicPr preferRelativeResize="0"/>
          <p:nvPr/>
        </p:nvPicPr>
        <p:blipFill>
          <a:blip r:embed="rId4">
            <a:alphaModFix/>
          </a:blip>
          <a:stretch>
            <a:fillRect/>
          </a:stretch>
        </p:blipFill>
        <p:spPr>
          <a:xfrm>
            <a:off x="333650" y="339750"/>
            <a:ext cx="1941901" cy="461000"/>
          </a:xfrm>
          <a:prstGeom prst="rect">
            <a:avLst/>
          </a:prstGeom>
          <a:noFill/>
          <a:ln>
            <a:noFill/>
          </a:ln>
        </p:spPr>
      </p:pic>
      <p:sp>
        <p:nvSpPr>
          <p:cNvPr id="137" name="Google Shape;13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7"/>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143" name="Google Shape;143;p37"/>
          <p:cNvSpPr txBox="1"/>
          <p:nvPr>
            <p:ph idx="1" type="body"/>
          </p:nvPr>
        </p:nvSpPr>
        <p:spPr>
          <a:xfrm>
            <a:off x="557875" y="1236700"/>
            <a:ext cx="7111500" cy="35520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Goal</a:t>
            </a:r>
            <a:endParaRPr/>
          </a:p>
          <a:p>
            <a:pPr indent="0" lvl="0" marL="914400" rtl="0" algn="l">
              <a:spcBef>
                <a:spcPts val="0"/>
              </a:spcBef>
              <a:spcAft>
                <a:spcPts val="0"/>
              </a:spcAft>
              <a:buNone/>
            </a:pPr>
            <a:r>
              <a:t/>
            </a:r>
            <a:endParaRPr/>
          </a:p>
          <a:p>
            <a:pPr indent="-317500" lvl="0" marL="457200" rtl="0" algn="l">
              <a:spcBef>
                <a:spcPts val="0"/>
              </a:spcBef>
              <a:spcAft>
                <a:spcPts val="0"/>
              </a:spcAft>
              <a:buSzPts val="1400"/>
              <a:buChar char="●"/>
            </a:pPr>
            <a:r>
              <a:rPr lang="en"/>
              <a:t>P</a:t>
            </a:r>
            <a:r>
              <a:rPr lang="en"/>
              <a:t>rocess</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Prompt</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Dashboard</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Keeping updated</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Deliverables</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Reports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38"/>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Goal</a:t>
            </a:r>
            <a:endParaRPr/>
          </a:p>
        </p:txBody>
      </p:sp>
      <p:sp>
        <p:nvSpPr>
          <p:cNvPr id="149" name="Google Shape;149;p38"/>
          <p:cNvSpPr txBox="1"/>
          <p:nvPr>
            <p:ph idx="1" type="body"/>
          </p:nvPr>
        </p:nvSpPr>
        <p:spPr>
          <a:xfrm>
            <a:off x="468975" y="1130425"/>
            <a:ext cx="3903900" cy="355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Understand and gain insight into how SDRs are performing in outbound sales calls</a:t>
            </a:r>
            <a:endParaRPr sz="1200"/>
          </a:p>
          <a:p>
            <a:pPr indent="0" lvl="0" marL="45720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Focus was on CompareMortgages outbound campaigns </a:t>
            </a:r>
            <a:endParaRPr sz="1200"/>
          </a:p>
          <a:p>
            <a:pPr indent="0" lvl="0" marL="45720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Score and measure </a:t>
            </a:r>
            <a:r>
              <a:rPr lang="en" sz="1200"/>
              <a:t>adherence</a:t>
            </a:r>
            <a:r>
              <a:rPr lang="en" sz="1200"/>
              <a:t> to the criteria outlined in the sales guidance document</a:t>
            </a:r>
            <a:endParaRPr sz="1200"/>
          </a:p>
          <a:p>
            <a:pPr indent="0" lvl="0" marL="45720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Produce insights and push back to BQ for Looker dashboard on findings so that sales leaders are empowered to provide helpful coaching to SDRs</a:t>
            </a:r>
            <a:endParaRPr sz="1200"/>
          </a:p>
        </p:txBody>
      </p:sp>
      <p:pic>
        <p:nvPicPr>
          <p:cNvPr id="150" name="Google Shape;150;p38"/>
          <p:cNvPicPr preferRelativeResize="0"/>
          <p:nvPr/>
        </p:nvPicPr>
        <p:blipFill>
          <a:blip r:embed="rId3">
            <a:alphaModFix/>
          </a:blip>
          <a:stretch>
            <a:fillRect/>
          </a:stretch>
        </p:blipFill>
        <p:spPr>
          <a:xfrm>
            <a:off x="4936425" y="735400"/>
            <a:ext cx="3443948" cy="3853850"/>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pic>
        <p:nvPicPr>
          <p:cNvPr id="155" name="Google Shape;155;p39"/>
          <p:cNvPicPr preferRelativeResize="0"/>
          <p:nvPr/>
        </p:nvPicPr>
        <p:blipFill>
          <a:blip r:embed="rId3">
            <a:alphaModFix/>
          </a:blip>
          <a:stretch>
            <a:fillRect/>
          </a:stretch>
        </p:blipFill>
        <p:spPr>
          <a:xfrm>
            <a:off x="1961725" y="1725013"/>
            <a:ext cx="835725" cy="835725"/>
          </a:xfrm>
          <a:prstGeom prst="rect">
            <a:avLst/>
          </a:prstGeom>
          <a:noFill/>
          <a:ln>
            <a:noFill/>
          </a:ln>
        </p:spPr>
      </p:pic>
      <p:sp>
        <p:nvSpPr>
          <p:cNvPr id="156" name="Google Shape;156;p39"/>
          <p:cNvSpPr/>
          <p:nvPr/>
        </p:nvSpPr>
        <p:spPr>
          <a:xfrm>
            <a:off x="1273849" y="2124875"/>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sp>
        <p:nvSpPr>
          <p:cNvPr id="157" name="Google Shape;157;p39"/>
          <p:cNvSpPr/>
          <p:nvPr/>
        </p:nvSpPr>
        <p:spPr>
          <a:xfrm>
            <a:off x="2837399" y="2124875"/>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sp>
        <p:nvSpPr>
          <p:cNvPr id="158" name="Google Shape;158;p39"/>
          <p:cNvSpPr txBox="1"/>
          <p:nvPr/>
        </p:nvSpPr>
        <p:spPr>
          <a:xfrm>
            <a:off x="124675" y="103000"/>
            <a:ext cx="15177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500"/>
          </a:p>
        </p:txBody>
      </p:sp>
      <p:sp>
        <p:nvSpPr>
          <p:cNvPr id="159" name="Google Shape;159;p39"/>
          <p:cNvSpPr/>
          <p:nvPr/>
        </p:nvSpPr>
        <p:spPr>
          <a:xfrm>
            <a:off x="7033574" y="2124863"/>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pic>
        <p:nvPicPr>
          <p:cNvPr id="160" name="Google Shape;160;p39"/>
          <p:cNvPicPr preferRelativeResize="0"/>
          <p:nvPr/>
        </p:nvPicPr>
        <p:blipFill>
          <a:blip r:embed="rId4">
            <a:alphaModFix/>
          </a:blip>
          <a:stretch>
            <a:fillRect/>
          </a:stretch>
        </p:blipFill>
        <p:spPr>
          <a:xfrm>
            <a:off x="330550" y="1866438"/>
            <a:ext cx="767100" cy="767100"/>
          </a:xfrm>
          <a:prstGeom prst="rect">
            <a:avLst/>
          </a:prstGeom>
          <a:noFill/>
          <a:ln>
            <a:noFill/>
          </a:ln>
        </p:spPr>
      </p:pic>
      <p:sp>
        <p:nvSpPr>
          <p:cNvPr id="161" name="Google Shape;161;p39"/>
          <p:cNvSpPr txBox="1"/>
          <p:nvPr/>
        </p:nvSpPr>
        <p:spPr>
          <a:xfrm>
            <a:off x="177249" y="2734150"/>
            <a:ext cx="10737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Raw Audio Files of</a:t>
            </a:r>
            <a:endParaRPr sz="600">
              <a:solidFill>
                <a:srgbClr val="475067"/>
              </a:solidFill>
            </a:endParaRPr>
          </a:p>
          <a:p>
            <a:pPr indent="0" lvl="0" marL="0" rtl="0" algn="ctr">
              <a:spcBef>
                <a:spcPts val="0"/>
              </a:spcBef>
              <a:spcAft>
                <a:spcPts val="0"/>
              </a:spcAft>
              <a:buNone/>
            </a:pPr>
            <a:r>
              <a:rPr lang="en" sz="600">
                <a:solidFill>
                  <a:srgbClr val="475067"/>
                </a:solidFill>
              </a:rPr>
              <a:t>SDR calls</a:t>
            </a:r>
            <a:endParaRPr sz="600">
              <a:solidFill>
                <a:srgbClr val="475067"/>
              </a:solidFill>
            </a:endParaRPr>
          </a:p>
        </p:txBody>
      </p:sp>
      <p:pic>
        <p:nvPicPr>
          <p:cNvPr id="162" name="Google Shape;162;p39"/>
          <p:cNvPicPr preferRelativeResize="0"/>
          <p:nvPr/>
        </p:nvPicPr>
        <p:blipFill>
          <a:blip r:embed="rId5">
            <a:alphaModFix/>
          </a:blip>
          <a:stretch>
            <a:fillRect/>
          </a:stretch>
        </p:blipFill>
        <p:spPr>
          <a:xfrm>
            <a:off x="2359249" y="2499779"/>
            <a:ext cx="601224" cy="183576"/>
          </a:xfrm>
          <a:prstGeom prst="rect">
            <a:avLst/>
          </a:prstGeom>
          <a:noFill/>
          <a:ln>
            <a:noFill/>
          </a:ln>
        </p:spPr>
      </p:pic>
      <p:sp>
        <p:nvSpPr>
          <p:cNvPr id="163" name="Google Shape;163;p39"/>
          <p:cNvSpPr txBox="1"/>
          <p:nvPr/>
        </p:nvSpPr>
        <p:spPr>
          <a:xfrm>
            <a:off x="1961724" y="2748000"/>
            <a:ext cx="10737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Perform Transcription</a:t>
            </a:r>
            <a:endParaRPr sz="600">
              <a:solidFill>
                <a:srgbClr val="475067"/>
              </a:solidFill>
            </a:endParaRPr>
          </a:p>
        </p:txBody>
      </p:sp>
      <p:pic>
        <p:nvPicPr>
          <p:cNvPr id="164" name="Google Shape;164;p39"/>
          <p:cNvPicPr preferRelativeResize="0"/>
          <p:nvPr/>
        </p:nvPicPr>
        <p:blipFill>
          <a:blip r:embed="rId6">
            <a:alphaModFix/>
          </a:blip>
          <a:stretch>
            <a:fillRect/>
          </a:stretch>
        </p:blipFill>
        <p:spPr>
          <a:xfrm>
            <a:off x="4127313" y="1650088"/>
            <a:ext cx="324150" cy="324150"/>
          </a:xfrm>
          <a:prstGeom prst="rect">
            <a:avLst/>
          </a:prstGeom>
          <a:noFill/>
          <a:ln>
            <a:noFill/>
          </a:ln>
        </p:spPr>
      </p:pic>
      <p:pic>
        <p:nvPicPr>
          <p:cNvPr id="165" name="Google Shape;165;p39"/>
          <p:cNvPicPr preferRelativeResize="0"/>
          <p:nvPr/>
        </p:nvPicPr>
        <p:blipFill>
          <a:blip r:embed="rId7">
            <a:alphaModFix/>
          </a:blip>
          <a:stretch>
            <a:fillRect/>
          </a:stretch>
        </p:blipFill>
        <p:spPr>
          <a:xfrm>
            <a:off x="5306600" y="2427002"/>
            <a:ext cx="269100" cy="269100"/>
          </a:xfrm>
          <a:prstGeom prst="rect">
            <a:avLst/>
          </a:prstGeom>
          <a:noFill/>
          <a:ln>
            <a:noFill/>
          </a:ln>
        </p:spPr>
      </p:pic>
      <p:sp>
        <p:nvSpPr>
          <p:cNvPr id="166" name="Google Shape;166;p39"/>
          <p:cNvSpPr txBox="1"/>
          <p:nvPr/>
        </p:nvSpPr>
        <p:spPr>
          <a:xfrm>
            <a:off x="3528437" y="2734150"/>
            <a:ext cx="10737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Uploaded to HF to generate insights using</a:t>
            </a:r>
            <a:endParaRPr sz="600">
              <a:solidFill>
                <a:srgbClr val="475067"/>
              </a:solidFill>
            </a:endParaRPr>
          </a:p>
          <a:p>
            <a:pPr indent="0" lvl="0" marL="0" rtl="0" algn="ctr">
              <a:spcBef>
                <a:spcPts val="0"/>
              </a:spcBef>
              <a:spcAft>
                <a:spcPts val="0"/>
              </a:spcAft>
              <a:buNone/>
            </a:pPr>
            <a:r>
              <a:rPr lang="en" sz="600">
                <a:solidFill>
                  <a:srgbClr val="475067"/>
                </a:solidFill>
              </a:rPr>
              <a:t>Vertex AI models</a:t>
            </a:r>
            <a:endParaRPr sz="600">
              <a:solidFill>
                <a:srgbClr val="475067"/>
              </a:solidFill>
            </a:endParaRPr>
          </a:p>
        </p:txBody>
      </p:sp>
      <p:pic>
        <p:nvPicPr>
          <p:cNvPr id="167" name="Google Shape;167;p39"/>
          <p:cNvPicPr preferRelativeResize="0"/>
          <p:nvPr/>
        </p:nvPicPr>
        <p:blipFill>
          <a:blip r:embed="rId8">
            <a:alphaModFix/>
          </a:blip>
          <a:stretch>
            <a:fillRect/>
          </a:stretch>
        </p:blipFill>
        <p:spPr>
          <a:xfrm>
            <a:off x="3686925" y="2035981"/>
            <a:ext cx="440375" cy="440350"/>
          </a:xfrm>
          <a:prstGeom prst="rect">
            <a:avLst/>
          </a:prstGeom>
          <a:noFill/>
          <a:ln>
            <a:noFill/>
          </a:ln>
        </p:spPr>
      </p:pic>
      <p:pic>
        <p:nvPicPr>
          <p:cNvPr id="168" name="Google Shape;168;p39"/>
          <p:cNvPicPr preferRelativeResize="0"/>
          <p:nvPr/>
        </p:nvPicPr>
        <p:blipFill>
          <a:blip r:embed="rId9">
            <a:alphaModFix/>
          </a:blip>
          <a:stretch>
            <a:fillRect/>
          </a:stretch>
        </p:blipFill>
        <p:spPr>
          <a:xfrm>
            <a:off x="4139763" y="2196175"/>
            <a:ext cx="440375" cy="439524"/>
          </a:xfrm>
          <a:prstGeom prst="rect">
            <a:avLst/>
          </a:prstGeom>
          <a:noFill/>
          <a:ln>
            <a:noFill/>
          </a:ln>
        </p:spPr>
      </p:pic>
      <p:sp>
        <p:nvSpPr>
          <p:cNvPr id="169" name="Google Shape;169;p39"/>
          <p:cNvSpPr/>
          <p:nvPr/>
        </p:nvSpPr>
        <p:spPr>
          <a:xfrm>
            <a:off x="4808449" y="2124900"/>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pic>
        <p:nvPicPr>
          <p:cNvPr id="170" name="Google Shape;170;p39"/>
          <p:cNvPicPr preferRelativeResize="0"/>
          <p:nvPr/>
        </p:nvPicPr>
        <p:blipFill>
          <a:blip r:embed="rId10">
            <a:alphaModFix/>
          </a:blip>
          <a:stretch>
            <a:fillRect/>
          </a:stretch>
        </p:blipFill>
        <p:spPr>
          <a:xfrm>
            <a:off x="5495787" y="1842025"/>
            <a:ext cx="767100" cy="767100"/>
          </a:xfrm>
          <a:prstGeom prst="rect">
            <a:avLst/>
          </a:prstGeom>
          <a:noFill/>
          <a:ln>
            <a:noFill/>
          </a:ln>
        </p:spPr>
      </p:pic>
      <p:pic>
        <p:nvPicPr>
          <p:cNvPr id="171" name="Google Shape;171;p39"/>
          <p:cNvPicPr preferRelativeResize="0"/>
          <p:nvPr/>
        </p:nvPicPr>
        <p:blipFill>
          <a:blip r:embed="rId11">
            <a:alphaModFix/>
          </a:blip>
          <a:stretch>
            <a:fillRect/>
          </a:stretch>
        </p:blipFill>
        <p:spPr>
          <a:xfrm>
            <a:off x="6166575" y="2165650"/>
            <a:ext cx="489200" cy="489200"/>
          </a:xfrm>
          <a:prstGeom prst="rect">
            <a:avLst/>
          </a:prstGeom>
          <a:noFill/>
          <a:ln>
            <a:noFill/>
          </a:ln>
        </p:spPr>
      </p:pic>
      <p:sp>
        <p:nvSpPr>
          <p:cNvPr id="172" name="Google Shape;172;p39"/>
          <p:cNvSpPr txBox="1"/>
          <p:nvPr/>
        </p:nvSpPr>
        <p:spPr>
          <a:xfrm>
            <a:off x="5342487" y="2748000"/>
            <a:ext cx="10737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Inserted into </a:t>
            </a:r>
            <a:r>
              <a:rPr lang="en" sz="600">
                <a:solidFill>
                  <a:srgbClr val="475067"/>
                </a:solidFill>
              </a:rPr>
              <a:t>separate</a:t>
            </a:r>
            <a:r>
              <a:rPr lang="en" sz="600">
                <a:solidFill>
                  <a:srgbClr val="475067"/>
                </a:solidFill>
              </a:rPr>
              <a:t> BQ table</a:t>
            </a:r>
            <a:endParaRPr sz="600">
              <a:solidFill>
                <a:srgbClr val="475067"/>
              </a:solidFill>
            </a:endParaRPr>
          </a:p>
        </p:txBody>
      </p:sp>
      <p:pic>
        <p:nvPicPr>
          <p:cNvPr id="173" name="Google Shape;173;p39"/>
          <p:cNvPicPr preferRelativeResize="0"/>
          <p:nvPr/>
        </p:nvPicPr>
        <p:blipFill>
          <a:blip r:embed="rId12">
            <a:alphaModFix/>
          </a:blip>
          <a:stretch>
            <a:fillRect/>
          </a:stretch>
        </p:blipFill>
        <p:spPr>
          <a:xfrm>
            <a:off x="8253600" y="2405017"/>
            <a:ext cx="767099" cy="438107"/>
          </a:xfrm>
          <a:prstGeom prst="rect">
            <a:avLst/>
          </a:prstGeom>
          <a:noFill/>
          <a:ln>
            <a:noFill/>
          </a:ln>
        </p:spPr>
      </p:pic>
      <p:pic>
        <p:nvPicPr>
          <p:cNvPr id="174" name="Google Shape;174;p39"/>
          <p:cNvPicPr preferRelativeResize="0"/>
          <p:nvPr/>
        </p:nvPicPr>
        <p:blipFill>
          <a:blip r:embed="rId13">
            <a:alphaModFix/>
          </a:blip>
          <a:stretch>
            <a:fillRect/>
          </a:stretch>
        </p:blipFill>
        <p:spPr>
          <a:xfrm>
            <a:off x="7671482" y="1819450"/>
            <a:ext cx="861050" cy="861050"/>
          </a:xfrm>
          <a:prstGeom prst="rect">
            <a:avLst/>
          </a:prstGeom>
          <a:noFill/>
          <a:ln>
            <a:noFill/>
          </a:ln>
        </p:spPr>
      </p:pic>
      <p:sp>
        <p:nvSpPr>
          <p:cNvPr id="175" name="Google Shape;175;p39"/>
          <p:cNvSpPr txBox="1"/>
          <p:nvPr/>
        </p:nvSpPr>
        <p:spPr>
          <a:xfrm>
            <a:off x="7608287" y="2748000"/>
            <a:ext cx="10737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Looker Dashboard</a:t>
            </a:r>
            <a:endParaRPr sz="600">
              <a:solidFill>
                <a:srgbClr val="475067"/>
              </a:solidFill>
            </a:endParaRPr>
          </a:p>
        </p:txBody>
      </p:sp>
      <p:sp>
        <p:nvSpPr>
          <p:cNvPr id="176" name="Google Shape;176;p39"/>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Process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40"/>
          <p:cNvPicPr preferRelativeResize="0"/>
          <p:nvPr/>
        </p:nvPicPr>
        <p:blipFill>
          <a:blip r:embed="rId3">
            <a:alphaModFix/>
          </a:blip>
          <a:stretch>
            <a:fillRect/>
          </a:stretch>
        </p:blipFill>
        <p:spPr>
          <a:xfrm>
            <a:off x="294975" y="2002250"/>
            <a:ext cx="835725" cy="835725"/>
          </a:xfrm>
          <a:prstGeom prst="rect">
            <a:avLst/>
          </a:prstGeom>
          <a:noFill/>
          <a:ln>
            <a:noFill/>
          </a:ln>
        </p:spPr>
      </p:pic>
      <p:sp>
        <p:nvSpPr>
          <p:cNvPr id="182" name="Google Shape;182;p40"/>
          <p:cNvSpPr/>
          <p:nvPr/>
        </p:nvSpPr>
        <p:spPr>
          <a:xfrm>
            <a:off x="1200574" y="2254250"/>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sp>
        <p:nvSpPr>
          <p:cNvPr id="183" name="Google Shape;183;p40"/>
          <p:cNvSpPr/>
          <p:nvPr/>
        </p:nvSpPr>
        <p:spPr>
          <a:xfrm>
            <a:off x="1819150" y="1922110"/>
            <a:ext cx="875100" cy="996000"/>
          </a:xfrm>
          <a:prstGeom prst="roundRect">
            <a:avLst>
              <a:gd fmla="val 16667" name="adj"/>
            </a:avLst>
          </a:prstGeom>
          <a:noFill/>
          <a:ln cap="flat" cmpd="sng" w="9525">
            <a:solidFill>
              <a:srgbClr val="1218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 name="Google Shape;184;p40"/>
          <p:cNvSpPr txBox="1"/>
          <p:nvPr/>
        </p:nvSpPr>
        <p:spPr>
          <a:xfrm>
            <a:off x="1776096" y="2220400"/>
            <a:ext cx="9612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SDR Call Guidance Prompt</a:t>
            </a:r>
            <a:endParaRPr sz="700">
              <a:solidFill>
                <a:srgbClr val="475067"/>
              </a:solidFill>
            </a:endParaRPr>
          </a:p>
        </p:txBody>
      </p:sp>
      <p:sp>
        <p:nvSpPr>
          <p:cNvPr id="185" name="Google Shape;185;p40"/>
          <p:cNvSpPr/>
          <p:nvPr/>
        </p:nvSpPr>
        <p:spPr>
          <a:xfrm>
            <a:off x="2764124" y="2254250"/>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sp>
        <p:nvSpPr>
          <p:cNvPr id="186" name="Google Shape;186;p40"/>
          <p:cNvSpPr txBox="1"/>
          <p:nvPr/>
        </p:nvSpPr>
        <p:spPr>
          <a:xfrm>
            <a:off x="4062848" y="4186525"/>
            <a:ext cx="25305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Extracting the scoring, reasoning across 8 call guidance criteria</a:t>
            </a:r>
            <a:endParaRPr sz="600">
              <a:solidFill>
                <a:srgbClr val="475067"/>
              </a:solidFill>
            </a:endParaRPr>
          </a:p>
        </p:txBody>
      </p:sp>
      <p:sp>
        <p:nvSpPr>
          <p:cNvPr id="187" name="Google Shape;187;p40"/>
          <p:cNvSpPr txBox="1"/>
          <p:nvPr/>
        </p:nvSpPr>
        <p:spPr>
          <a:xfrm>
            <a:off x="124675" y="103000"/>
            <a:ext cx="1517700" cy="26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500"/>
          </a:p>
        </p:txBody>
      </p:sp>
      <p:sp>
        <p:nvSpPr>
          <p:cNvPr id="188" name="Google Shape;188;p40"/>
          <p:cNvSpPr/>
          <p:nvPr/>
        </p:nvSpPr>
        <p:spPr>
          <a:xfrm>
            <a:off x="7294874" y="2295013"/>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pic>
        <p:nvPicPr>
          <p:cNvPr id="189" name="Google Shape;189;p40"/>
          <p:cNvPicPr preferRelativeResize="0"/>
          <p:nvPr/>
        </p:nvPicPr>
        <p:blipFill>
          <a:blip r:embed="rId4">
            <a:alphaModFix/>
          </a:blip>
          <a:stretch>
            <a:fillRect/>
          </a:stretch>
        </p:blipFill>
        <p:spPr>
          <a:xfrm>
            <a:off x="8005550" y="1897175"/>
            <a:ext cx="915549" cy="915549"/>
          </a:xfrm>
          <a:prstGeom prst="rect">
            <a:avLst/>
          </a:prstGeom>
          <a:noFill/>
          <a:ln>
            <a:noFill/>
          </a:ln>
        </p:spPr>
      </p:pic>
      <p:sp>
        <p:nvSpPr>
          <p:cNvPr id="190" name="Google Shape;190;p40"/>
          <p:cNvSpPr txBox="1"/>
          <p:nvPr/>
        </p:nvSpPr>
        <p:spPr>
          <a:xfrm>
            <a:off x="7814700" y="2863525"/>
            <a:ext cx="12378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Individual scores (0,1) per call per agent</a:t>
            </a:r>
            <a:endParaRPr sz="700">
              <a:solidFill>
                <a:srgbClr val="475067"/>
              </a:solidFill>
            </a:endParaRPr>
          </a:p>
        </p:txBody>
      </p:sp>
      <p:sp>
        <p:nvSpPr>
          <p:cNvPr id="191" name="Google Shape;191;p40"/>
          <p:cNvSpPr/>
          <p:nvPr/>
        </p:nvSpPr>
        <p:spPr>
          <a:xfrm>
            <a:off x="3522800" y="1078925"/>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Agent Name</a:t>
            </a:r>
            <a:endParaRPr b="1" sz="700"/>
          </a:p>
          <a:p>
            <a:pPr indent="0" lvl="0" marL="0" rtl="0" algn="l">
              <a:spcBef>
                <a:spcPts val="0"/>
              </a:spcBef>
              <a:spcAft>
                <a:spcPts val="0"/>
              </a:spcAft>
              <a:buNone/>
            </a:pPr>
            <a:r>
              <a:rPr lang="en" sz="700"/>
              <a:t>Did the Agent introduce themselves by name?</a:t>
            </a:r>
            <a:endParaRPr sz="700"/>
          </a:p>
        </p:txBody>
      </p:sp>
      <p:sp>
        <p:nvSpPr>
          <p:cNvPr id="192" name="Google Shape;192;p40"/>
          <p:cNvSpPr/>
          <p:nvPr/>
        </p:nvSpPr>
        <p:spPr>
          <a:xfrm>
            <a:off x="5276475" y="1078925"/>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User (Customer) Name</a:t>
            </a:r>
            <a:endParaRPr b="1" sz="700"/>
          </a:p>
          <a:p>
            <a:pPr indent="0" lvl="0" marL="0" rtl="0" algn="l">
              <a:spcBef>
                <a:spcPts val="0"/>
              </a:spcBef>
              <a:spcAft>
                <a:spcPts val="0"/>
              </a:spcAft>
              <a:buNone/>
            </a:pPr>
            <a:r>
              <a:rPr lang="en" sz="700"/>
              <a:t>Did the Agent greet the User by name?</a:t>
            </a:r>
            <a:endParaRPr sz="700"/>
          </a:p>
        </p:txBody>
      </p:sp>
      <p:sp>
        <p:nvSpPr>
          <p:cNvPr id="193" name="Google Shape;193;p40"/>
          <p:cNvSpPr/>
          <p:nvPr/>
        </p:nvSpPr>
        <p:spPr>
          <a:xfrm>
            <a:off x="3522800" y="1855825"/>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Calling Organization</a:t>
            </a:r>
            <a:endParaRPr b="1" sz="700"/>
          </a:p>
          <a:p>
            <a:pPr indent="0" lvl="0" marL="0" rtl="0" algn="l">
              <a:spcBef>
                <a:spcPts val="0"/>
              </a:spcBef>
              <a:spcAft>
                <a:spcPts val="0"/>
              </a:spcAft>
              <a:buNone/>
            </a:pPr>
            <a:r>
              <a:rPr lang="en" sz="700"/>
              <a:t>Did the Agent mention calling from CompareMortgages or MonMeilleurTaux explicitly?</a:t>
            </a:r>
            <a:endParaRPr sz="700"/>
          </a:p>
        </p:txBody>
      </p:sp>
      <p:sp>
        <p:nvSpPr>
          <p:cNvPr id="194" name="Google Shape;194;p40"/>
          <p:cNvSpPr/>
          <p:nvPr/>
        </p:nvSpPr>
        <p:spPr>
          <a:xfrm>
            <a:off x="5276475" y="1855825"/>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Reason For Call</a:t>
            </a:r>
            <a:endParaRPr b="1" sz="700"/>
          </a:p>
          <a:p>
            <a:pPr indent="0" lvl="0" marL="0" rtl="0" algn="l">
              <a:spcBef>
                <a:spcPts val="0"/>
              </a:spcBef>
              <a:spcAft>
                <a:spcPts val="0"/>
              </a:spcAft>
              <a:buNone/>
            </a:pPr>
            <a:r>
              <a:rPr lang="en" sz="700"/>
              <a:t>Did the Agent mention the reason for calling is regarding an inquiry started on the website?</a:t>
            </a:r>
            <a:endParaRPr sz="700"/>
          </a:p>
        </p:txBody>
      </p:sp>
      <p:sp>
        <p:nvSpPr>
          <p:cNvPr id="195" name="Google Shape;195;p40"/>
          <p:cNvSpPr/>
          <p:nvPr/>
        </p:nvSpPr>
        <p:spPr>
          <a:xfrm>
            <a:off x="3530425" y="2632713"/>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Mortgage Need</a:t>
            </a:r>
            <a:endParaRPr b="1" sz="700"/>
          </a:p>
          <a:p>
            <a:pPr indent="0" lvl="0" marL="0" rtl="0" algn="l">
              <a:spcBef>
                <a:spcPts val="0"/>
              </a:spcBef>
              <a:spcAft>
                <a:spcPts val="0"/>
              </a:spcAft>
              <a:buNone/>
            </a:pPr>
            <a:r>
              <a:rPr lang="en" sz="700"/>
              <a:t>Did the Agent understand the User's mortgage situation?</a:t>
            </a:r>
            <a:endParaRPr sz="700"/>
          </a:p>
        </p:txBody>
      </p:sp>
      <p:sp>
        <p:nvSpPr>
          <p:cNvPr id="196" name="Google Shape;196;p40"/>
          <p:cNvSpPr/>
          <p:nvPr/>
        </p:nvSpPr>
        <p:spPr>
          <a:xfrm>
            <a:off x="5284100" y="2632713"/>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Mortgage Timeframe</a:t>
            </a:r>
            <a:endParaRPr b="1" sz="700"/>
          </a:p>
          <a:p>
            <a:pPr indent="0" lvl="0" marL="0" rtl="0" algn="l">
              <a:spcBef>
                <a:spcPts val="0"/>
              </a:spcBef>
              <a:spcAft>
                <a:spcPts val="0"/>
              </a:spcAft>
              <a:buNone/>
            </a:pPr>
            <a:r>
              <a:rPr lang="en" sz="700"/>
              <a:t>Did the Agent verify the User's likely timeframe for getting a mortgage?</a:t>
            </a:r>
            <a:endParaRPr sz="700"/>
          </a:p>
        </p:txBody>
      </p:sp>
      <p:sp>
        <p:nvSpPr>
          <p:cNvPr id="197" name="Google Shape;197;p40"/>
          <p:cNvSpPr/>
          <p:nvPr/>
        </p:nvSpPr>
        <p:spPr>
          <a:xfrm>
            <a:off x="3530425" y="3409613"/>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Credit Score</a:t>
            </a:r>
            <a:endParaRPr b="1" sz="700"/>
          </a:p>
          <a:p>
            <a:pPr indent="0" lvl="0" marL="0" rtl="0" algn="l">
              <a:spcBef>
                <a:spcPts val="0"/>
              </a:spcBef>
              <a:spcAft>
                <a:spcPts val="0"/>
              </a:spcAft>
              <a:buNone/>
            </a:pPr>
            <a:r>
              <a:rPr lang="en" sz="700"/>
              <a:t>Did the Agent ask the User whether they knew their credit score?</a:t>
            </a:r>
            <a:endParaRPr sz="700"/>
          </a:p>
        </p:txBody>
      </p:sp>
      <p:sp>
        <p:nvSpPr>
          <p:cNvPr id="198" name="Google Shape;198;p40"/>
          <p:cNvSpPr/>
          <p:nvPr/>
        </p:nvSpPr>
        <p:spPr>
          <a:xfrm>
            <a:off x="5284100" y="3409613"/>
            <a:ext cx="1694400" cy="6894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 sz="700"/>
              <a:t>Next Steps</a:t>
            </a:r>
            <a:endParaRPr b="1" sz="700"/>
          </a:p>
          <a:p>
            <a:pPr indent="0" lvl="0" marL="0" rtl="0" algn="l">
              <a:spcBef>
                <a:spcPts val="0"/>
              </a:spcBef>
              <a:spcAft>
                <a:spcPts val="0"/>
              </a:spcAft>
              <a:buNone/>
            </a:pPr>
            <a:r>
              <a:rPr lang="en" sz="700"/>
              <a:t>Did the Agent discuss or clearly communicate next steps at any point in the call?</a:t>
            </a:r>
            <a:endParaRPr sz="700"/>
          </a:p>
        </p:txBody>
      </p:sp>
      <p:sp>
        <p:nvSpPr>
          <p:cNvPr id="199" name="Google Shape;199;p40"/>
          <p:cNvSpPr txBox="1"/>
          <p:nvPr/>
        </p:nvSpPr>
        <p:spPr>
          <a:xfrm>
            <a:off x="175999" y="2842875"/>
            <a:ext cx="10737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Transcribed Call Transcripts</a:t>
            </a:r>
            <a:endParaRPr sz="600">
              <a:solidFill>
                <a:srgbClr val="475067"/>
              </a:solidFill>
            </a:endParaRPr>
          </a:p>
        </p:txBody>
      </p:sp>
      <p:sp>
        <p:nvSpPr>
          <p:cNvPr id="200" name="Google Shape;200;p40"/>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Prompt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41"/>
          <p:cNvPicPr preferRelativeResize="0"/>
          <p:nvPr/>
        </p:nvPicPr>
        <p:blipFill>
          <a:blip r:embed="rId3">
            <a:alphaModFix/>
          </a:blip>
          <a:stretch>
            <a:fillRect/>
          </a:stretch>
        </p:blipFill>
        <p:spPr>
          <a:xfrm>
            <a:off x="2663975" y="1021100"/>
            <a:ext cx="4460099" cy="3476449"/>
          </a:xfrm>
          <a:prstGeom prst="rect">
            <a:avLst/>
          </a:prstGeom>
          <a:noFill/>
          <a:ln cap="flat" cmpd="sng" w="9525">
            <a:solidFill>
              <a:schemeClr val="dk1"/>
            </a:solidFill>
            <a:prstDash val="solid"/>
            <a:round/>
            <a:headEnd len="sm" w="sm" type="none"/>
            <a:tailEnd len="sm" w="sm" type="none"/>
          </a:ln>
        </p:spPr>
      </p:pic>
      <p:sp>
        <p:nvSpPr>
          <p:cNvPr id="206" name="Google Shape;206;p41"/>
          <p:cNvSpPr/>
          <p:nvPr/>
        </p:nvSpPr>
        <p:spPr>
          <a:xfrm>
            <a:off x="7396000" y="2804000"/>
            <a:ext cx="1354500" cy="399900"/>
          </a:xfrm>
          <a:prstGeom prst="roundRect">
            <a:avLst>
              <a:gd fmla="val 16667" name="adj"/>
            </a:avLst>
          </a:prstGeom>
          <a:solidFill>
            <a:srgbClr val="FF9900"/>
          </a:solidFill>
          <a:ln cap="flat" cmpd="sng" w="9525">
            <a:solidFill>
              <a:srgbClr val="12184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800"/>
              <a:t>Credit Score / Next Steps</a:t>
            </a:r>
            <a:endParaRPr sz="800"/>
          </a:p>
        </p:txBody>
      </p:sp>
      <p:sp>
        <p:nvSpPr>
          <p:cNvPr id="207" name="Google Shape;207;p41"/>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Prompt </a:t>
            </a:r>
            <a:endParaRPr/>
          </a:p>
        </p:txBody>
      </p:sp>
      <p:sp>
        <p:nvSpPr>
          <p:cNvPr id="208" name="Google Shape;208;p41"/>
          <p:cNvSpPr/>
          <p:nvPr/>
        </p:nvSpPr>
        <p:spPr>
          <a:xfrm>
            <a:off x="5898800" y="638025"/>
            <a:ext cx="2202300" cy="450900"/>
          </a:xfrm>
          <a:prstGeom prst="roundRect">
            <a:avLst>
              <a:gd fmla="val 16667" name="adj"/>
            </a:avLst>
          </a:prstGeom>
          <a:solidFill>
            <a:srgbClr val="DBF2FA"/>
          </a:solidFill>
          <a:ln cap="flat" cmpd="sng" w="9525">
            <a:solidFill>
              <a:srgbClr val="12184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800"/>
              <a:t>Agent Name / Customer Name / Calling Organization / Reason For Calling</a:t>
            </a:r>
            <a:endParaRPr sz="800"/>
          </a:p>
        </p:txBody>
      </p:sp>
      <p:cxnSp>
        <p:nvCxnSpPr>
          <p:cNvPr id="209" name="Google Shape;209;p41"/>
          <p:cNvCxnSpPr>
            <a:stCxn id="208" idx="1"/>
          </p:cNvCxnSpPr>
          <p:nvPr/>
        </p:nvCxnSpPr>
        <p:spPr>
          <a:xfrm flipH="1">
            <a:off x="5431400" y="863475"/>
            <a:ext cx="467400" cy="679200"/>
          </a:xfrm>
          <a:prstGeom prst="straightConnector1">
            <a:avLst/>
          </a:prstGeom>
          <a:noFill/>
          <a:ln cap="flat" cmpd="sng" w="9525">
            <a:solidFill>
              <a:srgbClr val="294489"/>
            </a:solidFill>
            <a:prstDash val="solid"/>
            <a:round/>
            <a:headEnd len="med" w="med" type="none"/>
            <a:tailEnd len="med" w="med" type="triangle"/>
          </a:ln>
        </p:spPr>
      </p:cxnSp>
      <p:sp>
        <p:nvSpPr>
          <p:cNvPr id="210" name="Google Shape;210;p41"/>
          <p:cNvSpPr/>
          <p:nvPr/>
        </p:nvSpPr>
        <p:spPr>
          <a:xfrm>
            <a:off x="2808975" y="1573475"/>
            <a:ext cx="3687900" cy="4509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41"/>
          <p:cNvSpPr/>
          <p:nvPr/>
        </p:nvSpPr>
        <p:spPr>
          <a:xfrm>
            <a:off x="426825" y="2027175"/>
            <a:ext cx="1929300" cy="399900"/>
          </a:xfrm>
          <a:prstGeom prst="roundRect">
            <a:avLst>
              <a:gd fmla="val 16667" name="adj"/>
            </a:avLst>
          </a:prstGeom>
          <a:solidFill>
            <a:srgbClr val="D9D2E9"/>
          </a:solidFill>
          <a:ln cap="flat" cmpd="sng" w="9525">
            <a:solidFill>
              <a:srgbClr val="12184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800"/>
              <a:t>Mortgage Need / Mortgage Timeframe</a:t>
            </a:r>
            <a:endParaRPr sz="800"/>
          </a:p>
        </p:txBody>
      </p:sp>
      <p:sp>
        <p:nvSpPr>
          <p:cNvPr id="212" name="Google Shape;212;p41"/>
          <p:cNvSpPr/>
          <p:nvPr/>
        </p:nvSpPr>
        <p:spPr>
          <a:xfrm>
            <a:off x="3660825" y="2414400"/>
            <a:ext cx="2836200" cy="130800"/>
          </a:xfrm>
          <a:prstGeom prst="rect">
            <a:avLst/>
          </a:prstGeom>
          <a:no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650C4C"/>
              </a:solidFill>
            </a:endParaRPr>
          </a:p>
        </p:txBody>
      </p:sp>
      <p:cxnSp>
        <p:nvCxnSpPr>
          <p:cNvPr id="213" name="Google Shape;213;p41"/>
          <p:cNvCxnSpPr>
            <a:stCxn id="211" idx="3"/>
            <a:endCxn id="212" idx="1"/>
          </p:cNvCxnSpPr>
          <p:nvPr/>
        </p:nvCxnSpPr>
        <p:spPr>
          <a:xfrm>
            <a:off x="2356125" y="2227125"/>
            <a:ext cx="1304700" cy="252600"/>
          </a:xfrm>
          <a:prstGeom prst="straightConnector1">
            <a:avLst/>
          </a:prstGeom>
          <a:noFill/>
          <a:ln cap="flat" cmpd="sng" w="9525">
            <a:solidFill>
              <a:srgbClr val="294489"/>
            </a:solidFill>
            <a:prstDash val="solid"/>
            <a:round/>
            <a:headEnd len="med" w="med" type="none"/>
            <a:tailEnd len="med" w="med" type="triangle"/>
          </a:ln>
        </p:spPr>
      </p:cxnSp>
      <p:sp>
        <p:nvSpPr>
          <p:cNvPr id="214" name="Google Shape;214;p41"/>
          <p:cNvSpPr/>
          <p:nvPr/>
        </p:nvSpPr>
        <p:spPr>
          <a:xfrm>
            <a:off x="2808975" y="3105950"/>
            <a:ext cx="4200000" cy="450900"/>
          </a:xfrm>
          <a:prstGeom prst="rect">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215" name="Google Shape;215;p41"/>
          <p:cNvCxnSpPr>
            <a:stCxn id="206" idx="1"/>
            <a:endCxn id="214" idx="3"/>
          </p:cNvCxnSpPr>
          <p:nvPr/>
        </p:nvCxnSpPr>
        <p:spPr>
          <a:xfrm flipH="1">
            <a:off x="7009000" y="3003950"/>
            <a:ext cx="387000" cy="327600"/>
          </a:xfrm>
          <a:prstGeom prst="straightConnector1">
            <a:avLst/>
          </a:prstGeom>
          <a:noFill/>
          <a:ln cap="flat" cmpd="sng" w="9525">
            <a:solidFill>
              <a:srgbClr val="294489"/>
            </a:solidFill>
            <a:prstDash val="solid"/>
            <a:round/>
            <a:headEnd len="med" w="med" type="none"/>
            <a:tailEnd len="med" w="med" type="triangle"/>
          </a:ln>
        </p:spPr>
      </p:cxnSp>
      <p:cxnSp>
        <p:nvCxnSpPr>
          <p:cNvPr id="216" name="Google Shape;216;p41"/>
          <p:cNvCxnSpPr>
            <a:stCxn id="206" idx="1"/>
          </p:cNvCxnSpPr>
          <p:nvPr/>
        </p:nvCxnSpPr>
        <p:spPr>
          <a:xfrm flipH="1">
            <a:off x="6793300" y="3003950"/>
            <a:ext cx="602700" cy="931800"/>
          </a:xfrm>
          <a:prstGeom prst="straightConnector1">
            <a:avLst/>
          </a:prstGeom>
          <a:noFill/>
          <a:ln cap="flat" cmpd="sng" w="9525">
            <a:solidFill>
              <a:srgbClr val="294489"/>
            </a:solidFill>
            <a:prstDash val="solid"/>
            <a:round/>
            <a:headEnd len="med" w="med" type="none"/>
            <a:tailEnd len="med" w="med" type="triangle"/>
          </a:ln>
        </p:spPr>
      </p:cxnSp>
      <p:sp>
        <p:nvSpPr>
          <p:cNvPr id="217" name="Google Shape;217;p41"/>
          <p:cNvSpPr/>
          <p:nvPr/>
        </p:nvSpPr>
        <p:spPr>
          <a:xfrm>
            <a:off x="2767275" y="3910725"/>
            <a:ext cx="4200000" cy="450900"/>
          </a:xfrm>
          <a:prstGeom prst="rect">
            <a:avLst/>
          </a:prstGeom>
          <a:noFill/>
          <a:ln cap="flat" cmpd="sng" w="952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2"/>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Call Campaigns</a:t>
            </a:r>
            <a:endParaRPr/>
          </a:p>
        </p:txBody>
      </p:sp>
      <p:pic>
        <p:nvPicPr>
          <p:cNvPr id="223" name="Google Shape;223;p42"/>
          <p:cNvPicPr preferRelativeResize="0"/>
          <p:nvPr/>
        </p:nvPicPr>
        <p:blipFill>
          <a:blip r:embed="rId3">
            <a:alphaModFix/>
          </a:blip>
          <a:stretch>
            <a:fillRect/>
          </a:stretch>
        </p:blipFill>
        <p:spPr>
          <a:xfrm>
            <a:off x="2764150" y="1104325"/>
            <a:ext cx="4042956" cy="3853850"/>
          </a:xfrm>
          <a:prstGeom prst="rect">
            <a:avLst/>
          </a:prstGeom>
          <a:noFill/>
          <a:ln>
            <a:noFill/>
          </a:ln>
        </p:spPr>
      </p:pic>
      <p:sp>
        <p:nvSpPr>
          <p:cNvPr id="224" name="Google Shape;224;p42"/>
          <p:cNvSpPr txBox="1"/>
          <p:nvPr/>
        </p:nvSpPr>
        <p:spPr>
          <a:xfrm>
            <a:off x="178800" y="3777675"/>
            <a:ext cx="21897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900">
                <a:latin typeface="Inter"/>
                <a:ea typeface="Inter"/>
                <a:cs typeface="Inter"/>
                <a:sym typeface="Inter"/>
              </a:rPr>
              <a:t>10 campaigns for Segments 1-3 with first and nth dials (EN/FR)</a:t>
            </a:r>
            <a:endParaRPr sz="900">
              <a:latin typeface="Inter"/>
              <a:ea typeface="Inter"/>
              <a:cs typeface="Inter"/>
              <a:sym typeface="Inter"/>
            </a:endParaRPr>
          </a:p>
          <a:p>
            <a:pPr indent="0" lvl="0" marL="0" rtl="0" algn="l">
              <a:spcBef>
                <a:spcPts val="0"/>
              </a:spcBef>
              <a:spcAft>
                <a:spcPts val="0"/>
              </a:spcAft>
              <a:buNone/>
            </a:pPr>
            <a:r>
              <a:t/>
            </a:r>
            <a:endParaRPr sz="900">
              <a:latin typeface="Inter"/>
              <a:ea typeface="Inter"/>
              <a:cs typeface="Inter"/>
              <a:sym typeface="Inter"/>
            </a:endParaRPr>
          </a:p>
          <a:p>
            <a:pPr indent="0" lvl="0" marL="0" rtl="0" algn="l">
              <a:spcBef>
                <a:spcPts val="0"/>
              </a:spcBef>
              <a:spcAft>
                <a:spcPts val="0"/>
              </a:spcAft>
              <a:buNone/>
            </a:pPr>
            <a:r>
              <a:rPr lang="en" sz="900">
                <a:latin typeface="Inter"/>
                <a:ea typeface="Inter"/>
                <a:cs typeface="Inter"/>
                <a:sym typeface="Inter"/>
              </a:rPr>
              <a:t>SDRs outbound: Segment 1 through3 EN/FR (6 campaigns), and Compre Mortgage EN/FR (10 campaigns).</a:t>
            </a:r>
            <a:endParaRPr sz="900">
              <a:latin typeface="Inter"/>
              <a:ea typeface="Inter"/>
              <a:cs typeface="Inter"/>
              <a:sym typeface="Inter"/>
            </a:endParaRPr>
          </a:p>
        </p:txBody>
      </p:sp>
      <p:sp>
        <p:nvSpPr>
          <p:cNvPr id="225" name="Google Shape;225;p42"/>
          <p:cNvSpPr/>
          <p:nvPr/>
        </p:nvSpPr>
        <p:spPr>
          <a:xfrm>
            <a:off x="2625675" y="2356100"/>
            <a:ext cx="4275600" cy="323400"/>
          </a:xfrm>
          <a:prstGeom prst="rect">
            <a:avLst/>
          </a:prstGeom>
          <a:noFill/>
          <a:ln cap="flat" cmpd="sng" w="9525">
            <a:solidFill>
              <a:srgbClr val="76CCE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3"/>
          <p:cNvSpPr/>
          <p:nvPr/>
        </p:nvSpPr>
        <p:spPr>
          <a:xfrm>
            <a:off x="733225" y="153750"/>
            <a:ext cx="4631400" cy="483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650"/>
              <a:t>Below is a phone conversation transcript between a "User" and a "Agent" of an online mortgage lending company in Canada called Nesto. The "Agent" in the transcription is Sales Development Representative making an outbound call to a customer or potential lead under the alias CompareMortgages or MonMeilleurTaux. The Agents's goal is to gather initial information and connect the client to a Nesto mortgage advisor that can provide an estimate on rates and next steps.</a:t>
            </a:r>
            <a:endParaRPr sz="650"/>
          </a:p>
          <a:p>
            <a:pPr indent="0" lvl="0" marL="0" rtl="0" algn="l">
              <a:spcBef>
                <a:spcPts val="0"/>
              </a:spcBef>
              <a:spcAft>
                <a:spcPts val="0"/>
              </a:spcAft>
              <a:buNone/>
            </a:pPr>
            <a:r>
              <a:t/>
            </a:r>
            <a:endParaRPr sz="650"/>
          </a:p>
          <a:p>
            <a:pPr indent="0" lvl="0" marL="0" rtl="0" algn="l">
              <a:spcBef>
                <a:spcPts val="0"/>
              </a:spcBef>
              <a:spcAft>
                <a:spcPts val="0"/>
              </a:spcAft>
              <a:buNone/>
            </a:pPr>
            <a:r>
              <a:rPr lang="en" sz="650"/>
              <a:t>&lt;conversation_transcript&gt;</a:t>
            </a:r>
            <a:endParaRPr sz="650"/>
          </a:p>
          <a:p>
            <a:pPr indent="0" lvl="0" marL="0" rtl="0" algn="l">
              <a:spcBef>
                <a:spcPts val="0"/>
              </a:spcBef>
              <a:spcAft>
                <a:spcPts val="0"/>
              </a:spcAft>
              <a:buNone/>
            </a:pPr>
            <a:r>
              <a:rPr lang="en" sz="650"/>
              <a:t>{{ conversation }}</a:t>
            </a:r>
            <a:endParaRPr sz="650"/>
          </a:p>
          <a:p>
            <a:pPr indent="0" lvl="0" marL="0" rtl="0" algn="l">
              <a:spcBef>
                <a:spcPts val="0"/>
              </a:spcBef>
              <a:spcAft>
                <a:spcPts val="0"/>
              </a:spcAft>
              <a:buNone/>
            </a:pPr>
            <a:r>
              <a:rPr lang="en" sz="650"/>
              <a:t>&lt;/conversation_transcript&gt;</a:t>
            </a:r>
            <a:endParaRPr sz="650"/>
          </a:p>
          <a:p>
            <a:pPr indent="0" lvl="0" marL="0" rtl="0" algn="l">
              <a:spcBef>
                <a:spcPts val="0"/>
              </a:spcBef>
              <a:spcAft>
                <a:spcPts val="0"/>
              </a:spcAft>
              <a:buNone/>
            </a:pPr>
            <a:r>
              <a:t/>
            </a:r>
            <a:endParaRPr sz="650"/>
          </a:p>
          <a:p>
            <a:pPr indent="0" lvl="0" marL="0" rtl="0" algn="l">
              <a:spcBef>
                <a:spcPts val="0"/>
              </a:spcBef>
              <a:spcAft>
                <a:spcPts val="0"/>
              </a:spcAft>
              <a:buNone/>
            </a:pPr>
            <a:r>
              <a:rPr lang="en" sz="650"/>
              <a:t>Your job is to evaluate whether the Agent in the conversation correctly followed each of the pieces of outbound sales call guidance. Provide your reasoning with a key value of reasoning and give a value of only 0 or 1 for each of the following keys.</a:t>
            </a:r>
            <a:endParaRPr sz="650"/>
          </a:p>
          <a:p>
            <a:pPr indent="0" lvl="0" marL="0" rtl="0" algn="l">
              <a:spcBef>
                <a:spcPts val="0"/>
              </a:spcBef>
              <a:spcAft>
                <a:spcPts val="0"/>
              </a:spcAft>
              <a:buNone/>
            </a:pPr>
            <a:r>
              <a:t/>
            </a:r>
            <a:endParaRPr sz="650"/>
          </a:p>
          <a:p>
            <a:pPr indent="0" lvl="0" marL="0" rtl="0" algn="l">
              <a:spcBef>
                <a:spcPts val="0"/>
              </a:spcBef>
              <a:spcAft>
                <a:spcPts val="0"/>
              </a:spcAft>
              <a:buNone/>
            </a:pPr>
            <a:r>
              <a:rPr lang="en" sz="650"/>
              <a:t>The call guidance is phrases as the key_value, then the key question to be answered, followed by additional guidance in brackets.</a:t>
            </a:r>
            <a:endParaRPr sz="650"/>
          </a:p>
          <a:p>
            <a:pPr indent="0" lvl="0" marL="0" rtl="0" algn="l">
              <a:spcBef>
                <a:spcPts val="0"/>
              </a:spcBef>
              <a:spcAft>
                <a:spcPts val="0"/>
              </a:spcAft>
              <a:buNone/>
            </a:pPr>
            <a:r>
              <a:t/>
            </a:r>
            <a:endParaRPr sz="650"/>
          </a:p>
          <a:p>
            <a:pPr indent="0" lvl="0" marL="0" rtl="0" algn="l">
              <a:spcBef>
                <a:spcPts val="0"/>
              </a:spcBef>
              <a:spcAft>
                <a:spcPts val="0"/>
              </a:spcAft>
              <a:buNone/>
            </a:pPr>
            <a:r>
              <a:rPr lang="en" sz="650"/>
              <a:t>&lt;call_guidance&gt;</a:t>
            </a:r>
            <a:endParaRPr sz="650"/>
          </a:p>
          <a:p>
            <a:pPr indent="0" lvl="0" marL="0" rtl="0" algn="l">
              <a:spcBef>
                <a:spcPts val="0"/>
              </a:spcBef>
              <a:spcAft>
                <a:spcPts val="0"/>
              </a:spcAft>
              <a:buNone/>
            </a:pPr>
            <a:r>
              <a:rPr lang="en" sz="650"/>
              <a:t>agent_name: Did the Agent introduce themselves by name?</a:t>
            </a:r>
            <a:endParaRPr sz="650"/>
          </a:p>
          <a:p>
            <a:pPr indent="0" lvl="0" marL="0" rtl="0" algn="l">
              <a:spcBef>
                <a:spcPts val="0"/>
              </a:spcBef>
              <a:spcAft>
                <a:spcPts val="0"/>
              </a:spcAft>
              <a:buNone/>
            </a:pPr>
            <a:r>
              <a:rPr lang="en" sz="650"/>
              <a:t>user_name: Did the Agent greet the User by name?</a:t>
            </a:r>
            <a:endParaRPr sz="650"/>
          </a:p>
          <a:p>
            <a:pPr indent="0" lvl="0" marL="0" rtl="0" algn="l">
              <a:spcBef>
                <a:spcPts val="0"/>
              </a:spcBef>
              <a:spcAft>
                <a:spcPts val="0"/>
              </a:spcAft>
              <a:buNone/>
            </a:pPr>
            <a:r>
              <a:rPr lang="en" sz="650"/>
              <a:t>calling_organization: Did the Agent mention calling from CompareMortgages or MonMeilleurTaux explicitly?</a:t>
            </a:r>
            <a:endParaRPr sz="650"/>
          </a:p>
          <a:p>
            <a:pPr indent="0" lvl="0" marL="0" rtl="0" algn="l">
              <a:spcBef>
                <a:spcPts val="0"/>
              </a:spcBef>
              <a:spcAft>
                <a:spcPts val="0"/>
              </a:spcAft>
              <a:buNone/>
            </a:pPr>
            <a:r>
              <a:rPr lang="en" sz="650"/>
              <a:t>reason_for_call: Did the Agent mention the reason for calling is regarding an inquiry started on the website? (The agent must mention both the inquiry and how the User started their inquiry for instance online, web or website to be scored as 1)</a:t>
            </a:r>
            <a:endParaRPr sz="650"/>
          </a:p>
          <a:p>
            <a:pPr indent="0" lvl="0" marL="0" rtl="0" algn="l">
              <a:spcBef>
                <a:spcPts val="0"/>
              </a:spcBef>
              <a:spcAft>
                <a:spcPts val="0"/>
              </a:spcAft>
              <a:buNone/>
            </a:pPr>
            <a:r>
              <a:rPr lang="en" sz="650"/>
              <a:t>mortgage_need: Did the Agent understand the User's mortgage situation? (The user mentioning or the agent inquiring their mortgage situation such as purchasing a home, looking for a new mortgage, renewing, refinancing is to be scored as 1)</a:t>
            </a:r>
            <a:endParaRPr sz="650"/>
          </a:p>
          <a:p>
            <a:pPr indent="0" lvl="0" marL="0" rtl="0" algn="l">
              <a:spcBef>
                <a:spcPts val="0"/>
              </a:spcBef>
              <a:spcAft>
                <a:spcPts val="0"/>
              </a:spcAft>
              <a:buNone/>
            </a:pPr>
            <a:r>
              <a:rPr lang="en" sz="650"/>
              <a:t>mortgage_timeframe: Did the Agent verify the User's likely timeframe for getting a mortgage?</a:t>
            </a:r>
            <a:endParaRPr sz="650"/>
          </a:p>
          <a:p>
            <a:pPr indent="0" lvl="0" marL="0" rtl="0" algn="l">
              <a:spcBef>
                <a:spcPts val="0"/>
              </a:spcBef>
              <a:spcAft>
                <a:spcPts val="0"/>
              </a:spcAft>
              <a:buNone/>
            </a:pPr>
            <a:r>
              <a:rPr lang="en" sz="650"/>
              <a:t>credit_score: Did the Agent ask the User whether they knew their credit score?</a:t>
            </a:r>
            <a:endParaRPr sz="650"/>
          </a:p>
          <a:p>
            <a:pPr indent="0" lvl="0" marL="0" rtl="0" algn="l">
              <a:spcBef>
                <a:spcPts val="0"/>
              </a:spcBef>
              <a:spcAft>
                <a:spcPts val="0"/>
              </a:spcAft>
              <a:buNone/>
            </a:pPr>
            <a:r>
              <a:rPr lang="en" sz="650"/>
              <a:t>next_steps: Did the Agent discuss or clearly communicate next steps at any point in the call? (Setting up any follow up action such as a call back or a transfer is to be scored as a 1)</a:t>
            </a:r>
            <a:endParaRPr sz="650"/>
          </a:p>
          <a:p>
            <a:pPr indent="0" lvl="0" marL="0" rtl="0" algn="l">
              <a:spcBef>
                <a:spcPts val="0"/>
              </a:spcBef>
              <a:spcAft>
                <a:spcPts val="0"/>
              </a:spcAft>
              <a:buNone/>
            </a:pPr>
            <a:r>
              <a:rPr lang="en" sz="650"/>
              <a:t>&lt;/call_guidance&gt;</a:t>
            </a:r>
            <a:endParaRPr sz="650"/>
          </a:p>
          <a:p>
            <a:pPr indent="0" lvl="0" marL="0" rtl="0" algn="l">
              <a:spcBef>
                <a:spcPts val="0"/>
              </a:spcBef>
              <a:spcAft>
                <a:spcPts val="0"/>
              </a:spcAft>
              <a:buNone/>
            </a:pPr>
            <a:r>
              <a:t/>
            </a:r>
            <a:endParaRPr sz="650"/>
          </a:p>
          <a:p>
            <a:pPr indent="0" lvl="0" marL="0" rtl="0" algn="l">
              <a:spcBef>
                <a:spcPts val="0"/>
              </a:spcBef>
              <a:spcAft>
                <a:spcPts val="0"/>
              </a:spcAft>
              <a:buNone/>
            </a:pPr>
            <a:r>
              <a:rPr lang="en" sz="650"/>
              <a:t>Give your answer as plain text without markdown in the following template:</a:t>
            </a:r>
            <a:endParaRPr sz="650"/>
          </a:p>
          <a:p>
            <a:pPr indent="0" lvl="0" marL="0" rtl="0" algn="l">
              <a:spcBef>
                <a:spcPts val="0"/>
              </a:spcBef>
              <a:spcAft>
                <a:spcPts val="0"/>
              </a:spcAft>
              <a:buNone/>
            </a:pPr>
            <a:r>
              <a:rPr lang="en" sz="650"/>
              <a:t>agent_name_reasoning:</a:t>
            </a:r>
            <a:endParaRPr sz="650"/>
          </a:p>
          <a:p>
            <a:pPr indent="0" lvl="0" marL="0" rtl="0" algn="l">
              <a:spcBef>
                <a:spcPts val="0"/>
              </a:spcBef>
              <a:spcAft>
                <a:spcPts val="0"/>
              </a:spcAft>
              <a:buNone/>
            </a:pPr>
            <a:r>
              <a:rPr lang="en" sz="650"/>
              <a:t>user_name_reasoning:</a:t>
            </a:r>
            <a:endParaRPr sz="650"/>
          </a:p>
          <a:p>
            <a:pPr indent="0" lvl="0" marL="0" rtl="0" algn="l">
              <a:spcBef>
                <a:spcPts val="0"/>
              </a:spcBef>
              <a:spcAft>
                <a:spcPts val="0"/>
              </a:spcAft>
              <a:buNone/>
            </a:pPr>
            <a:r>
              <a:rPr lang="en" sz="650"/>
              <a:t>calling_organization_reasoning:</a:t>
            </a:r>
            <a:endParaRPr sz="650"/>
          </a:p>
          <a:p>
            <a:pPr indent="0" lvl="0" marL="0" rtl="0" algn="l">
              <a:spcBef>
                <a:spcPts val="0"/>
              </a:spcBef>
              <a:spcAft>
                <a:spcPts val="0"/>
              </a:spcAft>
              <a:buNone/>
            </a:pPr>
            <a:r>
              <a:rPr lang="en" sz="650"/>
              <a:t>reason_for_call_reasoning:</a:t>
            </a:r>
            <a:endParaRPr sz="650"/>
          </a:p>
          <a:p>
            <a:pPr indent="0" lvl="0" marL="0" rtl="0" algn="l">
              <a:spcBef>
                <a:spcPts val="0"/>
              </a:spcBef>
              <a:spcAft>
                <a:spcPts val="0"/>
              </a:spcAft>
              <a:buNone/>
            </a:pPr>
            <a:r>
              <a:rPr lang="en" sz="650"/>
              <a:t>mortgage_need_reasoning:</a:t>
            </a:r>
            <a:endParaRPr sz="650"/>
          </a:p>
          <a:p>
            <a:pPr indent="0" lvl="0" marL="0" rtl="0" algn="l">
              <a:spcBef>
                <a:spcPts val="0"/>
              </a:spcBef>
              <a:spcAft>
                <a:spcPts val="0"/>
              </a:spcAft>
              <a:buNone/>
            </a:pPr>
            <a:r>
              <a:rPr lang="en" sz="650"/>
              <a:t>mortgage_timeframe_reasoning:</a:t>
            </a:r>
            <a:endParaRPr sz="650"/>
          </a:p>
          <a:p>
            <a:pPr indent="0" lvl="0" marL="0" rtl="0" algn="l">
              <a:spcBef>
                <a:spcPts val="0"/>
              </a:spcBef>
              <a:spcAft>
                <a:spcPts val="0"/>
              </a:spcAft>
              <a:buNone/>
            </a:pPr>
            <a:r>
              <a:rPr lang="en" sz="650"/>
              <a:t>credit_score_reasoning:</a:t>
            </a:r>
            <a:endParaRPr sz="650"/>
          </a:p>
          <a:p>
            <a:pPr indent="0" lvl="0" marL="0" rtl="0" algn="l">
              <a:spcBef>
                <a:spcPts val="0"/>
              </a:spcBef>
              <a:spcAft>
                <a:spcPts val="0"/>
              </a:spcAft>
              <a:buNone/>
            </a:pPr>
            <a:r>
              <a:rPr lang="en" sz="650"/>
              <a:t>next_steps_reasoning:</a:t>
            </a:r>
            <a:endParaRPr sz="650"/>
          </a:p>
          <a:p>
            <a:pPr indent="0" lvl="0" marL="0" rtl="0" algn="l">
              <a:spcBef>
                <a:spcPts val="0"/>
              </a:spcBef>
              <a:spcAft>
                <a:spcPts val="0"/>
              </a:spcAft>
              <a:buNone/>
            </a:pPr>
            <a:r>
              <a:rPr lang="en" sz="650"/>
              <a:t>agent_name:</a:t>
            </a:r>
            <a:endParaRPr sz="650"/>
          </a:p>
          <a:p>
            <a:pPr indent="0" lvl="0" marL="0" rtl="0" algn="l">
              <a:spcBef>
                <a:spcPts val="0"/>
              </a:spcBef>
              <a:spcAft>
                <a:spcPts val="0"/>
              </a:spcAft>
              <a:buNone/>
            </a:pPr>
            <a:r>
              <a:rPr lang="en" sz="650"/>
              <a:t>user_name:</a:t>
            </a:r>
            <a:endParaRPr sz="650"/>
          </a:p>
          <a:p>
            <a:pPr indent="0" lvl="0" marL="0" rtl="0" algn="l">
              <a:spcBef>
                <a:spcPts val="0"/>
              </a:spcBef>
              <a:spcAft>
                <a:spcPts val="0"/>
              </a:spcAft>
              <a:buNone/>
            </a:pPr>
            <a:r>
              <a:rPr lang="en" sz="650"/>
              <a:t>calling_organization:</a:t>
            </a:r>
            <a:endParaRPr sz="650"/>
          </a:p>
          <a:p>
            <a:pPr indent="0" lvl="0" marL="0" rtl="0" algn="l">
              <a:spcBef>
                <a:spcPts val="0"/>
              </a:spcBef>
              <a:spcAft>
                <a:spcPts val="0"/>
              </a:spcAft>
              <a:buNone/>
            </a:pPr>
            <a:r>
              <a:rPr lang="en" sz="650"/>
              <a:t>reason_for_call:</a:t>
            </a:r>
            <a:endParaRPr sz="650"/>
          </a:p>
          <a:p>
            <a:pPr indent="0" lvl="0" marL="0" rtl="0" algn="l">
              <a:spcBef>
                <a:spcPts val="0"/>
              </a:spcBef>
              <a:spcAft>
                <a:spcPts val="0"/>
              </a:spcAft>
              <a:buNone/>
            </a:pPr>
            <a:r>
              <a:rPr lang="en" sz="650"/>
              <a:t>mortgage_need:</a:t>
            </a:r>
            <a:endParaRPr sz="650"/>
          </a:p>
          <a:p>
            <a:pPr indent="0" lvl="0" marL="0" rtl="0" algn="l">
              <a:spcBef>
                <a:spcPts val="0"/>
              </a:spcBef>
              <a:spcAft>
                <a:spcPts val="0"/>
              </a:spcAft>
              <a:buNone/>
            </a:pPr>
            <a:r>
              <a:rPr lang="en" sz="650"/>
              <a:t>mortgage_timeframe:</a:t>
            </a:r>
            <a:endParaRPr sz="650"/>
          </a:p>
          <a:p>
            <a:pPr indent="0" lvl="0" marL="0" rtl="0" algn="l">
              <a:spcBef>
                <a:spcPts val="0"/>
              </a:spcBef>
              <a:spcAft>
                <a:spcPts val="0"/>
              </a:spcAft>
              <a:buNone/>
            </a:pPr>
            <a:r>
              <a:rPr lang="en" sz="650"/>
              <a:t>credit_score:</a:t>
            </a:r>
            <a:endParaRPr sz="650"/>
          </a:p>
          <a:p>
            <a:pPr indent="0" lvl="0" marL="0" rtl="0" algn="l">
              <a:spcBef>
                <a:spcPts val="0"/>
              </a:spcBef>
              <a:spcAft>
                <a:spcPts val="0"/>
              </a:spcAft>
              <a:buNone/>
            </a:pPr>
            <a:r>
              <a:rPr lang="en" sz="650"/>
              <a:t>next_steps:</a:t>
            </a:r>
            <a:endParaRPr sz="650"/>
          </a:p>
        </p:txBody>
      </p:sp>
      <p:graphicFrame>
        <p:nvGraphicFramePr>
          <p:cNvPr id="231" name="Google Shape;231;p43"/>
          <p:cNvGraphicFramePr/>
          <p:nvPr/>
        </p:nvGraphicFramePr>
        <p:xfrm>
          <a:off x="5855300" y="1110675"/>
          <a:ext cx="3000000" cy="3000000"/>
        </p:xfrm>
        <a:graphic>
          <a:graphicData uri="http://schemas.openxmlformats.org/drawingml/2006/table">
            <a:tbl>
              <a:tblPr>
                <a:noFill/>
                <a:tableStyleId>{46681EA8-31EA-4F3D-9C76-EBEE808183FA}</a:tableStyleId>
              </a:tblPr>
              <a:tblGrid>
                <a:gridCol w="1768175"/>
                <a:gridCol w="1150975"/>
              </a:tblGrid>
              <a:tr h="205800">
                <a:tc>
                  <a:txBody>
                    <a:bodyPr/>
                    <a:lstStyle/>
                    <a:p>
                      <a:pPr indent="0" lvl="0" marL="0" rtl="0" algn="l">
                        <a:spcBef>
                          <a:spcPts val="0"/>
                        </a:spcBef>
                        <a:spcAft>
                          <a:spcPts val="0"/>
                        </a:spcAft>
                        <a:buNone/>
                      </a:pPr>
                      <a:r>
                        <a:rPr b="1" lang="en" sz="800">
                          <a:latin typeface="Inter"/>
                          <a:ea typeface="Inter"/>
                          <a:cs typeface="Inter"/>
                          <a:sym typeface="Inter"/>
                        </a:rPr>
                        <a:t>Criteria</a:t>
                      </a:r>
                      <a:endParaRPr b="1" sz="8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b="1" lang="en" sz="800">
                          <a:latin typeface="Inter"/>
                          <a:ea typeface="Inter"/>
                          <a:cs typeface="Inter"/>
                          <a:sym typeface="Inter"/>
                        </a:rPr>
                        <a:t>% Match with GT</a:t>
                      </a:r>
                      <a:endParaRPr b="1" sz="800">
                        <a:latin typeface="Inter"/>
                        <a:ea typeface="Inter"/>
                        <a:cs typeface="Inter"/>
                        <a:sym typeface="Inter"/>
                      </a:endParaRPr>
                    </a:p>
                  </a:txBody>
                  <a:tcPr marT="91425" marB="91425" marR="91425" marL="91425"/>
                </a:tc>
              </a:tr>
              <a:tr h="185225">
                <a:tc>
                  <a:txBody>
                    <a:bodyPr/>
                    <a:lstStyle/>
                    <a:p>
                      <a:pPr indent="0" lvl="0" marL="0" rtl="0" algn="l">
                        <a:spcBef>
                          <a:spcPts val="0"/>
                        </a:spcBef>
                        <a:spcAft>
                          <a:spcPts val="0"/>
                        </a:spcAft>
                        <a:buNone/>
                      </a:pPr>
                      <a:r>
                        <a:rPr lang="en" sz="700"/>
                        <a:t>Agent Name</a:t>
                      </a:r>
                      <a:endParaRPr sz="700"/>
                    </a:p>
                  </a:txBody>
                  <a:tcPr marT="91425" marB="91425" marR="91425" marL="91425"/>
                </a:tc>
                <a:tc>
                  <a:txBody>
                    <a:bodyPr/>
                    <a:lstStyle/>
                    <a:p>
                      <a:pPr indent="0" lvl="0" marL="0" rtl="0" algn="l">
                        <a:spcBef>
                          <a:spcPts val="0"/>
                        </a:spcBef>
                        <a:spcAft>
                          <a:spcPts val="0"/>
                        </a:spcAft>
                        <a:buNone/>
                      </a:pPr>
                      <a:r>
                        <a:rPr lang="en" sz="700">
                          <a:latin typeface="Inter"/>
                          <a:ea typeface="Inter"/>
                          <a:cs typeface="Inter"/>
                          <a:sym typeface="Inter"/>
                        </a:rPr>
                        <a:t>96%</a:t>
                      </a:r>
                      <a:endParaRPr sz="700">
                        <a:latin typeface="Inter"/>
                        <a:ea typeface="Inter"/>
                        <a:cs typeface="Inter"/>
                        <a:sym typeface="Inter"/>
                      </a:endParaRPr>
                    </a:p>
                  </a:txBody>
                  <a:tcPr marT="91425" marB="91425" marR="91425" marL="91425"/>
                </a:tc>
              </a:tr>
              <a:tr h="185225">
                <a:tc>
                  <a:txBody>
                    <a:bodyPr/>
                    <a:lstStyle/>
                    <a:p>
                      <a:pPr indent="0" lvl="0" marL="0" rtl="0" algn="l">
                        <a:spcBef>
                          <a:spcPts val="0"/>
                        </a:spcBef>
                        <a:spcAft>
                          <a:spcPts val="0"/>
                        </a:spcAft>
                        <a:buNone/>
                      </a:pPr>
                      <a:r>
                        <a:rPr lang="en" sz="700"/>
                        <a:t>User Name</a:t>
                      </a:r>
                      <a:endParaRPr sz="7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96%</a:t>
                      </a:r>
                      <a:endParaRPr sz="7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r>
              <a:tr h="185225">
                <a:tc>
                  <a:txBody>
                    <a:bodyPr/>
                    <a:lstStyle/>
                    <a:p>
                      <a:pPr indent="0" lvl="0" marL="0" rtl="0" algn="l">
                        <a:spcBef>
                          <a:spcPts val="0"/>
                        </a:spcBef>
                        <a:spcAft>
                          <a:spcPts val="0"/>
                        </a:spcAft>
                        <a:buNone/>
                      </a:pPr>
                      <a:r>
                        <a:rPr lang="en" sz="700"/>
                        <a:t>Calling Organization</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94%</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85225">
                <a:tc>
                  <a:txBody>
                    <a:bodyPr/>
                    <a:lstStyle/>
                    <a:p>
                      <a:pPr indent="0" lvl="0" marL="0" rtl="0" algn="l">
                        <a:spcBef>
                          <a:spcPts val="0"/>
                        </a:spcBef>
                        <a:spcAft>
                          <a:spcPts val="0"/>
                        </a:spcAft>
                        <a:buNone/>
                      </a:pPr>
                      <a:r>
                        <a:rPr lang="en" sz="700"/>
                        <a:t>Reason For Call</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86%</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85225">
                <a:tc>
                  <a:txBody>
                    <a:bodyPr/>
                    <a:lstStyle/>
                    <a:p>
                      <a:pPr indent="0" lvl="0" marL="0" rtl="0" algn="l">
                        <a:spcBef>
                          <a:spcPts val="0"/>
                        </a:spcBef>
                        <a:spcAft>
                          <a:spcPts val="0"/>
                        </a:spcAft>
                        <a:buNone/>
                      </a:pPr>
                      <a:r>
                        <a:rPr lang="en" sz="700"/>
                        <a:t>Mortgage Need</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96%</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85225">
                <a:tc>
                  <a:txBody>
                    <a:bodyPr/>
                    <a:lstStyle/>
                    <a:p>
                      <a:pPr indent="0" lvl="0" marL="0" rtl="0" algn="l">
                        <a:spcBef>
                          <a:spcPts val="0"/>
                        </a:spcBef>
                        <a:spcAft>
                          <a:spcPts val="0"/>
                        </a:spcAft>
                        <a:buNone/>
                      </a:pPr>
                      <a:r>
                        <a:rPr lang="en" sz="700"/>
                        <a:t>Mortgage Timeframe</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86%</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85225">
                <a:tc>
                  <a:txBody>
                    <a:bodyPr/>
                    <a:lstStyle/>
                    <a:p>
                      <a:pPr indent="0" lvl="0" marL="0" rtl="0" algn="l">
                        <a:spcBef>
                          <a:spcPts val="0"/>
                        </a:spcBef>
                        <a:spcAft>
                          <a:spcPts val="0"/>
                        </a:spcAft>
                        <a:buNone/>
                      </a:pPr>
                      <a:r>
                        <a:rPr lang="en" sz="700"/>
                        <a:t>Credit Score</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90%</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85225">
                <a:tc>
                  <a:txBody>
                    <a:bodyPr/>
                    <a:lstStyle/>
                    <a:p>
                      <a:pPr indent="0" lvl="0" marL="0" rtl="0" algn="l">
                        <a:spcBef>
                          <a:spcPts val="0"/>
                        </a:spcBef>
                        <a:spcAft>
                          <a:spcPts val="0"/>
                        </a:spcAft>
                        <a:buNone/>
                      </a:pPr>
                      <a:r>
                        <a:rPr lang="en" sz="700"/>
                        <a:t>Next Steps</a:t>
                      </a:r>
                      <a:endParaRPr sz="7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700">
                          <a:latin typeface="Inter"/>
                          <a:ea typeface="Inter"/>
                          <a:cs typeface="Inter"/>
                          <a:sym typeface="Inter"/>
                        </a:rPr>
                        <a:t>88%</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85225">
                <a:tc>
                  <a:txBody>
                    <a:bodyPr/>
                    <a:lstStyle/>
                    <a:p>
                      <a:pPr indent="0" lvl="0" marL="0" rtl="0" algn="l">
                        <a:spcBef>
                          <a:spcPts val="0"/>
                        </a:spcBef>
                        <a:spcAft>
                          <a:spcPts val="0"/>
                        </a:spcAft>
                        <a:buNone/>
                      </a:pPr>
                      <a:r>
                        <a:rPr b="1" lang="en" sz="800"/>
                        <a:t>TOTAL AVERAGE</a:t>
                      </a:r>
                      <a:endParaRPr b="1" sz="8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 sz="800">
                          <a:latin typeface="Inter"/>
                          <a:ea typeface="Inter"/>
                          <a:cs typeface="Inter"/>
                          <a:sym typeface="Inter"/>
                        </a:rPr>
                        <a:t>91% accuracy</a:t>
                      </a:r>
                      <a:endParaRPr b="1" sz="8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32" name="Google Shape;232;p43"/>
          <p:cNvSpPr txBox="1"/>
          <p:nvPr/>
        </p:nvSpPr>
        <p:spPr>
          <a:xfrm>
            <a:off x="6408200" y="4107300"/>
            <a:ext cx="21897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latin typeface="Inter"/>
                <a:ea typeface="Inter"/>
                <a:cs typeface="Inter"/>
                <a:sym typeface="Inter"/>
              </a:rPr>
              <a:t>Prompt evaluation using r</a:t>
            </a:r>
            <a:r>
              <a:rPr lang="en" sz="900">
                <a:latin typeface="Inter"/>
                <a:ea typeface="Inter"/>
                <a:cs typeface="Inter"/>
                <a:sym typeface="Inter"/>
              </a:rPr>
              <a:t>andom sample of 50 English Calls</a:t>
            </a:r>
            <a:endParaRPr sz="900">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44"/>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Dashboard</a:t>
            </a:r>
            <a:endParaRPr/>
          </a:p>
        </p:txBody>
      </p:sp>
      <p:pic>
        <p:nvPicPr>
          <p:cNvPr id="238" name="Google Shape;238;p44"/>
          <p:cNvPicPr preferRelativeResize="0"/>
          <p:nvPr/>
        </p:nvPicPr>
        <p:blipFill>
          <a:blip r:embed="rId3">
            <a:alphaModFix/>
          </a:blip>
          <a:stretch>
            <a:fillRect/>
          </a:stretch>
        </p:blipFill>
        <p:spPr>
          <a:xfrm>
            <a:off x="1590350" y="1072550"/>
            <a:ext cx="3687377" cy="3853850"/>
          </a:xfrm>
          <a:prstGeom prst="rect">
            <a:avLst/>
          </a:prstGeom>
          <a:noFill/>
          <a:ln cap="flat" cmpd="sng" w="9525">
            <a:solidFill>
              <a:schemeClr val="dk1"/>
            </a:solidFill>
            <a:prstDash val="solid"/>
            <a:round/>
            <a:headEnd len="sm" w="sm" type="none"/>
            <a:tailEnd len="sm" w="sm" type="none"/>
          </a:ln>
        </p:spPr>
      </p:pic>
      <p:sp>
        <p:nvSpPr>
          <p:cNvPr id="239" name="Google Shape;239;p44"/>
          <p:cNvSpPr/>
          <p:nvPr/>
        </p:nvSpPr>
        <p:spPr>
          <a:xfrm>
            <a:off x="5615575" y="1663375"/>
            <a:ext cx="2490900" cy="23103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SELECT</a:t>
            </a:r>
            <a:endParaRPr sz="700"/>
          </a:p>
          <a:p>
            <a:pPr indent="0" lvl="0" marL="0" rtl="0" algn="l">
              <a:spcBef>
                <a:spcPts val="0"/>
              </a:spcBef>
              <a:spcAft>
                <a:spcPts val="0"/>
              </a:spcAft>
              <a:buNone/>
            </a:pPr>
            <a:r>
              <a:rPr lang="en" sz="700"/>
              <a:t>  sdr_calls.*,</a:t>
            </a:r>
            <a:endParaRPr sz="700"/>
          </a:p>
          <a:p>
            <a:pPr indent="0" lvl="0" marL="0" rtl="0" algn="l">
              <a:spcBef>
                <a:spcPts val="0"/>
              </a:spcBef>
              <a:spcAft>
                <a:spcPts val="0"/>
              </a:spcAft>
              <a:buNone/>
            </a:pPr>
            <a:r>
              <a:rPr lang="en" sz="700"/>
              <a:t>  insights.agent_name,</a:t>
            </a:r>
            <a:endParaRPr sz="700"/>
          </a:p>
          <a:p>
            <a:pPr indent="0" lvl="0" marL="0" rtl="0" algn="l">
              <a:spcBef>
                <a:spcPts val="0"/>
              </a:spcBef>
              <a:spcAft>
                <a:spcPts val="0"/>
              </a:spcAft>
              <a:buNone/>
            </a:pPr>
            <a:r>
              <a:rPr lang="en" sz="700"/>
              <a:t>  insights.user_name,</a:t>
            </a:r>
            <a:endParaRPr sz="700"/>
          </a:p>
          <a:p>
            <a:pPr indent="0" lvl="0" marL="0" rtl="0" algn="l">
              <a:spcBef>
                <a:spcPts val="0"/>
              </a:spcBef>
              <a:spcAft>
                <a:spcPts val="0"/>
              </a:spcAft>
              <a:buNone/>
            </a:pPr>
            <a:r>
              <a:rPr lang="en" sz="700"/>
              <a:t>  insights.calling_organization,</a:t>
            </a:r>
            <a:endParaRPr sz="700"/>
          </a:p>
          <a:p>
            <a:pPr indent="0" lvl="0" marL="0" rtl="0" algn="l">
              <a:spcBef>
                <a:spcPts val="0"/>
              </a:spcBef>
              <a:spcAft>
                <a:spcPts val="0"/>
              </a:spcAft>
              <a:buNone/>
            </a:pPr>
            <a:r>
              <a:rPr lang="en" sz="700"/>
              <a:t>  insights.reason_for_call,</a:t>
            </a:r>
            <a:endParaRPr sz="700"/>
          </a:p>
          <a:p>
            <a:pPr indent="0" lvl="0" marL="0" rtl="0" algn="l">
              <a:spcBef>
                <a:spcPts val="0"/>
              </a:spcBef>
              <a:spcAft>
                <a:spcPts val="0"/>
              </a:spcAft>
              <a:buNone/>
            </a:pPr>
            <a:r>
              <a:rPr lang="en" sz="700"/>
              <a:t>  insights.mortgage_need,</a:t>
            </a:r>
            <a:endParaRPr sz="700"/>
          </a:p>
          <a:p>
            <a:pPr indent="0" lvl="0" marL="0" rtl="0" algn="l">
              <a:spcBef>
                <a:spcPts val="0"/>
              </a:spcBef>
              <a:spcAft>
                <a:spcPts val="0"/>
              </a:spcAft>
              <a:buNone/>
            </a:pPr>
            <a:r>
              <a:rPr lang="en" sz="700"/>
              <a:t>  insights.mortgage_timeframe,</a:t>
            </a:r>
            <a:endParaRPr sz="700"/>
          </a:p>
          <a:p>
            <a:pPr indent="0" lvl="0" marL="0" rtl="0" algn="l">
              <a:spcBef>
                <a:spcPts val="0"/>
              </a:spcBef>
              <a:spcAft>
                <a:spcPts val="0"/>
              </a:spcAft>
              <a:buNone/>
            </a:pPr>
            <a:r>
              <a:rPr lang="en" sz="700"/>
              <a:t>  insights.credit_score,</a:t>
            </a:r>
            <a:endParaRPr sz="700"/>
          </a:p>
          <a:p>
            <a:pPr indent="0" lvl="0" marL="0" rtl="0" algn="l">
              <a:spcBef>
                <a:spcPts val="0"/>
              </a:spcBef>
              <a:spcAft>
                <a:spcPts val="0"/>
              </a:spcAft>
              <a:buNone/>
            </a:pPr>
            <a:r>
              <a:rPr lang="en" sz="700"/>
              <a:t>  insights.next_steps,</a:t>
            </a:r>
            <a:endParaRPr sz="700"/>
          </a:p>
          <a:p>
            <a:pPr indent="0" lvl="0" marL="0" rtl="0" algn="l">
              <a:spcBef>
                <a:spcPts val="0"/>
              </a:spcBef>
              <a:spcAft>
                <a:spcPts val="0"/>
              </a:spcAft>
              <a:buNone/>
            </a:pPr>
            <a:r>
              <a:rPr lang="en" sz="700"/>
              <a:t>FROM `humanfirst-prod-bb47f202.poc.insights_table` as insights</a:t>
            </a:r>
            <a:endParaRPr sz="700"/>
          </a:p>
          <a:p>
            <a:pPr indent="0" lvl="0" marL="0" rtl="0" algn="l">
              <a:spcBef>
                <a:spcPts val="0"/>
              </a:spcBef>
              <a:spcAft>
                <a:spcPts val="0"/>
              </a:spcAft>
              <a:buNone/>
            </a:pPr>
            <a:r>
              <a:rPr lang="en" sz="700"/>
              <a:t>LEFT JOIN `humanfirst-prod-bb47f202.poc.tbl_sdr_calls_enriched` as sdr_calls</a:t>
            </a:r>
            <a:endParaRPr sz="700"/>
          </a:p>
          <a:p>
            <a:pPr indent="0" lvl="0" marL="0" rtl="0" algn="l">
              <a:spcBef>
                <a:spcPts val="0"/>
              </a:spcBef>
              <a:spcAft>
                <a:spcPts val="0"/>
              </a:spcAft>
              <a:buNone/>
            </a:pPr>
            <a:r>
              <a:rPr lang="en" sz="700"/>
              <a:t>ON insights.conversation_id = sdr_calls.call_id;</a:t>
            </a:r>
            <a:endParaRPr sz="7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5"/>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Dashboard</a:t>
            </a:r>
            <a:endParaRPr/>
          </a:p>
        </p:txBody>
      </p:sp>
      <p:pic>
        <p:nvPicPr>
          <p:cNvPr id="245" name="Google Shape;245;p45"/>
          <p:cNvPicPr preferRelativeResize="0"/>
          <p:nvPr/>
        </p:nvPicPr>
        <p:blipFill>
          <a:blip r:embed="rId3">
            <a:alphaModFix/>
          </a:blip>
          <a:stretch>
            <a:fillRect/>
          </a:stretch>
        </p:blipFill>
        <p:spPr>
          <a:xfrm>
            <a:off x="785863" y="1006425"/>
            <a:ext cx="7572274" cy="3853850"/>
          </a:xfrm>
          <a:prstGeom prst="rect">
            <a:avLst/>
          </a:prstGeom>
          <a:noFill/>
          <a:ln cap="flat" cmpd="sng" w="9525">
            <a:solidFill>
              <a:schemeClr val="dk1"/>
            </a:solidFill>
            <a:prstDash val="solid"/>
            <a:round/>
            <a:headEnd len="sm" w="sm" type="none"/>
            <a:tailEnd len="sm" w="sm" type="none"/>
          </a:ln>
        </p:spPr>
      </p:pic>
      <p:pic>
        <p:nvPicPr>
          <p:cNvPr id="246" name="Google Shape;246;p45"/>
          <p:cNvPicPr preferRelativeResize="0"/>
          <p:nvPr/>
        </p:nvPicPr>
        <p:blipFill rotWithShape="1">
          <a:blip r:embed="rId4">
            <a:alphaModFix/>
          </a:blip>
          <a:srcRect b="4797" l="6681" r="16784" t="15247"/>
          <a:stretch/>
        </p:blipFill>
        <p:spPr>
          <a:xfrm>
            <a:off x="911150" y="3806400"/>
            <a:ext cx="1245450" cy="1215625"/>
          </a:xfrm>
          <a:prstGeom prst="rect">
            <a:avLst/>
          </a:prstGeom>
          <a:noFill/>
          <a:ln>
            <a:noFill/>
          </a:ln>
          <a:effectLst>
            <a:outerShdw blurRad="57150" rotWithShape="0" algn="bl" dir="5400000" dist="19050">
              <a:srgbClr val="000000">
                <a:alpha val="50000"/>
              </a:srgbClr>
            </a:outerShdw>
          </a:effectLst>
        </p:spPr>
      </p:pic>
      <p:sp>
        <p:nvSpPr>
          <p:cNvPr id="247" name="Google Shape;247;p45"/>
          <p:cNvSpPr/>
          <p:nvPr/>
        </p:nvSpPr>
        <p:spPr>
          <a:xfrm>
            <a:off x="943500" y="4188766"/>
            <a:ext cx="1132200" cy="1245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8" name="Google Shape;248;p45"/>
          <p:cNvSpPr/>
          <p:nvPr/>
        </p:nvSpPr>
        <p:spPr>
          <a:xfrm>
            <a:off x="129900" y="2776600"/>
            <a:ext cx="1390500" cy="878700"/>
          </a:xfrm>
          <a:prstGeom prst="roundRect">
            <a:avLst>
              <a:gd fmla="val 16667" name="adj"/>
            </a:avLst>
          </a:prstGeom>
          <a:solidFill>
            <a:srgbClr val="DBF2FA"/>
          </a:solidFill>
          <a:ln cap="flat" cmpd="sng" w="9525">
            <a:solidFill>
              <a:srgbClr val="12184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700"/>
              <a:t>Example: Navraj is scoring well on all categories except Customer Name Mentioned</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Hovering over the stats shows his lowest score.</a:t>
            </a:r>
            <a:endParaRPr sz="700"/>
          </a:p>
        </p:txBody>
      </p:sp>
      <p:sp>
        <p:nvSpPr>
          <p:cNvPr id="249" name="Google Shape;249;p45"/>
          <p:cNvSpPr txBox="1"/>
          <p:nvPr/>
        </p:nvSpPr>
        <p:spPr>
          <a:xfrm>
            <a:off x="8486250" y="4577375"/>
            <a:ext cx="593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u="sng">
                <a:solidFill>
                  <a:schemeClr val="hlink"/>
                </a:solidFill>
                <a:hlinkClick r:id="rId5"/>
              </a:rPr>
              <a:t>LINK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6"/>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Dashboard</a:t>
            </a:r>
            <a:endParaRPr/>
          </a:p>
        </p:txBody>
      </p:sp>
      <p:pic>
        <p:nvPicPr>
          <p:cNvPr id="255" name="Google Shape;255;p46"/>
          <p:cNvPicPr preferRelativeResize="0"/>
          <p:nvPr/>
        </p:nvPicPr>
        <p:blipFill>
          <a:blip r:embed="rId3">
            <a:alphaModFix/>
          </a:blip>
          <a:stretch>
            <a:fillRect/>
          </a:stretch>
        </p:blipFill>
        <p:spPr>
          <a:xfrm>
            <a:off x="934175" y="1044150"/>
            <a:ext cx="7625620" cy="3853850"/>
          </a:xfrm>
          <a:prstGeom prst="rect">
            <a:avLst/>
          </a:prstGeom>
          <a:noFill/>
          <a:ln cap="flat" cmpd="sng" w="9525">
            <a:solidFill>
              <a:schemeClr val="dk1"/>
            </a:solidFill>
            <a:prstDash val="solid"/>
            <a:round/>
            <a:headEnd len="sm" w="sm" type="none"/>
            <a:tailEnd len="sm" w="sm" type="none"/>
          </a:ln>
        </p:spPr>
      </p:pic>
      <p:sp>
        <p:nvSpPr>
          <p:cNvPr id="256" name="Google Shape;256;p46"/>
          <p:cNvSpPr/>
          <p:nvPr/>
        </p:nvSpPr>
        <p:spPr>
          <a:xfrm>
            <a:off x="3644650" y="2177750"/>
            <a:ext cx="555300" cy="1245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7" name="Google Shape;257;p46"/>
          <p:cNvSpPr/>
          <p:nvPr/>
        </p:nvSpPr>
        <p:spPr>
          <a:xfrm>
            <a:off x="286275" y="2269800"/>
            <a:ext cx="1390500" cy="512100"/>
          </a:xfrm>
          <a:prstGeom prst="roundRect">
            <a:avLst>
              <a:gd fmla="val 16667" name="adj"/>
            </a:avLst>
          </a:prstGeom>
          <a:solidFill>
            <a:srgbClr val="DBF2FA"/>
          </a:solidFill>
          <a:ln cap="flat" cmpd="sng" w="9525">
            <a:solidFill>
              <a:srgbClr val="12184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700"/>
              <a:t>Visiting the scoring table its also clearly evident that its a clear point of improvement</a:t>
            </a:r>
            <a:endParaRPr sz="7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47"/>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Dashboard</a:t>
            </a:r>
            <a:endParaRPr/>
          </a:p>
        </p:txBody>
      </p:sp>
      <p:pic>
        <p:nvPicPr>
          <p:cNvPr id="263" name="Google Shape;263;p47"/>
          <p:cNvPicPr preferRelativeResize="0"/>
          <p:nvPr/>
        </p:nvPicPr>
        <p:blipFill>
          <a:blip r:embed="rId3">
            <a:alphaModFix/>
          </a:blip>
          <a:stretch>
            <a:fillRect/>
          </a:stretch>
        </p:blipFill>
        <p:spPr>
          <a:xfrm>
            <a:off x="896425" y="1022600"/>
            <a:ext cx="7629371" cy="3853851"/>
          </a:xfrm>
          <a:prstGeom prst="rect">
            <a:avLst/>
          </a:prstGeom>
          <a:noFill/>
          <a:ln cap="flat" cmpd="sng" w="9525">
            <a:solidFill>
              <a:schemeClr val="dk1"/>
            </a:solidFill>
            <a:prstDash val="solid"/>
            <a:round/>
            <a:headEnd len="sm" w="sm" type="none"/>
            <a:tailEnd len="sm" w="sm" type="none"/>
          </a:ln>
        </p:spPr>
      </p:pic>
      <p:sp>
        <p:nvSpPr>
          <p:cNvPr id="264" name="Google Shape;264;p47"/>
          <p:cNvSpPr/>
          <p:nvPr/>
        </p:nvSpPr>
        <p:spPr>
          <a:xfrm>
            <a:off x="3881875" y="2161575"/>
            <a:ext cx="296700" cy="1245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65" name="Google Shape;265;p47"/>
          <p:cNvSpPr/>
          <p:nvPr/>
        </p:nvSpPr>
        <p:spPr>
          <a:xfrm>
            <a:off x="286275" y="2269800"/>
            <a:ext cx="1390500" cy="512100"/>
          </a:xfrm>
          <a:prstGeom prst="roundRect">
            <a:avLst>
              <a:gd fmla="val 16667" name="adj"/>
            </a:avLst>
          </a:prstGeom>
          <a:solidFill>
            <a:srgbClr val="DBF2FA"/>
          </a:solidFill>
          <a:ln cap="flat" cmpd="sng" w="9525">
            <a:solidFill>
              <a:srgbClr val="12184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700"/>
              <a:t>Clicking the Customer Name field URL for Navraj redirect </a:t>
            </a:r>
            <a:r>
              <a:rPr lang="en" sz="700"/>
              <a:t>immediately</a:t>
            </a:r>
            <a:r>
              <a:rPr lang="en" sz="700"/>
              <a:t> into HumanFirst</a:t>
            </a:r>
            <a:endParaRPr sz="7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pic>
        <p:nvPicPr>
          <p:cNvPr id="270" name="Google Shape;270;p48"/>
          <p:cNvPicPr preferRelativeResize="0"/>
          <p:nvPr/>
        </p:nvPicPr>
        <p:blipFill>
          <a:blip r:embed="rId3">
            <a:alphaModFix/>
          </a:blip>
          <a:stretch>
            <a:fillRect/>
          </a:stretch>
        </p:blipFill>
        <p:spPr>
          <a:xfrm>
            <a:off x="1225300" y="1022600"/>
            <a:ext cx="6162940" cy="3801057"/>
          </a:xfrm>
          <a:prstGeom prst="rect">
            <a:avLst/>
          </a:prstGeom>
          <a:noFill/>
          <a:ln>
            <a:noFill/>
          </a:ln>
        </p:spPr>
      </p:pic>
      <p:sp>
        <p:nvSpPr>
          <p:cNvPr id="271" name="Google Shape;271;p48"/>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Dashboard</a:t>
            </a:r>
            <a:endParaRPr/>
          </a:p>
        </p:txBody>
      </p:sp>
      <p:pic>
        <p:nvPicPr>
          <p:cNvPr id="272" name="Google Shape;272;p48"/>
          <p:cNvPicPr preferRelativeResize="0"/>
          <p:nvPr/>
        </p:nvPicPr>
        <p:blipFill>
          <a:blip r:embed="rId4">
            <a:alphaModFix/>
          </a:blip>
          <a:stretch>
            <a:fillRect/>
          </a:stretch>
        </p:blipFill>
        <p:spPr>
          <a:xfrm>
            <a:off x="3370800" y="161750"/>
            <a:ext cx="2177050" cy="1288575"/>
          </a:xfrm>
          <a:prstGeom prst="rect">
            <a:avLst/>
          </a:prstGeom>
          <a:noFill/>
          <a:ln>
            <a:noFill/>
          </a:ln>
          <a:effectLst>
            <a:outerShdw blurRad="57150" rotWithShape="0" algn="bl" dir="5400000" dist="19050">
              <a:srgbClr val="000000">
                <a:alpha val="50000"/>
              </a:srgbClr>
            </a:outerShdw>
          </a:effectLst>
        </p:spPr>
      </p:pic>
      <p:sp>
        <p:nvSpPr>
          <p:cNvPr id="273" name="Google Shape;273;p48"/>
          <p:cNvSpPr/>
          <p:nvPr/>
        </p:nvSpPr>
        <p:spPr>
          <a:xfrm>
            <a:off x="323975" y="3754325"/>
            <a:ext cx="1773300" cy="699000"/>
          </a:xfrm>
          <a:prstGeom prst="roundRect">
            <a:avLst>
              <a:gd fmla="val 16667" name="adj"/>
            </a:avLst>
          </a:prstGeom>
          <a:solidFill>
            <a:srgbClr val="DBF2FA"/>
          </a:solidFill>
          <a:ln cap="flat" cmpd="sng" w="9525">
            <a:solidFill>
              <a:srgbClr val="12184A"/>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800"/>
              <a:t>The URL auto filters on Navraj and that </a:t>
            </a:r>
            <a:r>
              <a:rPr lang="en" sz="800"/>
              <a:t>specific</a:t>
            </a:r>
            <a:r>
              <a:rPr lang="en" sz="800"/>
              <a:t> key. Each row is an individual call showing the current score for Customer Name</a:t>
            </a:r>
            <a:endParaRPr sz="800"/>
          </a:p>
        </p:txBody>
      </p:sp>
      <p:sp>
        <p:nvSpPr>
          <p:cNvPr id="274" name="Google Shape;274;p48"/>
          <p:cNvSpPr/>
          <p:nvPr/>
        </p:nvSpPr>
        <p:spPr>
          <a:xfrm>
            <a:off x="5585600" y="2091475"/>
            <a:ext cx="1585200" cy="2916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5" name="Google Shape;275;p48"/>
          <p:cNvSpPr/>
          <p:nvPr/>
        </p:nvSpPr>
        <p:spPr>
          <a:xfrm>
            <a:off x="3735037" y="745167"/>
            <a:ext cx="1704900" cy="254400"/>
          </a:xfrm>
          <a:prstGeom prst="rect">
            <a:avLst/>
          </a:prstGeom>
          <a:no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76" name="Google Shape;276;p48"/>
          <p:cNvPicPr preferRelativeResize="0"/>
          <p:nvPr/>
        </p:nvPicPr>
        <p:blipFill>
          <a:blip r:embed="rId5">
            <a:alphaModFix/>
          </a:blip>
          <a:stretch>
            <a:fillRect/>
          </a:stretch>
        </p:blipFill>
        <p:spPr>
          <a:xfrm>
            <a:off x="7226300" y="614675"/>
            <a:ext cx="1650200" cy="2633926"/>
          </a:xfrm>
          <a:prstGeom prst="rect">
            <a:avLst/>
          </a:prstGeom>
          <a:noFill/>
          <a:ln>
            <a:noFill/>
          </a:ln>
          <a:effectLst>
            <a:outerShdw blurRad="57150" rotWithShape="0" algn="bl" dir="5400000" dist="19050">
              <a:srgbClr val="000000">
                <a:alpha val="50000"/>
              </a:srgbClr>
            </a:outerShdw>
          </a:effectLst>
        </p:spPr>
      </p:pic>
      <p:cxnSp>
        <p:nvCxnSpPr>
          <p:cNvPr id="277" name="Google Shape;277;p48"/>
          <p:cNvCxnSpPr/>
          <p:nvPr/>
        </p:nvCxnSpPr>
        <p:spPr>
          <a:xfrm flipH="1" rot="10800000">
            <a:off x="6593825" y="911250"/>
            <a:ext cx="630900" cy="517500"/>
          </a:xfrm>
          <a:prstGeom prst="curvedConnector3">
            <a:avLst>
              <a:gd fmla="val 50000" name="adj1"/>
            </a:avLst>
          </a:prstGeom>
          <a:noFill/>
          <a:ln cap="flat" cmpd="sng" w="9525">
            <a:solidFill>
              <a:schemeClr val="dk1"/>
            </a:solidFill>
            <a:prstDash val="dot"/>
            <a:round/>
            <a:headEnd len="med" w="med" type="none"/>
            <a:tailEnd len="med" w="med" type="none"/>
          </a:ln>
        </p:spPr>
      </p:cxnSp>
      <p:cxnSp>
        <p:nvCxnSpPr>
          <p:cNvPr id="278" name="Google Shape;278;p48"/>
          <p:cNvCxnSpPr/>
          <p:nvPr/>
        </p:nvCxnSpPr>
        <p:spPr>
          <a:xfrm>
            <a:off x="3710800" y="2406050"/>
            <a:ext cx="1962600" cy="1725300"/>
          </a:xfrm>
          <a:prstGeom prst="curvedConnector3">
            <a:avLst>
              <a:gd fmla="val 50000" name="adj1"/>
            </a:avLst>
          </a:prstGeom>
          <a:noFill/>
          <a:ln cap="flat" cmpd="sng" w="9525">
            <a:solidFill>
              <a:schemeClr val="dk1"/>
            </a:solidFill>
            <a:prstDash val="dot"/>
            <a:round/>
            <a:headEnd len="med" w="med" type="none"/>
            <a:tailEnd len="med" w="med" type="none"/>
          </a:ln>
        </p:spPr>
      </p:cxnSp>
      <p:cxnSp>
        <p:nvCxnSpPr>
          <p:cNvPr id="279" name="Google Shape;279;p48"/>
          <p:cNvCxnSpPr>
            <a:endCxn id="272" idx="2"/>
          </p:cNvCxnSpPr>
          <p:nvPr/>
        </p:nvCxnSpPr>
        <p:spPr>
          <a:xfrm flipH="1" rot="10800000">
            <a:off x="4356425" y="1450326"/>
            <a:ext cx="102900" cy="70200"/>
          </a:xfrm>
          <a:prstGeom prst="curvedConnector2">
            <a:avLst/>
          </a:prstGeom>
          <a:noFill/>
          <a:ln cap="flat" cmpd="sng" w="9525">
            <a:solidFill>
              <a:schemeClr val="dk1"/>
            </a:solidFill>
            <a:prstDash val="dot"/>
            <a:round/>
            <a:headEnd len="med" w="med" type="none"/>
            <a:tailEnd len="med" w="med"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9"/>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Keeping updated</a:t>
            </a:r>
            <a:endParaRPr/>
          </a:p>
        </p:txBody>
      </p:sp>
      <p:sp>
        <p:nvSpPr>
          <p:cNvPr id="285" name="Google Shape;285;p49"/>
          <p:cNvSpPr txBox="1"/>
          <p:nvPr>
            <p:ph idx="1" type="body"/>
          </p:nvPr>
        </p:nvSpPr>
        <p:spPr>
          <a:xfrm>
            <a:off x="512100" y="1297575"/>
            <a:ext cx="5866800" cy="3552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Char char="●"/>
            </a:pPr>
            <a:r>
              <a:rPr lang="en" sz="1200"/>
              <a:t>Transcribe latest cadence of calls and convert to HF JSON</a:t>
            </a:r>
            <a:endParaRPr sz="1200"/>
          </a:p>
          <a:p>
            <a:pPr indent="-279400" lvl="1" marL="914400" rtl="0" algn="l">
              <a:spcBef>
                <a:spcPts val="0"/>
              </a:spcBef>
              <a:spcAft>
                <a:spcPts val="0"/>
              </a:spcAft>
              <a:buSzPts val="800"/>
              <a:buChar char="○"/>
            </a:pPr>
            <a:r>
              <a:rPr lang="en" sz="800"/>
              <a:t>Python script for Speechmatics / HF JSON converter</a:t>
            </a:r>
            <a:endParaRPr sz="1200"/>
          </a:p>
          <a:p>
            <a:pPr indent="0" lvl="0" marL="91440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Upload into HumanFirst conversation set </a:t>
            </a:r>
            <a:endParaRPr sz="1200"/>
          </a:p>
          <a:p>
            <a:pPr indent="-279400" lvl="1" marL="914400" rtl="0" algn="l">
              <a:spcBef>
                <a:spcPts val="0"/>
              </a:spcBef>
              <a:spcAft>
                <a:spcPts val="0"/>
              </a:spcAft>
              <a:buSzPts val="800"/>
              <a:buChar char="○"/>
            </a:pPr>
            <a:r>
              <a:rPr lang="en" sz="800"/>
              <a:t>via API or via GUI</a:t>
            </a:r>
            <a:endParaRPr sz="800"/>
          </a:p>
          <a:p>
            <a:pPr indent="0" lvl="0" marL="0" rtl="0" algn="l">
              <a:spcBef>
                <a:spcPts val="0"/>
              </a:spcBef>
              <a:spcAft>
                <a:spcPts val="0"/>
              </a:spcAft>
              <a:buNone/>
            </a:pPr>
            <a:r>
              <a:t/>
            </a:r>
            <a:endParaRPr sz="1200"/>
          </a:p>
          <a:p>
            <a:pPr indent="-304800" lvl="0" marL="457200" rtl="0" algn="l">
              <a:spcBef>
                <a:spcPts val="0"/>
              </a:spcBef>
              <a:spcAft>
                <a:spcPts val="0"/>
              </a:spcAft>
              <a:buSzPts val="1200"/>
              <a:buChar char="●"/>
            </a:pPr>
            <a:r>
              <a:rPr lang="en" sz="1200"/>
              <a:t>Trigger pipelines and upload to BQ</a:t>
            </a:r>
            <a:endParaRPr sz="1200"/>
          </a:p>
          <a:p>
            <a:pPr indent="-279400" lvl="1" marL="914400" rtl="0" algn="l">
              <a:spcBef>
                <a:spcPts val="0"/>
              </a:spcBef>
              <a:spcAft>
                <a:spcPts val="0"/>
              </a:spcAft>
              <a:buSzPts val="800"/>
              <a:buChar char="○"/>
            </a:pPr>
            <a:r>
              <a:rPr lang="en" sz="800"/>
              <a:t>Python script using HF SDK to automate all this can be provided</a:t>
            </a:r>
            <a:endParaRPr sz="800"/>
          </a:p>
          <a:p>
            <a:pPr indent="0" lvl="0" marL="0" rtl="0" algn="l">
              <a:spcBef>
                <a:spcPts val="0"/>
              </a:spcBef>
              <a:spcAft>
                <a:spcPts val="0"/>
              </a:spcAft>
              <a:buNone/>
            </a:pPr>
            <a:r>
              <a:t/>
            </a:r>
            <a:endParaRPr sz="800"/>
          </a:p>
          <a:p>
            <a:pPr indent="-304800" lvl="0" marL="457200" rtl="0" algn="l">
              <a:spcBef>
                <a:spcPts val="0"/>
              </a:spcBef>
              <a:spcAft>
                <a:spcPts val="0"/>
              </a:spcAft>
              <a:buSzPts val="1200"/>
              <a:buChar char="●"/>
            </a:pPr>
            <a:r>
              <a:rPr lang="en" sz="1200"/>
              <a:t>Dashboards will auto refresh based on new data in the view</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0"/>
          <p:cNvSpPr txBox="1"/>
          <p:nvPr>
            <p:ph type="title"/>
          </p:nvPr>
        </p:nvSpPr>
        <p:spPr>
          <a:xfrm>
            <a:off x="512100" y="319450"/>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Deliverables</a:t>
            </a:r>
            <a:endParaRPr/>
          </a:p>
        </p:txBody>
      </p:sp>
      <p:graphicFrame>
        <p:nvGraphicFramePr>
          <p:cNvPr id="291" name="Google Shape;291;p50"/>
          <p:cNvGraphicFramePr/>
          <p:nvPr/>
        </p:nvGraphicFramePr>
        <p:xfrm>
          <a:off x="1077550" y="1459725"/>
          <a:ext cx="3000000" cy="3000000"/>
        </p:xfrm>
        <a:graphic>
          <a:graphicData uri="http://schemas.openxmlformats.org/drawingml/2006/table">
            <a:tbl>
              <a:tblPr>
                <a:noFill/>
                <a:tableStyleId>{46681EA8-31EA-4F3D-9C76-EBEE808183FA}</a:tableStyleId>
              </a:tblPr>
              <a:tblGrid>
                <a:gridCol w="4763975"/>
                <a:gridCol w="2395550"/>
              </a:tblGrid>
              <a:tr h="381000">
                <a:tc>
                  <a:txBody>
                    <a:bodyPr/>
                    <a:lstStyle/>
                    <a:p>
                      <a:pPr indent="0" lvl="0" marL="0" rtl="0" algn="l">
                        <a:spcBef>
                          <a:spcPts val="0"/>
                        </a:spcBef>
                        <a:spcAft>
                          <a:spcPts val="0"/>
                        </a:spcAft>
                        <a:buNone/>
                      </a:pPr>
                      <a:r>
                        <a:rPr lang="en">
                          <a:latin typeface="Inter"/>
                          <a:ea typeface="Inter"/>
                          <a:cs typeface="Inter"/>
                          <a:sym typeface="Inter"/>
                        </a:rPr>
                        <a:t>Deliverable</a:t>
                      </a:r>
                      <a:endParaRPr>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a:latin typeface="Inter"/>
                          <a:ea typeface="Inter"/>
                          <a:cs typeface="Inter"/>
                          <a:sym typeface="Inter"/>
                        </a:rPr>
                        <a:t>Status</a:t>
                      </a:r>
                      <a:endParaRPr>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Prompt to extract overall structure, </a:t>
                      </a:r>
                      <a:r>
                        <a:rPr lang="en" sz="1000">
                          <a:latin typeface="Inter"/>
                          <a:ea typeface="Inter"/>
                          <a:cs typeface="Inter"/>
                          <a:sym typeface="Inter"/>
                        </a:rPr>
                        <a:t>adherence</a:t>
                      </a:r>
                      <a:r>
                        <a:rPr lang="en" sz="1000">
                          <a:latin typeface="Inter"/>
                          <a:ea typeface="Inter"/>
                          <a:cs typeface="Inter"/>
                          <a:sym typeface="Inter"/>
                        </a:rPr>
                        <a:t> to sales playbook</a:t>
                      </a:r>
                      <a:endParaRPr sz="1000">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en" sz="1000">
                          <a:latin typeface="Inter"/>
                          <a:ea typeface="Inter"/>
                          <a:cs typeface="Inter"/>
                          <a:sym typeface="Inter"/>
                        </a:rPr>
                        <a:t>DONE</a:t>
                      </a:r>
                      <a:endParaRPr sz="1000">
                        <a:latin typeface="Inter"/>
                        <a:ea typeface="Inter"/>
                        <a:cs typeface="Inter"/>
                        <a:sym typeface="Inter"/>
                      </a:endParaRPr>
                    </a:p>
                  </a:txBody>
                  <a:tcPr marT="91425" marB="91425" marR="91425" marL="91425"/>
                </a:tc>
              </a:tr>
              <a:tr h="381000">
                <a:tc>
                  <a:txBody>
                    <a:bodyPr/>
                    <a:lstStyle/>
                    <a:p>
                      <a:pPr indent="0" lvl="0" marL="0" rtl="0" algn="l">
                        <a:spcBef>
                          <a:spcPts val="0"/>
                        </a:spcBef>
                        <a:spcAft>
                          <a:spcPts val="0"/>
                        </a:spcAft>
                        <a:buNone/>
                      </a:pPr>
                      <a:r>
                        <a:rPr lang="en" sz="1000">
                          <a:latin typeface="Inter"/>
                          <a:ea typeface="Inter"/>
                          <a:cs typeface="Inter"/>
                          <a:sym typeface="Inter"/>
                        </a:rPr>
                        <a:t>Transcribe </a:t>
                      </a:r>
                      <a:r>
                        <a:rPr lang="en" sz="1000">
                          <a:latin typeface="Inter"/>
                          <a:ea typeface="Inter"/>
                          <a:cs typeface="Inter"/>
                          <a:sym typeface="Inter"/>
                        </a:rPr>
                        <a:t>~3.6K calls from CompareMortgages EN/FR Outbound campaigns with latest enrichment</a:t>
                      </a:r>
                      <a:endParaRPr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DONE</a:t>
                      </a:r>
                      <a:endParaRPr sz="1000">
                        <a:latin typeface="Inter"/>
                        <a:ea typeface="Inter"/>
                        <a:cs typeface="Inter"/>
                        <a:sym typeface="Inter"/>
                      </a:endParaRPr>
                    </a:p>
                  </a:txBody>
                  <a:tcPr marT="91425" marB="91425" marR="91425" marL="91425">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000">
                          <a:latin typeface="Inter"/>
                          <a:ea typeface="Inter"/>
                          <a:cs typeface="Inter"/>
                          <a:sym typeface="Inter"/>
                        </a:rPr>
                        <a:t>Generate insights for calls using Vertex AI using HF </a:t>
                      </a:r>
                      <a:r>
                        <a:rPr lang="en" sz="700">
                          <a:latin typeface="Inter"/>
                          <a:ea typeface="Inter"/>
                          <a:cs typeface="Inter"/>
                          <a:sym typeface="Inter"/>
                        </a:rPr>
                        <a:t>(Claude Anthropic Sonnet 3.5)</a:t>
                      </a:r>
                      <a:endParaRPr sz="7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DONE</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000">
                          <a:latin typeface="Inter"/>
                          <a:ea typeface="Inter"/>
                          <a:cs typeface="Inter"/>
                          <a:sym typeface="Inter"/>
                        </a:rPr>
                        <a:t>Upload insights back to BigQuery dataset and create joined views</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DONE</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000">
                          <a:latin typeface="Inter"/>
                          <a:ea typeface="Inter"/>
                          <a:cs typeface="Inter"/>
                          <a:sym typeface="Inter"/>
                        </a:rPr>
                        <a:t>Build Looker Studio Dashboard</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000">
                          <a:latin typeface="Inter"/>
                          <a:ea typeface="Inter"/>
                          <a:cs typeface="Inter"/>
                          <a:sym typeface="Inter"/>
                        </a:rPr>
                        <a:t>DONE</a:t>
                      </a:r>
                      <a:endParaRPr sz="1000">
                        <a:latin typeface="Inter"/>
                        <a:ea typeface="Inter"/>
                        <a:cs typeface="Inter"/>
                        <a:sym typeface="Inte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51"/>
          <p:cNvSpPr/>
          <p:nvPr/>
        </p:nvSpPr>
        <p:spPr>
          <a:xfrm>
            <a:off x="3709275" y="142850"/>
            <a:ext cx="4631400" cy="46686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Based on the scores and reasoning provided, here's a guidance report for the current agent:</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Agent Performance Report:</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Strengths:</a:t>
            </a:r>
            <a:endParaRPr sz="700"/>
          </a:p>
          <a:p>
            <a:pPr indent="0" lvl="0" marL="0" rtl="0" algn="l">
              <a:spcBef>
                <a:spcPts val="0"/>
              </a:spcBef>
              <a:spcAft>
                <a:spcPts val="0"/>
              </a:spcAft>
              <a:buNone/>
            </a:pPr>
            <a:r>
              <a:rPr lang="en" sz="700"/>
              <a:t>1. Consistently introducing yourself by name (10/12 calls)</a:t>
            </a:r>
            <a:endParaRPr sz="700"/>
          </a:p>
          <a:p>
            <a:pPr indent="0" lvl="0" marL="0" rtl="0" algn="l">
              <a:spcBef>
                <a:spcPts val="0"/>
              </a:spcBef>
              <a:spcAft>
                <a:spcPts val="0"/>
              </a:spcAft>
              <a:buNone/>
            </a:pPr>
            <a:r>
              <a:rPr lang="en" sz="700"/>
              <a:t>2. Clearly stating you're calling from CompareMortgages (12/12 calls)</a:t>
            </a:r>
            <a:endParaRPr sz="700"/>
          </a:p>
          <a:p>
            <a:pPr indent="0" lvl="0" marL="0" rtl="0" algn="l">
              <a:spcBef>
                <a:spcPts val="0"/>
              </a:spcBef>
              <a:spcAft>
                <a:spcPts val="0"/>
              </a:spcAft>
              <a:buNone/>
            </a:pPr>
            <a:r>
              <a:rPr lang="en" sz="700"/>
              <a:t>3. Generally understanding the user's mortgage situation (10/12 calls)</a:t>
            </a:r>
            <a:endParaRPr sz="700"/>
          </a:p>
          <a:p>
            <a:pPr indent="0" lvl="0" marL="0" rtl="0" algn="l">
              <a:spcBef>
                <a:spcPts val="0"/>
              </a:spcBef>
              <a:spcAft>
                <a:spcPts val="0"/>
              </a:spcAft>
              <a:buNone/>
            </a:pPr>
            <a:r>
              <a:rPr lang="en" sz="700"/>
              <a:t>4. Frequently discussing next steps with the user (10/12 calls)</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Areas for Improvement:</a:t>
            </a:r>
            <a:endParaRPr sz="700"/>
          </a:p>
          <a:p>
            <a:pPr indent="0" lvl="0" marL="0" rtl="0" algn="l">
              <a:spcBef>
                <a:spcPts val="0"/>
              </a:spcBef>
              <a:spcAft>
                <a:spcPts val="0"/>
              </a:spcAft>
              <a:buNone/>
            </a:pPr>
            <a:r>
              <a:rPr lang="en" sz="700"/>
              <a:t>1. Greeting the user by name (only 1/12 calls)</a:t>
            </a:r>
            <a:endParaRPr sz="700"/>
          </a:p>
          <a:p>
            <a:pPr indent="0" lvl="0" marL="0" rtl="0" algn="l">
              <a:spcBef>
                <a:spcPts val="0"/>
              </a:spcBef>
              <a:spcAft>
                <a:spcPts val="0"/>
              </a:spcAft>
              <a:buNone/>
            </a:pPr>
            <a:r>
              <a:rPr lang="en" sz="700"/>
              <a:t>2. Consistently verifying the user's mortgage timeframe (6/12 calls)</a:t>
            </a:r>
            <a:endParaRPr sz="700"/>
          </a:p>
          <a:p>
            <a:pPr indent="0" lvl="0" marL="0" rtl="0" algn="l">
              <a:spcBef>
                <a:spcPts val="0"/>
              </a:spcBef>
              <a:spcAft>
                <a:spcPts val="0"/>
              </a:spcAft>
              <a:buNone/>
            </a:pPr>
            <a:r>
              <a:rPr lang="en" sz="700"/>
              <a:t>3. Consistently asking about the user's credit score (8/12 calls)</a:t>
            </a:r>
            <a:endParaRPr sz="700"/>
          </a:p>
          <a:p>
            <a:pPr indent="0" lvl="0" marL="0" rtl="0" algn="l">
              <a:spcBef>
                <a:spcPts val="0"/>
              </a:spcBef>
              <a:spcAft>
                <a:spcPts val="0"/>
              </a:spcAft>
              <a:buNone/>
            </a:pPr>
            <a:r>
              <a:rPr lang="en" sz="700"/>
              <a:t>4. Always mentioning the reason for the call, including both the inquiry and how it was started (9/12 calls)</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Guidance:</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1. User Name: Make it a priority to greet the user by name. If you don't have the name initially, ask for it early in the call and use it throughout the conversation. This personalizes the interaction and builds rapport.</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2. Mortgage Timeframe: Consistently verify the user's likely timeframe for getting a mortgage. This information is crucial for prioritizing leads and providing appropriate assistance. Make it a standard part of your call script.</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3. Credit Score: Always ask about the user's credit score. This information is vital for assessing mortgage options. If you forget, make sure to circle back to this question before the call ends.</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4. Reason for Call: Always clearly state the reason for your call, mentioning both the inquiry and how it was started (e.g., online, website). This reminds the user of their initial interest and establishes the context for the call.</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5. Consistency: While you perform well in most areas, aim for consistency across all calls. Develop a checklist or script to ensure you cover all necessary points in each call.</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6. Adaptability: Be prepared to adjust your approach if the user expresses disinterest. Instead of ending the call abruptly, try to understand their concerns or offer to provide information that might be useful in the future.</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By focusing on these areas, you can improve the overall quality and effectiveness of your calls, potentially leading to better conversion rates and customer satisfaction.</a:t>
            </a:r>
            <a:endParaRPr sz="700"/>
          </a:p>
          <a:p>
            <a:pPr indent="0" lvl="0" marL="0" rtl="0" algn="l">
              <a:spcBef>
                <a:spcPts val="0"/>
              </a:spcBef>
              <a:spcAft>
                <a:spcPts val="0"/>
              </a:spcAft>
              <a:buNone/>
            </a:pPr>
            <a:r>
              <a:t/>
            </a:r>
            <a:endParaRPr sz="700"/>
          </a:p>
        </p:txBody>
      </p:sp>
      <p:pic>
        <p:nvPicPr>
          <p:cNvPr id="297" name="Google Shape;297;p51"/>
          <p:cNvPicPr preferRelativeResize="0"/>
          <p:nvPr/>
        </p:nvPicPr>
        <p:blipFill>
          <a:blip r:embed="rId3">
            <a:alphaModFix/>
          </a:blip>
          <a:stretch>
            <a:fillRect/>
          </a:stretch>
        </p:blipFill>
        <p:spPr>
          <a:xfrm>
            <a:off x="641863" y="1162350"/>
            <a:ext cx="552343" cy="562532"/>
          </a:xfrm>
          <a:prstGeom prst="rect">
            <a:avLst/>
          </a:prstGeom>
          <a:noFill/>
          <a:ln>
            <a:noFill/>
          </a:ln>
        </p:spPr>
      </p:pic>
      <p:sp>
        <p:nvSpPr>
          <p:cNvPr id="298" name="Google Shape;298;p51"/>
          <p:cNvSpPr txBox="1"/>
          <p:nvPr/>
        </p:nvSpPr>
        <p:spPr>
          <a:xfrm>
            <a:off x="544538" y="1652671"/>
            <a:ext cx="747000" cy="16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Call 1 Scores</a:t>
            </a:r>
            <a:endParaRPr sz="700">
              <a:solidFill>
                <a:srgbClr val="475067"/>
              </a:solidFill>
            </a:endParaRPr>
          </a:p>
        </p:txBody>
      </p:sp>
      <p:pic>
        <p:nvPicPr>
          <p:cNvPr id="299" name="Google Shape;299;p51"/>
          <p:cNvPicPr preferRelativeResize="0"/>
          <p:nvPr/>
        </p:nvPicPr>
        <p:blipFill>
          <a:blip r:embed="rId3">
            <a:alphaModFix/>
          </a:blip>
          <a:stretch>
            <a:fillRect/>
          </a:stretch>
        </p:blipFill>
        <p:spPr>
          <a:xfrm>
            <a:off x="641863" y="2109400"/>
            <a:ext cx="552343" cy="562532"/>
          </a:xfrm>
          <a:prstGeom prst="rect">
            <a:avLst/>
          </a:prstGeom>
          <a:noFill/>
          <a:ln>
            <a:noFill/>
          </a:ln>
        </p:spPr>
      </p:pic>
      <p:sp>
        <p:nvSpPr>
          <p:cNvPr id="300" name="Google Shape;300;p51"/>
          <p:cNvSpPr txBox="1"/>
          <p:nvPr/>
        </p:nvSpPr>
        <p:spPr>
          <a:xfrm>
            <a:off x="544538" y="2599721"/>
            <a:ext cx="747000" cy="16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Call 2 Scores</a:t>
            </a:r>
            <a:endParaRPr sz="700">
              <a:solidFill>
                <a:srgbClr val="475067"/>
              </a:solidFill>
            </a:endParaRPr>
          </a:p>
        </p:txBody>
      </p:sp>
      <p:pic>
        <p:nvPicPr>
          <p:cNvPr id="301" name="Google Shape;301;p51"/>
          <p:cNvPicPr preferRelativeResize="0"/>
          <p:nvPr/>
        </p:nvPicPr>
        <p:blipFill>
          <a:blip r:embed="rId3">
            <a:alphaModFix/>
          </a:blip>
          <a:stretch>
            <a:fillRect/>
          </a:stretch>
        </p:blipFill>
        <p:spPr>
          <a:xfrm>
            <a:off x="641863" y="3056450"/>
            <a:ext cx="552343" cy="562532"/>
          </a:xfrm>
          <a:prstGeom prst="rect">
            <a:avLst/>
          </a:prstGeom>
          <a:noFill/>
          <a:ln>
            <a:noFill/>
          </a:ln>
        </p:spPr>
      </p:pic>
      <p:sp>
        <p:nvSpPr>
          <p:cNvPr id="302" name="Google Shape;302;p51"/>
          <p:cNvSpPr txBox="1"/>
          <p:nvPr/>
        </p:nvSpPr>
        <p:spPr>
          <a:xfrm>
            <a:off x="544538" y="3546771"/>
            <a:ext cx="747000" cy="16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Call 3 Scores</a:t>
            </a:r>
            <a:endParaRPr sz="700">
              <a:solidFill>
                <a:srgbClr val="475067"/>
              </a:solidFill>
            </a:endParaRPr>
          </a:p>
        </p:txBody>
      </p:sp>
      <p:sp>
        <p:nvSpPr>
          <p:cNvPr id="303" name="Google Shape;303;p51"/>
          <p:cNvSpPr/>
          <p:nvPr/>
        </p:nvSpPr>
        <p:spPr>
          <a:xfrm>
            <a:off x="1527149" y="2243350"/>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sp>
        <p:nvSpPr>
          <p:cNvPr id="304" name="Google Shape;304;p51"/>
          <p:cNvSpPr/>
          <p:nvPr/>
        </p:nvSpPr>
        <p:spPr>
          <a:xfrm>
            <a:off x="2145725" y="1911210"/>
            <a:ext cx="875100" cy="996000"/>
          </a:xfrm>
          <a:prstGeom prst="roundRect">
            <a:avLst>
              <a:gd fmla="val 16667" name="adj"/>
            </a:avLst>
          </a:prstGeom>
          <a:noFill/>
          <a:ln cap="flat" cmpd="sng" w="9525">
            <a:solidFill>
              <a:srgbClr val="12184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5" name="Google Shape;305;p51"/>
          <p:cNvSpPr txBox="1"/>
          <p:nvPr/>
        </p:nvSpPr>
        <p:spPr>
          <a:xfrm>
            <a:off x="2102671" y="2209500"/>
            <a:ext cx="9612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700">
                <a:solidFill>
                  <a:srgbClr val="475067"/>
                </a:solidFill>
              </a:rPr>
              <a:t>Merge Insight Call Guidance Report Prompt</a:t>
            </a:r>
            <a:endParaRPr sz="700">
              <a:solidFill>
                <a:srgbClr val="475067"/>
              </a:solidFill>
            </a:endParaRPr>
          </a:p>
        </p:txBody>
      </p:sp>
      <p:sp>
        <p:nvSpPr>
          <p:cNvPr id="306" name="Google Shape;306;p51"/>
          <p:cNvSpPr/>
          <p:nvPr/>
        </p:nvSpPr>
        <p:spPr>
          <a:xfrm>
            <a:off x="3090699" y="2243350"/>
            <a:ext cx="548700" cy="250200"/>
          </a:xfrm>
          <a:prstGeom prst="rightArrow">
            <a:avLst>
              <a:gd fmla="val 50000" name="adj1"/>
              <a:gd fmla="val 50000" name="adj2"/>
            </a:avLst>
          </a:prstGeom>
          <a:solidFill>
            <a:srgbClr val="294489"/>
          </a:solidFill>
          <a:ln cap="flat" cmpd="sng" w="9525">
            <a:solidFill>
              <a:srgbClr val="29448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76CCED"/>
              </a:highlight>
            </a:endParaRPr>
          </a:p>
        </p:txBody>
      </p:sp>
      <p:sp>
        <p:nvSpPr>
          <p:cNvPr id="307" name="Google Shape;307;p51"/>
          <p:cNvSpPr txBox="1"/>
          <p:nvPr/>
        </p:nvSpPr>
        <p:spPr>
          <a:xfrm>
            <a:off x="4639798" y="4811450"/>
            <a:ext cx="25305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Sample report for Navraj across 12 calls</a:t>
            </a:r>
            <a:endParaRPr sz="600">
              <a:solidFill>
                <a:srgbClr val="475067"/>
              </a:solidFill>
            </a:endParaRPr>
          </a:p>
        </p:txBody>
      </p:sp>
      <p:sp>
        <p:nvSpPr>
          <p:cNvPr id="308" name="Google Shape;308;p51"/>
          <p:cNvSpPr txBox="1"/>
          <p:nvPr/>
        </p:nvSpPr>
        <p:spPr>
          <a:xfrm>
            <a:off x="-347214" y="3910400"/>
            <a:ext cx="2530500" cy="26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600">
                <a:solidFill>
                  <a:srgbClr val="475067"/>
                </a:solidFill>
              </a:rPr>
              <a:t>Scores across multiple calls</a:t>
            </a:r>
            <a:endParaRPr sz="600">
              <a:solidFill>
                <a:srgbClr val="475067"/>
              </a:solidFill>
            </a:endParaRPr>
          </a:p>
          <a:p>
            <a:pPr indent="0" lvl="0" marL="0" rtl="0" algn="ctr">
              <a:spcBef>
                <a:spcPts val="0"/>
              </a:spcBef>
              <a:spcAft>
                <a:spcPts val="0"/>
              </a:spcAft>
              <a:buNone/>
            </a:pPr>
            <a:r>
              <a:t/>
            </a:r>
            <a:endParaRPr sz="600">
              <a:solidFill>
                <a:srgbClr val="475067"/>
              </a:solidFill>
            </a:endParaRPr>
          </a:p>
        </p:txBody>
      </p:sp>
      <p:sp>
        <p:nvSpPr>
          <p:cNvPr id="309" name="Google Shape;309;p51"/>
          <p:cNvSpPr txBox="1"/>
          <p:nvPr>
            <p:ph type="title"/>
          </p:nvPr>
        </p:nvSpPr>
        <p:spPr>
          <a:xfrm>
            <a:off x="419575" y="69075"/>
            <a:ext cx="77022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Reports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52"/>
          <p:cNvSpPr/>
          <p:nvPr/>
        </p:nvSpPr>
        <p:spPr>
          <a:xfrm>
            <a:off x="2256300" y="153750"/>
            <a:ext cx="4631400" cy="4836000"/>
          </a:xfrm>
          <a:prstGeom prst="roundRect">
            <a:avLst>
              <a:gd fmla="val 5387" name="adj"/>
            </a:avLst>
          </a:prstGeom>
          <a:solidFill>
            <a:srgbClr val="F4F6FB"/>
          </a:solidFill>
          <a:ln cap="flat" cmpd="sng" w="9525">
            <a:solidFill>
              <a:srgbClr val="D0D4D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700"/>
              <a:t>Below is a set of scores for various criteria evaluating a SDR (Agent) of an online mortgage lending company in Canada called Nesto on call guidance. The "Agent" outbound call to a customer or potential lead under the alias CompareMortgages or MonMeilleurTaux.</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&lt;criteria&gt;</a:t>
            </a:r>
            <a:endParaRPr sz="700"/>
          </a:p>
          <a:p>
            <a:pPr indent="0" lvl="0" marL="0" rtl="0" algn="l">
              <a:spcBef>
                <a:spcPts val="0"/>
              </a:spcBef>
              <a:spcAft>
                <a:spcPts val="0"/>
              </a:spcAft>
              <a:buNone/>
            </a:pPr>
            <a:r>
              <a:rPr lang="en" sz="700"/>
              <a:t>agent_name: Did the Agent introduce themselves by name?</a:t>
            </a:r>
            <a:endParaRPr sz="700"/>
          </a:p>
          <a:p>
            <a:pPr indent="0" lvl="0" marL="0" rtl="0" algn="l">
              <a:spcBef>
                <a:spcPts val="0"/>
              </a:spcBef>
              <a:spcAft>
                <a:spcPts val="0"/>
              </a:spcAft>
              <a:buNone/>
            </a:pPr>
            <a:r>
              <a:rPr lang="en" sz="700"/>
              <a:t>user_name: Did the Agent greet the User by name?</a:t>
            </a:r>
            <a:endParaRPr sz="700"/>
          </a:p>
          <a:p>
            <a:pPr indent="0" lvl="0" marL="0" rtl="0" algn="l">
              <a:spcBef>
                <a:spcPts val="0"/>
              </a:spcBef>
              <a:spcAft>
                <a:spcPts val="0"/>
              </a:spcAft>
              <a:buNone/>
            </a:pPr>
            <a:r>
              <a:rPr lang="en" sz="700"/>
              <a:t>calling_organization: Did the Agent mention calling from CompareMortgages or MonMeilleurTaux explicitly?</a:t>
            </a:r>
            <a:endParaRPr sz="700"/>
          </a:p>
          <a:p>
            <a:pPr indent="0" lvl="0" marL="0" rtl="0" algn="l">
              <a:spcBef>
                <a:spcPts val="0"/>
              </a:spcBef>
              <a:spcAft>
                <a:spcPts val="0"/>
              </a:spcAft>
              <a:buNone/>
            </a:pPr>
            <a:r>
              <a:rPr lang="en" sz="700"/>
              <a:t>reason_for_call: Did the Agent mention the reason for calling is regarding an inquiry started on the website? (The agent must mention both the inquiry and how the User started their inquiry for instance online, web or website to be scored as 1)</a:t>
            </a:r>
            <a:endParaRPr sz="700"/>
          </a:p>
          <a:p>
            <a:pPr indent="0" lvl="0" marL="0" rtl="0" algn="l">
              <a:spcBef>
                <a:spcPts val="0"/>
              </a:spcBef>
              <a:spcAft>
                <a:spcPts val="0"/>
              </a:spcAft>
              <a:buNone/>
            </a:pPr>
            <a:r>
              <a:rPr lang="en" sz="700"/>
              <a:t>mortgage_need: Did the Agent understand the User's mortgage situation? (The user mentioning or the agent inquiring their mortgage situation such as purchasing a home, looking for a new mortgage, renewing, refinancing is to be scored as 1)</a:t>
            </a:r>
            <a:endParaRPr sz="700"/>
          </a:p>
          <a:p>
            <a:pPr indent="0" lvl="0" marL="0" rtl="0" algn="l">
              <a:spcBef>
                <a:spcPts val="0"/>
              </a:spcBef>
              <a:spcAft>
                <a:spcPts val="0"/>
              </a:spcAft>
              <a:buNone/>
            </a:pPr>
            <a:r>
              <a:rPr lang="en" sz="700"/>
              <a:t>mortgage_timeframe: Did the Agent verify the User's likely timeframe for getting a mortgage?</a:t>
            </a:r>
            <a:endParaRPr sz="700"/>
          </a:p>
          <a:p>
            <a:pPr indent="0" lvl="0" marL="0" rtl="0" algn="l">
              <a:spcBef>
                <a:spcPts val="0"/>
              </a:spcBef>
              <a:spcAft>
                <a:spcPts val="0"/>
              </a:spcAft>
              <a:buNone/>
            </a:pPr>
            <a:r>
              <a:rPr lang="en" sz="700"/>
              <a:t>credit_score: Did the Agent ask the User whether they knew their credit score?</a:t>
            </a:r>
            <a:endParaRPr sz="700"/>
          </a:p>
          <a:p>
            <a:pPr indent="0" lvl="0" marL="0" rtl="0" algn="l">
              <a:spcBef>
                <a:spcPts val="0"/>
              </a:spcBef>
              <a:spcAft>
                <a:spcPts val="0"/>
              </a:spcAft>
              <a:buNone/>
            </a:pPr>
            <a:r>
              <a:rPr lang="en" sz="700"/>
              <a:t>next_steps: Did the Agent discuss or clearly communicate next steps at any point in the call? (Setting up any follow up action such as a call back or a transfer is to be scored as a 1)</a:t>
            </a:r>
            <a:endParaRPr sz="700"/>
          </a:p>
          <a:p>
            <a:pPr indent="0" lvl="0" marL="0" rtl="0" algn="l">
              <a:spcBef>
                <a:spcPts val="0"/>
              </a:spcBef>
              <a:spcAft>
                <a:spcPts val="0"/>
              </a:spcAft>
              <a:buNone/>
            </a:pPr>
            <a:r>
              <a:rPr lang="en" sz="700"/>
              <a:t>&lt;/criteria&gt;</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The criteria below are in loaded in the following order:</a:t>
            </a:r>
            <a:endParaRPr sz="700"/>
          </a:p>
          <a:p>
            <a:pPr indent="0" lvl="0" marL="0" rtl="0" algn="l">
              <a:spcBef>
                <a:spcPts val="0"/>
              </a:spcBef>
              <a:spcAft>
                <a:spcPts val="0"/>
              </a:spcAft>
              <a:buNone/>
            </a:pPr>
            <a:r>
              <a:rPr lang="en" sz="700"/>
              <a:t>next_steps_reasoning</a:t>
            </a:r>
            <a:endParaRPr sz="700"/>
          </a:p>
          <a:p>
            <a:pPr indent="0" lvl="0" marL="0" rtl="0" algn="l">
              <a:spcBef>
                <a:spcPts val="0"/>
              </a:spcBef>
              <a:spcAft>
                <a:spcPts val="0"/>
              </a:spcAft>
              <a:buNone/>
            </a:pPr>
            <a:r>
              <a:rPr lang="en" sz="700"/>
              <a:t>credit_score_reasoning</a:t>
            </a:r>
            <a:endParaRPr sz="700"/>
          </a:p>
          <a:p>
            <a:pPr indent="0" lvl="0" marL="0" rtl="0" algn="l">
              <a:spcBef>
                <a:spcPts val="0"/>
              </a:spcBef>
              <a:spcAft>
                <a:spcPts val="0"/>
              </a:spcAft>
              <a:buNone/>
            </a:pPr>
            <a:r>
              <a:rPr lang="en" sz="700"/>
              <a:t>mortgage_timeframe_reasoning</a:t>
            </a:r>
            <a:endParaRPr sz="700"/>
          </a:p>
          <a:p>
            <a:pPr indent="0" lvl="0" marL="0" rtl="0" algn="l">
              <a:spcBef>
                <a:spcPts val="0"/>
              </a:spcBef>
              <a:spcAft>
                <a:spcPts val="0"/>
              </a:spcAft>
              <a:buNone/>
            </a:pPr>
            <a:r>
              <a:rPr lang="en" sz="700"/>
              <a:t>mortgage_need_reasoning</a:t>
            </a:r>
            <a:endParaRPr sz="700"/>
          </a:p>
          <a:p>
            <a:pPr indent="0" lvl="0" marL="0" rtl="0" algn="l">
              <a:spcBef>
                <a:spcPts val="0"/>
              </a:spcBef>
              <a:spcAft>
                <a:spcPts val="0"/>
              </a:spcAft>
              <a:buNone/>
            </a:pPr>
            <a:r>
              <a:rPr lang="en" sz="700"/>
              <a:t>reason_for_call_reasoning</a:t>
            </a:r>
            <a:endParaRPr sz="700"/>
          </a:p>
          <a:p>
            <a:pPr indent="0" lvl="0" marL="0" rtl="0" algn="l">
              <a:spcBef>
                <a:spcPts val="0"/>
              </a:spcBef>
              <a:spcAft>
                <a:spcPts val="0"/>
              </a:spcAft>
              <a:buNone/>
            </a:pPr>
            <a:r>
              <a:rPr lang="en" sz="700"/>
              <a:t>calling_organization_reasoning</a:t>
            </a:r>
            <a:endParaRPr sz="700"/>
          </a:p>
          <a:p>
            <a:pPr indent="0" lvl="0" marL="0" rtl="0" algn="l">
              <a:spcBef>
                <a:spcPts val="0"/>
              </a:spcBef>
              <a:spcAft>
                <a:spcPts val="0"/>
              </a:spcAft>
              <a:buNone/>
            </a:pPr>
            <a:r>
              <a:rPr lang="en" sz="700"/>
              <a:t>user_name_reasoning</a:t>
            </a:r>
            <a:endParaRPr sz="700"/>
          </a:p>
          <a:p>
            <a:pPr indent="0" lvl="0" marL="0" rtl="0" algn="l">
              <a:spcBef>
                <a:spcPts val="0"/>
              </a:spcBef>
              <a:spcAft>
                <a:spcPts val="0"/>
              </a:spcAft>
              <a:buNone/>
            </a:pPr>
            <a:r>
              <a:rPr lang="en" sz="700"/>
              <a:t>agent_name_reasoning</a:t>
            </a:r>
            <a:endParaRPr sz="700"/>
          </a:p>
          <a:p>
            <a:pPr indent="0" lvl="0" marL="0" rtl="0" algn="l">
              <a:spcBef>
                <a:spcPts val="0"/>
              </a:spcBef>
              <a:spcAft>
                <a:spcPts val="0"/>
              </a:spcAft>
              <a:buNone/>
            </a:pPr>
            <a:r>
              <a:rPr lang="en" sz="700"/>
              <a:t>next_steps</a:t>
            </a:r>
            <a:endParaRPr sz="700"/>
          </a:p>
          <a:p>
            <a:pPr indent="0" lvl="0" marL="0" rtl="0" algn="l">
              <a:spcBef>
                <a:spcPts val="0"/>
              </a:spcBef>
              <a:spcAft>
                <a:spcPts val="0"/>
              </a:spcAft>
              <a:buNone/>
            </a:pPr>
            <a:r>
              <a:rPr lang="en" sz="700"/>
              <a:t>credit_score</a:t>
            </a:r>
            <a:endParaRPr sz="700"/>
          </a:p>
          <a:p>
            <a:pPr indent="0" lvl="0" marL="0" rtl="0" algn="l">
              <a:spcBef>
                <a:spcPts val="0"/>
              </a:spcBef>
              <a:spcAft>
                <a:spcPts val="0"/>
              </a:spcAft>
              <a:buNone/>
            </a:pPr>
            <a:r>
              <a:rPr lang="en" sz="700"/>
              <a:t>mortgage_timeframe</a:t>
            </a:r>
            <a:endParaRPr sz="700"/>
          </a:p>
          <a:p>
            <a:pPr indent="0" lvl="0" marL="0" rtl="0" algn="l">
              <a:spcBef>
                <a:spcPts val="0"/>
              </a:spcBef>
              <a:spcAft>
                <a:spcPts val="0"/>
              </a:spcAft>
              <a:buNone/>
            </a:pPr>
            <a:r>
              <a:rPr lang="en" sz="700"/>
              <a:t>mortgage_need</a:t>
            </a:r>
            <a:endParaRPr sz="700"/>
          </a:p>
          <a:p>
            <a:pPr indent="0" lvl="0" marL="0" rtl="0" algn="l">
              <a:spcBef>
                <a:spcPts val="0"/>
              </a:spcBef>
              <a:spcAft>
                <a:spcPts val="0"/>
              </a:spcAft>
              <a:buNone/>
            </a:pPr>
            <a:r>
              <a:rPr lang="en" sz="700"/>
              <a:t>reason_for_call</a:t>
            </a:r>
            <a:endParaRPr sz="700"/>
          </a:p>
          <a:p>
            <a:pPr indent="0" lvl="0" marL="0" rtl="0" algn="l">
              <a:spcBef>
                <a:spcPts val="0"/>
              </a:spcBef>
              <a:spcAft>
                <a:spcPts val="0"/>
              </a:spcAft>
              <a:buNone/>
            </a:pPr>
            <a:r>
              <a:rPr lang="en" sz="700"/>
              <a:t>calling_organization</a:t>
            </a:r>
            <a:endParaRPr sz="700"/>
          </a:p>
          <a:p>
            <a:pPr indent="0" lvl="0" marL="0" rtl="0" algn="l">
              <a:spcBef>
                <a:spcPts val="0"/>
              </a:spcBef>
              <a:spcAft>
                <a:spcPts val="0"/>
              </a:spcAft>
              <a:buNone/>
            </a:pPr>
            <a:r>
              <a:rPr lang="en" sz="700"/>
              <a:t>user_name</a:t>
            </a:r>
            <a:endParaRPr sz="700"/>
          </a:p>
          <a:p>
            <a:pPr indent="0" lvl="0" marL="0" rtl="0" algn="l">
              <a:spcBef>
                <a:spcPts val="0"/>
              </a:spcBef>
              <a:spcAft>
                <a:spcPts val="0"/>
              </a:spcAft>
              <a:buNone/>
            </a:pPr>
            <a:r>
              <a:rPr lang="en" sz="700"/>
              <a:t>agent_name</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&lt;scores and reasoning&gt;</a:t>
            </a:r>
            <a:endParaRPr sz="700"/>
          </a:p>
          <a:p>
            <a:pPr indent="0" lvl="0" marL="0" rtl="0" algn="l">
              <a:spcBef>
                <a:spcPts val="0"/>
              </a:spcBef>
              <a:spcAft>
                <a:spcPts val="0"/>
              </a:spcAft>
              <a:buNone/>
            </a:pPr>
            <a:r>
              <a:rPr lang="en" sz="700"/>
              <a:t>{{ text }}</a:t>
            </a:r>
            <a:endParaRPr sz="700"/>
          </a:p>
          <a:p>
            <a:pPr indent="0" lvl="0" marL="0" rtl="0" algn="l">
              <a:spcBef>
                <a:spcPts val="0"/>
              </a:spcBef>
              <a:spcAft>
                <a:spcPts val="0"/>
              </a:spcAft>
              <a:buNone/>
            </a:pPr>
            <a:r>
              <a:rPr lang="en" sz="700"/>
              <a:t>&lt;/scores and reasoning&gt;</a:t>
            </a:r>
            <a:endParaRPr sz="700"/>
          </a:p>
          <a:p>
            <a:pPr indent="0" lvl="0" marL="0" rtl="0" algn="l">
              <a:spcBef>
                <a:spcPts val="0"/>
              </a:spcBef>
              <a:spcAft>
                <a:spcPts val="0"/>
              </a:spcAft>
              <a:buNone/>
            </a:pPr>
            <a:r>
              <a:t/>
            </a:r>
            <a:endParaRPr sz="700"/>
          </a:p>
          <a:p>
            <a:pPr indent="0" lvl="0" marL="0" rtl="0" algn="l">
              <a:spcBef>
                <a:spcPts val="0"/>
              </a:spcBef>
              <a:spcAft>
                <a:spcPts val="0"/>
              </a:spcAft>
              <a:buNone/>
            </a:pPr>
            <a:r>
              <a:rPr lang="en" sz="700"/>
              <a:t>Produce a single report providing useful guidance for the current agent based on the scores above.</a:t>
            </a:r>
            <a:endParaRPr sz="7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Human First">
  <a:themeElements>
    <a:clrScheme name="Simple Light">
      <a:dk1>
        <a:srgbClr val="12184A"/>
      </a:dk1>
      <a:lt1>
        <a:srgbClr val="FFFFFF"/>
      </a:lt1>
      <a:dk2>
        <a:srgbClr val="F4F6FB"/>
      </a:dk2>
      <a:lt2>
        <a:srgbClr val="76CCED"/>
      </a:lt2>
      <a:accent1>
        <a:srgbClr val="294489"/>
      </a:accent1>
      <a:accent2>
        <a:srgbClr val="650C4C"/>
      </a:accent2>
      <a:accent3>
        <a:srgbClr val="D0D4DD"/>
      </a:accent3>
      <a:accent4>
        <a:srgbClr val="98A0B3"/>
      </a:accent4>
      <a:accent5>
        <a:srgbClr val="666F85"/>
      </a:accent5>
      <a:accent6>
        <a:srgbClr val="475067"/>
      </a:accent6>
      <a:hlink>
        <a:srgbClr val="29448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