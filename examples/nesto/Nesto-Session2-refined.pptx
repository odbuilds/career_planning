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Inter Light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Manrope SemiBold"/>
      <p:regular r:id="rId28"/>
      <p:bold r:id="rId29"/>
    </p:embeddedFont>
    <p:embeddedFont>
      <p:font typeface="Manrope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B0CA21-6AB0-478D-B46E-F3A29551636F}">
  <a:tblStyle styleId="{F7B0CA21-6AB0-478D-B46E-F3A2955163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regular.fntdata"/><Relationship Id="rId22" Type="http://schemas.openxmlformats.org/officeDocument/2006/relationships/font" Target="fonts/InterLight-italic.fntdata"/><Relationship Id="rId21" Type="http://schemas.openxmlformats.org/officeDocument/2006/relationships/font" Target="fonts/InterLight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Light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ManropeSemiBold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anropeSemiBol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anrope-bold.fntdata"/><Relationship Id="rId30" Type="http://schemas.openxmlformats.org/officeDocument/2006/relationships/font" Target="fonts/Manrope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99bd2dc47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99bd2dc47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e377086fa_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e377086fa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0113ecd3b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0113ecd3b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113ecd3b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113ecd3b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113ecd3b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113ecd3b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0113ecd3b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0113ecd3b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0113ecd3b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0113ecd3b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fe377086fa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fe377086fa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0113ecd3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0113ecd3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75067"/>
              </a:buClr>
              <a:buSzPts val="1400"/>
              <a:buFont typeface="Inter"/>
              <a:buChar char="●"/>
            </a:pPr>
            <a:r>
              <a:rPr lang="en" sz="1400">
                <a:solidFill>
                  <a:srgbClr val="475067"/>
                </a:solidFill>
                <a:latin typeface="Inter"/>
                <a:ea typeface="Inter"/>
                <a:cs typeface="Inter"/>
                <a:sym typeface="Inter"/>
              </a:rPr>
              <a:t>“Leads" portion is due to wrong content enrichment – will be removed from data in the next run and updated tommorow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0113ecd3b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0113ecd3b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0113ecd3b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0113ecd3b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0113ecd3b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0113ecd3b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ark" type="title">
  <p:cSld name="TITLE">
    <p:bg>
      <p:bgPr>
        <a:solidFill>
          <a:srgbClr val="294489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">
  <p:cSld name="TITLE_2">
    <p:bg>
      <p:bgPr>
        <a:solidFill>
          <a:srgbClr val="294489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 1">
  <p:cSld name="TITLE_2_2">
    <p:bg>
      <p:bgPr>
        <a:solidFill>
          <a:srgbClr val="294489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">
  <p:cSld name="TITLE_2_1">
    <p:bg>
      <p:bgPr>
        <a:solidFill>
          <a:srgbClr val="12184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7"/>
          <p:cNvPicPr preferRelativeResize="0"/>
          <p:nvPr/>
        </p:nvPicPr>
        <p:blipFill rotWithShape="1">
          <a:blip r:embed="rId2">
            <a:alphaModFix amt="33000"/>
          </a:blip>
          <a:srcRect b="26248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 1">
  <p:cSld name="TITLE_2_1_1">
    <p:bg>
      <p:bgPr>
        <a:solidFill>
          <a:srgbClr val="12184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8"/>
          <p:cNvPicPr preferRelativeResize="0"/>
          <p:nvPr/>
        </p:nvPicPr>
        <p:blipFill rotWithShape="1">
          <a:blip r:embed="rId2">
            <a:alphaModFix amt="33000"/>
          </a:blip>
          <a:srcRect b="26248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ight">
  <p:cSld name="TITLE_1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ight 1">
  <p:cSld name="TITLE_1_1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ight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3600"/>
              <a:buFont typeface="Manrope"/>
              <a:buNone/>
              <a:defRPr b="1" sz="3600">
                <a:solidFill>
                  <a:srgbClr val="294489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668100" y="1421325"/>
            <a:ext cx="7546200" cy="3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9" name="Google Shape;79;p21"/>
          <p:cNvSpPr txBox="1"/>
          <p:nvPr>
            <p:ph idx="2" type="subTitle"/>
          </p:nvPr>
        </p:nvSpPr>
        <p:spPr>
          <a:xfrm>
            <a:off x="539250" y="984850"/>
            <a:ext cx="6462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ight 1">
  <p:cSld name="SECTION_HEADER_5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lac">
  <p:cSld name="SECTION_HEADER_4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/>
          <p:nvPr/>
        </p:nvSpPr>
        <p:spPr>
          <a:xfrm rot="-5400000">
            <a:off x="4255050" y="271725"/>
            <a:ext cx="5168700" cy="46092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E7E9F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Blue 2">
  <p:cSld name="SECTION_HEADER_4_3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/>
          <p:nvPr/>
        </p:nvSpPr>
        <p:spPr>
          <a:xfrm rot="-5400000">
            <a:off x="4261975" y="265575"/>
            <a:ext cx="5179500" cy="46092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2944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4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lac 1">
  <p:cSld name="SECTION_HEADER_4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25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E7E9F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lue">
  <p:cSld name="SECTION_HEADER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6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DBF2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">
  <p:cSld name="SECTION_HEADER_4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7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D8C5D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 1">
  <p:cSld name="SECTION_HEADER_4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8"/>
          <p:cNvSpPr/>
          <p:nvPr/>
        </p:nvSpPr>
        <p:spPr>
          <a:xfrm flipH="1" rot="5400000">
            <a:off x="-979800" y="971550"/>
            <a:ext cx="5160000" cy="3200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 1 1">
  <p:cSld name="SECTION_HEADER_4_1_1_1_1">
    <p:bg>
      <p:bgPr>
        <a:solidFill>
          <a:schemeClr val="dk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29"/>
          <p:cNvSpPr/>
          <p:nvPr/>
        </p:nvSpPr>
        <p:spPr>
          <a:xfrm flipH="1" rot="5400000">
            <a:off x="-979800" y="971550"/>
            <a:ext cx="5160000" cy="3200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ransparency Pattern">
  <p:cSld name="SECTION_HEADER_3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23971" y="-1231413"/>
            <a:ext cx="8587677" cy="8594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0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Light">
  <p:cSld name="SECTION_HEADER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1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Dark">
  <p:cSld name="SECTION_HEADER_1">
    <p:bg>
      <p:bgPr>
        <a:solidFill>
          <a:srgbClr val="294489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Dark 1">
  <p:cSld name="SECTION_HEADER_1_1">
    <p:bg>
      <p:bgPr>
        <a:solidFill>
          <a:srgbClr val="294489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3600"/>
              <a:buFont typeface="Manrope"/>
              <a:buChar char="●"/>
              <a:defRPr b="1" sz="3600"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●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●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6" name="Google Shape;12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7" name="Google Shape;12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storage.cloud.google.com/humanfirst-prod-call-recording/five9/recordings/0723FE4459094986929149E49EE31329/2024-03-11T16%3A26%3A13.wav" TargetMode="External"/><Relationship Id="rId4" Type="http://schemas.openxmlformats.org/officeDocument/2006/relationships/hyperlink" Target="https://storage.cloud.google.com/humanfirst-prod-call-recording/five9/recordings/0510648D716648EDA38091C981C1882F/2024-05-09T10%3A47%3A07.wav" TargetMode="External"/><Relationship Id="rId5" Type="http://schemas.openxmlformats.org/officeDocument/2006/relationships/hyperlink" Target="https://storage.cloud.google.com/humanfirst-prod-call-recording/five9/recordings/01CC60FDB7184DBCACD186C3656679AE/2024-05-07T12%3A17%3A20.wav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storage.cloud.google.com/humanfirst-prod-call-recording/five9/recordings/0864EE4246024E91B7D37D4C4AF6B7F2/2024-01-11T14%3A58%3A05.wav" TargetMode="External"/><Relationship Id="rId4" Type="http://schemas.openxmlformats.org/officeDocument/2006/relationships/hyperlink" Target="https://storage.cloud.google.com/humanfirst-prod-call-recording/five9/recordings/0FAB473852C04482AD3215DBD7EF917C/2024-05-17T15%3A29%3A01.wav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storage.cloud.google.com/humanfirst-prod-call-recording/five9/recordings/0864EE4246024E91B7D37D4C4AF6B7F2/2024-01-11T14%3A58%3A05.wav" TargetMode="External"/><Relationship Id="rId4" Type="http://schemas.openxmlformats.org/officeDocument/2006/relationships/hyperlink" Target="https://storage.cloud.google.com/humanfirst-prod-call-recording/five9/recordings/0FAB473852C04482AD3215DBD7EF917C/2024-05-17T15%3A29%3A01.wav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4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6"/>
          <p:cNvSpPr txBox="1"/>
          <p:nvPr/>
        </p:nvSpPr>
        <p:spPr>
          <a:xfrm>
            <a:off x="333650" y="1925250"/>
            <a:ext cx="572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SDR Script</a:t>
            </a:r>
            <a:endParaRPr sz="36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Adherence 2</a:t>
            </a:r>
            <a:endParaRPr sz="36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36" name="Google Shape;13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50" y="339750"/>
            <a:ext cx="1941901" cy="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</a:t>
            </a:r>
            <a:endParaRPr/>
          </a:p>
        </p:txBody>
      </p:sp>
      <p:sp>
        <p:nvSpPr>
          <p:cNvPr id="143" name="Google Shape;143;p37"/>
          <p:cNvSpPr txBox="1"/>
          <p:nvPr>
            <p:ph idx="1" type="body"/>
          </p:nvPr>
        </p:nvSpPr>
        <p:spPr>
          <a:xfrm>
            <a:off x="557875" y="1236700"/>
            <a:ext cx="71115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Tweaked prompt further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Now also including for M</a:t>
            </a:r>
            <a:r>
              <a:rPr lang="en"/>
              <a:t>onMeilleurTaux (bestrates) for FR calls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Grading prompt loosened more for transcription errors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Fixed agent name transcription issues for </a:t>
            </a:r>
            <a:r>
              <a:rPr i="1" lang="en"/>
              <a:t>most</a:t>
            </a:r>
            <a:r>
              <a:rPr lang="en"/>
              <a:t> conversations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2 Attempts to fix mis-transcriptions: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Content Enrichment Set using Standard and Advanced transcription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Prompt Modified Set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Clickable URL field added to each call to </a:t>
            </a:r>
            <a:r>
              <a:rPr lang="en"/>
              <a:t>immediately</a:t>
            </a:r>
            <a:r>
              <a:rPr lang="en"/>
              <a:t> review the call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SDR successful transfer to advisor field now also included to map scores to tangible successful transfers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4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8"/>
          <p:cNvSpPr txBox="1"/>
          <p:nvPr/>
        </p:nvSpPr>
        <p:spPr>
          <a:xfrm>
            <a:off x="333650" y="1925250"/>
            <a:ext cx="8289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Updated Scoring</a:t>
            </a:r>
            <a:endParaRPr sz="36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50" name="Google Shape;15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50" y="339750"/>
            <a:ext cx="1941901" cy="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9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58" name="Google Shape;158;p39"/>
          <p:cNvSpPr txBox="1"/>
          <p:nvPr/>
        </p:nvSpPr>
        <p:spPr>
          <a:xfrm>
            <a:off x="32350" y="4835700"/>
            <a:ext cx="162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Advanced Transcripts</a:t>
            </a:r>
            <a:endParaRPr sz="400"/>
          </a:p>
        </p:txBody>
      </p:sp>
      <p:pic>
        <p:nvPicPr>
          <p:cNvPr id="159" name="Google Shape;15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125" y="32325"/>
            <a:ext cx="7007174" cy="50848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40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66" name="Google Shape;166;p40"/>
          <p:cNvSpPr txBox="1"/>
          <p:nvPr/>
        </p:nvSpPr>
        <p:spPr>
          <a:xfrm>
            <a:off x="32350" y="4835700"/>
            <a:ext cx="162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Advanced Transcripts</a:t>
            </a:r>
            <a:endParaRPr sz="400"/>
          </a:p>
        </p:txBody>
      </p:sp>
      <p:pic>
        <p:nvPicPr>
          <p:cNvPr id="167" name="Google Shape;1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125" y="32325"/>
            <a:ext cx="7007174" cy="50848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" name="Google Shape;168;p40"/>
          <p:cNvSpPr/>
          <p:nvPr/>
        </p:nvSpPr>
        <p:spPr>
          <a:xfrm>
            <a:off x="159275" y="647625"/>
            <a:ext cx="2202300" cy="684000"/>
          </a:xfrm>
          <a:prstGeom prst="roundRect">
            <a:avLst>
              <a:gd fmla="val 16667" name="adj"/>
            </a:avLst>
          </a:prstGeom>
          <a:solidFill>
            <a:srgbClr val="DBF2F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Best agent performance is Alexandre with high script </a:t>
            </a:r>
            <a:r>
              <a:rPr lang="en" sz="800"/>
              <a:t>adherence</a:t>
            </a:r>
            <a:r>
              <a:rPr lang="en" sz="800"/>
              <a:t> scores and also the highest successful transfers given total calls.</a:t>
            </a:r>
            <a:endParaRPr sz="800"/>
          </a:p>
        </p:txBody>
      </p:sp>
      <p:cxnSp>
        <p:nvCxnSpPr>
          <p:cNvPr id="169" name="Google Shape;169;p40"/>
          <p:cNvCxnSpPr>
            <a:stCxn id="168" idx="3"/>
          </p:cNvCxnSpPr>
          <p:nvPr/>
        </p:nvCxnSpPr>
        <p:spPr>
          <a:xfrm>
            <a:off x="2361575" y="989625"/>
            <a:ext cx="528300" cy="274500"/>
          </a:xfrm>
          <a:prstGeom prst="straightConnector1">
            <a:avLst/>
          </a:prstGeom>
          <a:noFill/>
          <a:ln cap="flat" cmpd="sng" w="9525">
            <a:solidFill>
              <a:srgbClr val="29448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40"/>
          <p:cNvSpPr/>
          <p:nvPr/>
        </p:nvSpPr>
        <p:spPr>
          <a:xfrm>
            <a:off x="4382275" y="352525"/>
            <a:ext cx="2202300" cy="684000"/>
          </a:xfrm>
          <a:prstGeom prst="roundRect">
            <a:avLst>
              <a:gd fmla="val 16667" name="adj"/>
            </a:avLst>
          </a:prstGeom>
          <a:solidFill>
            <a:srgbClr val="DBF2F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Hosanna for example has more dialled calls than Alexandre but hasn’t had nearly as much successful transfers.</a:t>
            </a:r>
            <a:endParaRPr sz="800"/>
          </a:p>
        </p:txBody>
      </p:sp>
      <p:cxnSp>
        <p:nvCxnSpPr>
          <p:cNvPr id="171" name="Google Shape;171;p40"/>
          <p:cNvCxnSpPr>
            <a:stCxn id="170" idx="1"/>
          </p:cNvCxnSpPr>
          <p:nvPr/>
        </p:nvCxnSpPr>
        <p:spPr>
          <a:xfrm flipH="1">
            <a:off x="3941275" y="694525"/>
            <a:ext cx="441000" cy="292200"/>
          </a:xfrm>
          <a:prstGeom prst="straightConnector1">
            <a:avLst/>
          </a:prstGeom>
          <a:noFill/>
          <a:ln cap="flat" cmpd="sng" w="9525">
            <a:solidFill>
              <a:srgbClr val="29448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41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78" name="Google Shape;178;p41"/>
          <p:cNvSpPr txBox="1"/>
          <p:nvPr>
            <p:ph type="title"/>
          </p:nvPr>
        </p:nvSpPr>
        <p:spPr>
          <a:xfrm>
            <a:off x="512100" y="319450"/>
            <a:ext cx="8325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Average Agent Scores by Call Count</a:t>
            </a:r>
            <a:endParaRPr sz="3500"/>
          </a:p>
        </p:txBody>
      </p:sp>
      <p:sp>
        <p:nvSpPr>
          <p:cNvPr id="179" name="Google Shape;179;p41"/>
          <p:cNvSpPr txBox="1"/>
          <p:nvPr/>
        </p:nvSpPr>
        <p:spPr>
          <a:xfrm>
            <a:off x="2961274" y="4220225"/>
            <a:ext cx="3234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75067"/>
                </a:solidFill>
              </a:rPr>
              <a:t>Averaged Across Agents - Sorted by Best Average Score</a:t>
            </a:r>
            <a:endParaRPr sz="800">
              <a:solidFill>
                <a:srgbClr val="475067"/>
              </a:solidFill>
            </a:endParaRPr>
          </a:p>
        </p:txBody>
      </p:sp>
      <p:sp>
        <p:nvSpPr>
          <p:cNvPr id="180" name="Google Shape;180;p41"/>
          <p:cNvSpPr txBox="1"/>
          <p:nvPr/>
        </p:nvSpPr>
        <p:spPr>
          <a:xfrm>
            <a:off x="32350" y="4835700"/>
            <a:ext cx="162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Advanced Transcription Dataset</a:t>
            </a:r>
            <a:endParaRPr sz="400"/>
          </a:p>
        </p:txBody>
      </p:sp>
      <p:pic>
        <p:nvPicPr>
          <p:cNvPr id="181" name="Google Shape;18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575" y="1156325"/>
            <a:ext cx="7275601" cy="306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5425" y="2911400"/>
            <a:ext cx="5189251" cy="2185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7" name="Google Shape;187;p4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42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89" name="Google Shape;189;p42"/>
          <p:cNvSpPr txBox="1"/>
          <p:nvPr>
            <p:ph type="title"/>
          </p:nvPr>
        </p:nvSpPr>
        <p:spPr>
          <a:xfrm>
            <a:off x="512100" y="319450"/>
            <a:ext cx="8325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Average Agent Scores by Call Count</a:t>
            </a:r>
            <a:endParaRPr sz="3500"/>
          </a:p>
        </p:txBody>
      </p:sp>
      <p:pic>
        <p:nvPicPr>
          <p:cNvPr id="190" name="Google Shape;19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7522" y="1079625"/>
            <a:ext cx="6605048" cy="1737000"/>
          </a:xfrm>
          <a:prstGeom prst="rect">
            <a:avLst/>
          </a:prstGeom>
          <a:noFill/>
          <a:ln cap="flat" cmpd="sng" w="9525">
            <a:solidFill>
              <a:srgbClr val="12184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" name="Google Shape;191;p42"/>
          <p:cNvSpPr/>
          <p:nvPr/>
        </p:nvSpPr>
        <p:spPr>
          <a:xfrm>
            <a:off x="3251075" y="1385625"/>
            <a:ext cx="307200" cy="700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2"/>
          <p:cNvSpPr/>
          <p:nvPr/>
        </p:nvSpPr>
        <p:spPr>
          <a:xfrm>
            <a:off x="3586775" y="3650050"/>
            <a:ext cx="307200" cy="6051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7236422">
            <a:off x="83534" y="2491071"/>
            <a:ext cx="1725886" cy="87070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2"/>
          <p:cNvSpPr/>
          <p:nvPr/>
        </p:nvSpPr>
        <p:spPr>
          <a:xfrm>
            <a:off x="7506300" y="2911400"/>
            <a:ext cx="1414500" cy="1737000"/>
          </a:xfrm>
          <a:prstGeom prst="roundRect">
            <a:avLst>
              <a:gd fmla="val 16667" name="adj"/>
            </a:avLst>
          </a:prstGeom>
          <a:solidFill>
            <a:srgbClr val="DBF2F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Big improvements in Correct Introduction scores with better transcription. Overall the average agent scores have increased </a:t>
            </a:r>
            <a:r>
              <a:rPr lang="en" sz="800"/>
              <a:t>as well</a:t>
            </a:r>
            <a:r>
              <a:rPr lang="en" sz="800"/>
              <a:t>.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Almost all agents with substantial calls are above the 80% avg score mark.</a:t>
            </a:r>
            <a:endParaRPr sz="800"/>
          </a:p>
        </p:txBody>
      </p:sp>
      <p:sp>
        <p:nvSpPr>
          <p:cNvPr id="195" name="Google Shape;195;p42"/>
          <p:cNvSpPr/>
          <p:nvPr/>
        </p:nvSpPr>
        <p:spPr>
          <a:xfrm>
            <a:off x="7199100" y="1171400"/>
            <a:ext cx="307200" cy="11199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2"/>
          <p:cNvSpPr/>
          <p:nvPr/>
        </p:nvSpPr>
        <p:spPr>
          <a:xfrm>
            <a:off x="5356650" y="3444100"/>
            <a:ext cx="307200" cy="1235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4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3"/>
          <p:cNvSpPr txBox="1"/>
          <p:nvPr/>
        </p:nvSpPr>
        <p:spPr>
          <a:xfrm>
            <a:off x="333650" y="1925250"/>
            <a:ext cx="8289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Transcription Improvements</a:t>
            </a:r>
            <a:endParaRPr sz="36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203" name="Google Shape;20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50" y="339750"/>
            <a:ext cx="1941901" cy="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vs Advanced</a:t>
            </a:r>
            <a:endParaRPr/>
          </a:p>
        </p:txBody>
      </p:sp>
      <p:sp>
        <p:nvSpPr>
          <p:cNvPr id="210" name="Google Shape;210;p44"/>
          <p:cNvSpPr txBox="1"/>
          <p:nvPr>
            <p:ph idx="1" type="body"/>
          </p:nvPr>
        </p:nvSpPr>
        <p:spPr>
          <a:xfrm>
            <a:off x="557875" y="1236700"/>
            <a:ext cx="71115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Input all names of the agents in the content enrichment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1" name="Google Shape;211;p44"/>
          <p:cNvGraphicFramePr/>
          <p:nvPr/>
        </p:nvGraphicFramePr>
        <p:xfrm>
          <a:off x="300125" y="194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{F7B0CA21-6AB0-478D-B46E-F3A29551636F}</a:tableStyleId>
              </a:tblPr>
              <a:tblGrid>
                <a:gridCol w="996000"/>
                <a:gridCol w="3129075"/>
                <a:gridCol w="3372025"/>
                <a:gridCol w="1166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Call ID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Standard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Advanced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Call Link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600000001961900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mon nom </a:t>
                      </a:r>
                      <a:r>
                        <a:rPr b="1" lang="en" sz="900"/>
                        <a:t>Susanna</a:t>
                      </a:r>
                      <a:r>
                        <a:rPr lang="en" sz="900"/>
                        <a:t>, j'appelle de la part de mon meilleur taux K. Donc je fais le suivi de la demande que vous avez lancé sur notre site web. …..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mon nom c'est </a:t>
                      </a:r>
                      <a:r>
                        <a:rPr b="1" lang="en" sz="900"/>
                        <a:t>Hosanna</a:t>
                      </a:r>
                      <a:r>
                        <a:rPr lang="en" sz="900"/>
                        <a:t>. J'appelle de la part de mon meilleur tout ca. Donc je fais le suivi de la demande que vous avez lancé sur notre site web. ….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3"/>
                        </a:rPr>
                        <a:t>LINK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700000000970021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Hi there is </a:t>
                      </a:r>
                      <a:r>
                        <a:rPr b="1" lang="en" sz="900"/>
                        <a:t>now</a:t>
                      </a:r>
                      <a:r>
                        <a:rPr lang="en" sz="900"/>
                        <a:t> calling from Compare Mortgages. How are you today?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Hi, there is </a:t>
                      </a:r>
                      <a:r>
                        <a:rPr b="1" lang="en" sz="900"/>
                        <a:t>Nav</a:t>
                      </a:r>
                      <a:r>
                        <a:rPr lang="en" sz="900"/>
                        <a:t> calling from Compare Mortgage Leads. How are you today?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LINK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700000000962403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Heather is </a:t>
                      </a:r>
                      <a:r>
                        <a:rPr b="1" lang="en" sz="900"/>
                        <a:t>now</a:t>
                      </a:r>
                      <a:r>
                        <a:rPr lang="en" sz="900"/>
                        <a:t> calling from Compare Mortgage Leads. How are you today?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Hi there. It's </a:t>
                      </a:r>
                      <a:r>
                        <a:rPr b="1" lang="en" sz="900"/>
                        <a:t>Nav</a:t>
                      </a:r>
                      <a:r>
                        <a:rPr lang="en" sz="900"/>
                        <a:t> calling from Compare Mortgage Leads. How are you today?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5"/>
                        </a:rPr>
                        <a:t>LINK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5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Quality Issues</a:t>
            </a:r>
            <a:endParaRPr/>
          </a:p>
        </p:txBody>
      </p:sp>
      <p:sp>
        <p:nvSpPr>
          <p:cNvPr id="217" name="Google Shape;217;p45"/>
          <p:cNvSpPr txBox="1"/>
          <p:nvPr>
            <p:ph idx="1" type="body"/>
          </p:nvPr>
        </p:nvSpPr>
        <p:spPr>
          <a:xfrm>
            <a:off x="557875" y="1236700"/>
            <a:ext cx="71115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Some introductions have poor quality or have unclear </a:t>
            </a:r>
            <a:r>
              <a:rPr lang="en"/>
              <a:t>annunciated</a:t>
            </a:r>
            <a:r>
              <a:rPr lang="en"/>
              <a:t> words which regardless of the transcription method it will not pick up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Overall majority of the clear audio files are transcribed correctly as seen by the scores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8" name="Google Shape;218;p45"/>
          <p:cNvGraphicFramePr/>
          <p:nvPr/>
        </p:nvGraphicFramePr>
        <p:xfrm>
          <a:off x="240075" y="278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{F7B0CA21-6AB0-478D-B46E-F3A29551636F}</a:tableStyleId>
              </a:tblPr>
              <a:tblGrid>
                <a:gridCol w="996000"/>
                <a:gridCol w="3129075"/>
                <a:gridCol w="3372025"/>
                <a:gridCol w="1166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Call ID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Standard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Advanced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Call Link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600000001812333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Others snap along with national mortgages. How are you today?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Hi there. It's namgoong with national mortgages. How are you today?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accent1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LINK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600000002090787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Hi, there is Nathan from Compare Mortgage Leads How. are you today?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Hi there. It's Naquan from Compare Mortgage Leads. How are you today?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accent1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LINK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6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Improvement</a:t>
            </a:r>
            <a:endParaRPr/>
          </a:p>
        </p:txBody>
      </p:sp>
      <p:sp>
        <p:nvSpPr>
          <p:cNvPr id="224" name="Google Shape;224;p46"/>
          <p:cNvSpPr txBox="1"/>
          <p:nvPr>
            <p:ph idx="1" type="body"/>
          </p:nvPr>
        </p:nvSpPr>
        <p:spPr>
          <a:xfrm>
            <a:off x="557875" y="1236700"/>
            <a:ext cx="7111500" cy="13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 get around low quality audio or wrong transcription → Can “forcefully” use a prompt to correct mis-transcribed names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Downside is that this will forcefully correct name transcription regardless of what was in the actual audio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5" name="Google Shape;225;p46"/>
          <p:cNvGraphicFramePr/>
          <p:nvPr/>
        </p:nvGraphicFramePr>
        <p:xfrm>
          <a:off x="240088" y="271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{F7B0CA21-6AB0-478D-B46E-F3A29551636F}</a:tableStyleId>
              </a:tblPr>
              <a:tblGrid>
                <a:gridCol w="716950"/>
                <a:gridCol w="2252425"/>
                <a:gridCol w="2427300"/>
                <a:gridCol w="2427300"/>
                <a:gridCol w="839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Call ID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Standard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Advanced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Prompt Fix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Call Link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600000001812333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Others snap along with national mortgages. How are you today?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Hi there. It's namgoong with national mortgages. How are you today?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Nav here with National Mortgages. How are you today?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3"/>
                        </a:rPr>
                        <a:t>LINK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600000002090787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Hi, there is Nathan from Compare Mortgage Leads How. are you today?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Hi there. It's Naquan from Compare Mortgage Leads. How are you today?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Hi. There is Nav from Compare Mortgages. How are you today?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LINK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7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Grading Prompt</a:t>
            </a:r>
            <a:endParaRPr/>
          </a:p>
        </p:txBody>
      </p:sp>
      <p:sp>
        <p:nvSpPr>
          <p:cNvPr id="231" name="Google Shape;231;p47"/>
          <p:cNvSpPr txBox="1"/>
          <p:nvPr>
            <p:ph idx="1" type="body"/>
          </p:nvPr>
        </p:nvSpPr>
        <p:spPr>
          <a:xfrm>
            <a:off x="557875" y="1236700"/>
            <a:ext cx="71115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French website </a:t>
            </a:r>
            <a:r>
              <a:rPr lang="en"/>
              <a:t>MonMeilleurTaux (bestrates)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Attempts to read </a:t>
            </a:r>
            <a:r>
              <a:rPr lang="en"/>
              <a:t>between</a:t>
            </a:r>
            <a:r>
              <a:rPr lang="en"/>
              <a:t> the lines of mistranscriptions - </a:t>
            </a:r>
            <a:r>
              <a:rPr lang="en"/>
              <a:t>especially</a:t>
            </a:r>
            <a:r>
              <a:rPr lang="en"/>
              <a:t> common in French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2" name="Google Shape;232;p47"/>
          <p:cNvGraphicFramePr/>
          <p:nvPr/>
        </p:nvGraphicFramePr>
        <p:xfrm>
          <a:off x="260950" y="223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{F7B0CA21-6AB0-478D-B46E-F3A29551636F}</a:tableStyleId>
              </a:tblPr>
              <a:tblGrid>
                <a:gridCol w="989025"/>
                <a:gridCol w="2932625"/>
              </a:tblGrid>
              <a:tr h="30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Call ID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600000001965315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0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“Bonjour Anne-Marie, mon nom c'est Hosanna. J'appelle de la part de mon meilleur tout ca. Donc je fais le suivi de la demande que vous avez lancé sur notre site web.”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0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C1 - Score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73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C1 - Reasoning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The agent introduced themselves and mentioned they were calling regarding a request made on the website. "Mon meilleur tout ca" is likely a mistranscription of "MonMeilleurTaux", which aligns with the expected introduction.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33" name="Google Shape;233;p47"/>
          <p:cNvGraphicFramePr/>
          <p:nvPr/>
        </p:nvGraphicFramePr>
        <p:xfrm>
          <a:off x="4451600" y="234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{F7B0CA21-6AB0-478D-B46E-F3A29551636F}</a:tableStyleId>
              </a:tblPr>
              <a:tblGrid>
                <a:gridCol w="989025"/>
                <a:gridCol w="2932625"/>
              </a:tblGrid>
              <a:tr h="30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Call ID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600000001900729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0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“</a:t>
                      </a: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Bonjour, ici Vanessa de chez mon meilleur taux. K</a:t>
                      </a: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”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0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C1 - Score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73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C1 - Reasoning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The agent introduced herself as Vanessa and mentioned she was calling regarding a request started on their website about refinancing. Although the company name is mistranscribed, it's likely a valid variation of "MonMeilleurTaux".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uman First">
  <a:themeElements>
    <a:clrScheme name="Simple Light">
      <a:dk1>
        <a:srgbClr val="12184A"/>
      </a:dk1>
      <a:lt1>
        <a:srgbClr val="FFFFFF"/>
      </a:lt1>
      <a:dk2>
        <a:srgbClr val="F4F6FB"/>
      </a:dk2>
      <a:lt2>
        <a:srgbClr val="76CCED"/>
      </a:lt2>
      <a:accent1>
        <a:srgbClr val="294489"/>
      </a:accent1>
      <a:accent2>
        <a:srgbClr val="650C4C"/>
      </a:accent2>
      <a:accent3>
        <a:srgbClr val="D0D4DD"/>
      </a:accent3>
      <a:accent4>
        <a:srgbClr val="98A0B3"/>
      </a:accent4>
      <a:accent5>
        <a:srgbClr val="666F85"/>
      </a:accent5>
      <a:accent6>
        <a:srgbClr val="475067"/>
      </a:accent6>
      <a:hlink>
        <a:srgbClr val="2944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